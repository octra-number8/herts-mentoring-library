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00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20" Type="http://schemas.openxmlformats.org/officeDocument/2006/relationships/notesMaster" Target="notesMasters/notesMaster1.xml"/><Relationship Id="rId21" Type="http://schemas.openxmlformats.org/officeDocument/2006/relationships/theme" Target="theme/theme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/>
          <a:lstStyle/>
          <a:p>
            <a:r>
              <a:rPr lang="en-GB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COVER</a:t>
            </a:r>
          </a:p>
          <a:p>
            <a:r>
              <a:rPr lang="en-GB" dirty="0"/>
              <a:t>Replace the presentation title, date and presenter. "Provincial Mentoring", the tagline and the four-stage band are part of the Cover layout so they stay consistent.</a:t>
            </a:r>
          </a:p>
          <a:p>
            <a:r>
              <a:rPr lang="en-GB" dirty="0"/>
              <a:t>SHIELD: View &gt; Slide Master. On both the Cover and Title-only layouts, delete the dashed "Shield" tile and insert the official logo.png (https://pglherts.org/wp-content/uploads/2024/02/logo.png) in the same position, keeping its proportions. It then appears on every slide.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EDITING THIS SLIDE</a:t>
            </a:r>
          </a:p>
          <a:p>
            <a:r>
              <a:rPr lang="en-GB" dirty="0"/>
              <a:t>Replace bracketed text by clicking into each box and typing. Text shrinks slightly if wording runs long; aim for 25 words or fewer per field.</a:t>
            </a:r>
          </a:p>
          <a:p>
            <a:r>
              <a:rPr lang="en-GB" dirty="0"/>
              <a:t>Stage colours step from deep blue (Prepare) to teal (Enlighten). Keep the order and colours.</a:t>
            </a:r>
          </a:p>
          <a:p>
            <a:r>
              <a:rPr lang="en-GB" dirty="0"/>
              <a:t>The arrows are attached connectors. Move a stage and its arrows follow. To move a whole column, select the stage header and its detail box together.</a:t>
            </a:r>
          </a:p>
          <a:p>
            <a:r>
              <a:rPr lang="en-GB" dirty="0"/>
              <a:t>SHIELD: View &gt; Slide Master. On both the Cover and Title-only layouts, delete the dashed "Shield" tile and insert the official logo.png (https://pglherts.org/wp-content/uploads/2024/02/logo.png) in the same position, keeping its proportions. It then appears on every slide.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EDITING THIS SLIDE</a:t>
            </a:r>
          </a:p>
          <a:p>
            <a:r>
              <a:rPr lang="en-GB" dirty="0"/>
              <a:t>The wording is neutral placeholder text. It does not represent an approved provincial procedure.</a:t>
            </a:r>
          </a:p>
          <a:p>
            <a:r>
              <a:rPr lang="en-GB" dirty="0"/>
              <a:t>Shapes: rounded ends = start and outcome; rectangle = action; diamond = decision; teal rounded box = support action.</a:t>
            </a:r>
          </a:p>
          <a:p>
            <a:r>
              <a:rPr lang="en-GB" dirty="0"/>
              <a:t>Yes and No labels are separate text boxes. If you move the decision, move its labels with it.</a:t>
            </a:r>
          </a:p>
          <a:p>
            <a:r>
              <a:rPr lang="en-GB" dirty="0"/>
              <a:t>The dashed teal line is the return route back into the process. To reroute a connector, select it and drag its end to a different connection point.</a:t>
            </a:r>
          </a:p>
          <a:p>
            <a:r>
              <a:rPr lang="en-GB" dirty="0"/>
              <a:t>To add a step, copy a shape from the Building blocks slide, paste it here, then drag connector ends onto its connection points until they turn green.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USING THE BUILDING BLOCKS</a:t>
            </a:r>
          </a:p>
          <a:p>
            <a:r>
              <a:rPr lang="en-GB" dirty="0"/>
              <a:t>Copy and paste shapes onto working slides. They carry the correct fill, outline and type.</a:t>
            </a:r>
          </a:p>
          <a:p>
            <a:r>
              <a:rPr lang="en-GB" dirty="0"/>
              <a:t>Connectors: Insert &gt; Shapes &gt; Line Arrow or Elbow Arrow Connector, then attach both ends to shape connection points. Format with 1.75 pt, colour #06345D, arrow at the end. Return routes use a dashed #157A7C line.</a:t>
            </a:r>
          </a:p>
          <a:p>
            <a:r>
              <a:rPr lang="en-GB" dirty="0"/>
              <a:t>Keep shape text at 15–16 pt and labels at 14 pt so slides remain readable when printed in landscape.</a:t>
            </a:r>
          </a:p>
          <a:p>
            <a:r>
              <a:rPr lang="en-GB" dirty="0"/>
              <a:t>Delete this slide before presenting if it is not needed.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band"/>
          <p:cNvSpPr/>
          <p:nvPr/>
        </p:nvSpPr>
        <p:spPr>
          <a:xfrm>
            <a:off x="0" y="0"/>
            <a:ext cx="12192000" cy="1350000"/>
          </a:xfrm>
          <a:prstGeom prst="rect">
            <a:avLst/>
          </a:prstGeom>
          <a:solidFill>
            <a:srgbClr val="003668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 sz="1000"/>
          </a:p>
        </p:txBody>
      </p:sp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520000" y="260000"/>
            <a:ext cx="7400000" cy="64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2800" b="1">
                <a:solidFill>
                  <a:srgbClr val="FFFFFF"/>
                </a:solidFill>
                <a:latin typeface="DM Sans Medium"/>
              </a:defRPr>
            </a:lvl1pPr>
          </a:lstStyle>
          <a:p>
            <a:r>
              <a:rPr lang="en-GB"/>
              <a:t>Slide title</a:t>
            </a:r>
          </a:p>
        </p:txBody>
      </p:sp>
      <p:sp>
        <p:nvSpPr>
          <p:cNvPr id="3" name="Identity"/>
          <p:cNvSpPr txBox="1"/>
          <p:nvPr/>
        </p:nvSpPr>
        <p:spPr>
          <a:xfrm>
            <a:off x="7200000" y="330000"/>
            <a:ext cx="36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GB" sz="1600" b="1" dirty="0">
                <a:solidFill>
                  <a:srgbClr val="FFFFFF"/>
                </a:solidFill>
                <a:latin typeface="DM Sans Medium"/>
              </a:rPr>
              <a:t>Provincial Mentoring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GB" sz="1100" dirty="0">
                <a:solidFill>
                  <a:srgbClr val="BFD6EA"/>
                </a:solidFill>
              </a:rPr>
              <a:t>Provincial Grand Lodge of Hertfordshire</a:t>
            </a:r>
          </a:p>
        </p:txBody>
      </p:sp>
      <p:sp>
        <p:nvSpPr>
          <p:cNvPr id="4" name="Shield placeholder – replace with logo.png"/>
          <p:cNvSpPr/>
          <p:nvPr/>
        </p:nvSpPr>
        <p:spPr>
          <a:xfrm>
            <a:off x="10980000" y="200000"/>
            <a:ext cx="720000" cy="9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9FB3C8"/>
            </a:solidFill>
            <a:prstDash val="dash"/>
            <a:round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000" dirty="0">
                <a:solidFill>
                  <a:srgbClr val="3D4A57"/>
                </a:solidFill>
              </a:rPr>
              <a:t>Shield</a:t>
            </a:r>
          </a:p>
        </p:txBody>
      </p:sp>
      <p:sp>
        <p:nvSpPr>
          <p:cNvPr id="5" name="Footer identity"/>
          <p:cNvSpPr txBox="1"/>
          <p:nvPr/>
        </p:nvSpPr>
        <p:spPr>
          <a:xfrm>
            <a:off x="520000" y="6300000"/>
            <a:ext cx="9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100" b="1" dirty="0">
                <a:solidFill>
                  <a:srgbClr val="003668"/>
                </a:solidFill>
              </a:rPr>
              <a:t>Hertfordshire Provincial Mentoring</a:t>
            </a:r>
            <a:r>
              <a:rPr lang="en-GB" sz="1100" b="1" dirty="0">
                <a:solidFill>
                  <a:srgbClr val="157A7C"/>
                </a:solidFill>
              </a:rPr>
              <a:t>     Prepare – Support – Guide – Enlighten</a:t>
            </a:r>
          </a:p>
        </p:txBody>
      </p:sp>
      <p:sp>
        <p:nvSpPr>
          <p:cNvPr id="10" name="Progression – Prepare"/>
          <p:cNvSpPr/>
          <p:nvPr/>
        </p:nvSpPr>
        <p:spPr>
          <a:xfrm>
            <a:off x="0" y="6738000"/>
            <a:ext cx="3048000" cy="120000"/>
          </a:xfrm>
          <a:prstGeom prst="rect">
            <a:avLst/>
          </a:prstGeom>
          <a:solidFill>
            <a:srgbClr val="003668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 sz="1000"/>
          </a:p>
        </p:txBody>
      </p:sp>
      <p:sp>
        <p:nvSpPr>
          <p:cNvPr id="11" name="Progression – Support"/>
          <p:cNvSpPr/>
          <p:nvPr/>
        </p:nvSpPr>
        <p:spPr>
          <a:xfrm>
            <a:off x="3048000" y="6738000"/>
            <a:ext cx="3048000" cy="120000"/>
          </a:xfrm>
          <a:prstGeom prst="rect">
            <a:avLst/>
          </a:prstGeom>
          <a:solidFill>
            <a:srgbClr val="0A4F7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 sz="1000"/>
          </a:p>
        </p:txBody>
      </p:sp>
      <p:sp>
        <p:nvSpPr>
          <p:cNvPr id="12" name="Progression – Guide"/>
          <p:cNvSpPr/>
          <p:nvPr/>
        </p:nvSpPr>
        <p:spPr>
          <a:xfrm>
            <a:off x="6096000" y="6738000"/>
            <a:ext cx="3048000" cy="120000"/>
          </a:xfrm>
          <a:prstGeom prst="rect">
            <a:avLst/>
          </a:prstGeom>
          <a:solidFill>
            <a:srgbClr val="10657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 sz="1000"/>
          </a:p>
        </p:txBody>
      </p:sp>
      <p:sp>
        <p:nvSpPr>
          <p:cNvPr id="13" name="Progression – Enlighten"/>
          <p:cNvSpPr/>
          <p:nvPr/>
        </p:nvSpPr>
        <p:spPr>
          <a:xfrm>
            <a:off x="9144000" y="6738000"/>
            <a:ext cx="3048000" cy="120000"/>
          </a:xfrm>
          <a:prstGeom prst="rect">
            <a:avLst/>
          </a:prstGeom>
          <a:solidFill>
            <a:srgbClr val="157A7C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endParaRPr lang="en-GB" sz="10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entoring – Cover">
    <p:bg>
      <p:bgPr>
        <a:solidFill>
          <a:srgbClr val="00366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ield placeholder – replace with logo.png"/>
          <p:cNvSpPr/>
          <p:nvPr/>
        </p:nvSpPr>
        <p:spPr>
          <a:xfrm>
            <a:off x="900000" y="750000"/>
            <a:ext cx="1050000" cy="13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9FB3C8"/>
            </a:solidFill>
            <a:prstDash val="dash"/>
            <a:round/>
          </a:ln>
        </p:spPr>
        <p:txBody>
          <a:bodyPr wrap="square" lIns="0" tIns="0" rIns="0" bIns="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000" dirty="0">
                <a:solidFill>
                  <a:srgbClr val="3D4A57"/>
                </a:solidFill>
              </a:rPr>
              <a:t>Shield</a:t>
            </a:r>
          </a:p>
        </p:txBody>
      </p:sp>
      <p:sp>
        <p:nvSpPr>
          <p:cNvPr id="5" name="Tagline"/>
          <p:cNvSpPr txBox="1"/>
          <p:nvPr/>
        </p:nvSpPr>
        <p:spPr>
          <a:xfrm>
            <a:off x="900000" y="5300000"/>
            <a:ext cx="104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800" b="1" dirty="0">
                <a:solidFill>
                  <a:srgbClr val="8FD3D1"/>
                </a:solidFill>
              </a:rPr>
              <a:t>Prepare – Support – Guide – Enlighten</a:t>
            </a:r>
          </a:p>
        </p:txBody>
      </p:sp>
      <p:sp>
        <p:nvSpPr>
          <p:cNvPr id="10" name="Progression – Prepare"/>
          <p:cNvSpPr/>
          <p:nvPr/>
        </p:nvSpPr>
        <p:spPr>
          <a:xfrm>
            <a:off x="0" y="6000000"/>
            <a:ext cx="3048000" cy="858000"/>
          </a:xfrm>
          <a:prstGeom prst="rect">
            <a:avLst/>
          </a:prstGeom>
          <a:solidFill>
            <a:srgbClr val="003668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2000" dirty="0">
                <a:solidFill>
                  <a:srgbClr val="BFD6EA"/>
                </a:solidFill>
                <a:latin typeface="DM Sans Medium"/>
              </a:rPr>
              <a:t>1  </a:t>
            </a:r>
            <a:r>
              <a:rPr lang="en-GB" sz="1600" b="1" dirty="0">
                <a:solidFill>
                  <a:srgbClr val="FFFFFF"/>
                </a:solidFill>
              </a:rPr>
              <a:t>Prepare</a:t>
            </a:r>
          </a:p>
        </p:txBody>
      </p:sp>
      <p:sp>
        <p:nvSpPr>
          <p:cNvPr id="11" name="Progression – Support"/>
          <p:cNvSpPr/>
          <p:nvPr/>
        </p:nvSpPr>
        <p:spPr>
          <a:xfrm>
            <a:off x="3048000" y="6000000"/>
            <a:ext cx="3048000" cy="858000"/>
          </a:xfrm>
          <a:prstGeom prst="rect">
            <a:avLst/>
          </a:prstGeom>
          <a:solidFill>
            <a:srgbClr val="0A4F72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2000" dirty="0">
                <a:solidFill>
                  <a:srgbClr val="BFD6EA"/>
                </a:solidFill>
                <a:latin typeface="DM Sans Medium"/>
              </a:rPr>
              <a:t>2  </a:t>
            </a:r>
            <a:r>
              <a:rPr lang="en-GB" sz="1600" b="1" dirty="0">
                <a:solidFill>
                  <a:srgbClr val="FFFFFF"/>
                </a:solidFill>
              </a:rPr>
              <a:t>Support</a:t>
            </a:r>
          </a:p>
        </p:txBody>
      </p:sp>
      <p:sp>
        <p:nvSpPr>
          <p:cNvPr id="12" name="Progression – Guide"/>
          <p:cNvSpPr/>
          <p:nvPr/>
        </p:nvSpPr>
        <p:spPr>
          <a:xfrm>
            <a:off x="6096000" y="6000000"/>
            <a:ext cx="3048000" cy="858000"/>
          </a:xfrm>
          <a:prstGeom prst="rect">
            <a:avLst/>
          </a:prstGeom>
          <a:solidFill>
            <a:srgbClr val="10657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2000" dirty="0">
                <a:solidFill>
                  <a:srgbClr val="BFD6EA"/>
                </a:solidFill>
                <a:latin typeface="DM Sans Medium"/>
              </a:rPr>
              <a:t>3  </a:t>
            </a:r>
            <a:r>
              <a:rPr lang="en-GB" sz="1600" b="1" dirty="0">
                <a:solidFill>
                  <a:srgbClr val="FFFFFF"/>
                </a:solidFill>
              </a:rPr>
              <a:t>Guide</a:t>
            </a:r>
          </a:p>
        </p:txBody>
      </p:sp>
      <p:sp>
        <p:nvSpPr>
          <p:cNvPr id="13" name="Progression – Enlighten"/>
          <p:cNvSpPr/>
          <p:nvPr/>
        </p:nvSpPr>
        <p:spPr>
          <a:xfrm>
            <a:off x="9144000" y="6000000"/>
            <a:ext cx="3048000" cy="858000"/>
          </a:xfrm>
          <a:prstGeom prst="rect">
            <a:avLst/>
          </a:prstGeom>
          <a:solidFill>
            <a:srgbClr val="157A7C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2000" dirty="0">
                <a:solidFill>
                  <a:srgbClr val="BFD6EA"/>
                </a:solidFill>
                <a:latin typeface="DM Sans Medium"/>
              </a:rPr>
              <a:t>4  </a:t>
            </a:r>
            <a:r>
              <a:rPr lang="en-GB" sz="1600" b="1" dirty="0">
                <a:solidFill>
                  <a:srgbClr val="FFFFFF"/>
                </a:solidFill>
              </a:rPr>
              <a:t>Enlighten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</p:sldLayoutIdLst>
  <p:txStyles>
    <p:titleStyle>
      <a:lvl1pPr>
        <a:defRPr sz="2800">
          <a:solidFill>
            <a:schemeClr val="tx2"/>
          </a:solidFill>
          <a:latin typeface="+mj-lt"/>
        </a:defRPr>
      </a:lvl1pPr>
    </p:titleStyle>
    <p:bodyStyle>
      <a:lvl1pPr>
        <a:defRPr sz="1800">
          <a:solidFill>
            <a:schemeClr val="tx1"/>
          </a:solidFill>
          <a:latin typeface="+mn-lt"/>
        </a:defRPr>
      </a:lvl1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icker"/>
          <p:cNvSpPr txBox="1"/>
          <p:nvPr/>
        </p:nvSpPr>
        <p:spPr>
          <a:xfrm>
            <a:off x="900000" y="2350000"/>
            <a:ext cx="90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500" b="1" spc="150" dirty="0">
                <a:solidFill>
                  <a:srgbClr val="8FD3D1"/>
                </a:solidFill>
              </a:rPr>
              <a:t>PROVINCIAL GRAND LODGE OF HERTFORDSHIRE</a:t>
            </a:r>
          </a:p>
        </p:txBody>
      </p:sp>
      <p:sp>
        <p:nvSpPr>
          <p:cNvPr id="11" name="Identity"/>
          <p:cNvSpPr txBox="1"/>
          <p:nvPr/>
        </p:nvSpPr>
        <p:spPr>
          <a:xfrm>
            <a:off x="900000" y="2750000"/>
            <a:ext cx="1040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6000" b="1" dirty="0">
                <a:solidFill>
                  <a:srgbClr val="FFFFFF"/>
                </a:solidFill>
                <a:latin typeface="DM Sans Medium"/>
              </a:rPr>
              <a:t>Provincial Mentoring</a:t>
            </a:r>
          </a:p>
        </p:txBody>
      </p:sp>
      <p:sp>
        <p:nvSpPr>
          <p:cNvPr id="12" name="Presentation title"/>
          <p:cNvSpPr txBox="1"/>
          <p:nvPr/>
        </p:nvSpPr>
        <p:spPr>
          <a:xfrm>
            <a:off x="900000" y="3950000"/>
            <a:ext cx="104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2800" dirty="0">
                <a:solidFill>
                  <a:srgbClr val="BFD6EA"/>
                </a:solidFill>
              </a:rPr>
              <a:t>[Presentation title]</a:t>
            </a:r>
          </a:p>
        </p:txBody>
      </p:sp>
      <p:sp>
        <p:nvSpPr>
          <p:cNvPr id="13" name="Date and presenter"/>
          <p:cNvSpPr txBox="1"/>
          <p:nvPr/>
        </p:nvSpPr>
        <p:spPr>
          <a:xfrm>
            <a:off x="900000" y="4700000"/>
            <a:ext cx="104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BFD6EA"/>
                </a:solidFill>
              </a:rPr>
              <a:t>[Date]  ·  [Presenter name], Provincial Mentor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Four-stage mentoring pathway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20000" y="960000"/>
            <a:ext cx="7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500" dirty="0">
                <a:solidFill>
                  <a:srgbClr val="BFD6EA"/>
                </a:solidFill>
              </a:rPr>
              <a:t>[Programme, Lodge or candidate name]  ·  [Date]</a:t>
            </a:r>
          </a:p>
        </p:txBody>
      </p:sp>
      <p:sp>
        <p:nvSpPr>
          <p:cNvPr id="10" name="Stage 1 – Prepare"/>
          <p:cNvSpPr/>
          <p:nvPr/>
        </p:nvSpPr>
        <p:spPr>
          <a:xfrm>
            <a:off x="521000" y="1750000"/>
            <a:ext cx="2450000" cy="1050000"/>
          </a:xfrm>
          <a:prstGeom prst="rect">
            <a:avLst/>
          </a:prstGeom>
          <a:solidFill>
            <a:srgbClr val="003668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3000" dirty="0">
                <a:solidFill>
                  <a:srgbClr val="BFD6EA"/>
                </a:solidFill>
                <a:latin typeface="DM Sans Medium"/>
              </a:rPr>
              <a:t>1</a:t>
            </a:r>
            <a:r>
              <a:rPr lang="en-GB" sz="2400" b="1" dirty="0">
                <a:solidFill>
                  <a:srgbClr val="FFFFFF"/>
                </a:solidFill>
                <a:latin typeface="DM Sans Medium"/>
              </a:rPr>
              <a:t>  Prepare</a:t>
            </a:r>
          </a:p>
        </p:txBody>
      </p:sp>
      <p:sp>
        <p:nvSpPr>
          <p:cNvPr id="20" name="Stage 1 – details"/>
          <p:cNvSpPr/>
          <p:nvPr/>
        </p:nvSpPr>
        <p:spPr>
          <a:xfrm>
            <a:off x="521000" y="2950000"/>
            <a:ext cx="2450000" cy="3100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300" b="1" dirty="0">
                <a:solidFill>
                  <a:srgbClr val="003668"/>
                </a:solidFill>
              </a:rPr>
              <a:t>PURPOSE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n-GB" sz="1500" dirty="0">
                <a:solidFill>
                  <a:srgbClr val="1E2329"/>
                </a:solidFill>
              </a:rPr>
              <a:t>[What this stage achieves]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lang="en-GB" sz="1300" b="1" dirty="0">
                <a:solidFill>
                  <a:srgbClr val="003668"/>
                </a:solidFill>
              </a:rPr>
              <a:t>RESPONSIBLE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n-GB" sz="1500" dirty="0">
                <a:solidFill>
                  <a:srgbClr val="1E2329"/>
                </a:solidFill>
              </a:rPr>
              <a:t>[Name or role]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lang="en-GB" sz="1300" b="1" dirty="0">
                <a:solidFill>
                  <a:srgbClr val="003668"/>
                </a:solidFill>
              </a:rPr>
              <a:t>TIMING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n-GB" sz="1500" dirty="0">
                <a:solidFill>
                  <a:srgbClr val="1E2329"/>
                </a:solidFill>
              </a:rPr>
              <a:t>[When or how long]</a:t>
            </a:r>
          </a:p>
        </p:txBody>
      </p:sp>
      <p:sp>
        <p:nvSpPr>
          <p:cNvPr id="11" name="Stage 2 – Support"/>
          <p:cNvSpPr/>
          <p:nvPr/>
        </p:nvSpPr>
        <p:spPr>
          <a:xfrm>
            <a:off x="3421000" y="1750000"/>
            <a:ext cx="2450000" cy="1050000"/>
          </a:xfrm>
          <a:prstGeom prst="rect">
            <a:avLst/>
          </a:prstGeom>
          <a:solidFill>
            <a:srgbClr val="0A4F72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3000" dirty="0">
                <a:solidFill>
                  <a:srgbClr val="BFD6EA"/>
                </a:solidFill>
                <a:latin typeface="DM Sans Medium"/>
              </a:rPr>
              <a:t>2</a:t>
            </a:r>
            <a:r>
              <a:rPr lang="en-GB" sz="2400" b="1" dirty="0">
                <a:solidFill>
                  <a:srgbClr val="FFFFFF"/>
                </a:solidFill>
                <a:latin typeface="DM Sans Medium"/>
              </a:rPr>
              <a:t>  Support</a:t>
            </a:r>
          </a:p>
        </p:txBody>
      </p:sp>
      <p:sp>
        <p:nvSpPr>
          <p:cNvPr id="21" name="Stage 2 – details"/>
          <p:cNvSpPr/>
          <p:nvPr/>
        </p:nvSpPr>
        <p:spPr>
          <a:xfrm>
            <a:off x="3421000" y="2950000"/>
            <a:ext cx="2450000" cy="3100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300" b="1" dirty="0">
                <a:solidFill>
                  <a:srgbClr val="157A7C"/>
                </a:solidFill>
              </a:rPr>
              <a:t>PURPOSE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n-GB" sz="1500" dirty="0">
                <a:solidFill>
                  <a:srgbClr val="1E2329"/>
                </a:solidFill>
              </a:rPr>
              <a:t>[What this stage achieves]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lang="en-GB" sz="1300" b="1" dirty="0">
                <a:solidFill>
                  <a:srgbClr val="157A7C"/>
                </a:solidFill>
              </a:rPr>
              <a:t>RESPONSIBLE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n-GB" sz="1500" dirty="0">
                <a:solidFill>
                  <a:srgbClr val="1E2329"/>
                </a:solidFill>
              </a:rPr>
              <a:t>[Name or role]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lang="en-GB" sz="1300" b="1" dirty="0">
                <a:solidFill>
                  <a:srgbClr val="157A7C"/>
                </a:solidFill>
              </a:rPr>
              <a:t>TIMING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n-GB" sz="1500" dirty="0">
                <a:solidFill>
                  <a:srgbClr val="1E2329"/>
                </a:solidFill>
              </a:rPr>
              <a:t>[When or how long]</a:t>
            </a:r>
          </a:p>
        </p:txBody>
      </p:sp>
      <p:sp>
        <p:nvSpPr>
          <p:cNvPr id="12" name="Stage 3 – Guide"/>
          <p:cNvSpPr/>
          <p:nvPr/>
        </p:nvSpPr>
        <p:spPr>
          <a:xfrm>
            <a:off x="6321000" y="1750000"/>
            <a:ext cx="2450000" cy="1050000"/>
          </a:xfrm>
          <a:prstGeom prst="rect">
            <a:avLst/>
          </a:prstGeom>
          <a:solidFill>
            <a:srgbClr val="106576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3000" dirty="0">
                <a:solidFill>
                  <a:srgbClr val="BFD6EA"/>
                </a:solidFill>
                <a:latin typeface="DM Sans Medium"/>
              </a:rPr>
              <a:t>3</a:t>
            </a:r>
            <a:r>
              <a:rPr lang="en-GB" sz="2400" b="1" dirty="0">
                <a:solidFill>
                  <a:srgbClr val="FFFFFF"/>
                </a:solidFill>
                <a:latin typeface="DM Sans Medium"/>
              </a:rPr>
              <a:t>  Guide</a:t>
            </a:r>
          </a:p>
        </p:txBody>
      </p:sp>
      <p:sp>
        <p:nvSpPr>
          <p:cNvPr id="22" name="Stage 3 – details"/>
          <p:cNvSpPr/>
          <p:nvPr/>
        </p:nvSpPr>
        <p:spPr>
          <a:xfrm>
            <a:off x="6321000" y="2950000"/>
            <a:ext cx="2450000" cy="3100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300" b="1" dirty="0">
                <a:solidFill>
                  <a:srgbClr val="157A7C"/>
                </a:solidFill>
              </a:rPr>
              <a:t>PURPOSE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n-GB" sz="1500" dirty="0">
                <a:solidFill>
                  <a:srgbClr val="1E2329"/>
                </a:solidFill>
              </a:rPr>
              <a:t>[What this stage achieves]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lang="en-GB" sz="1300" b="1" dirty="0">
                <a:solidFill>
                  <a:srgbClr val="157A7C"/>
                </a:solidFill>
              </a:rPr>
              <a:t>RESPONSIBLE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n-GB" sz="1500" dirty="0">
                <a:solidFill>
                  <a:srgbClr val="1E2329"/>
                </a:solidFill>
              </a:rPr>
              <a:t>[Name or role]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lang="en-GB" sz="1300" b="1" dirty="0">
                <a:solidFill>
                  <a:srgbClr val="157A7C"/>
                </a:solidFill>
              </a:rPr>
              <a:t>TIMING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n-GB" sz="1500" dirty="0">
                <a:solidFill>
                  <a:srgbClr val="1E2329"/>
                </a:solidFill>
              </a:rPr>
              <a:t>[When or how long]</a:t>
            </a:r>
          </a:p>
        </p:txBody>
      </p:sp>
      <p:sp>
        <p:nvSpPr>
          <p:cNvPr id="13" name="Stage 4 – Enlighten"/>
          <p:cNvSpPr/>
          <p:nvPr/>
        </p:nvSpPr>
        <p:spPr>
          <a:xfrm>
            <a:off x="9221000" y="1750000"/>
            <a:ext cx="2450000" cy="1050000"/>
          </a:xfrm>
          <a:prstGeom prst="rect">
            <a:avLst/>
          </a:prstGeom>
          <a:solidFill>
            <a:srgbClr val="157A7C"/>
          </a:solidFill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3000" dirty="0">
                <a:solidFill>
                  <a:srgbClr val="BFD6EA"/>
                </a:solidFill>
                <a:latin typeface="DM Sans Medium"/>
              </a:rPr>
              <a:t>4</a:t>
            </a:r>
            <a:r>
              <a:rPr lang="en-GB" sz="2400" b="1" dirty="0">
                <a:solidFill>
                  <a:srgbClr val="FFFFFF"/>
                </a:solidFill>
                <a:latin typeface="DM Sans Medium"/>
              </a:rPr>
              <a:t>  Enlighten</a:t>
            </a:r>
          </a:p>
        </p:txBody>
      </p:sp>
      <p:sp>
        <p:nvSpPr>
          <p:cNvPr id="23" name="Stage 4 – details"/>
          <p:cNvSpPr/>
          <p:nvPr/>
        </p:nvSpPr>
        <p:spPr>
          <a:xfrm>
            <a:off x="9221000" y="2950000"/>
            <a:ext cx="2450000" cy="3100000"/>
          </a:xfrm>
          <a:prstGeom prst="rect">
            <a:avLst/>
          </a:prstGeom>
          <a:solidFill>
            <a:srgbClr val="F2F7FC"/>
          </a:solidFill>
          <a:ln>
            <a:noFill/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300" b="1" dirty="0">
                <a:solidFill>
                  <a:srgbClr val="157A7C"/>
                </a:solidFill>
              </a:rPr>
              <a:t>PURPOSE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n-GB" sz="1500" dirty="0">
                <a:solidFill>
                  <a:srgbClr val="1E2329"/>
                </a:solidFill>
              </a:rPr>
              <a:t>[What this stage achieves]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lang="en-GB" sz="1300" b="1" dirty="0">
                <a:solidFill>
                  <a:srgbClr val="157A7C"/>
                </a:solidFill>
              </a:rPr>
              <a:t>RESPONSIBLE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n-GB" sz="1500" dirty="0">
                <a:solidFill>
                  <a:srgbClr val="1E2329"/>
                </a:solidFill>
              </a:rPr>
              <a:t>[Name or role]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lang="en-GB" sz="1300" b="1" dirty="0">
                <a:solidFill>
                  <a:srgbClr val="157A7C"/>
                </a:solidFill>
              </a:rPr>
              <a:t>TIMING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lang="en-GB" sz="1500" dirty="0">
                <a:solidFill>
                  <a:srgbClr val="1E2329"/>
                </a:solidFill>
              </a:rPr>
              <a:t>[When or how long]</a:t>
            </a:r>
          </a:p>
        </p:txBody>
      </p:sp>
      <p:cxnSp>
        <p:nvCxnSpPr>
          <p:cNvPr id="30" name="Connector 1"/>
          <p:cNvCxnSpPr>
            <a:stCxn id="10" idx="3"/>
            <a:endCxn id="11" idx="1"/>
          </p:cNvCxnSpPr>
          <p:nvPr/>
        </p:nvCxnSpPr>
        <p:spPr>
          <a:xfrm>
            <a:off x="2971000" y="2275000"/>
            <a:ext cx="450000" cy="0"/>
          </a:xfrm>
          <a:prstGeom prst="straightConnector1">
            <a:avLst/>
          </a:prstGeom>
          <a:ln w="28575">
            <a:solidFill>
              <a:srgbClr val="06345D"/>
            </a:solidFill>
            <a:round/>
            <a:tailEnd type="triangle" w="med" len="med"/>
          </a:ln>
        </p:spPr>
      </p:cxnSp>
      <p:cxnSp>
        <p:nvCxnSpPr>
          <p:cNvPr id="31" name="Connector 2"/>
          <p:cNvCxnSpPr>
            <a:stCxn id="11" idx="3"/>
            <a:endCxn id="12" idx="1"/>
          </p:cNvCxnSpPr>
          <p:nvPr/>
        </p:nvCxnSpPr>
        <p:spPr>
          <a:xfrm>
            <a:off x="5871000" y="2275000"/>
            <a:ext cx="450000" cy="0"/>
          </a:xfrm>
          <a:prstGeom prst="straightConnector1">
            <a:avLst/>
          </a:prstGeom>
          <a:ln w="28575">
            <a:solidFill>
              <a:srgbClr val="06345D"/>
            </a:solidFill>
            <a:round/>
            <a:tailEnd type="triangle" w="med" len="med"/>
          </a:ln>
        </p:spPr>
      </p:cxnSp>
      <p:cxnSp>
        <p:nvCxnSpPr>
          <p:cNvPr id="32" name="Connector 3"/>
          <p:cNvCxnSpPr>
            <a:stCxn id="12" idx="3"/>
            <a:endCxn id="13" idx="1"/>
          </p:cNvCxnSpPr>
          <p:nvPr/>
        </p:nvCxnSpPr>
        <p:spPr>
          <a:xfrm>
            <a:off x="8771000" y="2275000"/>
            <a:ext cx="450000" cy="0"/>
          </a:xfrm>
          <a:prstGeom prst="straightConnector1">
            <a:avLst/>
          </a:prstGeom>
          <a:ln w="28575">
            <a:solidFill>
              <a:srgbClr val="06345D"/>
            </a:solidFill>
            <a:round/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Decision flow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20000" y="960000"/>
            <a:ext cx="7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500" dirty="0">
                <a:solidFill>
                  <a:srgbClr val="BFD6EA"/>
                </a:solidFill>
              </a:rPr>
              <a:t>[Describe the situation this flow covers]</a:t>
            </a:r>
          </a:p>
        </p:txBody>
      </p:sp>
      <p:sp>
        <p:nvSpPr>
          <p:cNvPr id="10" name="Start"/>
          <p:cNvSpPr/>
          <p:nvPr/>
        </p:nvSpPr>
        <p:spPr>
          <a:xfrm>
            <a:off x="621000" y="2600000"/>
            <a:ext cx="1550000" cy="900000"/>
          </a:xfrm>
          <a:prstGeom prst="flowChartTerminator">
            <a:avLst/>
          </a:prstGeom>
          <a:solidFill>
            <a:srgbClr val="003668"/>
          </a:solidFill>
          <a:ln w="19050">
            <a:solidFill>
              <a:srgbClr val="003668"/>
            </a:solidFill>
            <a:round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FFFFFF"/>
                </a:solidFill>
              </a:rPr>
              <a:t>[Starting point]</a:t>
            </a:r>
          </a:p>
        </p:txBody>
      </p:sp>
      <p:sp>
        <p:nvSpPr>
          <p:cNvPr id="11" name="Action – review"/>
          <p:cNvSpPr/>
          <p:nvPr/>
        </p:nvSpPr>
        <p:spPr>
          <a:xfrm>
            <a:off x="2571000" y="2450000"/>
            <a:ext cx="1850000" cy="1200000"/>
          </a:xfrm>
          <a:prstGeom prst="flowChartProcess">
            <a:avLst/>
          </a:prstGeom>
          <a:solidFill>
            <a:srgbClr val="FFFFFF"/>
          </a:solidFill>
          <a:ln w="22225">
            <a:solidFill>
              <a:srgbClr val="003668"/>
            </a:solidFill>
            <a:round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06345D"/>
                </a:solidFill>
              </a:rPr>
              <a:t>[Review or prepare]</a:t>
            </a:r>
          </a:p>
        </p:txBody>
      </p:sp>
      <p:sp>
        <p:nvSpPr>
          <p:cNvPr id="12" name="Decision"/>
          <p:cNvSpPr/>
          <p:nvPr/>
        </p:nvSpPr>
        <p:spPr>
          <a:xfrm>
            <a:off x="4921000" y="2200000"/>
            <a:ext cx="2250000" cy="1700000"/>
          </a:xfrm>
          <a:prstGeom prst="flowChartDecision">
            <a:avLst/>
          </a:prstGeom>
          <a:solidFill>
            <a:srgbClr val="F2F7FC"/>
          </a:solidFill>
          <a:ln w="25400">
            <a:solidFill>
              <a:srgbClr val="157A7C"/>
            </a:solidFill>
            <a:round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500" dirty="0">
                <a:solidFill>
                  <a:srgbClr val="06345D"/>
                </a:solidFill>
              </a:rPr>
              <a:t>[Decision question?]</a:t>
            </a:r>
          </a:p>
        </p:txBody>
      </p:sp>
      <p:sp>
        <p:nvSpPr>
          <p:cNvPr id="13" name="Action – next"/>
          <p:cNvSpPr/>
          <p:nvPr/>
        </p:nvSpPr>
        <p:spPr>
          <a:xfrm>
            <a:off x="7771000" y="2450000"/>
            <a:ext cx="1850000" cy="1200000"/>
          </a:xfrm>
          <a:prstGeom prst="flowChartProcess">
            <a:avLst/>
          </a:prstGeom>
          <a:solidFill>
            <a:srgbClr val="FFFFFF"/>
          </a:solidFill>
          <a:ln w="22225">
            <a:solidFill>
              <a:srgbClr val="003668"/>
            </a:solidFill>
            <a:round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06345D"/>
                </a:solidFill>
              </a:rPr>
              <a:t>[Next action]</a:t>
            </a:r>
          </a:p>
        </p:txBody>
      </p:sp>
      <p:sp>
        <p:nvSpPr>
          <p:cNvPr id="14" name="Outcome"/>
          <p:cNvSpPr/>
          <p:nvPr/>
        </p:nvSpPr>
        <p:spPr>
          <a:xfrm>
            <a:off x="10021000" y="2600000"/>
            <a:ext cx="1550000" cy="900000"/>
          </a:xfrm>
          <a:prstGeom prst="flowChartTerminator">
            <a:avLst/>
          </a:prstGeom>
          <a:solidFill>
            <a:srgbClr val="003668"/>
          </a:solidFill>
          <a:ln w="19050">
            <a:solidFill>
              <a:srgbClr val="003668"/>
            </a:solidFill>
            <a:round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FFFFFF"/>
                </a:solidFill>
              </a:rPr>
              <a:t>[Outcome]</a:t>
            </a:r>
          </a:p>
        </p:txBody>
      </p:sp>
      <p:sp>
        <p:nvSpPr>
          <p:cNvPr id="15" name="Support action"/>
          <p:cNvSpPr/>
          <p:nvPr/>
        </p:nvSpPr>
        <p:spPr>
          <a:xfrm>
            <a:off x="4921000" y="4550000"/>
            <a:ext cx="2250000" cy="1100000"/>
          </a:xfrm>
          <a:prstGeom prst="flowChartAlternateProcess">
            <a:avLst/>
          </a:prstGeom>
          <a:solidFill>
            <a:srgbClr val="E6F2F2"/>
          </a:solidFill>
          <a:ln w="22225">
            <a:solidFill>
              <a:srgbClr val="157A7C"/>
            </a:solidFill>
            <a:round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06345D"/>
                </a:solidFill>
              </a:rPr>
              <a:t>[Support action]</a:t>
            </a:r>
          </a:p>
        </p:txBody>
      </p:sp>
      <p:cxnSp>
        <p:nvCxnSpPr>
          <p:cNvPr id="20" name="Start to review"/>
          <p:cNvCxnSpPr>
            <a:stCxn id="10" idx="3"/>
            <a:endCxn id="11" idx="1"/>
          </p:cNvCxnSpPr>
          <p:nvPr/>
        </p:nvCxnSpPr>
        <p:spPr>
          <a:xfrm>
            <a:off x="2171000" y="3050000"/>
            <a:ext cx="400000" cy="0"/>
          </a:xfrm>
          <a:prstGeom prst="straightConnector1">
            <a:avLst/>
          </a:prstGeom>
          <a:ln w="22225">
            <a:solidFill>
              <a:srgbClr val="06345D"/>
            </a:solidFill>
            <a:round/>
            <a:tailEnd type="triangle" w="med" len="med"/>
          </a:ln>
        </p:spPr>
      </p:cxnSp>
      <p:cxnSp>
        <p:nvCxnSpPr>
          <p:cNvPr id="21" name="Review to decision"/>
          <p:cNvCxnSpPr>
            <a:stCxn id="11" idx="3"/>
            <a:endCxn id="12" idx="1"/>
          </p:cNvCxnSpPr>
          <p:nvPr/>
        </p:nvCxnSpPr>
        <p:spPr>
          <a:xfrm>
            <a:off x="4421000" y="3050000"/>
            <a:ext cx="500000" cy="0"/>
          </a:xfrm>
          <a:prstGeom prst="straightConnector1">
            <a:avLst/>
          </a:prstGeom>
          <a:ln w="22225">
            <a:solidFill>
              <a:srgbClr val="06345D"/>
            </a:solidFill>
            <a:round/>
            <a:tailEnd type="triangle" w="med" len="med"/>
          </a:ln>
        </p:spPr>
      </p:cxnSp>
      <p:cxnSp>
        <p:nvCxnSpPr>
          <p:cNvPr id="22" name="Yes branch"/>
          <p:cNvCxnSpPr>
            <a:stCxn id="12" idx="3"/>
            <a:endCxn id="13" idx="1"/>
          </p:cNvCxnSpPr>
          <p:nvPr/>
        </p:nvCxnSpPr>
        <p:spPr>
          <a:xfrm>
            <a:off x="7171000" y="3050000"/>
            <a:ext cx="600000" cy="0"/>
          </a:xfrm>
          <a:prstGeom prst="straightConnector1">
            <a:avLst/>
          </a:prstGeom>
          <a:ln w="22225">
            <a:solidFill>
              <a:srgbClr val="06345D"/>
            </a:solidFill>
            <a:round/>
            <a:tailEnd type="triangle" w="med" len="med"/>
          </a:ln>
        </p:spPr>
      </p:cxnSp>
      <p:cxnSp>
        <p:nvCxnSpPr>
          <p:cNvPr id="23" name="Next to outcome"/>
          <p:cNvCxnSpPr>
            <a:stCxn id="13" idx="3"/>
            <a:endCxn id="14" idx="1"/>
          </p:cNvCxnSpPr>
          <p:nvPr/>
        </p:nvCxnSpPr>
        <p:spPr>
          <a:xfrm>
            <a:off x="9621000" y="3050000"/>
            <a:ext cx="400000" cy="0"/>
          </a:xfrm>
          <a:prstGeom prst="straightConnector1">
            <a:avLst/>
          </a:prstGeom>
          <a:ln w="22225">
            <a:solidFill>
              <a:srgbClr val="06345D"/>
            </a:solidFill>
            <a:round/>
            <a:tailEnd type="triangle" w="med" len="med"/>
          </a:ln>
        </p:spPr>
      </p:cxnSp>
      <p:cxnSp>
        <p:nvCxnSpPr>
          <p:cNvPr id="24" name="No branch"/>
          <p:cNvCxnSpPr>
            <a:stCxn id="12" idx="2"/>
            <a:endCxn id="15" idx="0"/>
          </p:cNvCxnSpPr>
          <p:nvPr/>
        </p:nvCxnSpPr>
        <p:spPr>
          <a:xfrm>
            <a:off x="6046000" y="3900000"/>
            <a:ext cx="0" cy="650000"/>
          </a:xfrm>
          <a:prstGeom prst="straightConnector1">
            <a:avLst/>
          </a:prstGeom>
          <a:ln w="22225">
            <a:solidFill>
              <a:srgbClr val="06345D"/>
            </a:solidFill>
            <a:round/>
            <a:tailEnd type="triangle" w="med" len="med"/>
          </a:ln>
        </p:spPr>
      </p:cxnSp>
      <p:cxnSp>
        <p:nvCxnSpPr>
          <p:cNvPr id="25" name="Return route"/>
          <p:cNvCxnSpPr>
            <a:stCxn id="15" idx="1"/>
            <a:endCxn id="11" idx="2"/>
          </p:cNvCxnSpPr>
          <p:nvPr/>
        </p:nvCxnSpPr>
        <p:spPr>
          <a:xfrm flipH="1" flipV="1">
            <a:off x="3496000" y="3650000"/>
            <a:ext cx="1425000" cy="1450000"/>
          </a:xfrm>
          <a:prstGeom prst="bentConnector2">
            <a:avLst/>
          </a:prstGeom>
          <a:ln w="22225">
            <a:solidFill>
              <a:srgbClr val="157A7C"/>
            </a:solidFill>
            <a:prstDash val="dash"/>
            <a:round/>
            <a:tailEnd type="triangle" w="med" len="med"/>
          </a:ln>
        </p:spPr>
      </p:cxnSp>
      <p:sp>
        <p:nvSpPr>
          <p:cNvPr id="30" name="Label – Yes"/>
          <p:cNvSpPr txBox="1"/>
          <p:nvPr/>
        </p:nvSpPr>
        <p:spPr>
          <a:xfrm>
            <a:off x="7201000" y="2630000"/>
            <a:ext cx="54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003668"/>
                </a:solidFill>
              </a:rPr>
              <a:t>Yes</a:t>
            </a:r>
          </a:p>
        </p:txBody>
      </p:sp>
      <p:sp>
        <p:nvSpPr>
          <p:cNvPr id="31" name="Label – No"/>
          <p:cNvSpPr txBox="1"/>
          <p:nvPr/>
        </p:nvSpPr>
        <p:spPr>
          <a:xfrm>
            <a:off x="6146000" y="3970000"/>
            <a:ext cx="6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003668"/>
                </a:solidFill>
              </a:rPr>
              <a:t>No</a:t>
            </a:r>
          </a:p>
        </p:txBody>
      </p:sp>
      <p:sp>
        <p:nvSpPr>
          <p:cNvPr id="32" name="Label – return route"/>
          <p:cNvSpPr txBox="1"/>
          <p:nvPr/>
        </p:nvSpPr>
        <p:spPr>
          <a:xfrm>
            <a:off x="3596000" y="5680000"/>
            <a:ext cx="1225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300" i="1" dirty="0">
                <a:solidFill>
                  <a:srgbClr val="157A7C"/>
                </a:solidFill>
              </a:rPr>
              <a:t>[Return to review]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Building blocks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20000" y="960000"/>
            <a:ext cx="74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500" dirty="0">
                <a:solidFill>
                  <a:srgbClr val="BFD6EA"/>
                </a:solidFill>
              </a:rPr>
              <a:t>Copy a shape, paste it, then drag connector ends onto its connection points.</a:t>
            </a:r>
          </a:p>
        </p:txBody>
      </p:sp>
      <p:sp>
        <p:nvSpPr>
          <p:cNvPr id="10" name="Start / end"/>
          <p:cNvSpPr/>
          <p:nvPr/>
        </p:nvSpPr>
        <p:spPr>
          <a:xfrm>
            <a:off x="520000" y="2100000"/>
            <a:ext cx="1900000" cy="900000"/>
          </a:xfrm>
          <a:prstGeom prst="flowChartTerminator">
            <a:avLst/>
          </a:prstGeom>
          <a:solidFill>
            <a:srgbClr val="003668"/>
          </a:solidFill>
          <a:ln w="19050">
            <a:solidFill>
              <a:srgbClr val="003668"/>
            </a:solidFill>
            <a:round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FFFFFF"/>
                </a:solidFill>
              </a:rPr>
              <a:t>[Start]</a:t>
            </a:r>
          </a:p>
        </p:txBody>
      </p:sp>
      <p:sp>
        <p:nvSpPr>
          <p:cNvPr id="20" name="Caption – Start / end"/>
          <p:cNvSpPr txBox="1"/>
          <p:nvPr/>
        </p:nvSpPr>
        <p:spPr>
          <a:xfrm>
            <a:off x="520000" y="3420000"/>
            <a:ext cx="19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003668"/>
                </a:solidFill>
              </a:rPr>
              <a:t>Start / end</a:t>
            </a:r>
          </a:p>
        </p:txBody>
      </p:sp>
      <p:sp>
        <p:nvSpPr>
          <p:cNvPr id="11" name="Action"/>
          <p:cNvSpPr/>
          <p:nvPr/>
        </p:nvSpPr>
        <p:spPr>
          <a:xfrm>
            <a:off x="2833000" y="2000000"/>
            <a:ext cx="1900000" cy="1100000"/>
          </a:xfrm>
          <a:prstGeom prst="flowChartProcess">
            <a:avLst/>
          </a:prstGeom>
          <a:solidFill>
            <a:srgbClr val="FFFFFF"/>
          </a:solidFill>
          <a:ln w="22225">
            <a:solidFill>
              <a:srgbClr val="003668"/>
            </a:solidFill>
            <a:round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06345D"/>
                </a:solidFill>
              </a:rPr>
              <a:t>[Action]</a:t>
            </a:r>
          </a:p>
        </p:txBody>
      </p:sp>
      <p:sp>
        <p:nvSpPr>
          <p:cNvPr id="21" name="Caption – Action"/>
          <p:cNvSpPr txBox="1"/>
          <p:nvPr/>
        </p:nvSpPr>
        <p:spPr>
          <a:xfrm>
            <a:off x="2833000" y="3420000"/>
            <a:ext cx="19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003668"/>
                </a:solidFill>
              </a:rPr>
              <a:t>Action</a:t>
            </a:r>
          </a:p>
        </p:txBody>
      </p:sp>
      <p:sp>
        <p:nvSpPr>
          <p:cNvPr id="12" name="Decision"/>
          <p:cNvSpPr/>
          <p:nvPr/>
        </p:nvSpPr>
        <p:spPr>
          <a:xfrm>
            <a:off x="5146000" y="1825000"/>
            <a:ext cx="1900000" cy="1450000"/>
          </a:xfrm>
          <a:prstGeom prst="flowChartDecision">
            <a:avLst/>
          </a:prstGeom>
          <a:solidFill>
            <a:srgbClr val="F2F7FC"/>
          </a:solidFill>
          <a:ln w="25400">
            <a:solidFill>
              <a:srgbClr val="157A7C"/>
            </a:solidFill>
            <a:round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500" dirty="0">
                <a:solidFill>
                  <a:srgbClr val="06345D"/>
                </a:solidFill>
              </a:rPr>
              <a:t>[Question?]</a:t>
            </a:r>
          </a:p>
        </p:txBody>
      </p:sp>
      <p:sp>
        <p:nvSpPr>
          <p:cNvPr id="22" name="Caption – Decision"/>
          <p:cNvSpPr txBox="1"/>
          <p:nvPr/>
        </p:nvSpPr>
        <p:spPr>
          <a:xfrm>
            <a:off x="5146000" y="3420000"/>
            <a:ext cx="19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003668"/>
                </a:solidFill>
              </a:rPr>
              <a:t>Decision</a:t>
            </a:r>
          </a:p>
        </p:txBody>
      </p:sp>
      <p:sp>
        <p:nvSpPr>
          <p:cNvPr id="13" name="Document"/>
          <p:cNvSpPr/>
          <p:nvPr/>
        </p:nvSpPr>
        <p:spPr>
          <a:xfrm>
            <a:off x="7459000" y="2000000"/>
            <a:ext cx="1900000" cy="1100000"/>
          </a:xfrm>
          <a:prstGeom prst="flowChartDocument">
            <a:avLst/>
          </a:prstGeom>
          <a:solidFill>
            <a:srgbClr val="FFFFFF"/>
          </a:solidFill>
          <a:ln w="22225">
            <a:solidFill>
              <a:srgbClr val="003668"/>
            </a:solidFill>
            <a:round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06345D"/>
                </a:solidFill>
              </a:rPr>
              <a:t>[Document]</a:t>
            </a:r>
          </a:p>
        </p:txBody>
      </p:sp>
      <p:sp>
        <p:nvSpPr>
          <p:cNvPr id="23" name="Caption – Document"/>
          <p:cNvSpPr txBox="1"/>
          <p:nvPr/>
        </p:nvSpPr>
        <p:spPr>
          <a:xfrm>
            <a:off x="7459000" y="3420000"/>
            <a:ext cx="19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003668"/>
                </a:solidFill>
              </a:rPr>
              <a:t>Document</a:t>
            </a:r>
          </a:p>
        </p:txBody>
      </p:sp>
      <p:sp>
        <p:nvSpPr>
          <p:cNvPr id="14" name="Support action"/>
          <p:cNvSpPr/>
          <p:nvPr/>
        </p:nvSpPr>
        <p:spPr>
          <a:xfrm>
            <a:off x="9772000" y="2000000"/>
            <a:ext cx="1900000" cy="1100000"/>
          </a:xfrm>
          <a:prstGeom prst="flowChartAlternateProcess">
            <a:avLst/>
          </a:prstGeom>
          <a:solidFill>
            <a:srgbClr val="E6F2F2"/>
          </a:solidFill>
          <a:ln w="22225">
            <a:solidFill>
              <a:srgbClr val="157A7C"/>
            </a:solidFill>
            <a:round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600" dirty="0">
                <a:solidFill>
                  <a:srgbClr val="06345D"/>
                </a:solidFill>
              </a:rPr>
              <a:t>[Support]</a:t>
            </a:r>
          </a:p>
        </p:txBody>
      </p:sp>
      <p:sp>
        <p:nvSpPr>
          <p:cNvPr id="24" name="Caption – Support action"/>
          <p:cNvSpPr txBox="1"/>
          <p:nvPr/>
        </p:nvSpPr>
        <p:spPr>
          <a:xfrm>
            <a:off x="9772000" y="3420000"/>
            <a:ext cx="19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003668"/>
                </a:solidFill>
              </a:rPr>
              <a:t>Support action</a:t>
            </a:r>
          </a:p>
        </p:txBody>
      </p:sp>
      <p:sp>
        <p:nvSpPr>
          <p:cNvPr id="30" name="Step A"/>
          <p:cNvSpPr/>
          <p:nvPr/>
        </p:nvSpPr>
        <p:spPr>
          <a:xfrm>
            <a:off x="520000" y="4400000"/>
            <a:ext cx="1450000" cy="750000"/>
          </a:xfrm>
          <a:prstGeom prst="flowChartProcess">
            <a:avLst/>
          </a:prstGeom>
          <a:solidFill>
            <a:srgbClr val="FFFFFF"/>
          </a:solidFill>
          <a:ln w="22225">
            <a:solidFill>
              <a:srgbClr val="003668"/>
            </a:solidFill>
            <a:round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solidFill>
                  <a:srgbClr val="06345D"/>
                </a:solidFill>
              </a:rPr>
              <a:t>[Step]</a:t>
            </a:r>
          </a:p>
        </p:txBody>
      </p:sp>
      <p:sp>
        <p:nvSpPr>
          <p:cNvPr id="31" name="Step B"/>
          <p:cNvSpPr/>
          <p:nvPr/>
        </p:nvSpPr>
        <p:spPr>
          <a:xfrm>
            <a:off x="2670000" y="4400000"/>
            <a:ext cx="1450000" cy="750000"/>
          </a:xfrm>
          <a:prstGeom prst="flowChartProcess">
            <a:avLst/>
          </a:prstGeom>
          <a:solidFill>
            <a:srgbClr val="FFFFFF"/>
          </a:solidFill>
          <a:ln w="22225">
            <a:solidFill>
              <a:srgbClr val="003668"/>
            </a:solidFill>
            <a:round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solidFill>
                  <a:srgbClr val="06345D"/>
                </a:solidFill>
              </a:rPr>
              <a:t>[Step]</a:t>
            </a:r>
          </a:p>
        </p:txBody>
      </p:sp>
      <p:cxnSp>
        <p:nvCxnSpPr>
          <p:cNvPr id="32" name="Flow connector"/>
          <p:cNvCxnSpPr>
            <a:stCxn id="30" idx="3"/>
            <a:endCxn id="31" idx="1"/>
          </p:cNvCxnSpPr>
          <p:nvPr/>
        </p:nvCxnSpPr>
        <p:spPr>
          <a:xfrm>
            <a:off x="1970000" y="4775000"/>
            <a:ext cx="700000" cy="0"/>
          </a:xfrm>
          <a:prstGeom prst="straightConnector1">
            <a:avLst/>
          </a:prstGeom>
          <a:ln w="22225">
            <a:solidFill>
              <a:srgbClr val="06345D"/>
            </a:solidFill>
            <a:round/>
            <a:tailEnd type="triangle" w="med" len="med"/>
          </a:ln>
        </p:spPr>
      </p:cxnSp>
      <p:sp>
        <p:nvSpPr>
          <p:cNvPr id="33" name="Step C"/>
          <p:cNvSpPr/>
          <p:nvPr/>
        </p:nvSpPr>
        <p:spPr>
          <a:xfrm>
            <a:off x="5120000" y="4400000"/>
            <a:ext cx="1450000" cy="750000"/>
          </a:xfrm>
          <a:prstGeom prst="flowChartProcess">
            <a:avLst/>
          </a:prstGeom>
          <a:solidFill>
            <a:srgbClr val="FFFFFF"/>
          </a:solidFill>
          <a:ln w="22225">
            <a:solidFill>
              <a:srgbClr val="003668"/>
            </a:solidFill>
            <a:round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solidFill>
                  <a:srgbClr val="06345D"/>
                </a:solidFill>
              </a:rPr>
              <a:t>[Step]</a:t>
            </a:r>
          </a:p>
        </p:txBody>
      </p:sp>
      <p:sp>
        <p:nvSpPr>
          <p:cNvPr id="34" name="Step D"/>
          <p:cNvSpPr/>
          <p:nvPr/>
        </p:nvSpPr>
        <p:spPr>
          <a:xfrm>
            <a:off x="7270000" y="4400000"/>
            <a:ext cx="1450000" cy="750000"/>
          </a:xfrm>
          <a:prstGeom prst="flowChartAlternateProcess">
            <a:avLst/>
          </a:prstGeom>
          <a:solidFill>
            <a:srgbClr val="E6F2F2"/>
          </a:solidFill>
          <a:ln w="22225">
            <a:solidFill>
              <a:srgbClr val="157A7C"/>
            </a:solidFill>
            <a:round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400" dirty="0">
                <a:solidFill>
                  <a:srgbClr val="06345D"/>
                </a:solidFill>
              </a:rPr>
              <a:t>[Support]</a:t>
            </a:r>
          </a:p>
        </p:txBody>
      </p:sp>
      <p:cxnSp>
        <p:nvCxnSpPr>
          <p:cNvPr id="35" name="Return route"/>
          <p:cNvCxnSpPr>
            <a:stCxn id="34" idx="1"/>
            <a:endCxn id="33" idx="3"/>
          </p:cNvCxnSpPr>
          <p:nvPr/>
        </p:nvCxnSpPr>
        <p:spPr>
          <a:xfrm flipH="1">
            <a:off x="6570000" y="4775000"/>
            <a:ext cx="700000" cy="0"/>
          </a:xfrm>
          <a:prstGeom prst="straightConnector1">
            <a:avLst/>
          </a:prstGeom>
          <a:ln w="22225">
            <a:solidFill>
              <a:srgbClr val="157A7C"/>
            </a:solidFill>
            <a:prstDash val="dash"/>
            <a:round/>
            <a:tailEnd type="triangle" w="med" len="med"/>
          </a:ln>
        </p:spPr>
      </p:cxnSp>
      <p:sp>
        <p:nvSpPr>
          <p:cNvPr id="36" name="Caption"/>
          <p:cNvSpPr txBox="1"/>
          <p:nvPr/>
        </p:nvSpPr>
        <p:spPr>
          <a:xfrm>
            <a:off x="520000" y="5330000"/>
            <a:ext cx="36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300" dirty="0">
                <a:solidFill>
                  <a:srgbClr val="06345D"/>
                </a:solidFill>
              </a:rPr>
              <a:t>Flow connector · 1.75 pt, arrow at the end</a:t>
            </a:r>
          </a:p>
        </p:txBody>
      </p:sp>
      <p:sp>
        <p:nvSpPr>
          <p:cNvPr id="37" name="Caption"/>
          <p:cNvSpPr txBox="1"/>
          <p:nvPr/>
        </p:nvSpPr>
        <p:spPr>
          <a:xfrm>
            <a:off x="5120000" y="5330000"/>
            <a:ext cx="36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300" dirty="0">
                <a:solidFill>
                  <a:srgbClr val="06345D"/>
                </a:solidFill>
              </a:rPr>
              <a:t>Return route · dashed teal</a:t>
            </a:r>
          </a:p>
        </p:txBody>
      </p:sp>
      <p:sp>
        <p:nvSpPr>
          <p:cNvPr id="38" name="Label – Yes"/>
          <p:cNvSpPr txBox="1"/>
          <p:nvPr/>
        </p:nvSpPr>
        <p:spPr>
          <a:xfrm>
            <a:off x="9720000" y="4600000"/>
            <a:ext cx="7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003668"/>
                </a:solidFill>
              </a:rPr>
              <a:t>Yes</a:t>
            </a:r>
          </a:p>
        </p:txBody>
      </p:sp>
      <p:sp>
        <p:nvSpPr>
          <p:cNvPr id="39" name="Label – No"/>
          <p:cNvSpPr txBox="1"/>
          <p:nvPr/>
        </p:nvSpPr>
        <p:spPr>
          <a:xfrm>
            <a:off x="10620000" y="4600000"/>
            <a:ext cx="700000" cy="3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400" b="1" dirty="0">
                <a:solidFill>
                  <a:srgbClr val="003668"/>
                </a:solidFill>
              </a:rPr>
              <a:t>No</a:t>
            </a:r>
          </a:p>
        </p:txBody>
      </p:sp>
      <p:sp>
        <p:nvSpPr>
          <p:cNvPr id="40" name="Caption"/>
          <p:cNvSpPr txBox="1"/>
          <p:nvPr/>
        </p:nvSpPr>
        <p:spPr>
          <a:xfrm>
            <a:off x="9720000" y="5330000"/>
            <a:ext cx="1952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300" dirty="0">
                <a:solidFill>
                  <a:srgbClr val="06345D"/>
                </a:solidFill>
              </a:rPr>
              <a:t>Branch labels · beside the 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rtfordshire Mentoring">
  <a:themeElements>
    <a:clrScheme name="Hertfordshire Mentoring">
      <a:dk1>
        <a:srgbClr val="1E2329"/>
      </a:dk1>
      <a:lt1>
        <a:srgbClr val="FFFFFF"/>
      </a:lt1>
      <a:dk2>
        <a:srgbClr val="003668"/>
      </a:dk2>
      <a:lt2>
        <a:srgbClr val="F2F7FC"/>
      </a:lt2>
      <a:accent1>
        <a:srgbClr val="003668"/>
      </a:accent1>
      <a:accent2>
        <a:srgbClr val="157A7C"/>
      </a:accent2>
      <a:accent3>
        <a:srgbClr val="0A4F72"/>
      </a:accent3>
      <a:accent4>
        <a:srgbClr val="106576"/>
      </a:accent4>
      <a:accent5>
        <a:srgbClr val="06345D"/>
      </a:accent5>
      <a:accent6>
        <a:srgbClr val="9FB3C8"/>
      </a:accent6>
      <a:hlink>
        <a:srgbClr val="003668"/>
      </a:hlink>
      <a:folHlink>
        <a:srgbClr val="157A7C"/>
      </a:folHlink>
    </a:clrScheme>
    <a:fontScheme name="Hertfordshire Mentoring">
      <a:majorFont>
        <a:latin typeface="DM Sans Medium"/>
        <a:ea typeface=""/>
        <a:cs typeface=""/>
      </a:majorFont>
      <a:minorFont>
        <a:latin typeface="DM Sans Medium"/>
        <a:ea typeface=""/>
        <a:cs typeface=""/>
      </a:minorFont>
    </a:fontScheme>
    <a:fmtScheme name="Simpl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1905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Hertfordshire Mentoring">
      <a:dk1>
        <a:srgbClr val="1E2329"/>
      </a:dk1>
      <a:lt1>
        <a:srgbClr val="FFFFFF"/>
      </a:lt1>
      <a:dk2>
        <a:srgbClr val="003668"/>
      </a:dk2>
      <a:lt2>
        <a:srgbClr val="F2F7FC"/>
      </a:lt2>
      <a:accent1>
        <a:srgbClr val="003668"/>
      </a:accent1>
      <a:accent2>
        <a:srgbClr val="157A7C"/>
      </a:accent2>
      <a:accent3>
        <a:srgbClr val="0A4F72"/>
      </a:accent3>
      <a:accent4>
        <a:srgbClr val="106576"/>
      </a:accent4>
      <a:accent5>
        <a:srgbClr val="06345D"/>
      </a:accent5>
      <a:accent6>
        <a:srgbClr val="9FB3C8"/>
      </a:accent6>
      <a:hlink>
        <a:srgbClr val="003668"/>
      </a:hlink>
      <a:folHlink>
        <a:srgbClr val="157A7C"/>
      </a:folHlink>
    </a:clrScheme>
    <a:fontScheme name="Hertfordshire Mentoring">
      <a:majorFont>
        <a:latin typeface="DM Sans Medium"/>
        <a:ea typeface=""/>
        <a:cs typeface=""/>
      </a:majorFont>
      <a:minorFont>
        <a:latin typeface="DM Sans Medium"/>
        <a:ea typeface=""/>
        <a:cs typeface=""/>
      </a:minorFont>
    </a:fontScheme>
    <a:fmtScheme name="Simpl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1905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Hertfordshire Provincial Mentoring – Flowcharts</dc:title>
  <dc:creator>Hertfordshire Provincial Mentoring</dc:creator>
  <dcterms:created xsi:type="dcterms:W3CDTF">2026-10-09T09:00:00Z</dcterms:created>
</cp:coreProperties>
</file>