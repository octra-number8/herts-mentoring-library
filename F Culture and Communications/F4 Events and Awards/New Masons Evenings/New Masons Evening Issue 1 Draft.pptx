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a39e2564-5b2a-5c61-3418-674502429210}">
          <p14:sldIdLst>
            <p14:sldId id="256"/>
            <p14:sldId id="257"/>
            <p14:sldId id="258"/>
          </p14:sldIdLst>
        </p14:section>
        <p14:section name="1 Mentoring" id="{c081e608-e33a-5310-78ed-5fdee87d2e7c}">
          <p14:sldIdLst>
            <p14:sldId id="259"/>
            <p14:sldId id="260"/>
            <p14:sldId id="261"/>
            <p14:sldId id="262"/>
            <p14:sldId id="263"/>
            <p14:sldId id="264"/>
            <p14:sldId id="265"/>
            <p14:sldId id="266"/>
            <p14:sldId id="267"/>
            <p14:sldId id="268"/>
            <p14:sldId id="269"/>
            <p14:sldId id="270"/>
            <p14:sldId id="271"/>
            <p14:sldId id="272"/>
          </p14:sldIdLst>
        </p14:section>
        <p14:section name="2 Learning and Development" id="{7a0fb66b-02e3-307d-d9ab-e2efa6689f8e}">
          <p14:sldIdLst>
            <p14:sldId id="273"/>
            <p14:sldId id="274"/>
            <p14:sldId id="275"/>
            <p14:sldId id="276"/>
            <p14:sldId id="277"/>
            <p14:sldId id="278"/>
          </p14:sldIdLst>
        </p14:section>
        <p14:section name="3 Fleet House Light Blues Club" id="{8ded66fd-d1fd-eafa-9283-762a02436018}">
          <p14:sldIdLst>
            <p14:sldId id="279"/>
            <p14:sldId id="280"/>
            <p14:sldId id="281"/>
            <p14:sldId id="282"/>
            <p14:sldId id="283"/>
          </p14:sldIdLst>
        </p14:section>
        <p14:section name="Close" id="{15b3385f-7c06-f2be-b8b6-6545d5e0afea}">
          <p14:sldIdLst>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Replace [Date] and [Venue]. Open warmly: this evening exists because new Masons told us what they wished someone had explained. No question is too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card system for questions. Point out the three presenters.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each presenter briefly. Mark and Wes share the mentoring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distinction clear: Personal Mentor accompanies, Lodge Mentor co-ordinates, Province supports. Everyone in this room has one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the principles as on the canon page. Stress: not stages. The tagline is the Province's house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high level. One Journey is Hertfordshire's name for the Craft to Royal Arch continuum; the Royal Arch Representative in each Lodge is the person to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Drawn from the poll FAQ. The socks question came up more than once; say it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answers are from the poll FAQ. Have a Club tie and pin to hold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the Summons is a letter from your Lodge, not an exam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here is ritual. Invite them to shout any word they have heard and not understood; the second page has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glossary is also on the Provincial website;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ranks look like alphabet soup for about a year and then stop. Nobody minds being asked what theirs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ProvGMen and APGMen: explain the spelling once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to send everyone a draft reply they can adapt; the Personal Mentor's Short Guide tells mentors to do this before Initiation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Brethren who visit are more confident, better informed and far more likely to stay. Isolation is one of the earliest predictors of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card matters most. Make eye contact and slow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if the Wi-Fi allows. Keep it to two minutes: login, search, Welcome Apprentice.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the presentation process is as stated; it mirrors the Metropolitan approach. Hold up a tie pin.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UGLE guidance: not everyone wishes to learn ritual, and that is fine. The minimum is the questions and answers between degrees.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UGLE's Learning Ritual guidance (Members' Pathway, ENGAGE). The non-Mason point matters: a partner can hold the book for a charge, never for anything covered by the obligation.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any Provincial L&amp;D programme details the L&amp;D Officer wants to include, e.g. forthcoming talks.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fhlbc.co.uk. Explore, Discover, Engage are the club's own three headings.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Prices as published at fhlbc.co.uk/join-us at the time of writing; check before the evening.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the three events before each delivery. The Gladsmuir evening is the one to push for anyone about to be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rules from the poll FAQ. Have stock on the table if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show of hands at the end of the evening on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card aloud without naming the writer. Unknown answers go back via the Lodge Mentor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house line. Thank the host Lodge and the caterers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lIns="0" tIns="0" rIns="0" bIns="0" rtlCol="0" anchor="ctr"/>
          <a:lstStyle/>
          <a:p>
            <a:pPr indent="0" marL="0">
              <a:buNone/>
            </a:pPr>
            <a:r>
              <a:rPr lang="en-US" sz="2400" b="1" dirty="0">
                <a:solidFill>
                  <a:srgbClr val="003668"/>
                </a:solidFill>
              </a:rPr>
              <a:t>Provincial Mentoring</a:t>
            </a:r>
            <a:endParaRPr lang="en-US" sz="2400" dirty="0"/>
          </a:p>
        </p:txBody>
      </p:sp>
      <p:sp>
        <p:nvSpPr>
          <p:cNvPr id="3" name="Text 1"/>
          <p:cNvSpPr/>
          <p:nvPr/>
        </p:nvSpPr>
        <p:spPr>
          <a:xfrm>
            <a:off x="548640" y="914400"/>
            <a:ext cx="7315200" cy="320040"/>
          </a:xfrm>
          <a:prstGeom prst="rect">
            <a:avLst/>
          </a:prstGeom>
          <a:noFill/>
          <a:ln/>
        </p:spPr>
        <p:txBody>
          <a:bodyPr wrap="square" lIns="0" tIns="0" rIns="0" bIns="0" rtlCol="0" anchor="ctr"/>
          <a:lstStyle/>
          <a:p>
            <a:pPr indent="0" marL="0">
              <a:buNone/>
            </a:pPr>
            <a:r>
              <a:rPr lang="en-US" sz="1300" dirty="0">
                <a:solidFill>
                  <a:srgbClr val="06345D"/>
                </a:solidFill>
              </a:rPr>
              <a:t>Provincial Grand Lodge of Hertfordshire</a:t>
            </a:r>
            <a:endParaRPr lang="en-US" sz="1300" dirty="0"/>
          </a:p>
        </p:txBody>
      </p:sp>
      <p:sp>
        <p:nvSpPr>
          <p:cNvPr id="4" name="Text 2"/>
          <p:cNvSpPr/>
          <p:nvPr/>
        </p:nvSpPr>
        <p:spPr>
          <a:xfrm>
            <a:off x="548640" y="1188720"/>
            <a:ext cx="7315200" cy="320040"/>
          </a:xfrm>
          <a:prstGeom prst="rect">
            <a:avLst/>
          </a:prstGeom>
          <a:noFill/>
          <a:ln/>
        </p:spPr>
        <p:txBody>
          <a:bodyPr wrap="square" lIns="0" tIns="0" rIns="0" bIns="0" rtlCol="0" anchor="ctr"/>
          <a:lstStyle/>
          <a:p>
            <a:pPr indent="0" marL="0">
              <a:buNone/>
            </a:pPr>
            <a:r>
              <a:rPr lang="en-US" sz="1300" b="1" dirty="0">
                <a:solidFill>
                  <a:srgbClr val="157A7C"/>
                </a:solidFill>
              </a:rPr>
              <a:t>Prepare • Guide • Support • Enlighten</a:t>
            </a:r>
            <a:endParaRPr lang="en-US" sz="1300" dirty="0"/>
          </a:p>
        </p:txBody>
      </p:sp>
      <p:pic>
        <p:nvPicPr>
          <p:cNvPr id="5" name="Image 0" descr="../art/PGLH-Shield.png">    </p:cNvPr>
          <p:cNvPicPr>
            <a:picLocks noChangeAspect="1"/>
          </p:cNvPicPr>
          <p:nvPr/>
        </p:nvPicPr>
        <p:blipFill>
          <a:blip r:embed="rId1"/>
          <a:stretch>
            <a:fillRect/>
          </a:stretch>
        </p:blipFill>
        <p:spPr>
          <a:xfrm>
            <a:off x="10314432" y="365760"/>
            <a:ext cx="1325880" cy="1527048"/>
          </a:xfrm>
          <a:prstGeom prst="rect">
            <a:avLst/>
          </a:prstGeom>
        </p:spPr>
      </p:pic>
      <p:sp>
        <p:nvSpPr>
          <p:cNvPr id="6" name="Shape 3"/>
          <p:cNvSpPr/>
          <p:nvPr/>
        </p:nvSpPr>
        <p:spPr>
          <a:xfrm>
            <a:off x="0" y="2057400"/>
            <a:ext cx="3047238" cy="237744"/>
          </a:xfrm>
          <a:prstGeom prst="rect">
            <a:avLst/>
          </a:prstGeom>
          <a:solidFill>
            <a:srgbClr val="003668"/>
          </a:solidFill>
          <a:ln/>
        </p:spPr>
      </p:sp>
      <p:sp>
        <p:nvSpPr>
          <p:cNvPr id="7" name="Shape 4"/>
          <p:cNvSpPr/>
          <p:nvPr/>
        </p:nvSpPr>
        <p:spPr>
          <a:xfrm>
            <a:off x="3047238" y="2057400"/>
            <a:ext cx="3047238" cy="237744"/>
          </a:xfrm>
          <a:prstGeom prst="rect">
            <a:avLst/>
          </a:prstGeom>
          <a:solidFill>
            <a:srgbClr val="0A4F72"/>
          </a:solidFill>
          <a:ln/>
        </p:spPr>
      </p:sp>
      <p:sp>
        <p:nvSpPr>
          <p:cNvPr id="8" name="Shape 5"/>
          <p:cNvSpPr/>
          <p:nvPr/>
        </p:nvSpPr>
        <p:spPr>
          <a:xfrm>
            <a:off x="6094476" y="2057400"/>
            <a:ext cx="3047238" cy="237744"/>
          </a:xfrm>
          <a:prstGeom prst="rect">
            <a:avLst/>
          </a:prstGeom>
          <a:solidFill>
            <a:srgbClr val="106576"/>
          </a:solidFill>
          <a:ln/>
        </p:spPr>
      </p:sp>
      <p:sp>
        <p:nvSpPr>
          <p:cNvPr id="9" name="Shape 6"/>
          <p:cNvSpPr/>
          <p:nvPr/>
        </p:nvSpPr>
        <p:spPr>
          <a:xfrm>
            <a:off x="9141714" y="2057400"/>
            <a:ext cx="3047238" cy="237744"/>
          </a:xfrm>
          <a:prstGeom prst="rect">
            <a:avLst/>
          </a:prstGeom>
          <a:solidFill>
            <a:srgbClr val="157A7C"/>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03668"/>
        </a:solidFill>
      </p:bgPr>
    </p:bg>
    <p:spTree>
      <p:nvGrpSpPr>
        <p:cNvPr id="1" name=""/>
        <p:cNvGrpSpPr/>
        <p:nvPr/>
      </p:nvGrpSpPr>
      <p:grpSpPr>
        <a:xfrm>
          <a:off x="0" y="0"/>
          <a:ext cx="0" cy="0"/>
          <a:chOff x="0" y="0"/>
          <a:chExt cx="0" cy="0"/>
        </a:xfrm>
      </p:grpSpPr>
      <p:sp>
        <p:nvSpPr>
          <p:cNvPr id="2" name="Shape 0"/>
          <p:cNvSpPr/>
          <p:nvPr/>
        </p:nvSpPr>
        <p:spPr>
          <a:xfrm>
            <a:off x="0" y="6583680"/>
            <a:ext cx="12188952" cy="36576"/>
          </a:xfrm>
          <a:prstGeom prst="rect">
            <a:avLst/>
          </a:prstGeom>
          <a:solidFill>
            <a:srgbClr val="FFFFFF"/>
          </a:solidFill>
          <a:ln/>
        </p:spPr>
      </p:sp>
      <p:sp>
        <p:nvSpPr>
          <p:cNvPr id="3" name="Shape 1"/>
          <p:cNvSpPr/>
          <p:nvPr/>
        </p:nvSpPr>
        <p:spPr>
          <a:xfrm>
            <a:off x="0" y="6620256"/>
            <a:ext cx="3047238" cy="237744"/>
          </a:xfrm>
          <a:prstGeom prst="rect">
            <a:avLst/>
          </a:prstGeom>
          <a:solidFill>
            <a:srgbClr val="003668"/>
          </a:solidFill>
          <a:ln/>
        </p:spPr>
      </p:sp>
      <p:sp>
        <p:nvSpPr>
          <p:cNvPr id="4" name="Shape 2"/>
          <p:cNvSpPr/>
          <p:nvPr/>
        </p:nvSpPr>
        <p:spPr>
          <a:xfrm>
            <a:off x="3047238" y="6620256"/>
            <a:ext cx="3047238" cy="237744"/>
          </a:xfrm>
          <a:prstGeom prst="rect">
            <a:avLst/>
          </a:prstGeom>
          <a:solidFill>
            <a:srgbClr val="0A4F72"/>
          </a:solidFill>
          <a:ln/>
        </p:spPr>
      </p:sp>
      <p:sp>
        <p:nvSpPr>
          <p:cNvPr id="5" name="Shape 3"/>
          <p:cNvSpPr/>
          <p:nvPr/>
        </p:nvSpPr>
        <p:spPr>
          <a:xfrm>
            <a:off x="6094476" y="6620256"/>
            <a:ext cx="3047238" cy="237744"/>
          </a:xfrm>
          <a:prstGeom prst="rect">
            <a:avLst/>
          </a:prstGeom>
          <a:solidFill>
            <a:srgbClr val="106576"/>
          </a:solidFill>
          <a:ln/>
        </p:spPr>
      </p:sp>
      <p:sp>
        <p:nvSpPr>
          <p:cNvPr id="6" name="Shape 4"/>
          <p:cNvSpPr/>
          <p:nvPr/>
        </p:nvSpPr>
        <p:spPr>
          <a:xfrm>
            <a:off x="9141714" y="6620256"/>
            <a:ext cx="3047238" cy="237744"/>
          </a:xfrm>
          <a:prstGeom prst="rect">
            <a:avLst/>
          </a:prstGeom>
          <a:solidFill>
            <a:srgbClr val="157A7C"/>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748272"/>
            <a:ext cx="3047238" cy="109728"/>
          </a:xfrm>
          <a:prstGeom prst="rect">
            <a:avLst/>
          </a:prstGeom>
          <a:solidFill>
            <a:srgbClr val="003668"/>
          </a:solidFill>
          <a:ln/>
        </p:spPr>
      </p:sp>
      <p:sp>
        <p:nvSpPr>
          <p:cNvPr id="3" name="Shape 1"/>
          <p:cNvSpPr/>
          <p:nvPr/>
        </p:nvSpPr>
        <p:spPr>
          <a:xfrm>
            <a:off x="3047238" y="6748272"/>
            <a:ext cx="3047238" cy="109728"/>
          </a:xfrm>
          <a:prstGeom prst="rect">
            <a:avLst/>
          </a:prstGeom>
          <a:solidFill>
            <a:srgbClr val="0A4F72"/>
          </a:solidFill>
          <a:ln/>
        </p:spPr>
      </p:sp>
      <p:sp>
        <p:nvSpPr>
          <p:cNvPr id="4" name="Shape 2"/>
          <p:cNvSpPr/>
          <p:nvPr/>
        </p:nvSpPr>
        <p:spPr>
          <a:xfrm>
            <a:off x="6094476" y="6748272"/>
            <a:ext cx="3047238" cy="109728"/>
          </a:xfrm>
          <a:prstGeom prst="rect">
            <a:avLst/>
          </a:prstGeom>
          <a:solidFill>
            <a:srgbClr val="106576"/>
          </a:solidFill>
          <a:ln/>
        </p:spPr>
      </p:sp>
      <p:sp>
        <p:nvSpPr>
          <p:cNvPr id="5" name="Shape 3"/>
          <p:cNvSpPr/>
          <p:nvPr/>
        </p:nvSpPr>
        <p:spPr>
          <a:xfrm>
            <a:off x="9141714" y="6748272"/>
            <a:ext cx="3047238" cy="109728"/>
          </a:xfrm>
          <a:prstGeom prst="rect">
            <a:avLst/>
          </a:prstGeom>
          <a:solidFill>
            <a:srgbClr val="157A7C"/>
          </a:solidFill>
          <a:ln/>
        </p:spPr>
      </p:sp>
      <p:sp>
        <p:nvSpPr>
          <p:cNvPr id="6" name="Text 4"/>
          <p:cNvSpPr/>
          <p:nvPr/>
        </p:nvSpPr>
        <p:spPr>
          <a:xfrm>
            <a:off x="548640" y="6382512"/>
            <a:ext cx="7315200" cy="274320"/>
          </a:xfrm>
          <a:prstGeom prst="rect">
            <a:avLst/>
          </a:prstGeom>
          <a:noFill/>
          <a:ln/>
        </p:spPr>
        <p:txBody>
          <a:bodyPr wrap="square" lIns="0" tIns="0" rIns="0" bIns="0" rtlCol="0" anchor="ctr"/>
          <a:lstStyle/>
          <a:p>
            <a:pPr indent="0" marL="0">
              <a:buNone/>
            </a:pPr>
            <a:r>
              <a:rPr lang="en-US" sz="900" dirty="0">
                <a:solidFill>
                  <a:srgbClr val="06345D"/>
                </a:solidFill>
              </a:rPr>
              <a:t>Hertfordshire Provincial Mentoring  ·  New Masons Evening</a:t>
            </a:r>
            <a:endParaRPr lang="en-US" sz="9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4.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4.xml"/><Relationship Id="rId5"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548640" y="2651760"/>
            <a:ext cx="10058400" cy="1188720"/>
          </a:xfrm>
          <a:prstGeom prst="rect">
            <a:avLst/>
          </a:prstGeom>
          <a:noFill/>
          <a:ln/>
        </p:spPr>
        <p:txBody>
          <a:bodyPr wrap="square" lIns="0" tIns="0" rIns="0" bIns="0" rtlCol="0" anchor="ctr"/>
          <a:lstStyle/>
          <a:p>
            <a:pPr indent="0" marL="0">
              <a:buNone/>
            </a:pPr>
            <a:r>
              <a:rPr lang="en-US" sz="5400" b="1" dirty="0">
                <a:solidFill>
                  <a:srgbClr val="003668"/>
                </a:solidFill>
              </a:rPr>
              <a:t>New Masons Evening</a:t>
            </a:r>
            <a:endParaRPr lang="en-US" sz="5400" dirty="0"/>
          </a:p>
        </p:txBody>
      </p:sp>
      <p:sp>
        <p:nvSpPr>
          <p:cNvPr id="3" name="Subtitle"/>
          <p:cNvSpPr txBox="1"/>
          <p:nvPr/>
        </p:nvSpPr>
        <p:spPr>
          <a:xfrm>
            <a:off x="548640" y="3840480"/>
            <a:ext cx="9601200" cy="822960"/>
          </a:xfrm>
          <a:prstGeom prst="rect">
            <a:avLst/>
          </a:prstGeom>
          <a:noFill/>
          <a:ln/>
        </p:spPr>
        <p:txBody>
          <a:bodyPr wrap="square" lIns="0" tIns="0" rIns="0" bIns="0" rtlCol="0" anchor="ctr"/>
          <a:lstStyle/>
          <a:p>
            <a:pPr indent="0" marL="0">
              <a:buNone/>
            </a:pPr>
            <a:r>
              <a:rPr lang="en-US" sz="2000" dirty="0">
                <a:solidFill>
                  <a:srgbClr val="06345D"/>
                </a:solidFill>
              </a:rPr>
              <a:t>An evening for Brethren in their first two years: the questions you wanted answered, and the people here to help</a:t>
            </a:r>
            <a:endParaRPr lang="en-US" sz="2000" dirty="0"/>
          </a:p>
        </p:txBody>
      </p:sp>
      <p:sp>
        <p:nvSpPr>
          <p:cNvPr id="4" name="Date and venue"/>
          <p:cNvSpPr txBox="1"/>
          <p:nvPr/>
        </p:nvSpPr>
        <p:spPr>
          <a:xfrm>
            <a:off x="548640" y="4937760"/>
            <a:ext cx="10058400" cy="457200"/>
          </a:xfrm>
          <a:prstGeom prst="rect">
            <a:avLst/>
          </a:prstGeom>
          <a:noFill/>
          <a:ln/>
        </p:spPr>
        <p:txBody>
          <a:bodyPr wrap="square" lIns="0" tIns="0" rIns="0" bIns="0" rtlCol="0" anchor="ctr"/>
          <a:lstStyle/>
          <a:p>
            <a:pPr indent="0" marL="0">
              <a:buNone/>
            </a:pPr>
            <a:r>
              <a:rPr lang="en-US" sz="1600" b="1" dirty="0">
                <a:solidFill>
                  <a:srgbClr val="157A7C"/>
                </a:solidFill>
              </a:rPr>
              <a:t>[Date]  ·  [Venue]  ·  Hertfordshire Provincial Mentoring Team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What tonight is for</a:t>
            </a:r>
            <a:endParaRPr lang="en-US" sz="3200" dirty="0"/>
          </a:p>
        </p:txBody>
      </p:sp>
      <p:sp>
        <p:nvSpPr>
          <p:cNvPr id="3" name="Intro"/>
          <p:cNvSpPr txBox="1"/>
          <p:nvPr/>
        </p:nvSpPr>
        <p:spPr>
          <a:xfrm>
            <a:off x="548640" y="1371600"/>
            <a:ext cx="6583680" cy="2194560"/>
          </a:xfrm>
          <a:prstGeom prst="rect">
            <a:avLst/>
          </a:prstGeom>
          <a:noFill/>
          <a:ln/>
        </p:spPr>
        <p:txBody>
          <a:bodyPr wrap="square" lIns="0" tIns="0" rIns="0" bIns="0" rtlCol="0" anchor="t"/>
          <a:lstStyle/>
          <a:p>
            <a:pPr indent="0" marL="0">
              <a:buNone/>
            </a:pPr>
            <a:r>
              <a:rPr lang="en-US" sz="1600" dirty="0">
                <a:solidFill>
                  <a:srgbClr val="1E2329"/>
                </a:solidFill>
              </a:rPr>
              <a:t>You asked. We listened. Earlier this year we polled Brethren across the Province about what they wished someone had told them in their first two years. Tonight is the answer: three short sessions, plenty of time for questions, and the chance to meet the people whose job is to help you enjoy Freemasonry.</a:t>
            </a:r>
            <a:endParaRPr lang="en-US" sz="1600" dirty="0"/>
          </a:p>
        </p:txBody>
      </p:sp>
      <p:sp>
        <p:nvSpPr>
          <p:cNvPr id="4" name="Card Ask anything"/>
          <p:cNvSpPr/>
          <p:nvPr/>
        </p:nvSpPr>
        <p:spPr>
          <a:xfrm>
            <a:off x="548640" y="3749040"/>
            <a:ext cx="3291840" cy="2103120"/>
          </a:xfrm>
          <a:prstGeom prst="roundRect">
            <a:avLst>
              <a:gd name="adj" fmla="val 3478"/>
            </a:avLst>
          </a:prstGeom>
          <a:solidFill>
            <a:srgbClr val="F2F7FC"/>
          </a:solidFill>
          <a:ln w="12700">
            <a:solidFill>
              <a:srgbClr val="F2F7FC"/>
            </a:solidFill>
            <a:prstDash val="solid"/>
          </a:ln>
        </p:spPr>
      </p:sp>
      <p:pic>
        <p:nvPicPr>
          <p:cNvPr id="5" name="Image 0" descr="preencoded.png">    </p:cNvPr>
          <p:cNvPicPr>
            <a:picLocks noChangeAspect="1"/>
          </p:cNvPicPr>
          <p:nvPr/>
        </p:nvPicPr>
        <p:blipFill>
          <a:blip r:embed="rId1"/>
          <a:stretch>
            <a:fillRect/>
          </a:stretch>
        </p:blipFill>
        <p:spPr>
          <a:xfrm>
            <a:off x="749808" y="3931920"/>
            <a:ext cx="384048" cy="384048"/>
          </a:xfrm>
          <a:prstGeom prst="rect">
            <a:avLst/>
          </a:prstGeom>
        </p:spPr>
      </p:pic>
      <p:sp>
        <p:nvSpPr>
          <p:cNvPr id="6" name="Text 3"/>
          <p:cNvSpPr txBox="1"/>
          <p:nvPr/>
        </p:nvSpPr>
        <p:spPr>
          <a:xfrm>
            <a:off x="1261872" y="3913632"/>
            <a:ext cx="2377440" cy="411480"/>
          </a:xfrm>
          <a:prstGeom prst="rect">
            <a:avLst/>
          </a:prstGeom>
          <a:noFill/>
          <a:ln/>
        </p:spPr>
        <p:txBody>
          <a:bodyPr wrap="square" lIns="0" tIns="0" rIns="0" bIns="0" rtlCol="0" anchor="ctr"/>
          <a:lstStyle/>
          <a:p>
            <a:pPr indent="0" marL="0">
              <a:buNone/>
            </a:pPr>
            <a:r>
              <a:rPr lang="en-US" sz="1600" b="1" dirty="0">
                <a:solidFill>
                  <a:srgbClr val="003668"/>
                </a:solidFill>
              </a:rPr>
              <a:t>Ask anything</a:t>
            </a:r>
            <a:endParaRPr lang="en-US" sz="1600" dirty="0"/>
          </a:p>
        </p:txBody>
      </p:sp>
      <p:sp>
        <p:nvSpPr>
          <p:cNvPr id="7" name="Text 4"/>
          <p:cNvSpPr txBox="1"/>
          <p:nvPr/>
        </p:nvSpPr>
        <p:spPr>
          <a:xfrm>
            <a:off x="777240" y="4370832"/>
            <a:ext cx="2834640" cy="1371600"/>
          </a:xfrm>
          <a:prstGeom prst="rect">
            <a:avLst/>
          </a:prstGeom>
          <a:noFill/>
          <a:ln/>
        </p:spPr>
        <p:txBody>
          <a:bodyPr wrap="square" lIns="0" tIns="0" rIns="0" bIns="0" rtlCol="0" anchor="t"/>
          <a:lstStyle/>
          <a:p>
            <a:pPr indent="0" marL="0">
              <a:buNone/>
            </a:pPr>
            <a:r>
              <a:rPr lang="en-US" sz="1400" dirty="0">
                <a:solidFill>
                  <a:srgbClr val="1E2329"/>
                </a:solidFill>
              </a:rPr>
              <a:t>Cards and pens are on the tables. Write a question at any point and hand it in; we answer them all at the end.</a:t>
            </a:r>
            <a:endParaRPr lang="en-US" sz="1400" dirty="0"/>
          </a:p>
        </p:txBody>
      </p:sp>
      <p:sp>
        <p:nvSpPr>
          <p:cNvPr id="8" name="Card Nothing is secret here"/>
          <p:cNvSpPr/>
          <p:nvPr/>
        </p:nvSpPr>
        <p:spPr>
          <a:xfrm>
            <a:off x="4023360" y="3749040"/>
            <a:ext cx="3108960" cy="2103120"/>
          </a:xfrm>
          <a:prstGeom prst="roundRect">
            <a:avLst>
              <a:gd name="adj" fmla="val 3478"/>
            </a:avLst>
          </a:prstGeom>
          <a:solidFill>
            <a:srgbClr val="F2F7FC"/>
          </a:solidFill>
          <a:ln w="12700">
            <a:solidFill>
              <a:srgbClr val="F2F7FC"/>
            </a:solidFill>
            <a:prstDash val="solid"/>
          </a:ln>
        </p:spPr>
      </p:sp>
      <p:pic>
        <p:nvPicPr>
          <p:cNvPr id="9" name="Image 1" descr="preencoded.png">    </p:cNvPr>
          <p:cNvPicPr>
            <a:picLocks noChangeAspect="1"/>
          </p:cNvPicPr>
          <p:nvPr/>
        </p:nvPicPr>
        <p:blipFill>
          <a:blip r:embed="rId2"/>
          <a:stretch>
            <a:fillRect/>
          </a:stretch>
        </p:blipFill>
        <p:spPr>
          <a:xfrm>
            <a:off x="4224528" y="3931920"/>
            <a:ext cx="384048" cy="384048"/>
          </a:xfrm>
          <a:prstGeom prst="rect">
            <a:avLst/>
          </a:prstGeom>
        </p:spPr>
      </p:pic>
      <p:sp>
        <p:nvSpPr>
          <p:cNvPr id="10" name="Text 6"/>
          <p:cNvSpPr txBox="1"/>
          <p:nvPr/>
        </p:nvSpPr>
        <p:spPr>
          <a:xfrm>
            <a:off x="4736592" y="3913632"/>
            <a:ext cx="2194560" cy="411480"/>
          </a:xfrm>
          <a:prstGeom prst="rect">
            <a:avLst/>
          </a:prstGeom>
          <a:noFill/>
          <a:ln/>
        </p:spPr>
        <p:txBody>
          <a:bodyPr wrap="square" lIns="0" tIns="0" rIns="0" bIns="0" rtlCol="0" anchor="ctr"/>
          <a:lstStyle/>
          <a:p>
            <a:pPr indent="0" marL="0">
              <a:buNone/>
            </a:pPr>
            <a:r>
              <a:rPr lang="en-US" sz="1600" b="1" dirty="0">
                <a:solidFill>
                  <a:srgbClr val="003668"/>
                </a:solidFill>
              </a:rPr>
              <a:t>Nothing is secret here</a:t>
            </a:r>
            <a:endParaRPr lang="en-US" sz="1600" dirty="0"/>
          </a:p>
        </p:txBody>
      </p:sp>
      <p:sp>
        <p:nvSpPr>
          <p:cNvPr id="11" name="Text 7"/>
          <p:cNvSpPr txBox="1"/>
          <p:nvPr/>
        </p:nvSpPr>
        <p:spPr>
          <a:xfrm>
            <a:off x="4251960" y="4370832"/>
            <a:ext cx="2651760" cy="1371600"/>
          </a:xfrm>
          <a:prstGeom prst="rect">
            <a:avLst/>
          </a:prstGeom>
          <a:noFill/>
          <a:ln/>
        </p:spPr>
        <p:txBody>
          <a:bodyPr wrap="square" lIns="0" tIns="0" rIns="0" bIns="0" rtlCol="0" anchor="t"/>
          <a:lstStyle/>
          <a:p>
            <a:pPr indent="0" marL="0">
              <a:buNone/>
            </a:pPr>
            <a:r>
              <a:rPr lang="en-US" sz="1400" dirty="0">
                <a:solidFill>
                  <a:srgbClr val="1E2329"/>
                </a:solidFill>
              </a:rPr>
              <a:t>Everything tonight is about how Freemasonry works day to day. Nothing touches ritual.</a:t>
            </a:r>
            <a:endParaRPr lang="en-US" sz="1400" dirty="0"/>
          </a:p>
        </p:txBody>
      </p:sp>
      <p:sp>
        <p:nvSpPr>
          <p:cNvPr id="12" name="Card Tonight"/>
          <p:cNvSpPr/>
          <p:nvPr/>
        </p:nvSpPr>
        <p:spPr>
          <a:xfrm>
            <a:off x="7589520" y="1371600"/>
            <a:ext cx="4023360" cy="4480560"/>
          </a:xfrm>
          <a:prstGeom prst="roundRect">
            <a:avLst>
              <a:gd name="adj" fmla="val 1818"/>
            </a:avLst>
          </a:prstGeom>
          <a:solidFill>
            <a:srgbClr val="E6F2F2"/>
          </a:solidFill>
          <a:ln w="12700">
            <a:solidFill>
              <a:srgbClr val="E6F2F2"/>
            </a:solidFill>
            <a:prstDash val="solid"/>
          </a:ln>
        </p:spPr>
      </p:sp>
      <p:sp>
        <p:nvSpPr>
          <p:cNvPr id="13" name="Text 9"/>
          <p:cNvSpPr txBox="1"/>
          <p:nvPr/>
        </p:nvSpPr>
        <p:spPr>
          <a:xfrm>
            <a:off x="7818120" y="1536192"/>
            <a:ext cx="3566160" cy="411480"/>
          </a:xfrm>
          <a:prstGeom prst="rect">
            <a:avLst/>
          </a:prstGeom>
          <a:noFill/>
          <a:ln/>
        </p:spPr>
        <p:txBody>
          <a:bodyPr wrap="square" lIns="0" tIns="0" rIns="0" bIns="0" rtlCol="0" anchor="ctr"/>
          <a:lstStyle/>
          <a:p>
            <a:pPr indent="0" marL="0">
              <a:buNone/>
            </a:pPr>
            <a:r>
              <a:rPr lang="en-US" sz="1600" b="1" dirty="0">
                <a:solidFill>
                  <a:srgbClr val="003668"/>
                </a:solidFill>
              </a:rPr>
              <a:t>Tonight</a:t>
            </a:r>
            <a:endParaRPr lang="en-US" sz="1600" dirty="0"/>
          </a:p>
        </p:txBody>
      </p:sp>
      <p:sp>
        <p:nvSpPr>
          <p:cNvPr id="14" name="Text 10"/>
          <p:cNvSpPr txBox="1"/>
          <p:nvPr/>
        </p:nvSpPr>
        <p:spPr>
          <a:xfrm>
            <a:off x="7818120" y="1993392"/>
            <a:ext cx="3566160" cy="374904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1E2329"/>
                </a:solidFill>
              </a:rPr>
              <a:t>1  Mentoring: the basics, the people and the questions you asked</a:t>
            </a:r>
            <a:endParaRPr lang="en-US" sz="1500" dirty="0"/>
          </a:p>
          <a:p>
            <a:pPr marL="203200" indent="-203200">
              <a:spcAft>
                <a:spcPts val="400"/>
              </a:spcAft>
              <a:buSzPct val="100000"/>
              <a:buChar char="■"/>
            </a:pPr>
            <a:r>
              <a:rPr lang="en-US" sz="1500" dirty="0">
                <a:solidFill>
                  <a:srgbClr val="1E2329"/>
                </a:solidFill>
              </a:rPr>
              <a:t>2  Learning and Development: Solomon, the Academy diploma, learning ritual</a:t>
            </a:r>
            <a:endParaRPr lang="en-US" sz="1500" dirty="0"/>
          </a:p>
          <a:p>
            <a:pPr marL="203200" indent="-203200">
              <a:spcAft>
                <a:spcPts val="400"/>
              </a:spcAft>
              <a:buSzPct val="100000"/>
              <a:buChar char="■"/>
            </a:pPr>
            <a:r>
              <a:rPr lang="en-US" sz="1500" dirty="0">
                <a:solidFill>
                  <a:srgbClr val="1E2329"/>
                </a:solidFill>
              </a:rPr>
              <a:t>3  Fleet House Light Blues Club: your club, your tie, your events</a:t>
            </a:r>
            <a:endParaRPr lang="en-US" sz="1500" dirty="0"/>
          </a:p>
          <a:p>
            <a:pPr marL="203200" indent="-203200">
              <a:spcAft>
                <a:spcPts val="400"/>
              </a:spcAft>
              <a:buSzPct val="100000"/>
              <a:buChar char="■"/>
            </a:pPr>
            <a:r>
              <a:rPr lang="en-US" sz="1500" dirty="0">
                <a:solidFill>
                  <a:srgbClr val="1E2329"/>
                </a:solidFill>
              </a:rPr>
              <a:t>Questions, then the bar</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Who you'll hear from</a:t>
            </a:r>
            <a:endParaRPr lang="en-US" sz="3200" dirty="0"/>
          </a:p>
        </p:txBody>
      </p:sp>
      <p:sp>
        <p:nvSpPr>
          <p:cNvPr id="3" name="Presenter card 1"/>
          <p:cNvSpPr/>
          <p:nvPr/>
        </p:nvSpPr>
        <p:spPr>
          <a:xfrm>
            <a:off x="548640" y="1463040"/>
            <a:ext cx="3474720" cy="4206240"/>
          </a:xfrm>
          <a:prstGeom prst="roundRect">
            <a:avLst>
              <a:gd name="adj" fmla="val 2105"/>
            </a:avLst>
          </a:prstGeom>
          <a:solidFill>
            <a:srgbClr val="F2F7FC"/>
          </a:solidFill>
          <a:ln w="12700">
            <a:solidFill>
              <a:srgbClr val="F2F7FC"/>
            </a:solidFill>
            <a:prstDash val="solid"/>
          </a:ln>
        </p:spPr>
      </p:sp>
      <p:sp>
        <p:nvSpPr>
          <p:cNvPr id="4" name="Number circle 1"/>
          <p:cNvSpPr/>
          <p:nvPr/>
        </p:nvSpPr>
        <p:spPr>
          <a:xfrm>
            <a:off x="822960" y="1737360"/>
            <a:ext cx="822960" cy="822960"/>
          </a:xfrm>
          <a:prstGeom prst="ellipse">
            <a:avLst/>
          </a:prstGeom>
          <a:solidFill>
            <a:srgbClr val="003668"/>
          </a:solidFill>
          <a:ln w="12700">
            <a:solidFill>
              <a:srgbClr val="003668"/>
            </a:solidFill>
            <a:prstDash val="solid"/>
          </a:ln>
        </p:spPr>
      </p:sp>
      <p:sp>
        <p:nvSpPr>
          <p:cNvPr id="5" name="Text 3"/>
          <p:cNvSpPr txBox="1"/>
          <p:nvPr/>
        </p:nvSpPr>
        <p:spPr>
          <a:xfrm>
            <a:off x="822960" y="173736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rPr>
              <a:t>1</a:t>
            </a:r>
            <a:endParaRPr lang="en-US" sz="2800" dirty="0"/>
          </a:p>
        </p:txBody>
      </p:sp>
      <p:sp>
        <p:nvSpPr>
          <p:cNvPr id="6" name="Text 4"/>
          <p:cNvSpPr txBox="1"/>
          <p:nvPr/>
        </p:nvSpPr>
        <p:spPr>
          <a:xfrm>
            <a:off x="822960" y="2743200"/>
            <a:ext cx="2926080" cy="822960"/>
          </a:xfrm>
          <a:prstGeom prst="rect">
            <a:avLst/>
          </a:prstGeom>
          <a:noFill/>
          <a:ln/>
        </p:spPr>
        <p:txBody>
          <a:bodyPr wrap="square" lIns="0" tIns="0" rIns="0" bIns="0" rtlCol="0" anchor="t"/>
          <a:lstStyle/>
          <a:p>
            <a:pPr indent="0" marL="0">
              <a:buNone/>
            </a:pPr>
            <a:r>
              <a:rPr lang="en-US" sz="2000" b="1" dirty="0">
                <a:solidFill>
                  <a:srgbClr val="003668"/>
                </a:solidFill>
              </a:rPr>
              <a:t>Mentoring</a:t>
            </a:r>
            <a:endParaRPr lang="en-US" sz="2000" dirty="0"/>
          </a:p>
        </p:txBody>
      </p:sp>
      <p:sp>
        <p:nvSpPr>
          <p:cNvPr id="7" name="Text 5"/>
          <p:cNvSpPr txBox="1"/>
          <p:nvPr/>
        </p:nvSpPr>
        <p:spPr>
          <a:xfrm>
            <a:off x="822960" y="3657600"/>
            <a:ext cx="2926080" cy="822960"/>
          </a:xfrm>
          <a:prstGeom prst="rect">
            <a:avLst/>
          </a:prstGeom>
          <a:noFill/>
          <a:ln/>
        </p:spPr>
        <p:txBody>
          <a:bodyPr wrap="square" lIns="0" tIns="0" rIns="0" bIns="0" rtlCol="0" anchor="t"/>
          <a:lstStyle/>
          <a:p>
            <a:pPr indent="0" marL="0">
              <a:buNone/>
            </a:pPr>
            <a:r>
              <a:rPr lang="en-US" sz="1600" b="1" dirty="0">
                <a:solidFill>
                  <a:srgbClr val="1E2329"/>
                </a:solidFill>
              </a:rPr>
              <a:t>W Bro Mark Butcher and W Bro Wes Pierce</a:t>
            </a:r>
            <a:endParaRPr lang="en-US" sz="1600" dirty="0"/>
          </a:p>
        </p:txBody>
      </p:sp>
      <p:sp>
        <p:nvSpPr>
          <p:cNvPr id="8" name="Text 6"/>
          <p:cNvSpPr txBox="1"/>
          <p:nvPr/>
        </p:nvSpPr>
        <p:spPr>
          <a:xfrm>
            <a:off x="822960" y="4526280"/>
            <a:ext cx="2926080" cy="1005840"/>
          </a:xfrm>
          <a:prstGeom prst="rect">
            <a:avLst/>
          </a:prstGeom>
          <a:noFill/>
          <a:ln/>
        </p:spPr>
        <p:txBody>
          <a:bodyPr wrap="square" lIns="0" tIns="0" rIns="0" bIns="0" rtlCol="0" anchor="t"/>
          <a:lstStyle/>
          <a:p>
            <a:pPr indent="0" marL="0">
              <a:buNone/>
            </a:pPr>
            <a:r>
              <a:rPr lang="en-US" sz="1300" dirty="0">
                <a:solidFill>
                  <a:srgbClr val="06345D"/>
                </a:solidFill>
              </a:rPr>
              <a:t>Provincial Grand Mentor and Deputy Provincial Grand Mentor</a:t>
            </a:r>
            <a:endParaRPr lang="en-US" sz="1300" dirty="0"/>
          </a:p>
        </p:txBody>
      </p:sp>
      <p:sp>
        <p:nvSpPr>
          <p:cNvPr id="9" name="Presenter card 2"/>
          <p:cNvSpPr/>
          <p:nvPr/>
        </p:nvSpPr>
        <p:spPr>
          <a:xfrm>
            <a:off x="4297680" y="1463040"/>
            <a:ext cx="3474720" cy="4206240"/>
          </a:xfrm>
          <a:prstGeom prst="roundRect">
            <a:avLst>
              <a:gd name="adj" fmla="val 2105"/>
            </a:avLst>
          </a:prstGeom>
          <a:solidFill>
            <a:srgbClr val="F2F7FC"/>
          </a:solidFill>
          <a:ln w="12700">
            <a:solidFill>
              <a:srgbClr val="F2F7FC"/>
            </a:solidFill>
            <a:prstDash val="solid"/>
          </a:ln>
        </p:spPr>
      </p:sp>
      <p:sp>
        <p:nvSpPr>
          <p:cNvPr id="10" name="Number circle 2"/>
          <p:cNvSpPr/>
          <p:nvPr/>
        </p:nvSpPr>
        <p:spPr>
          <a:xfrm>
            <a:off x="4572000" y="1737360"/>
            <a:ext cx="822960" cy="822960"/>
          </a:xfrm>
          <a:prstGeom prst="ellipse">
            <a:avLst/>
          </a:prstGeom>
          <a:solidFill>
            <a:srgbClr val="106576"/>
          </a:solidFill>
          <a:ln w="12700">
            <a:solidFill>
              <a:srgbClr val="106576"/>
            </a:solidFill>
            <a:prstDash val="solid"/>
          </a:ln>
        </p:spPr>
      </p:sp>
      <p:sp>
        <p:nvSpPr>
          <p:cNvPr id="11" name="Text 9"/>
          <p:cNvSpPr txBox="1"/>
          <p:nvPr/>
        </p:nvSpPr>
        <p:spPr>
          <a:xfrm>
            <a:off x="4572000" y="173736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rPr>
              <a:t>2</a:t>
            </a:r>
            <a:endParaRPr lang="en-US" sz="2800" dirty="0"/>
          </a:p>
        </p:txBody>
      </p:sp>
      <p:sp>
        <p:nvSpPr>
          <p:cNvPr id="12" name="Text 10"/>
          <p:cNvSpPr txBox="1"/>
          <p:nvPr/>
        </p:nvSpPr>
        <p:spPr>
          <a:xfrm>
            <a:off x="4572000" y="2743200"/>
            <a:ext cx="2926080" cy="822960"/>
          </a:xfrm>
          <a:prstGeom prst="rect">
            <a:avLst/>
          </a:prstGeom>
          <a:noFill/>
          <a:ln/>
        </p:spPr>
        <p:txBody>
          <a:bodyPr wrap="square" lIns="0" tIns="0" rIns="0" bIns="0" rtlCol="0" anchor="t"/>
          <a:lstStyle/>
          <a:p>
            <a:pPr indent="0" marL="0">
              <a:buNone/>
            </a:pPr>
            <a:r>
              <a:rPr lang="en-US" sz="2000" b="1" dirty="0">
                <a:solidFill>
                  <a:srgbClr val="106576"/>
                </a:solidFill>
              </a:rPr>
              <a:t>Learning and Development</a:t>
            </a:r>
            <a:endParaRPr lang="en-US" sz="2000" dirty="0"/>
          </a:p>
        </p:txBody>
      </p:sp>
      <p:sp>
        <p:nvSpPr>
          <p:cNvPr id="13" name="Text 11"/>
          <p:cNvSpPr txBox="1"/>
          <p:nvPr/>
        </p:nvSpPr>
        <p:spPr>
          <a:xfrm>
            <a:off x="4572000" y="3657600"/>
            <a:ext cx="2926080" cy="822960"/>
          </a:xfrm>
          <a:prstGeom prst="rect">
            <a:avLst/>
          </a:prstGeom>
          <a:noFill/>
          <a:ln/>
        </p:spPr>
        <p:txBody>
          <a:bodyPr wrap="square" lIns="0" tIns="0" rIns="0" bIns="0" rtlCol="0" anchor="t"/>
          <a:lstStyle/>
          <a:p>
            <a:pPr indent="0" marL="0">
              <a:buNone/>
            </a:pPr>
            <a:r>
              <a:rPr lang="en-US" sz="1600" b="1" dirty="0">
                <a:solidFill>
                  <a:srgbClr val="1E2329"/>
                </a:solidFill>
              </a:rPr>
              <a:t>W Bro Tom Golds</a:t>
            </a:r>
            <a:endParaRPr lang="en-US" sz="1600" dirty="0"/>
          </a:p>
        </p:txBody>
      </p:sp>
      <p:sp>
        <p:nvSpPr>
          <p:cNvPr id="14" name="Text 12"/>
          <p:cNvSpPr txBox="1"/>
          <p:nvPr/>
        </p:nvSpPr>
        <p:spPr>
          <a:xfrm>
            <a:off x="4572000" y="4526280"/>
            <a:ext cx="2926080" cy="1005840"/>
          </a:xfrm>
          <a:prstGeom prst="rect">
            <a:avLst/>
          </a:prstGeom>
          <a:noFill/>
          <a:ln/>
        </p:spPr>
        <p:txBody>
          <a:bodyPr wrap="square" lIns="0" tIns="0" rIns="0" bIns="0" rtlCol="0" anchor="t"/>
          <a:lstStyle/>
          <a:p>
            <a:pPr indent="0" marL="0">
              <a:buNone/>
            </a:pPr>
            <a:r>
              <a:rPr lang="en-US" sz="1300" dirty="0">
                <a:solidFill>
                  <a:srgbClr val="06345D"/>
                </a:solidFill>
              </a:rPr>
              <a:t>Provincial Learning and Development Officer</a:t>
            </a:r>
            <a:endParaRPr lang="en-US" sz="1300" dirty="0"/>
          </a:p>
        </p:txBody>
      </p:sp>
      <p:sp>
        <p:nvSpPr>
          <p:cNvPr id="15" name="Presenter card 3"/>
          <p:cNvSpPr/>
          <p:nvPr/>
        </p:nvSpPr>
        <p:spPr>
          <a:xfrm>
            <a:off x="8046720" y="1463040"/>
            <a:ext cx="3474720" cy="4206240"/>
          </a:xfrm>
          <a:prstGeom prst="roundRect">
            <a:avLst>
              <a:gd name="adj" fmla="val 2105"/>
            </a:avLst>
          </a:prstGeom>
          <a:solidFill>
            <a:srgbClr val="F2F7FC"/>
          </a:solidFill>
          <a:ln w="12700">
            <a:solidFill>
              <a:srgbClr val="F2F7FC"/>
            </a:solidFill>
            <a:prstDash val="solid"/>
          </a:ln>
        </p:spPr>
      </p:sp>
      <p:sp>
        <p:nvSpPr>
          <p:cNvPr id="16" name="Number circle 3"/>
          <p:cNvSpPr/>
          <p:nvPr/>
        </p:nvSpPr>
        <p:spPr>
          <a:xfrm>
            <a:off x="8321040" y="1737360"/>
            <a:ext cx="822960" cy="822960"/>
          </a:xfrm>
          <a:prstGeom prst="ellipse">
            <a:avLst/>
          </a:prstGeom>
          <a:solidFill>
            <a:srgbClr val="157A7C"/>
          </a:solidFill>
          <a:ln w="12700">
            <a:solidFill>
              <a:srgbClr val="157A7C"/>
            </a:solidFill>
            <a:prstDash val="solid"/>
          </a:ln>
        </p:spPr>
      </p:sp>
      <p:sp>
        <p:nvSpPr>
          <p:cNvPr id="17" name="Text 15"/>
          <p:cNvSpPr txBox="1"/>
          <p:nvPr/>
        </p:nvSpPr>
        <p:spPr>
          <a:xfrm>
            <a:off x="8321040" y="173736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rPr>
              <a:t>3</a:t>
            </a:r>
            <a:endParaRPr lang="en-US" sz="2800" dirty="0"/>
          </a:p>
        </p:txBody>
      </p:sp>
      <p:sp>
        <p:nvSpPr>
          <p:cNvPr id="18" name="Text 16"/>
          <p:cNvSpPr txBox="1"/>
          <p:nvPr/>
        </p:nvSpPr>
        <p:spPr>
          <a:xfrm>
            <a:off x="8321040" y="2743200"/>
            <a:ext cx="2926080" cy="822960"/>
          </a:xfrm>
          <a:prstGeom prst="rect">
            <a:avLst/>
          </a:prstGeom>
          <a:noFill/>
          <a:ln/>
        </p:spPr>
        <p:txBody>
          <a:bodyPr wrap="square" lIns="0" tIns="0" rIns="0" bIns="0" rtlCol="0" anchor="t"/>
          <a:lstStyle/>
          <a:p>
            <a:pPr indent="0" marL="0">
              <a:buNone/>
            </a:pPr>
            <a:r>
              <a:rPr lang="en-US" sz="2000" b="1" dirty="0">
                <a:solidFill>
                  <a:srgbClr val="157A7C"/>
                </a:solidFill>
              </a:rPr>
              <a:t>Fleet House Light Blues Club</a:t>
            </a:r>
            <a:endParaRPr lang="en-US" sz="2000" dirty="0"/>
          </a:p>
        </p:txBody>
      </p:sp>
      <p:sp>
        <p:nvSpPr>
          <p:cNvPr id="19" name="Text 17"/>
          <p:cNvSpPr txBox="1"/>
          <p:nvPr/>
        </p:nvSpPr>
        <p:spPr>
          <a:xfrm>
            <a:off x="8321040" y="3657600"/>
            <a:ext cx="2926080" cy="822960"/>
          </a:xfrm>
          <a:prstGeom prst="rect">
            <a:avLst/>
          </a:prstGeom>
          <a:noFill/>
          <a:ln/>
        </p:spPr>
        <p:txBody>
          <a:bodyPr wrap="square" lIns="0" tIns="0" rIns="0" bIns="0" rtlCol="0" anchor="t"/>
          <a:lstStyle/>
          <a:p>
            <a:pPr indent="0" marL="0">
              <a:buNone/>
            </a:pPr>
            <a:r>
              <a:rPr lang="en-US" sz="1600" b="1" dirty="0">
                <a:solidFill>
                  <a:srgbClr val="1E2329"/>
                </a:solidFill>
              </a:rPr>
              <a:t>Bro Aaron Ball</a:t>
            </a:r>
            <a:endParaRPr lang="en-US" sz="1600" dirty="0"/>
          </a:p>
        </p:txBody>
      </p:sp>
      <p:sp>
        <p:nvSpPr>
          <p:cNvPr id="20" name="Text 18"/>
          <p:cNvSpPr txBox="1"/>
          <p:nvPr/>
        </p:nvSpPr>
        <p:spPr>
          <a:xfrm>
            <a:off x="8321040" y="4526280"/>
            <a:ext cx="2926080" cy="1005840"/>
          </a:xfrm>
          <a:prstGeom prst="rect">
            <a:avLst/>
          </a:prstGeom>
          <a:noFill/>
          <a:ln/>
        </p:spPr>
        <p:txBody>
          <a:bodyPr wrap="square" lIns="0" tIns="0" rIns="0" bIns="0" rtlCol="0" anchor="t"/>
          <a:lstStyle/>
          <a:p>
            <a:pPr indent="0" marL="0">
              <a:buNone/>
            </a:pPr>
            <a:r>
              <a:rPr lang="en-US" sz="1300" dirty="0">
                <a:solidFill>
                  <a:srgbClr val="06345D"/>
                </a:solidFill>
              </a:rPr>
              <a:t>FHLBC Communications Officer</a:t>
            </a:r>
            <a:endParaRPr lang="en-US" sz="13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Number"/>
          <p:cNvSpPr txBox="1"/>
          <p:nvPr/>
        </p:nvSpPr>
        <p:spPr>
          <a:xfrm>
            <a:off x="822960" y="1463040"/>
            <a:ext cx="2011680" cy="2011680"/>
          </a:xfrm>
          <a:prstGeom prst="rect">
            <a:avLst/>
          </a:prstGeom>
          <a:noFill/>
          <a:ln/>
        </p:spPr>
        <p:txBody>
          <a:bodyPr wrap="square" lIns="0" tIns="0" rIns="0" bIns="0" rtlCol="0" anchor="ctr"/>
          <a:lstStyle/>
          <a:p>
            <a:pPr indent="0" marL="0">
              <a:buNone/>
            </a:pPr>
            <a:r>
              <a:rPr lang="en-US" sz="12000" b="1" dirty="0">
                <a:solidFill>
                  <a:srgbClr val="8FD3D1"/>
                </a:solidFill>
              </a:rPr>
              <a:t>1</a:t>
            </a:r>
            <a:endParaRPr lang="en-US" sz="12000" dirty="0"/>
          </a:p>
        </p:txBody>
      </p:sp>
      <p:sp>
        <p:nvSpPr>
          <p:cNvPr id="3" name="Section title"/>
          <p:cNvSpPr txBox="1"/>
          <p:nvPr/>
        </p:nvSpPr>
        <p:spPr>
          <a:xfrm>
            <a:off x="3108960" y="1737360"/>
            <a:ext cx="8229600" cy="1097280"/>
          </a:xfrm>
          <a:prstGeom prst="rect">
            <a:avLst/>
          </a:prstGeom>
          <a:noFill/>
          <a:ln/>
        </p:spPr>
        <p:txBody>
          <a:bodyPr wrap="square" lIns="0" tIns="0" rIns="0" bIns="0" rtlCol="0" anchor="ctr"/>
          <a:lstStyle/>
          <a:p>
            <a:pPr indent="0" marL="0">
              <a:buNone/>
            </a:pPr>
            <a:r>
              <a:rPr lang="en-US" sz="4400" b="1" dirty="0">
                <a:solidFill>
                  <a:srgbClr val="FFFFFF"/>
                </a:solidFill>
              </a:rPr>
              <a:t>Mentoring</a:t>
            </a:r>
            <a:endParaRPr lang="en-US" sz="4400" dirty="0"/>
          </a:p>
        </p:txBody>
      </p:sp>
      <p:sp>
        <p:nvSpPr>
          <p:cNvPr id="4" name="Section subtitle"/>
          <p:cNvSpPr txBox="1"/>
          <p:nvPr/>
        </p:nvSpPr>
        <p:spPr>
          <a:xfrm>
            <a:off x="3108960" y="2834640"/>
            <a:ext cx="8229600" cy="731520"/>
          </a:xfrm>
          <a:prstGeom prst="rect">
            <a:avLst/>
          </a:prstGeom>
          <a:noFill/>
          <a:ln/>
        </p:spPr>
        <p:txBody>
          <a:bodyPr wrap="square" lIns="0" tIns="0" rIns="0" bIns="0" rtlCol="0" anchor="t"/>
          <a:lstStyle/>
          <a:p>
            <a:pPr indent="0" marL="0">
              <a:buNone/>
            </a:pPr>
            <a:r>
              <a:rPr lang="en-US" sz="1800" dirty="0">
                <a:solidFill>
                  <a:srgbClr val="BFD6EA"/>
                </a:solidFill>
              </a:rPr>
              <a:t>The people here to help you, the basics nobody explains, and the questions you asked</a:t>
            </a:r>
            <a:endParaRPr lang="en-US" sz="1800" dirty="0"/>
          </a:p>
        </p:txBody>
      </p:sp>
      <p:sp>
        <p:nvSpPr>
          <p:cNvPr id="5" name="Presenter"/>
          <p:cNvSpPr txBox="1"/>
          <p:nvPr/>
        </p:nvSpPr>
        <p:spPr>
          <a:xfrm>
            <a:off x="3108960" y="3931920"/>
            <a:ext cx="8229600" cy="457200"/>
          </a:xfrm>
          <a:prstGeom prst="rect">
            <a:avLst/>
          </a:prstGeom>
          <a:noFill/>
          <a:ln/>
        </p:spPr>
        <p:txBody>
          <a:bodyPr wrap="square" lIns="0" tIns="0" rIns="0" bIns="0" rtlCol="0" anchor="ctr"/>
          <a:lstStyle/>
          <a:p>
            <a:pPr indent="0" marL="0">
              <a:buNone/>
            </a:pPr>
            <a:r>
              <a:rPr lang="en-US" sz="1600" b="1" dirty="0">
                <a:solidFill>
                  <a:srgbClr val="FFFFFF"/>
                </a:solidFill>
              </a:rPr>
              <a:t>W Bro Mark Butcher, Provincial Grand Mentor  ·  W Bro Wes Pierce, Deputy Provincial Grand Mentor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Who's who in your corner</a:t>
            </a:r>
            <a:endParaRPr lang="en-US" sz="3200" dirty="0"/>
          </a:p>
        </p:txBody>
      </p:sp>
      <p:sp>
        <p:nvSpPr>
          <p:cNvPr id="3" name="Card Your Personal Mentor"/>
          <p:cNvSpPr/>
          <p:nvPr/>
        </p:nvSpPr>
        <p:spPr>
          <a:xfrm>
            <a:off x="548640" y="1371600"/>
            <a:ext cx="3657600" cy="4480560"/>
          </a:xfrm>
          <a:prstGeom prst="roundRect">
            <a:avLst>
              <a:gd name="adj" fmla="val 2000"/>
            </a:avLst>
          </a:prstGeom>
          <a:solidFill>
            <a:srgbClr val="F2F7FC"/>
          </a:solidFill>
          <a:ln w="12700">
            <a:solidFill>
              <a:srgbClr val="F2F7FC"/>
            </a:solidFill>
            <a:prstDash val="solid"/>
          </a:ln>
        </p:spPr>
      </p:sp>
      <p:pic>
        <p:nvPicPr>
          <p:cNvPr id="4" name="Image 0" descr="preencoded.png">    </p:cNvPr>
          <p:cNvPicPr>
            <a:picLocks noChangeAspect="1"/>
          </p:cNvPicPr>
          <p:nvPr/>
        </p:nvPicPr>
        <p:blipFill>
          <a:blip r:embed="rId1"/>
          <a:stretch>
            <a:fillRect/>
          </a:stretch>
        </p:blipFill>
        <p:spPr>
          <a:xfrm>
            <a:off x="749808" y="1554480"/>
            <a:ext cx="384048" cy="384048"/>
          </a:xfrm>
          <a:prstGeom prst="rect">
            <a:avLst/>
          </a:prstGeom>
        </p:spPr>
      </p:pic>
      <p:sp>
        <p:nvSpPr>
          <p:cNvPr id="5" name="Text 2"/>
          <p:cNvSpPr txBox="1"/>
          <p:nvPr/>
        </p:nvSpPr>
        <p:spPr>
          <a:xfrm>
            <a:off x="1261872" y="1536192"/>
            <a:ext cx="2743200" cy="411480"/>
          </a:xfrm>
          <a:prstGeom prst="rect">
            <a:avLst/>
          </a:prstGeom>
          <a:noFill/>
          <a:ln/>
        </p:spPr>
        <p:txBody>
          <a:bodyPr wrap="square" lIns="0" tIns="0" rIns="0" bIns="0" rtlCol="0" anchor="ctr"/>
          <a:lstStyle/>
          <a:p>
            <a:pPr indent="0" marL="0">
              <a:buNone/>
            </a:pPr>
            <a:r>
              <a:rPr lang="en-US" sz="1600" b="1" dirty="0">
                <a:solidFill>
                  <a:srgbClr val="003668"/>
                </a:solidFill>
              </a:rPr>
              <a:t>Your Personal Mentor</a:t>
            </a:r>
            <a:endParaRPr lang="en-US" sz="1600" dirty="0"/>
          </a:p>
        </p:txBody>
      </p:sp>
      <p:sp>
        <p:nvSpPr>
          <p:cNvPr id="6" name="Text 3"/>
          <p:cNvSpPr txBox="1"/>
          <p:nvPr/>
        </p:nvSpPr>
        <p:spPr>
          <a:xfrm>
            <a:off x="777240" y="1993392"/>
            <a:ext cx="3200400" cy="374904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1E2329"/>
                </a:solidFill>
              </a:rPr>
              <a:t>One Brother, assigned to you</a:t>
            </a:r>
            <a:endParaRPr lang="en-US" sz="1500" dirty="0"/>
          </a:p>
          <a:p>
            <a:pPr marL="203200" indent="-203200">
              <a:spcAft>
                <a:spcPts val="400"/>
              </a:spcAft>
              <a:buSzPct val="100000"/>
              <a:buChar char="■"/>
            </a:pPr>
            <a:r>
              <a:rPr lang="en-US" sz="1500" dirty="0">
                <a:solidFill>
                  <a:srgbClr val="1E2329"/>
                </a:solidFill>
              </a:rPr>
              <a:t>A friend first: the person you ring, message or sit next to without feeling you are bothering anyone</a:t>
            </a:r>
            <a:endParaRPr lang="en-US" sz="1500" dirty="0"/>
          </a:p>
          <a:p>
            <a:pPr marL="203200" indent="-203200">
              <a:spcAft>
                <a:spcPts val="400"/>
              </a:spcAft>
              <a:buSzPct val="100000"/>
              <a:buChar char="■"/>
            </a:pPr>
            <a:r>
              <a:rPr lang="en-US" sz="1500" dirty="0">
                <a:solidFill>
                  <a:srgbClr val="1E2329"/>
                </a:solidFill>
              </a:rPr>
              <a:t>Not a ritual coach and not a report-writer</a:t>
            </a:r>
            <a:endParaRPr lang="en-US" sz="1500" dirty="0"/>
          </a:p>
          <a:p>
            <a:pPr marL="203200" indent="-203200">
              <a:spcAft>
                <a:spcPts val="400"/>
              </a:spcAft>
              <a:buSzPct val="100000"/>
              <a:buChar char="■"/>
            </a:pPr>
            <a:r>
              <a:rPr lang="en-US" sz="1500" dirty="0">
                <a:solidFill>
                  <a:srgbClr val="1E2329"/>
                </a:solidFill>
              </a:rPr>
              <a:t>Your first call for any question</a:t>
            </a:r>
            <a:endParaRPr lang="en-US" sz="1500" dirty="0"/>
          </a:p>
        </p:txBody>
      </p:sp>
      <p:sp>
        <p:nvSpPr>
          <p:cNvPr id="7" name="Card Your Lodge Mentor"/>
          <p:cNvSpPr/>
          <p:nvPr/>
        </p:nvSpPr>
        <p:spPr>
          <a:xfrm>
            <a:off x="4389120" y="1371600"/>
            <a:ext cx="3657600" cy="4480560"/>
          </a:xfrm>
          <a:prstGeom prst="roundRect">
            <a:avLst>
              <a:gd name="adj" fmla="val 2000"/>
            </a:avLst>
          </a:prstGeom>
          <a:solidFill>
            <a:srgbClr val="F2F7FC"/>
          </a:solidFill>
          <a:ln w="12700">
            <a:solidFill>
              <a:srgbClr val="F2F7FC"/>
            </a:solidFill>
            <a:prstDash val="solid"/>
          </a:ln>
        </p:spPr>
      </p:sp>
      <p:pic>
        <p:nvPicPr>
          <p:cNvPr id="8" name="Image 1" descr="preencoded.png">    </p:cNvPr>
          <p:cNvPicPr>
            <a:picLocks noChangeAspect="1"/>
          </p:cNvPicPr>
          <p:nvPr/>
        </p:nvPicPr>
        <p:blipFill>
          <a:blip r:embed="rId2"/>
          <a:stretch>
            <a:fillRect/>
          </a:stretch>
        </p:blipFill>
        <p:spPr>
          <a:xfrm>
            <a:off x="4590288" y="1554480"/>
            <a:ext cx="384048" cy="384048"/>
          </a:xfrm>
          <a:prstGeom prst="rect">
            <a:avLst/>
          </a:prstGeom>
        </p:spPr>
      </p:pic>
      <p:sp>
        <p:nvSpPr>
          <p:cNvPr id="9" name="Text 5"/>
          <p:cNvSpPr txBox="1"/>
          <p:nvPr/>
        </p:nvSpPr>
        <p:spPr>
          <a:xfrm>
            <a:off x="5102352" y="1536192"/>
            <a:ext cx="2743200" cy="411480"/>
          </a:xfrm>
          <a:prstGeom prst="rect">
            <a:avLst/>
          </a:prstGeom>
          <a:noFill/>
          <a:ln/>
        </p:spPr>
        <p:txBody>
          <a:bodyPr wrap="square" lIns="0" tIns="0" rIns="0" bIns="0" rtlCol="0" anchor="ctr"/>
          <a:lstStyle/>
          <a:p>
            <a:pPr indent="0" marL="0">
              <a:buNone/>
            </a:pPr>
            <a:r>
              <a:rPr lang="en-US" sz="1600" b="1" dirty="0">
                <a:solidFill>
                  <a:srgbClr val="003668"/>
                </a:solidFill>
              </a:rPr>
              <a:t>Your Lodge Mentor</a:t>
            </a:r>
            <a:endParaRPr lang="en-US" sz="1600" dirty="0"/>
          </a:p>
        </p:txBody>
      </p:sp>
      <p:sp>
        <p:nvSpPr>
          <p:cNvPr id="10" name="Text 6"/>
          <p:cNvSpPr txBox="1"/>
          <p:nvPr/>
        </p:nvSpPr>
        <p:spPr>
          <a:xfrm>
            <a:off x="4617720" y="1993392"/>
            <a:ext cx="3200400" cy="374904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1E2329"/>
                </a:solidFill>
              </a:rPr>
              <a:t>Co-ordinates mentoring across the Lodge</a:t>
            </a:r>
            <a:endParaRPr lang="en-US" sz="1500" dirty="0"/>
          </a:p>
          <a:p>
            <a:pPr marL="203200" indent="-203200">
              <a:spcAft>
                <a:spcPts val="400"/>
              </a:spcAft>
              <a:buSzPct val="100000"/>
              <a:buChar char="■"/>
            </a:pPr>
            <a:r>
              <a:rPr lang="en-US" sz="1500" dirty="0">
                <a:solidFill>
                  <a:srgbClr val="1E2329"/>
                </a:solidFill>
              </a:rPr>
              <a:t>Makes sure every new member has a Personal Mentor and nobody drifts</a:t>
            </a:r>
            <a:endParaRPr lang="en-US" sz="1500" dirty="0"/>
          </a:p>
          <a:p>
            <a:pPr marL="203200" indent="-203200">
              <a:spcAft>
                <a:spcPts val="400"/>
              </a:spcAft>
              <a:buSzPct val="100000"/>
              <a:buChar char="■"/>
            </a:pPr>
            <a:r>
              <a:rPr lang="en-US" sz="1500" dirty="0">
                <a:solidFill>
                  <a:srgbClr val="1E2329"/>
                </a:solidFill>
              </a:rPr>
              <a:t>Your link to the Province</a:t>
            </a:r>
            <a:endParaRPr lang="en-US" sz="1500" dirty="0"/>
          </a:p>
          <a:p>
            <a:pPr marL="203200" indent="-203200">
              <a:spcAft>
                <a:spcPts val="400"/>
              </a:spcAft>
              <a:buSzPct val="100000"/>
              <a:buChar char="■"/>
            </a:pPr>
            <a:r>
              <a:rPr lang="en-US" sz="1500" dirty="0">
                <a:solidFill>
                  <a:srgbClr val="1E2329"/>
                </a:solidFill>
              </a:rPr>
              <a:t>Ask him if your Personal Mentor cannot help</a:t>
            </a:r>
            <a:endParaRPr lang="en-US" sz="1500" dirty="0"/>
          </a:p>
        </p:txBody>
      </p:sp>
      <p:sp>
        <p:nvSpPr>
          <p:cNvPr id="11" name="Card The Provincial team"/>
          <p:cNvSpPr/>
          <p:nvPr/>
        </p:nvSpPr>
        <p:spPr>
          <a:xfrm>
            <a:off x="8229600" y="1371600"/>
            <a:ext cx="3383280" cy="4480560"/>
          </a:xfrm>
          <a:prstGeom prst="roundRect">
            <a:avLst>
              <a:gd name="adj" fmla="val 2162"/>
            </a:avLst>
          </a:prstGeom>
          <a:solidFill>
            <a:srgbClr val="F2F7FC"/>
          </a:solidFill>
          <a:ln w="12700">
            <a:solidFill>
              <a:srgbClr val="F2F7FC"/>
            </a:solidFill>
            <a:prstDash val="solid"/>
          </a:ln>
        </p:spPr>
      </p:sp>
      <p:pic>
        <p:nvPicPr>
          <p:cNvPr id="12" name="Image 2" descr="preencoded.png">    </p:cNvPr>
          <p:cNvPicPr>
            <a:picLocks noChangeAspect="1"/>
          </p:cNvPicPr>
          <p:nvPr/>
        </p:nvPicPr>
        <p:blipFill>
          <a:blip r:embed="rId3"/>
          <a:stretch>
            <a:fillRect/>
          </a:stretch>
        </p:blipFill>
        <p:spPr>
          <a:xfrm>
            <a:off x="8430768" y="1554480"/>
            <a:ext cx="384048" cy="384048"/>
          </a:xfrm>
          <a:prstGeom prst="rect">
            <a:avLst/>
          </a:prstGeom>
        </p:spPr>
      </p:pic>
      <p:sp>
        <p:nvSpPr>
          <p:cNvPr id="13" name="Text 8"/>
          <p:cNvSpPr txBox="1"/>
          <p:nvPr/>
        </p:nvSpPr>
        <p:spPr>
          <a:xfrm>
            <a:off x="8942832" y="1536192"/>
            <a:ext cx="2468880" cy="411480"/>
          </a:xfrm>
          <a:prstGeom prst="rect">
            <a:avLst/>
          </a:prstGeom>
          <a:noFill/>
          <a:ln/>
        </p:spPr>
        <p:txBody>
          <a:bodyPr wrap="square" lIns="0" tIns="0" rIns="0" bIns="0" rtlCol="0" anchor="ctr"/>
          <a:lstStyle/>
          <a:p>
            <a:pPr indent="0" marL="0">
              <a:buNone/>
            </a:pPr>
            <a:r>
              <a:rPr lang="en-US" sz="1600" b="1" dirty="0">
                <a:solidFill>
                  <a:srgbClr val="003668"/>
                </a:solidFill>
              </a:rPr>
              <a:t>The Provincial team</a:t>
            </a:r>
            <a:endParaRPr lang="en-US" sz="1600" dirty="0"/>
          </a:p>
        </p:txBody>
      </p:sp>
      <p:sp>
        <p:nvSpPr>
          <p:cNvPr id="14" name="Text 9"/>
          <p:cNvSpPr txBox="1"/>
          <p:nvPr/>
        </p:nvSpPr>
        <p:spPr>
          <a:xfrm>
            <a:off x="8458200" y="1993392"/>
            <a:ext cx="2926080" cy="374904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1E2329"/>
                </a:solidFill>
              </a:rPr>
              <a:t>Provincial Grand Mentor, Deputy, and five Assistant Provincial Grand Mentors, one per area</a:t>
            </a:r>
            <a:endParaRPr lang="en-US" sz="1500" dirty="0"/>
          </a:p>
          <a:p>
            <a:pPr marL="203200" indent="-203200">
              <a:spcAft>
                <a:spcPts val="400"/>
              </a:spcAft>
              <a:buSzPct val="100000"/>
              <a:buChar char="■"/>
            </a:pPr>
            <a:r>
              <a:rPr lang="en-US" sz="1500" dirty="0">
                <a:solidFill>
                  <a:srgbClr val="1E2329"/>
                </a:solidFill>
              </a:rPr>
              <a:t>Here to help, never to inspect</a:t>
            </a:r>
            <a:endParaRPr lang="en-US" sz="1500" dirty="0"/>
          </a:p>
          <a:p>
            <a:pPr marL="203200" indent="-203200">
              <a:spcAft>
                <a:spcPts val="400"/>
              </a:spcAft>
              <a:buSzPct val="100000"/>
              <a:buChar char="■"/>
            </a:pPr>
            <a:r>
              <a:rPr lang="en-US" sz="1500" dirty="0">
                <a:solidFill>
                  <a:srgbClr val="1E2329"/>
                </a:solidFill>
              </a:rPr>
              <a:t>mentor@hertfordshirefreemasons.org.uk</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What we mean by mentoring</a:t>
            </a:r>
            <a:endParaRPr lang="en-US" sz="3200" dirty="0"/>
          </a:p>
        </p:txBody>
      </p:sp>
      <p:sp>
        <p:nvSpPr>
          <p:cNvPr id="3" name="Lead"/>
          <p:cNvSpPr txBox="1"/>
          <p:nvPr/>
        </p:nvSpPr>
        <p:spPr>
          <a:xfrm>
            <a:off x="548640" y="1280160"/>
            <a:ext cx="10972800" cy="731520"/>
          </a:xfrm>
          <a:prstGeom prst="rect">
            <a:avLst/>
          </a:prstGeom>
          <a:noFill/>
          <a:ln/>
        </p:spPr>
        <p:txBody>
          <a:bodyPr wrap="square" lIns="0" tIns="0" rIns="0" bIns="0" rtlCol="0" anchor="ctr"/>
          <a:lstStyle/>
          <a:p>
            <a:pPr indent="0" marL="0">
              <a:buNone/>
            </a:pPr>
            <a:r>
              <a:rPr lang="en-US" sz="1600" dirty="0">
                <a:solidFill>
                  <a:srgbClr val="1E2329"/>
                </a:solidFill>
              </a:rPr>
              <a:t>Mentoring in Hertfordshire is a culture, not a programme. It rests on four principles that run together, all the time. They are not stages.</a:t>
            </a:r>
            <a:endParaRPr lang="en-US" sz="1600" dirty="0"/>
          </a:p>
        </p:txBody>
      </p:sp>
      <p:sp>
        <p:nvSpPr>
          <p:cNvPr id="4" name="Principle Prepare"/>
          <p:cNvSpPr/>
          <p:nvPr/>
        </p:nvSpPr>
        <p:spPr>
          <a:xfrm>
            <a:off x="548640" y="2286000"/>
            <a:ext cx="2651760" cy="1005840"/>
          </a:xfrm>
          <a:prstGeom prst="rect">
            <a:avLst/>
          </a:prstGeom>
          <a:solidFill>
            <a:srgbClr val="003668"/>
          </a:solidFill>
          <a:ln w="12700">
            <a:solidFill>
              <a:srgbClr val="003668"/>
            </a:solidFill>
            <a:prstDash val="solid"/>
          </a:ln>
        </p:spPr>
      </p:sp>
      <p:sp>
        <p:nvSpPr>
          <p:cNvPr id="5" name="Text 3"/>
          <p:cNvSpPr txBox="1"/>
          <p:nvPr/>
        </p:nvSpPr>
        <p:spPr>
          <a:xfrm>
            <a:off x="777240" y="2286000"/>
            <a:ext cx="2377440" cy="1005840"/>
          </a:xfrm>
          <a:prstGeom prst="rect">
            <a:avLst/>
          </a:prstGeom>
          <a:noFill/>
          <a:ln/>
        </p:spPr>
        <p:txBody>
          <a:bodyPr wrap="square" lIns="0" tIns="0" rIns="0" bIns="0" rtlCol="0" anchor="ctr"/>
          <a:lstStyle/>
          <a:p>
            <a:pPr indent="0" marL="0">
              <a:buNone/>
            </a:pPr>
            <a:r>
              <a:rPr lang="en-US" sz="1800" b="1" dirty="0">
                <a:solidFill>
                  <a:srgbClr val="8FD3D1"/>
                </a:solidFill>
              </a:rPr>
              <a:t>1  </a:t>
            </a:r>
            <a:pPr indent="0" marL="0">
              <a:buNone/>
            </a:pPr>
            <a:r>
              <a:rPr lang="en-US" sz="2000" b="1" dirty="0">
                <a:solidFill>
                  <a:srgbClr val="FFFFFF"/>
                </a:solidFill>
              </a:rPr>
              <a:t>PREPARE</a:t>
            </a:r>
            <a:endParaRPr lang="en-US" sz="1800" dirty="0"/>
          </a:p>
        </p:txBody>
      </p:sp>
      <p:sp>
        <p:nvSpPr>
          <p:cNvPr id="6" name="Principle text Prepare"/>
          <p:cNvSpPr/>
          <p:nvPr/>
        </p:nvSpPr>
        <p:spPr>
          <a:xfrm>
            <a:off x="548640" y="3291840"/>
            <a:ext cx="2651760" cy="2103120"/>
          </a:xfrm>
          <a:prstGeom prst="rect">
            <a:avLst/>
          </a:prstGeom>
          <a:solidFill>
            <a:srgbClr val="F2F7FC"/>
          </a:solidFill>
          <a:ln w="12700">
            <a:solidFill>
              <a:srgbClr val="F2F7FC"/>
            </a:solidFill>
            <a:prstDash val="solid"/>
          </a:ln>
        </p:spPr>
      </p:sp>
      <p:sp>
        <p:nvSpPr>
          <p:cNvPr id="7" name="Text 5"/>
          <p:cNvSpPr txBox="1"/>
          <p:nvPr/>
        </p:nvSpPr>
        <p:spPr>
          <a:xfrm>
            <a:off x="777240" y="3429000"/>
            <a:ext cx="2194560" cy="1828800"/>
          </a:xfrm>
          <a:prstGeom prst="rect">
            <a:avLst/>
          </a:prstGeom>
          <a:noFill/>
          <a:ln/>
        </p:spPr>
        <p:txBody>
          <a:bodyPr wrap="square" lIns="0" tIns="0" rIns="0" bIns="0" rtlCol="0" anchor="t"/>
          <a:lstStyle/>
          <a:p>
            <a:pPr indent="0" marL="0">
              <a:buNone/>
            </a:pPr>
            <a:r>
              <a:rPr lang="en-US" sz="1350" dirty="0">
                <a:solidFill>
                  <a:srgbClr val="06345D"/>
                </a:solidFill>
              </a:rPr>
              <a:t>Ready for each stage before it happens. There should never be any surprises.</a:t>
            </a:r>
            <a:endParaRPr lang="en-US" sz="1350" dirty="0"/>
          </a:p>
        </p:txBody>
      </p:sp>
      <p:sp>
        <p:nvSpPr>
          <p:cNvPr id="8" name="Principle Guide"/>
          <p:cNvSpPr/>
          <p:nvPr/>
        </p:nvSpPr>
        <p:spPr>
          <a:xfrm>
            <a:off x="3383280" y="2286000"/>
            <a:ext cx="2651760" cy="1005840"/>
          </a:xfrm>
          <a:prstGeom prst="rect">
            <a:avLst/>
          </a:prstGeom>
          <a:solidFill>
            <a:srgbClr val="0A4F72"/>
          </a:solidFill>
          <a:ln w="12700">
            <a:solidFill>
              <a:srgbClr val="0A4F72"/>
            </a:solidFill>
            <a:prstDash val="solid"/>
          </a:ln>
        </p:spPr>
      </p:sp>
      <p:sp>
        <p:nvSpPr>
          <p:cNvPr id="9" name="Text 7"/>
          <p:cNvSpPr txBox="1"/>
          <p:nvPr/>
        </p:nvSpPr>
        <p:spPr>
          <a:xfrm>
            <a:off x="3611880" y="2286000"/>
            <a:ext cx="2377440" cy="1005840"/>
          </a:xfrm>
          <a:prstGeom prst="rect">
            <a:avLst/>
          </a:prstGeom>
          <a:noFill/>
          <a:ln/>
        </p:spPr>
        <p:txBody>
          <a:bodyPr wrap="square" lIns="0" tIns="0" rIns="0" bIns="0" rtlCol="0" anchor="ctr"/>
          <a:lstStyle/>
          <a:p>
            <a:pPr indent="0" marL="0">
              <a:buNone/>
            </a:pPr>
            <a:r>
              <a:rPr lang="en-US" sz="1800" b="1" dirty="0">
                <a:solidFill>
                  <a:srgbClr val="8FD3D1"/>
                </a:solidFill>
              </a:rPr>
              <a:t>2  </a:t>
            </a:r>
            <a:pPr indent="0" marL="0">
              <a:buNone/>
            </a:pPr>
            <a:r>
              <a:rPr lang="en-US" sz="2000" b="1" dirty="0">
                <a:solidFill>
                  <a:srgbClr val="FFFFFF"/>
                </a:solidFill>
              </a:rPr>
              <a:t>GUIDE</a:t>
            </a:r>
            <a:endParaRPr lang="en-US" sz="1800" dirty="0"/>
          </a:p>
        </p:txBody>
      </p:sp>
      <p:sp>
        <p:nvSpPr>
          <p:cNvPr id="10" name="Principle text Guide"/>
          <p:cNvSpPr/>
          <p:nvPr/>
        </p:nvSpPr>
        <p:spPr>
          <a:xfrm>
            <a:off x="3383280" y="3291840"/>
            <a:ext cx="2651760" cy="2103120"/>
          </a:xfrm>
          <a:prstGeom prst="rect">
            <a:avLst/>
          </a:prstGeom>
          <a:solidFill>
            <a:srgbClr val="F2F7FC"/>
          </a:solidFill>
          <a:ln w="12700">
            <a:solidFill>
              <a:srgbClr val="F2F7FC"/>
            </a:solidFill>
            <a:prstDash val="solid"/>
          </a:ln>
        </p:spPr>
      </p:sp>
      <p:sp>
        <p:nvSpPr>
          <p:cNvPr id="11" name="Text 9"/>
          <p:cNvSpPr txBox="1"/>
          <p:nvPr/>
        </p:nvSpPr>
        <p:spPr>
          <a:xfrm>
            <a:off x="3611880" y="3429000"/>
            <a:ext cx="2194560" cy="1828800"/>
          </a:xfrm>
          <a:prstGeom prst="rect">
            <a:avLst/>
          </a:prstGeom>
          <a:noFill/>
          <a:ln/>
        </p:spPr>
        <p:txBody>
          <a:bodyPr wrap="square" lIns="0" tIns="0" rIns="0" bIns="0" rtlCol="0" anchor="t"/>
          <a:lstStyle/>
          <a:p>
            <a:pPr indent="0" marL="0">
              <a:buNone/>
            </a:pPr>
            <a:r>
              <a:rPr lang="en-US" sz="1350" dirty="0">
                <a:solidFill>
                  <a:srgbClr val="06345D"/>
                </a:solidFill>
              </a:rPr>
              <a:t>Accurate, honest, timely information. Never dependency.</a:t>
            </a:r>
            <a:endParaRPr lang="en-US" sz="1350" dirty="0"/>
          </a:p>
        </p:txBody>
      </p:sp>
      <p:sp>
        <p:nvSpPr>
          <p:cNvPr id="12" name="Principle Support"/>
          <p:cNvSpPr/>
          <p:nvPr/>
        </p:nvSpPr>
        <p:spPr>
          <a:xfrm>
            <a:off x="6217920" y="2286000"/>
            <a:ext cx="2651760" cy="1005840"/>
          </a:xfrm>
          <a:prstGeom prst="rect">
            <a:avLst/>
          </a:prstGeom>
          <a:solidFill>
            <a:srgbClr val="106576"/>
          </a:solidFill>
          <a:ln w="12700">
            <a:solidFill>
              <a:srgbClr val="106576"/>
            </a:solidFill>
            <a:prstDash val="solid"/>
          </a:ln>
        </p:spPr>
      </p:sp>
      <p:sp>
        <p:nvSpPr>
          <p:cNvPr id="13" name="Text 11"/>
          <p:cNvSpPr txBox="1"/>
          <p:nvPr/>
        </p:nvSpPr>
        <p:spPr>
          <a:xfrm>
            <a:off x="6446520" y="2286000"/>
            <a:ext cx="2377440" cy="1005840"/>
          </a:xfrm>
          <a:prstGeom prst="rect">
            <a:avLst/>
          </a:prstGeom>
          <a:noFill/>
          <a:ln/>
        </p:spPr>
        <p:txBody>
          <a:bodyPr wrap="square" lIns="0" tIns="0" rIns="0" bIns="0" rtlCol="0" anchor="ctr"/>
          <a:lstStyle/>
          <a:p>
            <a:pPr indent="0" marL="0">
              <a:buNone/>
            </a:pPr>
            <a:r>
              <a:rPr lang="en-US" sz="1800" b="1" dirty="0">
                <a:solidFill>
                  <a:srgbClr val="8FD3D1"/>
                </a:solidFill>
              </a:rPr>
              <a:t>3  </a:t>
            </a:r>
            <a:pPr indent="0" marL="0">
              <a:buNone/>
            </a:pPr>
            <a:r>
              <a:rPr lang="en-US" sz="2000" b="1" dirty="0">
                <a:solidFill>
                  <a:srgbClr val="FFFFFF"/>
                </a:solidFill>
              </a:rPr>
              <a:t>SUPPORT</a:t>
            </a:r>
            <a:endParaRPr lang="en-US" sz="1800" dirty="0"/>
          </a:p>
        </p:txBody>
      </p:sp>
      <p:sp>
        <p:nvSpPr>
          <p:cNvPr id="14" name="Principle text Support"/>
          <p:cNvSpPr/>
          <p:nvPr/>
        </p:nvSpPr>
        <p:spPr>
          <a:xfrm>
            <a:off x="6217920" y="3291840"/>
            <a:ext cx="2651760" cy="2103120"/>
          </a:xfrm>
          <a:prstGeom prst="rect">
            <a:avLst/>
          </a:prstGeom>
          <a:solidFill>
            <a:srgbClr val="F2F7FC"/>
          </a:solidFill>
          <a:ln w="12700">
            <a:solidFill>
              <a:srgbClr val="F2F7FC"/>
            </a:solidFill>
            <a:prstDash val="solid"/>
          </a:ln>
        </p:spPr>
      </p:sp>
      <p:sp>
        <p:nvSpPr>
          <p:cNvPr id="15" name="Text 13"/>
          <p:cNvSpPr txBox="1"/>
          <p:nvPr/>
        </p:nvSpPr>
        <p:spPr>
          <a:xfrm>
            <a:off x="6446520" y="3429000"/>
            <a:ext cx="2194560" cy="1828800"/>
          </a:xfrm>
          <a:prstGeom prst="rect">
            <a:avLst/>
          </a:prstGeom>
          <a:noFill/>
          <a:ln/>
        </p:spPr>
        <p:txBody>
          <a:bodyPr wrap="square" lIns="0" tIns="0" rIns="0" bIns="0" rtlCol="0" anchor="t"/>
          <a:lstStyle/>
          <a:p>
            <a:pPr indent="0" marL="0">
              <a:buNone/>
            </a:pPr>
            <a:r>
              <a:rPr lang="en-US" sz="1350" dirty="0">
                <a:solidFill>
                  <a:srgbClr val="06345D"/>
                </a:solidFill>
              </a:rPr>
              <a:t>Present, responsive, compassionate. “How can we help?”, never “Why aren’t you attending?”</a:t>
            </a:r>
            <a:endParaRPr lang="en-US" sz="1350" dirty="0"/>
          </a:p>
        </p:txBody>
      </p:sp>
      <p:sp>
        <p:nvSpPr>
          <p:cNvPr id="16" name="Principle Enlighten"/>
          <p:cNvSpPr/>
          <p:nvPr/>
        </p:nvSpPr>
        <p:spPr>
          <a:xfrm>
            <a:off x="9052560" y="2286000"/>
            <a:ext cx="2651760" cy="1005840"/>
          </a:xfrm>
          <a:prstGeom prst="rect">
            <a:avLst/>
          </a:prstGeom>
          <a:solidFill>
            <a:srgbClr val="157A7C"/>
          </a:solidFill>
          <a:ln w="12700">
            <a:solidFill>
              <a:srgbClr val="157A7C"/>
            </a:solidFill>
            <a:prstDash val="solid"/>
          </a:ln>
        </p:spPr>
      </p:sp>
      <p:sp>
        <p:nvSpPr>
          <p:cNvPr id="17" name="Text 15"/>
          <p:cNvSpPr txBox="1"/>
          <p:nvPr/>
        </p:nvSpPr>
        <p:spPr>
          <a:xfrm>
            <a:off x="9281160" y="2286000"/>
            <a:ext cx="2377440" cy="1005840"/>
          </a:xfrm>
          <a:prstGeom prst="rect">
            <a:avLst/>
          </a:prstGeom>
          <a:noFill/>
          <a:ln/>
        </p:spPr>
        <p:txBody>
          <a:bodyPr wrap="square" lIns="0" tIns="0" rIns="0" bIns="0" rtlCol="0" anchor="ctr"/>
          <a:lstStyle/>
          <a:p>
            <a:pPr indent="0" marL="0">
              <a:buNone/>
            </a:pPr>
            <a:r>
              <a:rPr lang="en-US" sz="1800" b="1" dirty="0">
                <a:solidFill>
                  <a:srgbClr val="8FD3D1"/>
                </a:solidFill>
              </a:rPr>
              <a:t>4  </a:t>
            </a:r>
            <a:pPr indent="0" marL="0">
              <a:buNone/>
            </a:pPr>
            <a:r>
              <a:rPr lang="en-US" sz="2000" b="1" dirty="0">
                <a:solidFill>
                  <a:srgbClr val="FFFFFF"/>
                </a:solidFill>
              </a:rPr>
              <a:t>ENLIGHTEN</a:t>
            </a:r>
            <a:endParaRPr lang="en-US" sz="1800" dirty="0"/>
          </a:p>
        </p:txBody>
      </p:sp>
      <p:sp>
        <p:nvSpPr>
          <p:cNvPr id="18" name="Principle text Enlighten"/>
          <p:cNvSpPr/>
          <p:nvPr/>
        </p:nvSpPr>
        <p:spPr>
          <a:xfrm>
            <a:off x="9052560" y="3291840"/>
            <a:ext cx="2651760" cy="2103120"/>
          </a:xfrm>
          <a:prstGeom prst="rect">
            <a:avLst/>
          </a:prstGeom>
          <a:solidFill>
            <a:srgbClr val="F2F7FC"/>
          </a:solidFill>
          <a:ln w="12700">
            <a:solidFill>
              <a:srgbClr val="F2F7FC"/>
            </a:solidFill>
            <a:prstDash val="solid"/>
          </a:ln>
        </p:spPr>
      </p:sp>
      <p:sp>
        <p:nvSpPr>
          <p:cNvPr id="19" name="Text 17"/>
          <p:cNvSpPr txBox="1"/>
          <p:nvPr/>
        </p:nvSpPr>
        <p:spPr>
          <a:xfrm>
            <a:off x="9281160" y="3429000"/>
            <a:ext cx="2194560" cy="1828800"/>
          </a:xfrm>
          <a:prstGeom prst="rect">
            <a:avLst/>
          </a:prstGeom>
          <a:noFill/>
          <a:ln/>
        </p:spPr>
        <p:txBody>
          <a:bodyPr wrap="square" lIns="0" tIns="0" rIns="0" bIns="0" rtlCol="0" anchor="t"/>
          <a:lstStyle/>
          <a:p>
            <a:pPr indent="0" marL="0">
              <a:buNone/>
            </a:pPr>
            <a:r>
              <a:rPr lang="en-US" sz="1350" dirty="0">
                <a:solidFill>
                  <a:srgbClr val="06345D"/>
                </a:solidFill>
              </a:rPr>
              <a:t>Understanding, curiosity and enjoyment of Freemasonry, for life.</a:t>
            </a:r>
            <a:endParaRPr lang="en-US" sz="1350" dirty="0"/>
          </a:p>
        </p:txBody>
      </p:sp>
      <p:sp>
        <p:nvSpPr>
          <p:cNvPr id="20" name="Tagline"/>
          <p:cNvSpPr txBox="1"/>
          <p:nvPr/>
        </p:nvSpPr>
        <p:spPr>
          <a:xfrm>
            <a:off x="548640" y="5623560"/>
            <a:ext cx="10972800" cy="457200"/>
          </a:xfrm>
          <a:prstGeom prst="rect">
            <a:avLst/>
          </a:prstGeom>
          <a:noFill/>
          <a:ln/>
        </p:spPr>
        <p:txBody>
          <a:bodyPr wrap="square" lIns="0" tIns="0" rIns="0" bIns="0" rtlCol="0" anchor="ctr"/>
          <a:lstStyle/>
          <a:p>
            <a:pPr indent="0" marL="0">
              <a:buNone/>
            </a:pPr>
            <a:r>
              <a:rPr lang="en-US" sz="1500" b="1" i="1" dirty="0">
                <a:solidFill>
                  <a:srgbClr val="157A7C"/>
                </a:solidFill>
              </a:rPr>
              <a:t>Family, Work, Masonry: in that order, always. Freemasonry must be fun.</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The journey ahead</a:t>
            </a:r>
            <a:endParaRPr lang="en-US" sz="3200" dirty="0"/>
          </a:p>
        </p:txBody>
      </p:sp>
      <p:sp>
        <p:nvSpPr>
          <p:cNvPr id="3" name="Step Initiation"/>
          <p:cNvSpPr/>
          <p:nvPr/>
        </p:nvSpPr>
        <p:spPr>
          <a:xfrm>
            <a:off x="1234440" y="1554480"/>
            <a:ext cx="731520" cy="731520"/>
          </a:xfrm>
          <a:prstGeom prst="ellipse">
            <a:avLst/>
          </a:prstGeom>
          <a:solidFill>
            <a:srgbClr val="003668"/>
          </a:solidFill>
          <a:ln w="12700">
            <a:solidFill>
              <a:srgbClr val="003668"/>
            </a:solidFill>
            <a:prstDash val="solid"/>
          </a:ln>
        </p:spPr>
      </p:sp>
      <p:sp>
        <p:nvSpPr>
          <p:cNvPr id="4" name="Text 2"/>
          <p:cNvSpPr txBox="1"/>
          <p:nvPr/>
        </p:nvSpPr>
        <p:spPr>
          <a:xfrm>
            <a:off x="1234440" y="155448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5" name="Connector 0"/>
          <p:cNvSpPr/>
          <p:nvPr/>
        </p:nvSpPr>
        <p:spPr>
          <a:xfrm>
            <a:off x="2011680" y="1920240"/>
            <a:ext cx="777240" cy="0"/>
          </a:xfrm>
          <a:prstGeom prst="line">
            <a:avLst/>
          </a:prstGeom>
          <a:noFill/>
          <a:ln w="25400">
            <a:solidFill>
              <a:srgbClr val="BFD6EA"/>
            </a:solidFill>
            <a:prstDash val="solid"/>
          </a:ln>
        </p:spPr>
      </p:sp>
      <p:sp>
        <p:nvSpPr>
          <p:cNvPr id="6" name="Text 4"/>
          <p:cNvSpPr txBox="1"/>
          <p:nvPr/>
        </p:nvSpPr>
        <p:spPr>
          <a:xfrm>
            <a:off x="548640" y="2468880"/>
            <a:ext cx="2103120" cy="457200"/>
          </a:xfrm>
          <a:prstGeom prst="rect">
            <a:avLst/>
          </a:prstGeom>
          <a:noFill/>
          <a:ln/>
        </p:spPr>
        <p:txBody>
          <a:bodyPr wrap="square" lIns="0" tIns="0" rIns="0" bIns="0" rtlCol="0" anchor="ctr"/>
          <a:lstStyle/>
          <a:p>
            <a:pPr algn="ctr" indent="0" marL="0">
              <a:buNone/>
            </a:pPr>
            <a:r>
              <a:rPr lang="en-US" sz="1800" b="1" dirty="0">
                <a:solidFill>
                  <a:srgbClr val="003668"/>
                </a:solidFill>
              </a:rPr>
              <a:t>Initiation</a:t>
            </a:r>
            <a:endParaRPr lang="en-US" sz="1800" dirty="0"/>
          </a:p>
        </p:txBody>
      </p:sp>
      <p:sp>
        <p:nvSpPr>
          <p:cNvPr id="7" name="Text 5"/>
          <p:cNvSpPr txBox="1"/>
          <p:nvPr/>
        </p:nvSpPr>
        <p:spPr>
          <a:xfrm>
            <a:off x="548640" y="2926080"/>
            <a:ext cx="2103120" cy="1645920"/>
          </a:xfrm>
          <a:prstGeom prst="rect">
            <a:avLst/>
          </a:prstGeom>
          <a:noFill/>
          <a:ln/>
        </p:spPr>
        <p:txBody>
          <a:bodyPr wrap="square" lIns="0" tIns="0" rIns="0" bIns="0" rtlCol="0" anchor="t"/>
          <a:lstStyle/>
          <a:p>
            <a:pPr algn="ctr" indent="0" marL="0">
              <a:buNone/>
            </a:pPr>
            <a:r>
              <a:rPr lang="en-US" sz="1250" dirty="0">
                <a:solidFill>
                  <a:srgbClr val="1E2329"/>
                </a:solidFill>
              </a:rPr>
              <a:t>Entered Apprentice. Your first night, the Festive Board, your mentor beside you</a:t>
            </a:r>
            <a:endParaRPr lang="en-US" sz="1250" dirty="0"/>
          </a:p>
        </p:txBody>
      </p:sp>
      <p:sp>
        <p:nvSpPr>
          <p:cNvPr id="8" name="Step Passing"/>
          <p:cNvSpPr/>
          <p:nvPr/>
        </p:nvSpPr>
        <p:spPr>
          <a:xfrm>
            <a:off x="3493008" y="1554480"/>
            <a:ext cx="731520" cy="731520"/>
          </a:xfrm>
          <a:prstGeom prst="ellipse">
            <a:avLst/>
          </a:prstGeom>
          <a:solidFill>
            <a:srgbClr val="0A4F72"/>
          </a:solidFill>
          <a:ln w="12700">
            <a:solidFill>
              <a:srgbClr val="0A4F72"/>
            </a:solidFill>
            <a:prstDash val="solid"/>
          </a:ln>
        </p:spPr>
      </p:sp>
      <p:sp>
        <p:nvSpPr>
          <p:cNvPr id="9" name="Text 7"/>
          <p:cNvSpPr txBox="1"/>
          <p:nvPr/>
        </p:nvSpPr>
        <p:spPr>
          <a:xfrm>
            <a:off x="3493008" y="155448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0" name="Connector 1"/>
          <p:cNvSpPr/>
          <p:nvPr/>
        </p:nvSpPr>
        <p:spPr>
          <a:xfrm>
            <a:off x="4270248" y="1920240"/>
            <a:ext cx="777240" cy="0"/>
          </a:xfrm>
          <a:prstGeom prst="line">
            <a:avLst/>
          </a:prstGeom>
          <a:noFill/>
          <a:ln w="25400">
            <a:solidFill>
              <a:srgbClr val="BFD6EA"/>
            </a:solidFill>
            <a:prstDash val="solid"/>
          </a:ln>
        </p:spPr>
      </p:sp>
      <p:sp>
        <p:nvSpPr>
          <p:cNvPr id="11" name="Text 9"/>
          <p:cNvSpPr txBox="1"/>
          <p:nvPr/>
        </p:nvSpPr>
        <p:spPr>
          <a:xfrm>
            <a:off x="2807208" y="2468880"/>
            <a:ext cx="2103120" cy="457200"/>
          </a:xfrm>
          <a:prstGeom prst="rect">
            <a:avLst/>
          </a:prstGeom>
          <a:noFill/>
          <a:ln/>
        </p:spPr>
        <p:txBody>
          <a:bodyPr wrap="square" lIns="0" tIns="0" rIns="0" bIns="0" rtlCol="0" anchor="ctr"/>
          <a:lstStyle/>
          <a:p>
            <a:pPr algn="ctr" indent="0" marL="0">
              <a:buNone/>
            </a:pPr>
            <a:r>
              <a:rPr lang="en-US" sz="1800" b="1" dirty="0">
                <a:solidFill>
                  <a:srgbClr val="0A4F72"/>
                </a:solidFill>
              </a:rPr>
              <a:t>Passing</a:t>
            </a:r>
            <a:endParaRPr lang="en-US" sz="1800" dirty="0"/>
          </a:p>
        </p:txBody>
      </p:sp>
      <p:sp>
        <p:nvSpPr>
          <p:cNvPr id="12" name="Text 10"/>
          <p:cNvSpPr txBox="1"/>
          <p:nvPr/>
        </p:nvSpPr>
        <p:spPr>
          <a:xfrm>
            <a:off x="2807208" y="2926080"/>
            <a:ext cx="2103120" cy="1645920"/>
          </a:xfrm>
          <a:prstGeom prst="rect">
            <a:avLst/>
          </a:prstGeom>
          <a:noFill/>
          <a:ln/>
        </p:spPr>
        <p:txBody>
          <a:bodyPr wrap="square" lIns="0" tIns="0" rIns="0" bIns="0" rtlCol="0" anchor="t"/>
          <a:lstStyle/>
          <a:p>
            <a:pPr algn="ctr" indent="0" marL="0">
              <a:buNone/>
            </a:pPr>
            <a:r>
              <a:rPr lang="en-US" sz="1250" dirty="0">
                <a:solidFill>
                  <a:srgbClr val="1E2329"/>
                </a:solidFill>
              </a:rPr>
              <a:t>Fellow Craft. Usually six to twelve months on; you answer questions in open Lodge</a:t>
            </a:r>
            <a:endParaRPr lang="en-US" sz="1250" dirty="0"/>
          </a:p>
        </p:txBody>
      </p:sp>
      <p:sp>
        <p:nvSpPr>
          <p:cNvPr id="13" name="Step Raising"/>
          <p:cNvSpPr/>
          <p:nvPr/>
        </p:nvSpPr>
        <p:spPr>
          <a:xfrm>
            <a:off x="5751576" y="1554480"/>
            <a:ext cx="731520" cy="731520"/>
          </a:xfrm>
          <a:prstGeom prst="ellipse">
            <a:avLst/>
          </a:prstGeom>
          <a:solidFill>
            <a:srgbClr val="106576"/>
          </a:solidFill>
          <a:ln w="12700">
            <a:solidFill>
              <a:srgbClr val="106576"/>
            </a:solidFill>
            <a:prstDash val="solid"/>
          </a:ln>
        </p:spPr>
      </p:sp>
      <p:sp>
        <p:nvSpPr>
          <p:cNvPr id="14" name="Text 12"/>
          <p:cNvSpPr txBox="1"/>
          <p:nvPr/>
        </p:nvSpPr>
        <p:spPr>
          <a:xfrm>
            <a:off x="5751576" y="155448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5" name="Connector 2"/>
          <p:cNvSpPr/>
          <p:nvPr/>
        </p:nvSpPr>
        <p:spPr>
          <a:xfrm>
            <a:off x="6528816" y="1920240"/>
            <a:ext cx="777240" cy="0"/>
          </a:xfrm>
          <a:prstGeom prst="line">
            <a:avLst/>
          </a:prstGeom>
          <a:noFill/>
          <a:ln w="25400">
            <a:solidFill>
              <a:srgbClr val="BFD6EA"/>
            </a:solidFill>
            <a:prstDash val="solid"/>
          </a:ln>
        </p:spPr>
      </p:sp>
      <p:sp>
        <p:nvSpPr>
          <p:cNvPr id="16" name="Text 14"/>
          <p:cNvSpPr txBox="1"/>
          <p:nvPr/>
        </p:nvSpPr>
        <p:spPr>
          <a:xfrm>
            <a:off x="5065776" y="2468880"/>
            <a:ext cx="2103120" cy="457200"/>
          </a:xfrm>
          <a:prstGeom prst="rect">
            <a:avLst/>
          </a:prstGeom>
          <a:noFill/>
          <a:ln/>
        </p:spPr>
        <p:txBody>
          <a:bodyPr wrap="square" lIns="0" tIns="0" rIns="0" bIns="0" rtlCol="0" anchor="ctr"/>
          <a:lstStyle/>
          <a:p>
            <a:pPr algn="ctr" indent="0" marL="0">
              <a:buNone/>
            </a:pPr>
            <a:r>
              <a:rPr lang="en-US" sz="1800" b="1" dirty="0">
                <a:solidFill>
                  <a:srgbClr val="106576"/>
                </a:solidFill>
              </a:rPr>
              <a:t>Raising</a:t>
            </a:r>
            <a:endParaRPr lang="en-US" sz="1800" dirty="0"/>
          </a:p>
        </p:txBody>
      </p:sp>
      <p:sp>
        <p:nvSpPr>
          <p:cNvPr id="17" name="Text 15"/>
          <p:cNvSpPr txBox="1"/>
          <p:nvPr/>
        </p:nvSpPr>
        <p:spPr>
          <a:xfrm>
            <a:off x="5065776" y="2926080"/>
            <a:ext cx="2103120" cy="1645920"/>
          </a:xfrm>
          <a:prstGeom prst="rect">
            <a:avLst/>
          </a:prstGeom>
          <a:noFill/>
          <a:ln/>
        </p:spPr>
        <p:txBody>
          <a:bodyPr wrap="square" lIns="0" tIns="0" rIns="0" bIns="0" rtlCol="0" anchor="t"/>
          <a:lstStyle/>
          <a:p>
            <a:pPr algn="ctr" indent="0" marL="0">
              <a:buNone/>
            </a:pPr>
            <a:r>
              <a:rPr lang="en-US" sz="1250" dirty="0">
                <a:solidFill>
                  <a:srgbClr val="1E2329"/>
                </a:solidFill>
              </a:rPr>
              <a:t>Master Mason. Visiting opens up fully; the Master Mason’s Guide</a:t>
            </a:r>
            <a:endParaRPr lang="en-US" sz="1250" dirty="0"/>
          </a:p>
        </p:txBody>
      </p:sp>
      <p:sp>
        <p:nvSpPr>
          <p:cNvPr id="18" name="Step One Journey"/>
          <p:cNvSpPr/>
          <p:nvPr/>
        </p:nvSpPr>
        <p:spPr>
          <a:xfrm>
            <a:off x="8010144" y="1554480"/>
            <a:ext cx="731520" cy="731520"/>
          </a:xfrm>
          <a:prstGeom prst="ellipse">
            <a:avLst/>
          </a:prstGeom>
          <a:solidFill>
            <a:srgbClr val="157A7C"/>
          </a:solidFill>
          <a:ln w="12700">
            <a:solidFill>
              <a:srgbClr val="157A7C"/>
            </a:solidFill>
            <a:prstDash val="solid"/>
          </a:ln>
        </p:spPr>
      </p:sp>
      <p:sp>
        <p:nvSpPr>
          <p:cNvPr id="19" name="Text 17"/>
          <p:cNvSpPr txBox="1"/>
          <p:nvPr/>
        </p:nvSpPr>
        <p:spPr>
          <a:xfrm>
            <a:off x="8010144" y="155448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20" name="Connector 3"/>
          <p:cNvSpPr/>
          <p:nvPr/>
        </p:nvSpPr>
        <p:spPr>
          <a:xfrm>
            <a:off x="8787384" y="1920240"/>
            <a:ext cx="777240" cy="0"/>
          </a:xfrm>
          <a:prstGeom prst="line">
            <a:avLst/>
          </a:prstGeom>
          <a:noFill/>
          <a:ln w="25400">
            <a:solidFill>
              <a:srgbClr val="BFD6EA"/>
            </a:solidFill>
            <a:prstDash val="solid"/>
          </a:ln>
        </p:spPr>
      </p:sp>
      <p:sp>
        <p:nvSpPr>
          <p:cNvPr id="21" name="Text 19"/>
          <p:cNvSpPr txBox="1"/>
          <p:nvPr/>
        </p:nvSpPr>
        <p:spPr>
          <a:xfrm>
            <a:off x="7324344" y="2468880"/>
            <a:ext cx="2103120" cy="457200"/>
          </a:xfrm>
          <a:prstGeom prst="rect">
            <a:avLst/>
          </a:prstGeom>
          <a:noFill/>
          <a:ln/>
        </p:spPr>
        <p:txBody>
          <a:bodyPr wrap="square" lIns="0" tIns="0" rIns="0" bIns="0" rtlCol="0" anchor="ctr"/>
          <a:lstStyle/>
          <a:p>
            <a:pPr algn="ctr" indent="0" marL="0">
              <a:buNone/>
            </a:pPr>
            <a:r>
              <a:rPr lang="en-US" sz="1800" b="1" dirty="0">
                <a:solidFill>
                  <a:srgbClr val="157A7C"/>
                </a:solidFill>
              </a:rPr>
              <a:t>One Journey</a:t>
            </a:r>
            <a:endParaRPr lang="en-US" sz="1800" dirty="0"/>
          </a:p>
        </p:txBody>
      </p:sp>
      <p:sp>
        <p:nvSpPr>
          <p:cNvPr id="22" name="Text 20"/>
          <p:cNvSpPr txBox="1"/>
          <p:nvPr/>
        </p:nvSpPr>
        <p:spPr>
          <a:xfrm>
            <a:off x="7324344" y="2926080"/>
            <a:ext cx="2103120" cy="1645920"/>
          </a:xfrm>
          <a:prstGeom prst="rect">
            <a:avLst/>
          </a:prstGeom>
          <a:noFill/>
          <a:ln/>
        </p:spPr>
        <p:txBody>
          <a:bodyPr wrap="square" lIns="0" tIns="0" rIns="0" bIns="0" rtlCol="0" anchor="t"/>
          <a:lstStyle/>
          <a:p>
            <a:pPr algn="ctr" indent="0" marL="0">
              <a:buNone/>
            </a:pPr>
            <a:r>
              <a:rPr lang="en-US" sz="1250" dirty="0">
                <a:solidFill>
                  <a:srgbClr val="1E2329"/>
                </a:solidFill>
              </a:rPr>
              <a:t>The Royal Arch completes Pure Antient Masonry, on your timing: information, not recruitment</a:t>
            </a:r>
            <a:endParaRPr lang="en-US" sz="1250" dirty="0"/>
          </a:p>
        </p:txBody>
      </p:sp>
      <p:sp>
        <p:nvSpPr>
          <p:cNvPr id="23" name="Step Office"/>
          <p:cNvSpPr/>
          <p:nvPr/>
        </p:nvSpPr>
        <p:spPr>
          <a:xfrm>
            <a:off x="10268712" y="1554480"/>
            <a:ext cx="731520" cy="731520"/>
          </a:xfrm>
          <a:prstGeom prst="ellipse">
            <a:avLst/>
          </a:prstGeom>
          <a:solidFill>
            <a:srgbClr val="06345D"/>
          </a:solidFill>
          <a:ln w="12700">
            <a:solidFill>
              <a:srgbClr val="06345D"/>
            </a:solidFill>
            <a:prstDash val="solid"/>
          </a:ln>
        </p:spPr>
      </p:sp>
      <p:sp>
        <p:nvSpPr>
          <p:cNvPr id="24" name="Text 22"/>
          <p:cNvSpPr txBox="1"/>
          <p:nvPr/>
        </p:nvSpPr>
        <p:spPr>
          <a:xfrm>
            <a:off x="10268712" y="155448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rPr>
              <a:t>5</a:t>
            </a:r>
            <a:endParaRPr lang="en-US" sz="2200" dirty="0"/>
          </a:p>
        </p:txBody>
      </p:sp>
      <p:sp>
        <p:nvSpPr>
          <p:cNvPr id="25" name="Text 23"/>
          <p:cNvSpPr txBox="1"/>
          <p:nvPr/>
        </p:nvSpPr>
        <p:spPr>
          <a:xfrm>
            <a:off x="9582912" y="2468880"/>
            <a:ext cx="2103120" cy="457200"/>
          </a:xfrm>
          <a:prstGeom prst="rect">
            <a:avLst/>
          </a:prstGeom>
          <a:noFill/>
          <a:ln/>
        </p:spPr>
        <p:txBody>
          <a:bodyPr wrap="square" lIns="0" tIns="0" rIns="0" bIns="0" rtlCol="0" anchor="ctr"/>
          <a:lstStyle/>
          <a:p>
            <a:pPr algn="ctr" indent="0" marL="0">
              <a:buNone/>
            </a:pPr>
            <a:r>
              <a:rPr lang="en-US" sz="1800" b="1" dirty="0">
                <a:solidFill>
                  <a:srgbClr val="06345D"/>
                </a:solidFill>
              </a:rPr>
              <a:t>Office</a:t>
            </a:r>
            <a:endParaRPr lang="en-US" sz="1800" dirty="0"/>
          </a:p>
        </p:txBody>
      </p:sp>
      <p:sp>
        <p:nvSpPr>
          <p:cNvPr id="26" name="Text 24"/>
          <p:cNvSpPr txBox="1"/>
          <p:nvPr/>
        </p:nvSpPr>
        <p:spPr>
          <a:xfrm>
            <a:off x="9582912" y="2926080"/>
            <a:ext cx="2103120" cy="1645920"/>
          </a:xfrm>
          <a:prstGeom prst="rect">
            <a:avLst/>
          </a:prstGeom>
          <a:noFill/>
          <a:ln/>
        </p:spPr>
        <p:txBody>
          <a:bodyPr wrap="square" lIns="0" tIns="0" rIns="0" bIns="0" rtlCol="0" anchor="t"/>
          <a:lstStyle/>
          <a:p>
            <a:pPr algn="ctr" indent="0" marL="0">
              <a:buNone/>
            </a:pPr>
            <a:r>
              <a:rPr lang="en-US" sz="1250" dirty="0">
                <a:solidFill>
                  <a:srgbClr val="1E2329"/>
                </a:solidFill>
              </a:rPr>
              <a:t>Only when you are ready, and only if you want it. Both answers are valid</a:t>
            </a:r>
            <a:endParaRPr lang="en-US" sz="1250" dirty="0"/>
          </a:p>
        </p:txBody>
      </p:sp>
      <p:sp>
        <p:nvSpPr>
          <p:cNvPr id="27" name="Card Two rules that run through every stage"/>
          <p:cNvSpPr/>
          <p:nvPr/>
        </p:nvSpPr>
        <p:spPr>
          <a:xfrm>
            <a:off x="548640" y="4754880"/>
            <a:ext cx="11064240" cy="1097280"/>
          </a:xfrm>
          <a:prstGeom prst="roundRect">
            <a:avLst>
              <a:gd name="adj" fmla="val 6667"/>
            </a:avLst>
          </a:prstGeom>
          <a:solidFill>
            <a:srgbClr val="E6F2F2"/>
          </a:solidFill>
          <a:ln w="12700">
            <a:solidFill>
              <a:srgbClr val="E6F2F2"/>
            </a:solidFill>
            <a:prstDash val="solid"/>
          </a:ln>
        </p:spPr>
      </p:sp>
      <p:sp>
        <p:nvSpPr>
          <p:cNvPr id="28" name="Text 26"/>
          <p:cNvSpPr txBox="1"/>
          <p:nvPr/>
        </p:nvSpPr>
        <p:spPr>
          <a:xfrm>
            <a:off x="777240" y="4919472"/>
            <a:ext cx="10607040" cy="411480"/>
          </a:xfrm>
          <a:prstGeom prst="rect">
            <a:avLst/>
          </a:prstGeom>
          <a:noFill/>
          <a:ln/>
        </p:spPr>
        <p:txBody>
          <a:bodyPr wrap="square" lIns="0" tIns="0" rIns="0" bIns="0" rtlCol="0" anchor="ctr"/>
          <a:lstStyle/>
          <a:p>
            <a:pPr indent="0" marL="0">
              <a:buNone/>
            </a:pPr>
            <a:r>
              <a:rPr lang="en-US" sz="1600" b="1" dirty="0">
                <a:solidFill>
                  <a:srgbClr val="003668"/>
                </a:solidFill>
              </a:rPr>
              <a:t>Two rules that run through every stage</a:t>
            </a:r>
            <a:endParaRPr lang="en-US" sz="1600" dirty="0"/>
          </a:p>
        </p:txBody>
      </p:sp>
      <p:sp>
        <p:nvSpPr>
          <p:cNvPr id="29" name="Text 27"/>
          <p:cNvSpPr txBox="1"/>
          <p:nvPr/>
        </p:nvSpPr>
        <p:spPr>
          <a:xfrm>
            <a:off x="777240" y="5376672"/>
            <a:ext cx="10607040" cy="365760"/>
          </a:xfrm>
          <a:prstGeom prst="rect">
            <a:avLst/>
          </a:prstGeom>
          <a:noFill/>
          <a:ln/>
        </p:spPr>
        <p:txBody>
          <a:bodyPr wrap="square" lIns="0" tIns="0" rIns="0" bIns="0" rtlCol="0" anchor="t"/>
          <a:lstStyle/>
          <a:p>
            <a:pPr indent="0" marL="0">
              <a:buNone/>
            </a:pPr>
            <a:r>
              <a:rPr lang="en-US" sz="1400" dirty="0">
                <a:solidFill>
                  <a:srgbClr val="1E2329"/>
                </a:solidFill>
              </a:rPr>
              <a:t>There should never be any surprises: you will always know what is coming next. And you set the pace, never the calendar.</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The basics: what to wear</a:t>
            </a:r>
            <a:endParaRPr lang="en-US" sz="3200" dirty="0"/>
          </a:p>
        </p:txBody>
      </p:sp>
      <p:sp>
        <p:nvSpPr>
          <p:cNvPr id="3" name="Lead"/>
          <p:cNvSpPr txBox="1"/>
          <p:nvPr/>
        </p:nvSpPr>
        <p:spPr>
          <a:xfrm>
            <a:off x="548640" y="1234440"/>
            <a:ext cx="10972800" cy="411480"/>
          </a:xfrm>
          <a:prstGeom prst="rect">
            <a:avLst/>
          </a:prstGeom>
          <a:noFill/>
          <a:ln/>
        </p:spPr>
        <p:txBody>
          <a:bodyPr wrap="square" lIns="0" tIns="0" rIns="0" bIns="0" rtlCol="0" anchor="ctr"/>
          <a:lstStyle/>
          <a:p>
            <a:pPr indent="0" marL="0">
              <a:buNone/>
            </a:pPr>
            <a:r>
              <a:rPr lang="en-US" sz="1500" dirty="0">
                <a:solidFill>
                  <a:srgbClr val="06345D"/>
                </a:solidFill>
              </a:rPr>
              <a:t>Always check the Summons first. If it says nothing different, this is the standard.</a:t>
            </a:r>
            <a:endParaRPr lang="en-US" sz="1500" dirty="0"/>
          </a:p>
        </p:txBody>
      </p:sp>
      <p:sp>
        <p:nvSpPr>
          <p:cNvPr id="4" name="Card Suit and shirt"/>
          <p:cNvSpPr/>
          <p:nvPr/>
        </p:nvSpPr>
        <p:spPr>
          <a:xfrm>
            <a:off x="548640" y="1783080"/>
            <a:ext cx="3566160" cy="4069080"/>
          </a:xfrm>
          <a:prstGeom prst="roundRect">
            <a:avLst>
              <a:gd name="adj" fmla="val 2051"/>
            </a:avLst>
          </a:prstGeom>
          <a:solidFill>
            <a:srgbClr val="F2F7FC"/>
          </a:solidFill>
          <a:ln w="12700">
            <a:solidFill>
              <a:srgbClr val="F2F7FC"/>
            </a:solidFill>
            <a:prstDash val="solid"/>
          </a:ln>
        </p:spPr>
      </p:sp>
      <p:pic>
        <p:nvPicPr>
          <p:cNvPr id="5" name="Image 0" descr="preencoded.png">    </p:cNvPr>
          <p:cNvPicPr>
            <a:picLocks noChangeAspect="1"/>
          </p:cNvPicPr>
          <p:nvPr/>
        </p:nvPicPr>
        <p:blipFill>
          <a:blip r:embed="rId1"/>
          <a:stretch>
            <a:fillRect/>
          </a:stretch>
        </p:blipFill>
        <p:spPr>
          <a:xfrm>
            <a:off x="749808" y="1965960"/>
            <a:ext cx="384048" cy="384048"/>
          </a:xfrm>
          <a:prstGeom prst="rect">
            <a:avLst/>
          </a:prstGeom>
        </p:spPr>
      </p:pic>
      <p:sp>
        <p:nvSpPr>
          <p:cNvPr id="6" name="Text 3"/>
          <p:cNvSpPr txBox="1"/>
          <p:nvPr/>
        </p:nvSpPr>
        <p:spPr>
          <a:xfrm>
            <a:off x="1261872" y="1947672"/>
            <a:ext cx="2651760" cy="411480"/>
          </a:xfrm>
          <a:prstGeom prst="rect">
            <a:avLst/>
          </a:prstGeom>
          <a:noFill/>
          <a:ln/>
        </p:spPr>
        <p:txBody>
          <a:bodyPr wrap="square" lIns="0" tIns="0" rIns="0" bIns="0" rtlCol="0" anchor="ctr"/>
          <a:lstStyle/>
          <a:p>
            <a:pPr indent="0" marL="0">
              <a:buNone/>
            </a:pPr>
            <a:r>
              <a:rPr lang="en-US" sz="1600" b="1" dirty="0">
                <a:solidFill>
                  <a:srgbClr val="003668"/>
                </a:solidFill>
              </a:rPr>
              <a:t>Suit and shirt</a:t>
            </a:r>
            <a:endParaRPr lang="en-US" sz="1600" dirty="0"/>
          </a:p>
        </p:txBody>
      </p:sp>
      <p:sp>
        <p:nvSpPr>
          <p:cNvPr id="7" name="Text 4"/>
          <p:cNvSpPr txBox="1"/>
          <p:nvPr/>
        </p:nvSpPr>
        <p:spPr>
          <a:xfrm>
            <a:off x="777240" y="2404872"/>
            <a:ext cx="3108960" cy="333756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1E2329"/>
                </a:solidFill>
              </a:rPr>
              <a:t>Dark lounge suit, preferably black</a:t>
            </a:r>
            <a:endParaRPr lang="en-US" sz="1500" dirty="0"/>
          </a:p>
          <a:p>
            <a:pPr marL="203200" indent="-203200">
              <a:spcAft>
                <a:spcPts val="400"/>
              </a:spcAft>
              <a:buSzPct val="100000"/>
              <a:buChar char="■"/>
            </a:pPr>
            <a:r>
              <a:rPr lang="en-US" sz="1500" dirty="0">
                <a:solidFill>
                  <a:srgbClr val="1E2329"/>
                </a:solidFill>
              </a:rPr>
              <a:t>Black and grey striped morning trousers with a black jacket are acceptable</a:t>
            </a:r>
            <a:endParaRPr lang="en-US" sz="1500" dirty="0"/>
          </a:p>
          <a:p>
            <a:pPr marL="203200" indent="-203200">
              <a:spcAft>
                <a:spcPts val="400"/>
              </a:spcAft>
              <a:buSzPct val="100000"/>
              <a:buChar char="■"/>
            </a:pPr>
            <a:r>
              <a:rPr lang="en-US" sz="1500" dirty="0">
                <a:solidFill>
                  <a:srgbClr val="1E2329"/>
                </a:solidFill>
              </a:rPr>
              <a:t>Plain white formal shirt, single or double cuff</a:t>
            </a:r>
            <a:endParaRPr lang="en-US" sz="1500" dirty="0"/>
          </a:p>
          <a:p>
            <a:pPr marL="203200" indent="-203200">
              <a:spcAft>
                <a:spcPts val="400"/>
              </a:spcAft>
              <a:buSzPct val="100000"/>
              <a:buChar char="■"/>
            </a:pPr>
            <a:r>
              <a:rPr lang="en-US" sz="1500" dirty="0">
                <a:solidFill>
                  <a:srgbClr val="1E2329"/>
                </a:solidFill>
              </a:rPr>
              <a:t>Tails only for Active Provincial Officers at Provincial Grand Lodge</a:t>
            </a:r>
            <a:endParaRPr lang="en-US" sz="1500" dirty="0"/>
          </a:p>
        </p:txBody>
      </p:sp>
      <p:sp>
        <p:nvSpPr>
          <p:cNvPr id="8" name="Card Socks and shoes"/>
          <p:cNvSpPr/>
          <p:nvPr/>
        </p:nvSpPr>
        <p:spPr>
          <a:xfrm>
            <a:off x="4297680" y="1783080"/>
            <a:ext cx="3566160" cy="4069080"/>
          </a:xfrm>
          <a:prstGeom prst="roundRect">
            <a:avLst>
              <a:gd name="adj" fmla="val 2051"/>
            </a:avLst>
          </a:prstGeom>
          <a:solidFill>
            <a:srgbClr val="F2F7FC"/>
          </a:solidFill>
          <a:ln w="12700">
            <a:solidFill>
              <a:srgbClr val="F2F7FC"/>
            </a:solidFill>
            <a:prstDash val="solid"/>
          </a:ln>
        </p:spPr>
      </p:sp>
      <p:pic>
        <p:nvPicPr>
          <p:cNvPr id="9" name="Image 1" descr="preencoded.png">    </p:cNvPr>
          <p:cNvPicPr>
            <a:picLocks noChangeAspect="1"/>
          </p:cNvPicPr>
          <p:nvPr/>
        </p:nvPicPr>
        <p:blipFill>
          <a:blip r:embed="rId2"/>
          <a:stretch>
            <a:fillRect/>
          </a:stretch>
        </p:blipFill>
        <p:spPr>
          <a:xfrm>
            <a:off x="4498848" y="1965960"/>
            <a:ext cx="384048" cy="384048"/>
          </a:xfrm>
          <a:prstGeom prst="rect">
            <a:avLst/>
          </a:prstGeom>
        </p:spPr>
      </p:pic>
      <p:sp>
        <p:nvSpPr>
          <p:cNvPr id="10" name="Text 6"/>
          <p:cNvSpPr txBox="1"/>
          <p:nvPr/>
        </p:nvSpPr>
        <p:spPr>
          <a:xfrm>
            <a:off x="5010912" y="1947672"/>
            <a:ext cx="2651760" cy="411480"/>
          </a:xfrm>
          <a:prstGeom prst="rect">
            <a:avLst/>
          </a:prstGeom>
          <a:noFill/>
          <a:ln/>
        </p:spPr>
        <p:txBody>
          <a:bodyPr wrap="square" lIns="0" tIns="0" rIns="0" bIns="0" rtlCol="0" anchor="ctr"/>
          <a:lstStyle/>
          <a:p>
            <a:pPr indent="0" marL="0">
              <a:buNone/>
            </a:pPr>
            <a:r>
              <a:rPr lang="en-US" sz="1600" b="1" dirty="0">
                <a:solidFill>
                  <a:srgbClr val="003668"/>
                </a:solidFill>
              </a:rPr>
              <a:t>Socks and shoes</a:t>
            </a:r>
            <a:endParaRPr lang="en-US" sz="1600" dirty="0"/>
          </a:p>
        </p:txBody>
      </p:sp>
      <p:sp>
        <p:nvSpPr>
          <p:cNvPr id="11" name="Text 7"/>
          <p:cNvSpPr txBox="1"/>
          <p:nvPr/>
        </p:nvSpPr>
        <p:spPr>
          <a:xfrm>
            <a:off x="4526280" y="2404872"/>
            <a:ext cx="3108960" cy="333756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1E2329"/>
                </a:solidFill>
              </a:rPr>
              <a:t>Plain black socks. Not navy, not patterned, not novelty</a:t>
            </a:r>
            <a:endParaRPr lang="en-US" sz="1500" dirty="0"/>
          </a:p>
          <a:p>
            <a:pPr marL="203200" indent="-203200">
              <a:spcAft>
                <a:spcPts val="400"/>
              </a:spcAft>
              <a:buSzPct val="100000"/>
              <a:buChar char="■"/>
            </a:pPr>
            <a:r>
              <a:rPr lang="en-US" sz="1500" dirty="0">
                <a:solidFill>
                  <a:srgbClr val="1E2329"/>
                </a:solidFill>
              </a:rPr>
              <a:t>Black shoes, polished</a:t>
            </a:r>
            <a:endParaRPr lang="en-US" sz="1500" dirty="0"/>
          </a:p>
          <a:p>
            <a:pPr marL="203200" indent="-203200">
              <a:spcAft>
                <a:spcPts val="400"/>
              </a:spcAft>
              <a:buSzPct val="100000"/>
              <a:buChar char="■"/>
            </a:pPr>
            <a:r>
              <a:rPr lang="en-US" sz="1500" dirty="0">
                <a:solidFill>
                  <a:srgbClr val="1E2329"/>
                </a:solidFill>
              </a:rPr>
              <a:t>Not trainers, not boots, and definitely not Crocs</a:t>
            </a:r>
            <a:endParaRPr lang="en-US" sz="1500" dirty="0"/>
          </a:p>
          <a:p>
            <a:pPr marL="203200" indent="-203200">
              <a:spcAft>
                <a:spcPts val="400"/>
              </a:spcAft>
              <a:buSzPct val="100000"/>
              <a:buChar char="■"/>
            </a:pPr>
            <a:r>
              <a:rPr lang="en-US" sz="1500" dirty="0">
                <a:solidFill>
                  <a:srgbClr val="1E2329"/>
                </a:solidFill>
              </a:rPr>
              <a:t>White gloves where your Lodge wears them; ask your mentor</a:t>
            </a:r>
            <a:endParaRPr lang="en-US" sz="1500" dirty="0"/>
          </a:p>
        </p:txBody>
      </p:sp>
      <p:sp>
        <p:nvSpPr>
          <p:cNvPr id="12" name="Card Black tie nights"/>
          <p:cNvSpPr/>
          <p:nvPr/>
        </p:nvSpPr>
        <p:spPr>
          <a:xfrm>
            <a:off x="8046720" y="1783080"/>
            <a:ext cx="3566160" cy="4069080"/>
          </a:xfrm>
          <a:prstGeom prst="roundRect">
            <a:avLst>
              <a:gd name="adj" fmla="val 2051"/>
            </a:avLst>
          </a:prstGeom>
          <a:solidFill>
            <a:srgbClr val="F2F7FC"/>
          </a:solidFill>
          <a:ln w="12700">
            <a:solidFill>
              <a:srgbClr val="F2F7FC"/>
            </a:solidFill>
            <a:prstDash val="solid"/>
          </a:ln>
        </p:spPr>
      </p:sp>
      <p:pic>
        <p:nvPicPr>
          <p:cNvPr id="13" name="Image 2" descr="preencoded.png">    </p:cNvPr>
          <p:cNvPicPr>
            <a:picLocks noChangeAspect="1"/>
          </p:cNvPicPr>
          <p:nvPr/>
        </p:nvPicPr>
        <p:blipFill>
          <a:blip r:embed="rId3"/>
          <a:stretch>
            <a:fillRect/>
          </a:stretch>
        </p:blipFill>
        <p:spPr>
          <a:xfrm>
            <a:off x="8247888" y="1965960"/>
            <a:ext cx="384048" cy="384048"/>
          </a:xfrm>
          <a:prstGeom prst="rect">
            <a:avLst/>
          </a:prstGeom>
        </p:spPr>
      </p:pic>
      <p:sp>
        <p:nvSpPr>
          <p:cNvPr id="14" name="Text 9"/>
          <p:cNvSpPr txBox="1"/>
          <p:nvPr/>
        </p:nvSpPr>
        <p:spPr>
          <a:xfrm>
            <a:off x="8759952" y="1947672"/>
            <a:ext cx="2651760" cy="411480"/>
          </a:xfrm>
          <a:prstGeom prst="rect">
            <a:avLst/>
          </a:prstGeom>
          <a:noFill/>
          <a:ln/>
        </p:spPr>
        <p:txBody>
          <a:bodyPr wrap="square" lIns="0" tIns="0" rIns="0" bIns="0" rtlCol="0" anchor="ctr"/>
          <a:lstStyle/>
          <a:p>
            <a:pPr indent="0" marL="0">
              <a:buNone/>
            </a:pPr>
            <a:r>
              <a:rPr lang="en-US" sz="1600" b="1" dirty="0">
                <a:solidFill>
                  <a:srgbClr val="003668"/>
                </a:solidFill>
              </a:rPr>
              <a:t>Black tie nights</a:t>
            </a:r>
            <a:endParaRPr lang="en-US" sz="1600" dirty="0"/>
          </a:p>
        </p:txBody>
      </p:sp>
      <p:sp>
        <p:nvSpPr>
          <p:cNvPr id="15" name="Text 10"/>
          <p:cNvSpPr txBox="1"/>
          <p:nvPr/>
        </p:nvSpPr>
        <p:spPr>
          <a:xfrm>
            <a:off x="8275320" y="2404872"/>
            <a:ext cx="3108960" cy="333756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1E2329"/>
                </a:solidFill>
              </a:rPr>
              <a:t>Some Lodges dine black tie always, others only at Installation</a:t>
            </a:r>
            <a:endParaRPr lang="en-US" sz="1500" dirty="0"/>
          </a:p>
          <a:p>
            <a:pPr marL="203200" indent="-203200">
              <a:spcAft>
                <a:spcPts val="400"/>
              </a:spcAft>
              <a:buSzPct val="100000"/>
              <a:buChar char="■"/>
            </a:pPr>
            <a:r>
              <a:rPr lang="en-US" sz="1500" dirty="0">
                <a:solidFill>
                  <a:srgbClr val="1E2329"/>
                </a:solidFill>
              </a:rPr>
              <a:t>Dinner jacket, smart dress shirt, black bow tie</a:t>
            </a:r>
            <a:endParaRPr lang="en-US" sz="1500" dirty="0"/>
          </a:p>
          <a:p>
            <a:pPr marL="203200" indent="-203200">
              <a:spcAft>
                <a:spcPts val="400"/>
              </a:spcAft>
              <a:buSzPct val="100000"/>
              <a:buChar char="■"/>
            </a:pPr>
            <a:r>
              <a:rPr lang="en-US" sz="1500" dirty="0">
                <a:solidFill>
                  <a:srgbClr val="1E2329"/>
                </a:solidFill>
              </a:rPr>
              <a:t>The Summons will say. If in doubt, ask the Secretary or your mentor</a:t>
            </a:r>
            <a:endParaRPr lang="en-US" sz="1500" dirty="0"/>
          </a:p>
          <a:p>
            <a:pPr marL="203200" indent="-203200">
              <a:spcAft>
                <a:spcPts val="400"/>
              </a:spcAft>
              <a:buSzPct val="100000"/>
              <a:buChar char="■"/>
            </a:pPr>
            <a:r>
              <a:rPr lang="en-US" sz="1500" dirty="0">
                <a:solidFill>
                  <a:srgbClr val="1E2329"/>
                </a:solidFill>
              </a:rPr>
              <a:t>Jackets stay on at the Festive Board unless the Master says otherwise</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Ties, pins, jewels and rings</a:t>
            </a:r>
            <a:endParaRPr lang="en-US" sz="3200" dirty="0"/>
          </a:p>
        </p:txBody>
      </p:sp>
      <p:sp>
        <p:nvSpPr>
          <p:cNvPr id="3" name="FAQ What tie should I we"/>
          <p:cNvSpPr/>
          <p:nvPr/>
        </p:nvSpPr>
        <p:spPr>
          <a:xfrm>
            <a:off x="548640" y="1280160"/>
            <a:ext cx="5486400" cy="2194560"/>
          </a:xfrm>
          <a:prstGeom prst="roundRect">
            <a:avLst>
              <a:gd name="adj" fmla="val 3333"/>
            </a:avLst>
          </a:prstGeom>
          <a:solidFill>
            <a:srgbClr val="F2F7FC"/>
          </a:solidFill>
          <a:ln w="12700">
            <a:solidFill>
              <a:srgbClr val="F2F7FC"/>
            </a:solidFill>
            <a:prstDash val="solid"/>
          </a:ln>
        </p:spPr>
      </p:sp>
      <p:sp>
        <p:nvSpPr>
          <p:cNvPr id="4" name="Text 2"/>
          <p:cNvSpPr txBox="1"/>
          <p:nvPr/>
        </p:nvSpPr>
        <p:spPr>
          <a:xfrm>
            <a:off x="777240" y="1417320"/>
            <a:ext cx="5029200" cy="457200"/>
          </a:xfrm>
          <a:prstGeom prst="rect">
            <a:avLst/>
          </a:prstGeom>
          <a:noFill/>
          <a:ln/>
        </p:spPr>
        <p:txBody>
          <a:bodyPr wrap="square" lIns="0" tIns="0" rIns="0" bIns="0" rtlCol="0" anchor="t"/>
          <a:lstStyle/>
          <a:p>
            <a:pPr indent="0" marL="0">
              <a:buNone/>
            </a:pPr>
            <a:r>
              <a:rPr lang="en-US" sz="1500" b="1" dirty="0">
                <a:solidFill>
                  <a:srgbClr val="003668"/>
                </a:solidFill>
              </a:rPr>
              <a:t>What tie should I wear?</a:t>
            </a:r>
            <a:endParaRPr lang="en-US" sz="1500" dirty="0"/>
          </a:p>
        </p:txBody>
      </p:sp>
      <p:sp>
        <p:nvSpPr>
          <p:cNvPr id="5" name="Text 3"/>
          <p:cNvSpPr txBox="1"/>
          <p:nvPr/>
        </p:nvSpPr>
        <p:spPr>
          <a:xfrm>
            <a:off x="777240" y="1847088"/>
            <a:ext cx="5029200" cy="1508760"/>
          </a:xfrm>
          <a:prstGeom prst="rect">
            <a:avLst/>
          </a:prstGeom>
          <a:noFill/>
          <a:ln/>
        </p:spPr>
        <p:txBody>
          <a:bodyPr wrap="square" lIns="0" tIns="0" rIns="0" bIns="0" rtlCol="0" anchor="t"/>
          <a:lstStyle/>
          <a:p>
            <a:pPr indent="0" marL="0">
              <a:buNone/>
            </a:pPr>
            <a:r>
              <a:rPr lang="en-US" sz="1350" dirty="0">
                <a:solidFill>
                  <a:srgbClr val="1E2329"/>
                </a:solidFill>
              </a:rPr>
              <a:t>In any Hertfordshire Lodge, the Provincial tie is permitted. At FHLBC visits, Gladsmuir 1385 and Provincial Grand Lodge, the Club tie is fine. Visiting outside Hertfordshire, wear a plain Masonic tie (the square and compasses tie from shopatfmh.com is the safe choice). Some Lodges wear their own; no harm in asking at the bar.</a:t>
            </a:r>
            <a:endParaRPr lang="en-US" sz="1350" dirty="0"/>
          </a:p>
        </p:txBody>
      </p:sp>
      <p:sp>
        <p:nvSpPr>
          <p:cNvPr id="6" name="FAQ Can I wear lapel pin"/>
          <p:cNvSpPr/>
          <p:nvPr/>
        </p:nvSpPr>
        <p:spPr>
          <a:xfrm>
            <a:off x="6172200" y="1280160"/>
            <a:ext cx="5486400" cy="2194560"/>
          </a:xfrm>
          <a:prstGeom prst="roundRect">
            <a:avLst>
              <a:gd name="adj" fmla="val 3333"/>
            </a:avLst>
          </a:prstGeom>
          <a:solidFill>
            <a:srgbClr val="F2F7FC"/>
          </a:solidFill>
          <a:ln w="12700">
            <a:solidFill>
              <a:srgbClr val="F2F7FC"/>
            </a:solidFill>
            <a:prstDash val="solid"/>
          </a:ln>
        </p:spPr>
      </p:sp>
      <p:sp>
        <p:nvSpPr>
          <p:cNvPr id="7" name="Text 5"/>
          <p:cNvSpPr txBox="1"/>
          <p:nvPr/>
        </p:nvSpPr>
        <p:spPr>
          <a:xfrm>
            <a:off x="6400800" y="1417320"/>
            <a:ext cx="5029200" cy="457200"/>
          </a:xfrm>
          <a:prstGeom prst="rect">
            <a:avLst/>
          </a:prstGeom>
          <a:noFill/>
          <a:ln/>
        </p:spPr>
        <p:txBody>
          <a:bodyPr wrap="square" lIns="0" tIns="0" rIns="0" bIns="0" rtlCol="0" anchor="t"/>
          <a:lstStyle/>
          <a:p>
            <a:pPr indent="0" marL="0">
              <a:buNone/>
            </a:pPr>
            <a:r>
              <a:rPr lang="en-US" sz="1500" b="1" dirty="0">
                <a:solidFill>
                  <a:srgbClr val="0A4F72"/>
                </a:solidFill>
              </a:rPr>
              <a:t>Can I wear lapel pins?</a:t>
            </a:r>
            <a:endParaRPr lang="en-US" sz="1500" dirty="0"/>
          </a:p>
        </p:txBody>
      </p:sp>
      <p:sp>
        <p:nvSpPr>
          <p:cNvPr id="8" name="Text 6"/>
          <p:cNvSpPr txBox="1"/>
          <p:nvPr/>
        </p:nvSpPr>
        <p:spPr>
          <a:xfrm>
            <a:off x="6400800" y="1847088"/>
            <a:ext cx="5029200" cy="1508760"/>
          </a:xfrm>
          <a:prstGeom prst="rect">
            <a:avLst/>
          </a:prstGeom>
          <a:noFill/>
          <a:ln/>
        </p:spPr>
        <p:txBody>
          <a:bodyPr wrap="square" lIns="0" tIns="0" rIns="0" bIns="0" rtlCol="0" anchor="t"/>
          <a:lstStyle/>
          <a:p>
            <a:pPr indent="0" marL="0">
              <a:buNone/>
            </a:pPr>
            <a:r>
              <a:rPr lang="en-US" sz="1350" dirty="0">
                <a:solidFill>
                  <a:srgbClr val="1E2329"/>
                </a:solidFill>
              </a:rPr>
              <a:t>Yes. FHLBC members wear the Club pin. Typically three at most, and always Masonic or charitable, never political. They make a good talking point at the Festive Board.</a:t>
            </a:r>
            <a:endParaRPr lang="en-US" sz="1350" dirty="0"/>
          </a:p>
        </p:txBody>
      </p:sp>
      <p:sp>
        <p:nvSpPr>
          <p:cNvPr id="9" name="FAQ Can I wear jewels?"/>
          <p:cNvSpPr/>
          <p:nvPr/>
        </p:nvSpPr>
        <p:spPr>
          <a:xfrm>
            <a:off x="548640" y="3611880"/>
            <a:ext cx="5486400" cy="2286000"/>
          </a:xfrm>
          <a:prstGeom prst="roundRect">
            <a:avLst>
              <a:gd name="adj" fmla="val 3200"/>
            </a:avLst>
          </a:prstGeom>
          <a:solidFill>
            <a:srgbClr val="F2F7FC"/>
          </a:solidFill>
          <a:ln w="12700">
            <a:solidFill>
              <a:srgbClr val="F2F7FC"/>
            </a:solidFill>
            <a:prstDash val="solid"/>
          </a:ln>
        </p:spPr>
      </p:sp>
      <p:sp>
        <p:nvSpPr>
          <p:cNvPr id="10" name="Text 8"/>
          <p:cNvSpPr txBox="1"/>
          <p:nvPr/>
        </p:nvSpPr>
        <p:spPr>
          <a:xfrm>
            <a:off x="777240" y="3749040"/>
            <a:ext cx="5029200" cy="457200"/>
          </a:xfrm>
          <a:prstGeom prst="rect">
            <a:avLst/>
          </a:prstGeom>
          <a:noFill/>
          <a:ln/>
        </p:spPr>
        <p:txBody>
          <a:bodyPr wrap="square" lIns="0" tIns="0" rIns="0" bIns="0" rtlCol="0" anchor="t"/>
          <a:lstStyle/>
          <a:p>
            <a:pPr indent="0" marL="0">
              <a:buNone/>
            </a:pPr>
            <a:r>
              <a:rPr lang="en-US" sz="1500" b="1" dirty="0">
                <a:solidFill>
                  <a:srgbClr val="106576"/>
                </a:solidFill>
              </a:rPr>
              <a:t>Can I wear jewels?</a:t>
            </a:r>
            <a:endParaRPr lang="en-US" sz="1500" dirty="0"/>
          </a:p>
        </p:txBody>
      </p:sp>
      <p:sp>
        <p:nvSpPr>
          <p:cNvPr id="11" name="Text 9"/>
          <p:cNvSpPr txBox="1"/>
          <p:nvPr/>
        </p:nvSpPr>
        <p:spPr>
          <a:xfrm>
            <a:off x="777240" y="4178808"/>
            <a:ext cx="5029200" cy="1600200"/>
          </a:xfrm>
          <a:prstGeom prst="rect">
            <a:avLst/>
          </a:prstGeom>
          <a:noFill/>
          <a:ln/>
        </p:spPr>
        <p:txBody>
          <a:bodyPr wrap="square" lIns="0" tIns="0" rIns="0" bIns="0" rtlCol="0" anchor="t"/>
          <a:lstStyle/>
          <a:p>
            <a:pPr indent="0" marL="0">
              <a:buNone/>
            </a:pPr>
            <a:r>
              <a:rPr lang="en-US" sz="1350" dirty="0">
                <a:solidFill>
                  <a:srgbClr val="1E2329"/>
                </a:solidFill>
              </a:rPr>
              <a:t>Once you are a Master Mason, up to three in Lodge. The Royal Arch jewel sits nearest your centre line, then the Tercentenary jewel, then others. Only jewels you are entitled to, and no other orders’ jewels in a Craft Lodge except the Royal Arch. If in doubt, ask.</a:t>
            </a:r>
            <a:endParaRPr lang="en-US" sz="1350" dirty="0"/>
          </a:p>
        </p:txBody>
      </p:sp>
      <p:sp>
        <p:nvSpPr>
          <p:cNvPr id="12" name="FAQ Rings and gloves?"/>
          <p:cNvSpPr/>
          <p:nvPr/>
        </p:nvSpPr>
        <p:spPr>
          <a:xfrm>
            <a:off x="6172200" y="3611880"/>
            <a:ext cx="5486400" cy="2286000"/>
          </a:xfrm>
          <a:prstGeom prst="roundRect">
            <a:avLst>
              <a:gd name="adj" fmla="val 3200"/>
            </a:avLst>
          </a:prstGeom>
          <a:solidFill>
            <a:srgbClr val="F2F7FC"/>
          </a:solidFill>
          <a:ln w="12700">
            <a:solidFill>
              <a:srgbClr val="F2F7FC"/>
            </a:solidFill>
            <a:prstDash val="solid"/>
          </a:ln>
        </p:spPr>
      </p:sp>
      <p:sp>
        <p:nvSpPr>
          <p:cNvPr id="13" name="Text 11"/>
          <p:cNvSpPr txBox="1"/>
          <p:nvPr/>
        </p:nvSpPr>
        <p:spPr>
          <a:xfrm>
            <a:off x="6400800" y="3749040"/>
            <a:ext cx="5029200" cy="457200"/>
          </a:xfrm>
          <a:prstGeom prst="rect">
            <a:avLst/>
          </a:prstGeom>
          <a:noFill/>
          <a:ln/>
        </p:spPr>
        <p:txBody>
          <a:bodyPr wrap="square" lIns="0" tIns="0" rIns="0" bIns="0" rtlCol="0" anchor="t"/>
          <a:lstStyle/>
          <a:p>
            <a:pPr indent="0" marL="0">
              <a:buNone/>
            </a:pPr>
            <a:r>
              <a:rPr lang="en-US" sz="1500" b="1" dirty="0">
                <a:solidFill>
                  <a:srgbClr val="157A7C"/>
                </a:solidFill>
              </a:rPr>
              <a:t>Rings and gloves?</a:t>
            </a:r>
            <a:endParaRPr lang="en-US" sz="1500" dirty="0"/>
          </a:p>
        </p:txBody>
      </p:sp>
      <p:sp>
        <p:nvSpPr>
          <p:cNvPr id="14" name="Text 12"/>
          <p:cNvSpPr txBox="1"/>
          <p:nvPr/>
        </p:nvSpPr>
        <p:spPr>
          <a:xfrm>
            <a:off x="6400800" y="4178808"/>
            <a:ext cx="5029200" cy="1600200"/>
          </a:xfrm>
          <a:prstGeom prst="rect">
            <a:avLst/>
          </a:prstGeom>
          <a:noFill/>
          <a:ln/>
        </p:spPr>
        <p:txBody>
          <a:bodyPr wrap="square" lIns="0" tIns="0" rIns="0" bIns="0" rtlCol="0" anchor="t"/>
          <a:lstStyle/>
          <a:p>
            <a:pPr indent="0" marL="0">
              <a:buNone/>
            </a:pPr>
            <a:r>
              <a:rPr lang="en-US" sz="1350" dirty="0">
                <a:solidFill>
                  <a:srgbClr val="1E2329"/>
                </a:solidFill>
              </a:rPr>
              <a:t>A Masonic ring divides opinion: some say Past Masters only, some say anyone, some say points inward until you have been through the Chair. Personal preference. Square and compasses on gloves: no firm rule, but avoid dark blue ones unless you hold Provincial or Grand rank.</a:t>
            </a:r>
            <a:endParaRPr lang="en-US" sz="13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Reading the Summons</a:t>
            </a:r>
            <a:endParaRPr lang="en-US" sz="3200" dirty="0"/>
          </a:p>
        </p:txBody>
      </p:sp>
      <p:sp>
        <p:nvSpPr>
          <p:cNvPr id="3" name="FAQ Full Dress / Undress"/>
          <p:cNvSpPr/>
          <p:nvPr/>
        </p:nvSpPr>
        <p:spPr>
          <a:xfrm>
            <a:off x="548640" y="1280160"/>
            <a:ext cx="5486400" cy="1463040"/>
          </a:xfrm>
          <a:prstGeom prst="roundRect">
            <a:avLst>
              <a:gd name="adj" fmla="val 5000"/>
            </a:avLst>
          </a:prstGeom>
          <a:solidFill>
            <a:srgbClr val="F2F7FC"/>
          </a:solidFill>
          <a:ln w="12700">
            <a:solidFill>
              <a:srgbClr val="F2F7FC"/>
            </a:solidFill>
            <a:prstDash val="solid"/>
          </a:ln>
        </p:spPr>
      </p:sp>
      <p:sp>
        <p:nvSpPr>
          <p:cNvPr id="4" name="Text 2"/>
          <p:cNvSpPr txBox="1"/>
          <p:nvPr/>
        </p:nvSpPr>
        <p:spPr>
          <a:xfrm>
            <a:off x="777240" y="1417320"/>
            <a:ext cx="5029200" cy="457200"/>
          </a:xfrm>
          <a:prstGeom prst="rect">
            <a:avLst/>
          </a:prstGeom>
          <a:noFill/>
          <a:ln/>
        </p:spPr>
        <p:txBody>
          <a:bodyPr wrap="square" lIns="0" tIns="0" rIns="0" bIns="0" rtlCol="0" anchor="t"/>
          <a:lstStyle/>
          <a:p>
            <a:pPr indent="0" marL="0">
              <a:buNone/>
            </a:pPr>
            <a:r>
              <a:rPr lang="en-US" sz="1500" b="1" dirty="0">
                <a:solidFill>
                  <a:srgbClr val="003668"/>
                </a:solidFill>
              </a:rPr>
              <a:t>Full Dress / Undress. What is that?</a:t>
            </a:r>
            <a:endParaRPr lang="en-US" sz="1500" dirty="0"/>
          </a:p>
        </p:txBody>
      </p:sp>
      <p:sp>
        <p:nvSpPr>
          <p:cNvPr id="5" name="Text 3"/>
          <p:cNvSpPr txBox="1"/>
          <p:nvPr/>
        </p:nvSpPr>
        <p:spPr>
          <a:xfrm>
            <a:off x="777240" y="1847088"/>
            <a:ext cx="5029200" cy="777240"/>
          </a:xfrm>
          <a:prstGeom prst="rect">
            <a:avLst/>
          </a:prstGeom>
          <a:noFill/>
          <a:ln/>
        </p:spPr>
        <p:txBody>
          <a:bodyPr wrap="square" lIns="0" tIns="0" rIns="0" bIns="0" rtlCol="0" anchor="t"/>
          <a:lstStyle/>
          <a:p>
            <a:pPr indent="0" marL="0">
              <a:buNone/>
            </a:pPr>
            <a:r>
              <a:rPr lang="en-US" sz="1350" dirty="0">
                <a:solidFill>
                  <a:srgbClr val="1E2329"/>
                </a:solidFill>
              </a:rPr>
              <a:t>It applies to Provincial and Grand Officers, not to you yet. Undress is a plain dark blue collar and apron; Full Dress adds gold edging and frills. It tells those officers what regalia to bring.</a:t>
            </a:r>
            <a:endParaRPr lang="en-US" sz="1350" dirty="0"/>
          </a:p>
        </p:txBody>
      </p:sp>
      <p:sp>
        <p:nvSpPr>
          <p:cNvPr id="6" name="FAQ What are the letters"/>
          <p:cNvSpPr/>
          <p:nvPr/>
        </p:nvSpPr>
        <p:spPr>
          <a:xfrm>
            <a:off x="6172200" y="1280160"/>
            <a:ext cx="5486400" cy="1463040"/>
          </a:xfrm>
          <a:prstGeom prst="roundRect">
            <a:avLst>
              <a:gd name="adj" fmla="val 5000"/>
            </a:avLst>
          </a:prstGeom>
          <a:solidFill>
            <a:srgbClr val="F2F7FC"/>
          </a:solidFill>
          <a:ln w="12700">
            <a:solidFill>
              <a:srgbClr val="F2F7FC"/>
            </a:solidFill>
            <a:prstDash val="solid"/>
          </a:ln>
        </p:spPr>
      </p:sp>
      <p:sp>
        <p:nvSpPr>
          <p:cNvPr id="7" name="Text 5"/>
          <p:cNvSpPr txBox="1"/>
          <p:nvPr/>
        </p:nvSpPr>
        <p:spPr>
          <a:xfrm>
            <a:off x="6400800" y="1417320"/>
            <a:ext cx="5029200" cy="457200"/>
          </a:xfrm>
          <a:prstGeom prst="rect">
            <a:avLst/>
          </a:prstGeom>
          <a:noFill/>
          <a:ln/>
        </p:spPr>
        <p:txBody>
          <a:bodyPr wrap="square" lIns="0" tIns="0" rIns="0" bIns="0" rtlCol="0" anchor="t"/>
          <a:lstStyle/>
          <a:p>
            <a:pPr indent="0" marL="0">
              <a:buNone/>
            </a:pPr>
            <a:r>
              <a:rPr lang="en-US" sz="1500" b="1" dirty="0">
                <a:solidFill>
                  <a:srgbClr val="0A4F72"/>
                </a:solidFill>
              </a:rPr>
              <a:t>What are the letters after names?</a:t>
            </a:r>
            <a:endParaRPr lang="en-US" sz="1500" dirty="0"/>
          </a:p>
        </p:txBody>
      </p:sp>
      <p:sp>
        <p:nvSpPr>
          <p:cNvPr id="8" name="Text 6"/>
          <p:cNvSpPr txBox="1"/>
          <p:nvPr/>
        </p:nvSpPr>
        <p:spPr>
          <a:xfrm>
            <a:off x="6400800" y="1847088"/>
            <a:ext cx="5029200" cy="777240"/>
          </a:xfrm>
          <a:prstGeom prst="rect">
            <a:avLst/>
          </a:prstGeom>
          <a:noFill/>
          <a:ln/>
        </p:spPr>
        <p:txBody>
          <a:bodyPr wrap="square" lIns="0" tIns="0" rIns="0" bIns="0" rtlCol="0" anchor="t"/>
          <a:lstStyle/>
          <a:p>
            <a:pPr indent="0" marL="0">
              <a:buNone/>
            </a:pPr>
            <a:r>
              <a:rPr lang="en-US" sz="1350" dirty="0">
                <a:solidFill>
                  <a:srgbClr val="1E2329"/>
                </a:solidFill>
              </a:rPr>
              <a:t>Provincial or Grand Lodge ranks, Active or Past. Nobody minds being asked what theirs means. Ask.</a:t>
            </a:r>
            <a:endParaRPr lang="en-US" sz="1350" dirty="0"/>
          </a:p>
        </p:txBody>
      </p:sp>
      <p:sp>
        <p:nvSpPr>
          <p:cNvPr id="9" name="FAQ Do I have to attend?"/>
          <p:cNvSpPr/>
          <p:nvPr/>
        </p:nvSpPr>
        <p:spPr>
          <a:xfrm>
            <a:off x="548640" y="2880360"/>
            <a:ext cx="5486400" cy="1417320"/>
          </a:xfrm>
          <a:prstGeom prst="roundRect">
            <a:avLst>
              <a:gd name="adj" fmla="val 5161"/>
            </a:avLst>
          </a:prstGeom>
          <a:solidFill>
            <a:srgbClr val="F2F7FC"/>
          </a:solidFill>
          <a:ln w="12700">
            <a:solidFill>
              <a:srgbClr val="F2F7FC"/>
            </a:solidFill>
            <a:prstDash val="solid"/>
          </a:ln>
        </p:spPr>
      </p:sp>
      <p:sp>
        <p:nvSpPr>
          <p:cNvPr id="10" name="Text 8"/>
          <p:cNvSpPr txBox="1"/>
          <p:nvPr/>
        </p:nvSpPr>
        <p:spPr>
          <a:xfrm>
            <a:off x="777240" y="3017520"/>
            <a:ext cx="5029200" cy="457200"/>
          </a:xfrm>
          <a:prstGeom prst="rect">
            <a:avLst/>
          </a:prstGeom>
          <a:noFill/>
          <a:ln/>
        </p:spPr>
        <p:txBody>
          <a:bodyPr wrap="square" lIns="0" tIns="0" rIns="0" bIns="0" rtlCol="0" anchor="t"/>
          <a:lstStyle/>
          <a:p>
            <a:pPr indent="0" marL="0">
              <a:buNone/>
            </a:pPr>
            <a:r>
              <a:rPr lang="en-US" sz="1500" b="1" dirty="0">
                <a:solidFill>
                  <a:srgbClr val="106576"/>
                </a:solidFill>
              </a:rPr>
              <a:t>Do I have to attend?</a:t>
            </a:r>
            <a:endParaRPr lang="en-US" sz="1500" dirty="0"/>
          </a:p>
        </p:txBody>
      </p:sp>
      <p:sp>
        <p:nvSpPr>
          <p:cNvPr id="11" name="Text 9"/>
          <p:cNvSpPr txBox="1"/>
          <p:nvPr/>
        </p:nvSpPr>
        <p:spPr>
          <a:xfrm>
            <a:off x="777240" y="3447288"/>
            <a:ext cx="5029200" cy="731520"/>
          </a:xfrm>
          <a:prstGeom prst="rect">
            <a:avLst/>
          </a:prstGeom>
          <a:noFill/>
          <a:ln/>
        </p:spPr>
        <p:txBody>
          <a:bodyPr wrap="square" lIns="0" tIns="0" rIns="0" bIns="0" rtlCol="0" anchor="t"/>
          <a:lstStyle/>
          <a:p>
            <a:pPr indent="0" marL="0">
              <a:buNone/>
            </a:pPr>
            <a:r>
              <a:rPr lang="en-US" sz="1350" dirty="0">
                <a:solidFill>
                  <a:srgbClr val="1E2329"/>
                </a:solidFill>
              </a:rPr>
              <a:t>You should, and you will enjoy it more if you do. If you cannot, send apologies to the Secretary. Nobody will pressure you; if anything is making it hard, tell your mentor, the Almoner or anyone from the Club.</a:t>
            </a:r>
            <a:endParaRPr lang="en-US" sz="1350" dirty="0"/>
          </a:p>
        </p:txBody>
      </p:sp>
      <p:sp>
        <p:nvSpPr>
          <p:cNvPr id="12" name="FAQ Can I attend Provinc"/>
          <p:cNvSpPr/>
          <p:nvPr/>
        </p:nvSpPr>
        <p:spPr>
          <a:xfrm>
            <a:off x="6172200" y="2880360"/>
            <a:ext cx="5486400" cy="1417320"/>
          </a:xfrm>
          <a:prstGeom prst="roundRect">
            <a:avLst>
              <a:gd name="adj" fmla="val 5161"/>
            </a:avLst>
          </a:prstGeom>
          <a:solidFill>
            <a:srgbClr val="F2F7FC"/>
          </a:solidFill>
          <a:ln w="12700">
            <a:solidFill>
              <a:srgbClr val="F2F7FC"/>
            </a:solidFill>
            <a:prstDash val="solid"/>
          </a:ln>
        </p:spPr>
      </p:sp>
      <p:sp>
        <p:nvSpPr>
          <p:cNvPr id="13" name="Text 11"/>
          <p:cNvSpPr txBox="1"/>
          <p:nvPr/>
        </p:nvSpPr>
        <p:spPr>
          <a:xfrm>
            <a:off x="6400800" y="3017520"/>
            <a:ext cx="5029200" cy="457200"/>
          </a:xfrm>
          <a:prstGeom prst="rect">
            <a:avLst/>
          </a:prstGeom>
          <a:noFill/>
          <a:ln/>
        </p:spPr>
        <p:txBody>
          <a:bodyPr wrap="square" lIns="0" tIns="0" rIns="0" bIns="0" rtlCol="0" anchor="t"/>
          <a:lstStyle/>
          <a:p>
            <a:pPr indent="0" marL="0">
              <a:buNone/>
            </a:pPr>
            <a:r>
              <a:rPr lang="en-US" sz="1500" b="1" dirty="0">
                <a:solidFill>
                  <a:srgbClr val="157A7C"/>
                </a:solidFill>
              </a:rPr>
              <a:t>Can I attend Provincial Grand Lodge?</a:t>
            </a:r>
            <a:endParaRPr lang="en-US" sz="1500" dirty="0"/>
          </a:p>
        </p:txBody>
      </p:sp>
      <p:sp>
        <p:nvSpPr>
          <p:cNvPr id="14" name="Text 12"/>
          <p:cNvSpPr txBox="1"/>
          <p:nvPr/>
        </p:nvSpPr>
        <p:spPr>
          <a:xfrm>
            <a:off x="6400800" y="3447288"/>
            <a:ext cx="5029200" cy="731520"/>
          </a:xfrm>
          <a:prstGeom prst="rect">
            <a:avLst/>
          </a:prstGeom>
          <a:noFill/>
          <a:ln/>
        </p:spPr>
        <p:txBody>
          <a:bodyPr wrap="square" lIns="0" tIns="0" rIns="0" bIns="0" rtlCol="0" anchor="t"/>
          <a:lstStyle/>
          <a:p>
            <a:pPr indent="0" marL="0">
              <a:buNone/>
            </a:pPr>
            <a:r>
              <a:rPr lang="en-US" sz="1350" dirty="0">
                <a:solidFill>
                  <a:srgbClr val="1E2329"/>
                </a:solidFill>
              </a:rPr>
              <a:t>Once you are a Master Mason. Until then, it is one to look forward to.</a:t>
            </a:r>
            <a:endParaRPr lang="en-US" sz="1350" dirty="0"/>
          </a:p>
        </p:txBody>
      </p:sp>
      <p:sp>
        <p:nvSpPr>
          <p:cNvPr id="15" name="FAQ Taylor’s or Emulatio"/>
          <p:cNvSpPr/>
          <p:nvPr/>
        </p:nvSpPr>
        <p:spPr>
          <a:xfrm>
            <a:off x="548640" y="4434840"/>
            <a:ext cx="11109960" cy="1417320"/>
          </a:xfrm>
          <a:prstGeom prst="roundRect">
            <a:avLst>
              <a:gd name="adj" fmla="val 5161"/>
            </a:avLst>
          </a:prstGeom>
          <a:solidFill>
            <a:srgbClr val="F2F7FC"/>
          </a:solidFill>
          <a:ln w="12700">
            <a:solidFill>
              <a:srgbClr val="F2F7FC"/>
            </a:solidFill>
            <a:prstDash val="solid"/>
          </a:ln>
        </p:spPr>
      </p:sp>
      <p:sp>
        <p:nvSpPr>
          <p:cNvPr id="16" name="Text 14"/>
          <p:cNvSpPr txBox="1"/>
          <p:nvPr/>
        </p:nvSpPr>
        <p:spPr>
          <a:xfrm>
            <a:off x="777240" y="4572000"/>
            <a:ext cx="10652760" cy="457200"/>
          </a:xfrm>
          <a:prstGeom prst="rect">
            <a:avLst/>
          </a:prstGeom>
          <a:noFill/>
          <a:ln/>
        </p:spPr>
        <p:txBody>
          <a:bodyPr wrap="square" lIns="0" tIns="0" rIns="0" bIns="0" rtlCol="0" anchor="t"/>
          <a:lstStyle/>
          <a:p>
            <a:pPr indent="0" marL="0">
              <a:buNone/>
            </a:pPr>
            <a:r>
              <a:rPr lang="en-US" sz="1500" b="1" dirty="0">
                <a:solidFill>
                  <a:srgbClr val="06345D"/>
                </a:solidFill>
              </a:rPr>
              <a:t>Taylor’s or Emulation?</a:t>
            </a:r>
            <a:endParaRPr lang="en-US" sz="1500" dirty="0"/>
          </a:p>
        </p:txBody>
      </p:sp>
      <p:sp>
        <p:nvSpPr>
          <p:cNvPr id="17" name="Text 15"/>
          <p:cNvSpPr txBox="1"/>
          <p:nvPr/>
        </p:nvSpPr>
        <p:spPr>
          <a:xfrm>
            <a:off x="777240" y="5001768"/>
            <a:ext cx="10652760" cy="731520"/>
          </a:xfrm>
          <a:prstGeom prst="rect">
            <a:avLst/>
          </a:prstGeom>
          <a:noFill/>
          <a:ln/>
        </p:spPr>
        <p:txBody>
          <a:bodyPr wrap="square" lIns="0" tIns="0" rIns="0" bIns="0" rtlCol="0" anchor="t"/>
          <a:lstStyle/>
          <a:p>
            <a:pPr indent="0" marL="0">
              <a:buNone/>
            </a:pPr>
            <a:r>
              <a:rPr lang="en-US" sz="1350" dirty="0">
                <a:solidFill>
                  <a:srgbClr val="1E2329"/>
                </a:solidFill>
              </a:rPr>
              <a:t>The two main workings in Hertfordshire. Emulation is the more relaxed; Taylor’s has more floorwork, including squaring the Lodge. Learned Taylor’s and asked to work in an Emulation Lodge? Fine. Emulation floorwork in a Taylor’s Lodge is likely to be frowned on. If in doubt, ask.</a:t>
            </a:r>
            <a:endParaRPr lang="en-US" sz="13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Words you will hear</a:t>
            </a:r>
            <a:endParaRPr lang="en-US" sz="3200" dirty="0"/>
          </a:p>
        </p:txBody>
      </p:sp>
      <p:sp>
        <p:nvSpPr>
          <p:cNvPr id="3" name="Glossary Lodge"/>
          <p:cNvSpPr/>
          <p:nvPr/>
        </p:nvSpPr>
        <p:spPr>
          <a:xfrm>
            <a:off x="548640" y="1280160"/>
            <a:ext cx="5440680" cy="1051560"/>
          </a:xfrm>
          <a:prstGeom prst="roundRect">
            <a:avLst>
              <a:gd name="adj" fmla="val 6957"/>
            </a:avLst>
          </a:prstGeom>
          <a:solidFill>
            <a:srgbClr val="F2F7FC"/>
          </a:solidFill>
          <a:ln w="12700">
            <a:solidFill>
              <a:srgbClr val="F2F7FC"/>
            </a:solidFill>
            <a:prstDash val="solid"/>
          </a:ln>
        </p:spPr>
      </p:sp>
      <p:sp>
        <p:nvSpPr>
          <p:cNvPr id="4" name="Text 2"/>
          <p:cNvSpPr txBox="1"/>
          <p:nvPr/>
        </p:nvSpPr>
        <p:spPr>
          <a:xfrm>
            <a:off x="777240" y="1371600"/>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Lodge</a:t>
            </a:r>
            <a:endParaRPr lang="en-US" sz="1350" dirty="0"/>
          </a:p>
        </p:txBody>
      </p:sp>
      <p:sp>
        <p:nvSpPr>
          <p:cNvPr id="5" name="Text 3"/>
          <p:cNvSpPr txBox="1"/>
          <p:nvPr/>
        </p:nvSpPr>
        <p:spPr>
          <a:xfrm>
            <a:off x="2788920" y="1371600"/>
            <a:ext cx="2971800" cy="868680"/>
          </a:xfrm>
          <a:prstGeom prst="rect">
            <a:avLst/>
          </a:prstGeom>
          <a:noFill/>
          <a:ln/>
        </p:spPr>
        <p:txBody>
          <a:bodyPr wrap="square" lIns="0" tIns="0" rIns="0" bIns="0" rtlCol="0" anchor="ctr"/>
          <a:lstStyle/>
          <a:p>
            <a:pPr indent="0" marL="0">
              <a:buNone/>
            </a:pPr>
            <a:r>
              <a:rPr lang="en-US" sz="1250" dirty="0">
                <a:solidFill>
                  <a:srgbClr val="1E2329"/>
                </a:solidFill>
              </a:rPr>
              <a:t>The basic unit: a group of Freemasons who meet together, with a name and a number. Your Lodge elects a Master and officers each year.</a:t>
            </a:r>
            <a:endParaRPr lang="en-US" sz="1250" dirty="0"/>
          </a:p>
        </p:txBody>
      </p:sp>
      <p:sp>
        <p:nvSpPr>
          <p:cNvPr id="6" name="Glossary Province"/>
          <p:cNvSpPr/>
          <p:nvPr/>
        </p:nvSpPr>
        <p:spPr>
          <a:xfrm>
            <a:off x="548640" y="2441448"/>
            <a:ext cx="5440680" cy="1051560"/>
          </a:xfrm>
          <a:prstGeom prst="roundRect">
            <a:avLst>
              <a:gd name="adj" fmla="val 6957"/>
            </a:avLst>
          </a:prstGeom>
          <a:solidFill>
            <a:srgbClr val="F2F7FC"/>
          </a:solidFill>
          <a:ln w="12700">
            <a:solidFill>
              <a:srgbClr val="F2F7FC"/>
            </a:solidFill>
            <a:prstDash val="solid"/>
          </a:ln>
        </p:spPr>
      </p:sp>
      <p:sp>
        <p:nvSpPr>
          <p:cNvPr id="7" name="Text 5"/>
          <p:cNvSpPr txBox="1"/>
          <p:nvPr/>
        </p:nvSpPr>
        <p:spPr>
          <a:xfrm>
            <a:off x="777240" y="2532888"/>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Province</a:t>
            </a:r>
            <a:endParaRPr lang="en-US" sz="1350" dirty="0"/>
          </a:p>
        </p:txBody>
      </p:sp>
      <p:sp>
        <p:nvSpPr>
          <p:cNvPr id="8" name="Text 6"/>
          <p:cNvSpPr txBox="1"/>
          <p:nvPr/>
        </p:nvSpPr>
        <p:spPr>
          <a:xfrm>
            <a:off x="2788920" y="2532888"/>
            <a:ext cx="2971800" cy="868680"/>
          </a:xfrm>
          <a:prstGeom prst="rect">
            <a:avLst/>
          </a:prstGeom>
          <a:noFill/>
          <a:ln/>
        </p:spPr>
        <p:txBody>
          <a:bodyPr wrap="square" lIns="0" tIns="0" rIns="0" bIns="0" rtlCol="0" anchor="ctr"/>
          <a:lstStyle/>
          <a:p>
            <a:pPr indent="0" marL="0">
              <a:buNone/>
            </a:pPr>
            <a:r>
              <a:rPr lang="en-US" sz="1250" dirty="0">
                <a:solidFill>
                  <a:srgbClr val="1E2329"/>
                </a:solidFill>
              </a:rPr>
              <a:t>The Lodges of a county area under a Provincial Grand Master. Hertfordshire is one; above the Province is Grand Lodge.</a:t>
            </a:r>
            <a:endParaRPr lang="en-US" sz="1250" dirty="0"/>
          </a:p>
        </p:txBody>
      </p:sp>
      <p:sp>
        <p:nvSpPr>
          <p:cNvPr id="9" name="Glossary UGLE"/>
          <p:cNvSpPr/>
          <p:nvPr/>
        </p:nvSpPr>
        <p:spPr>
          <a:xfrm>
            <a:off x="548640" y="3602736"/>
            <a:ext cx="5440680" cy="1051560"/>
          </a:xfrm>
          <a:prstGeom prst="roundRect">
            <a:avLst>
              <a:gd name="adj" fmla="val 6957"/>
            </a:avLst>
          </a:prstGeom>
          <a:solidFill>
            <a:srgbClr val="F2F7FC"/>
          </a:solidFill>
          <a:ln w="12700">
            <a:solidFill>
              <a:srgbClr val="F2F7FC"/>
            </a:solidFill>
            <a:prstDash val="solid"/>
          </a:ln>
        </p:spPr>
      </p:sp>
      <p:sp>
        <p:nvSpPr>
          <p:cNvPr id="10" name="Text 8"/>
          <p:cNvSpPr txBox="1"/>
          <p:nvPr/>
        </p:nvSpPr>
        <p:spPr>
          <a:xfrm>
            <a:off x="777240" y="3694176"/>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UGLE</a:t>
            </a:r>
            <a:endParaRPr lang="en-US" sz="1350" dirty="0"/>
          </a:p>
        </p:txBody>
      </p:sp>
      <p:sp>
        <p:nvSpPr>
          <p:cNvPr id="11" name="Text 9"/>
          <p:cNvSpPr txBox="1"/>
          <p:nvPr/>
        </p:nvSpPr>
        <p:spPr>
          <a:xfrm>
            <a:off x="2788920" y="3694176"/>
            <a:ext cx="2971800" cy="868680"/>
          </a:xfrm>
          <a:prstGeom prst="rect">
            <a:avLst/>
          </a:prstGeom>
          <a:noFill/>
          <a:ln/>
        </p:spPr>
        <p:txBody>
          <a:bodyPr wrap="square" lIns="0" tIns="0" rIns="0" bIns="0" rtlCol="0" anchor="ctr"/>
          <a:lstStyle/>
          <a:p>
            <a:pPr indent="0" marL="0">
              <a:buNone/>
            </a:pPr>
            <a:r>
              <a:rPr lang="en-US" sz="1250" dirty="0">
                <a:solidFill>
                  <a:srgbClr val="1E2329"/>
                </a:solidFill>
              </a:rPr>
              <a:t>The United Grand Lodge of England, at Freemasons’ Hall, Great Queen Street: the governing body for English Freemasonry.</a:t>
            </a:r>
            <a:endParaRPr lang="en-US" sz="1250" dirty="0"/>
          </a:p>
        </p:txBody>
      </p:sp>
      <p:sp>
        <p:nvSpPr>
          <p:cNvPr id="12" name="Glossary Summons"/>
          <p:cNvSpPr/>
          <p:nvPr/>
        </p:nvSpPr>
        <p:spPr>
          <a:xfrm>
            <a:off x="548640" y="4764024"/>
            <a:ext cx="5440680" cy="1051560"/>
          </a:xfrm>
          <a:prstGeom prst="roundRect">
            <a:avLst>
              <a:gd name="adj" fmla="val 6957"/>
            </a:avLst>
          </a:prstGeom>
          <a:solidFill>
            <a:srgbClr val="F2F7FC"/>
          </a:solidFill>
          <a:ln w="12700">
            <a:solidFill>
              <a:srgbClr val="F2F7FC"/>
            </a:solidFill>
            <a:prstDash val="solid"/>
          </a:ln>
        </p:spPr>
      </p:sp>
      <p:sp>
        <p:nvSpPr>
          <p:cNvPr id="13" name="Text 11"/>
          <p:cNvSpPr txBox="1"/>
          <p:nvPr/>
        </p:nvSpPr>
        <p:spPr>
          <a:xfrm>
            <a:off x="777240" y="4855464"/>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Summons</a:t>
            </a:r>
            <a:endParaRPr lang="en-US" sz="1350" dirty="0"/>
          </a:p>
        </p:txBody>
      </p:sp>
      <p:sp>
        <p:nvSpPr>
          <p:cNvPr id="14" name="Text 12"/>
          <p:cNvSpPr txBox="1"/>
          <p:nvPr/>
        </p:nvSpPr>
        <p:spPr>
          <a:xfrm>
            <a:off x="2788920" y="4855464"/>
            <a:ext cx="2971800" cy="868680"/>
          </a:xfrm>
          <a:prstGeom prst="rect">
            <a:avLst/>
          </a:prstGeom>
          <a:noFill/>
          <a:ln/>
        </p:spPr>
        <p:txBody>
          <a:bodyPr wrap="square" lIns="0" tIns="0" rIns="0" bIns="0" rtlCol="0" anchor="ctr"/>
          <a:lstStyle/>
          <a:p>
            <a:pPr indent="0" marL="0">
              <a:buNone/>
            </a:pPr>
            <a:r>
              <a:rPr lang="en-US" sz="1250" dirty="0">
                <a:solidFill>
                  <a:srgbClr val="1E2329"/>
                </a:solidFill>
              </a:rPr>
              <a:t>The notice of a meeting: date, time, dress, the business, and who is doing what. Read it; most questions are answered in it.</a:t>
            </a:r>
            <a:endParaRPr lang="en-US" sz="1250" dirty="0"/>
          </a:p>
        </p:txBody>
      </p:sp>
      <p:sp>
        <p:nvSpPr>
          <p:cNvPr id="15" name="Glossary Festive Board"/>
          <p:cNvSpPr/>
          <p:nvPr/>
        </p:nvSpPr>
        <p:spPr>
          <a:xfrm>
            <a:off x="6172200" y="1280160"/>
            <a:ext cx="5440680" cy="1051560"/>
          </a:xfrm>
          <a:prstGeom prst="roundRect">
            <a:avLst>
              <a:gd name="adj" fmla="val 6957"/>
            </a:avLst>
          </a:prstGeom>
          <a:solidFill>
            <a:srgbClr val="F2F7FC"/>
          </a:solidFill>
          <a:ln w="12700">
            <a:solidFill>
              <a:srgbClr val="F2F7FC"/>
            </a:solidFill>
            <a:prstDash val="solid"/>
          </a:ln>
        </p:spPr>
      </p:sp>
      <p:sp>
        <p:nvSpPr>
          <p:cNvPr id="16" name="Text 14"/>
          <p:cNvSpPr txBox="1"/>
          <p:nvPr/>
        </p:nvSpPr>
        <p:spPr>
          <a:xfrm>
            <a:off x="6400800" y="1371600"/>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Festive Board</a:t>
            </a:r>
            <a:endParaRPr lang="en-US" sz="1350" dirty="0"/>
          </a:p>
        </p:txBody>
      </p:sp>
      <p:sp>
        <p:nvSpPr>
          <p:cNvPr id="17" name="Text 15"/>
          <p:cNvSpPr txBox="1"/>
          <p:nvPr/>
        </p:nvSpPr>
        <p:spPr>
          <a:xfrm>
            <a:off x="8412480" y="1371600"/>
            <a:ext cx="2971800" cy="868680"/>
          </a:xfrm>
          <a:prstGeom prst="rect">
            <a:avLst/>
          </a:prstGeom>
          <a:noFill/>
          <a:ln/>
        </p:spPr>
        <p:txBody>
          <a:bodyPr wrap="square" lIns="0" tIns="0" rIns="0" bIns="0" rtlCol="0" anchor="ctr"/>
          <a:lstStyle/>
          <a:p>
            <a:pPr indent="0" marL="0">
              <a:buNone/>
            </a:pPr>
            <a:r>
              <a:rPr lang="en-US" sz="1250" dirty="0">
                <a:solidFill>
                  <a:srgbClr val="1E2329"/>
                </a:solidFill>
              </a:rPr>
              <a:t>The meal after the meeting. Toasts, Masonic Fire, speeches, and the part of the evening where friendships are made.</a:t>
            </a:r>
            <a:endParaRPr lang="en-US" sz="1250" dirty="0"/>
          </a:p>
        </p:txBody>
      </p:sp>
      <p:sp>
        <p:nvSpPr>
          <p:cNvPr id="18" name="Glossary Masonic Fire"/>
          <p:cNvSpPr/>
          <p:nvPr/>
        </p:nvSpPr>
        <p:spPr>
          <a:xfrm>
            <a:off x="6172200" y="2441448"/>
            <a:ext cx="5440680" cy="1051560"/>
          </a:xfrm>
          <a:prstGeom prst="roundRect">
            <a:avLst>
              <a:gd name="adj" fmla="val 6957"/>
            </a:avLst>
          </a:prstGeom>
          <a:solidFill>
            <a:srgbClr val="F2F7FC"/>
          </a:solidFill>
          <a:ln w="12700">
            <a:solidFill>
              <a:srgbClr val="F2F7FC"/>
            </a:solidFill>
            <a:prstDash val="solid"/>
          </a:ln>
        </p:spPr>
      </p:sp>
      <p:sp>
        <p:nvSpPr>
          <p:cNvPr id="19" name="Text 17"/>
          <p:cNvSpPr txBox="1"/>
          <p:nvPr/>
        </p:nvSpPr>
        <p:spPr>
          <a:xfrm>
            <a:off x="6400800" y="2532888"/>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Masonic Fire</a:t>
            </a:r>
            <a:endParaRPr lang="en-US" sz="1350" dirty="0"/>
          </a:p>
        </p:txBody>
      </p:sp>
      <p:sp>
        <p:nvSpPr>
          <p:cNvPr id="20" name="Text 18"/>
          <p:cNvSpPr txBox="1"/>
          <p:nvPr/>
        </p:nvSpPr>
        <p:spPr>
          <a:xfrm>
            <a:off x="8412480" y="2532888"/>
            <a:ext cx="2971800" cy="868680"/>
          </a:xfrm>
          <a:prstGeom prst="rect">
            <a:avLst/>
          </a:prstGeom>
          <a:noFill/>
          <a:ln/>
        </p:spPr>
        <p:txBody>
          <a:bodyPr wrap="square" lIns="0" tIns="0" rIns="0" bIns="0" rtlCol="0" anchor="ctr"/>
          <a:lstStyle/>
          <a:p>
            <a:pPr indent="0" marL="0">
              <a:buNone/>
            </a:pPr>
            <a:r>
              <a:rPr lang="en-US" sz="1250" dirty="0">
                <a:solidFill>
                  <a:srgbClr val="1E2329"/>
                </a:solidFill>
              </a:rPr>
              <a:t>The pattern of applause that follows a toast. Your mentor will show you before your first Festive Board; nobody expects you to know it.</a:t>
            </a:r>
            <a:endParaRPr lang="en-US" sz="1250" dirty="0"/>
          </a:p>
        </p:txBody>
      </p:sp>
      <p:sp>
        <p:nvSpPr>
          <p:cNvPr id="21" name="Glossary Lodge of Instruction"/>
          <p:cNvSpPr/>
          <p:nvPr/>
        </p:nvSpPr>
        <p:spPr>
          <a:xfrm>
            <a:off x="6172200" y="3602736"/>
            <a:ext cx="5440680" cy="1051560"/>
          </a:xfrm>
          <a:prstGeom prst="roundRect">
            <a:avLst>
              <a:gd name="adj" fmla="val 6957"/>
            </a:avLst>
          </a:prstGeom>
          <a:solidFill>
            <a:srgbClr val="F2F7FC"/>
          </a:solidFill>
          <a:ln w="12700">
            <a:solidFill>
              <a:srgbClr val="F2F7FC"/>
            </a:solidFill>
            <a:prstDash val="solid"/>
          </a:ln>
        </p:spPr>
      </p:sp>
      <p:sp>
        <p:nvSpPr>
          <p:cNvPr id="22" name="Text 20"/>
          <p:cNvSpPr txBox="1"/>
          <p:nvPr/>
        </p:nvSpPr>
        <p:spPr>
          <a:xfrm>
            <a:off x="6400800" y="3694176"/>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Lodge of Instruction</a:t>
            </a:r>
            <a:endParaRPr lang="en-US" sz="1350" dirty="0"/>
          </a:p>
        </p:txBody>
      </p:sp>
      <p:sp>
        <p:nvSpPr>
          <p:cNvPr id="23" name="Text 21"/>
          <p:cNvSpPr txBox="1"/>
          <p:nvPr/>
        </p:nvSpPr>
        <p:spPr>
          <a:xfrm>
            <a:off x="8412480" y="3694176"/>
            <a:ext cx="2971800" cy="868680"/>
          </a:xfrm>
          <a:prstGeom prst="rect">
            <a:avLst/>
          </a:prstGeom>
          <a:noFill/>
          <a:ln/>
        </p:spPr>
        <p:txBody>
          <a:bodyPr wrap="square" lIns="0" tIns="0" rIns="0" bIns="0" rtlCol="0" anchor="ctr"/>
          <a:lstStyle/>
          <a:p>
            <a:pPr indent="0" marL="0">
              <a:buNone/>
            </a:pPr>
            <a:r>
              <a:rPr lang="en-US" sz="1250" dirty="0">
                <a:solidFill>
                  <a:srgbClr val="1E2329"/>
                </a:solidFill>
              </a:rPr>
              <a:t>The rehearsal, usually informal, run by the Preceptor. Where you learn what you saw, and where offices are learned.</a:t>
            </a:r>
            <a:endParaRPr lang="en-US" sz="1250" dirty="0"/>
          </a:p>
        </p:txBody>
      </p:sp>
      <p:sp>
        <p:nvSpPr>
          <p:cNvPr id="24" name="Glossary Installation"/>
          <p:cNvSpPr/>
          <p:nvPr/>
        </p:nvSpPr>
        <p:spPr>
          <a:xfrm>
            <a:off x="6172200" y="4764024"/>
            <a:ext cx="5440680" cy="1051560"/>
          </a:xfrm>
          <a:prstGeom prst="roundRect">
            <a:avLst>
              <a:gd name="adj" fmla="val 6957"/>
            </a:avLst>
          </a:prstGeom>
          <a:solidFill>
            <a:srgbClr val="F2F7FC"/>
          </a:solidFill>
          <a:ln w="12700">
            <a:solidFill>
              <a:srgbClr val="F2F7FC"/>
            </a:solidFill>
            <a:prstDash val="solid"/>
          </a:ln>
        </p:spPr>
      </p:sp>
      <p:sp>
        <p:nvSpPr>
          <p:cNvPr id="25" name="Text 23"/>
          <p:cNvSpPr txBox="1"/>
          <p:nvPr/>
        </p:nvSpPr>
        <p:spPr>
          <a:xfrm>
            <a:off x="6400800" y="4855464"/>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Installation</a:t>
            </a:r>
            <a:endParaRPr lang="en-US" sz="1350" dirty="0"/>
          </a:p>
        </p:txBody>
      </p:sp>
      <p:sp>
        <p:nvSpPr>
          <p:cNvPr id="26" name="Text 24"/>
          <p:cNvSpPr txBox="1"/>
          <p:nvPr/>
        </p:nvSpPr>
        <p:spPr>
          <a:xfrm>
            <a:off x="8412480" y="4855464"/>
            <a:ext cx="2971800" cy="868680"/>
          </a:xfrm>
          <a:prstGeom prst="rect">
            <a:avLst/>
          </a:prstGeom>
          <a:noFill/>
          <a:ln/>
        </p:spPr>
        <p:txBody>
          <a:bodyPr wrap="square" lIns="0" tIns="0" rIns="0" bIns="0" rtlCol="0" anchor="ctr"/>
          <a:lstStyle/>
          <a:p>
            <a:pPr indent="0" marL="0">
              <a:buNone/>
            </a:pPr>
            <a:r>
              <a:rPr lang="en-US" sz="1250" dirty="0">
                <a:solidFill>
                  <a:srgbClr val="1E2329"/>
                </a:solidFill>
              </a:rPr>
              <a:t>The meeting each year at which the new Master is installed and appoints his officers. Often black tie; often the biggest night.</a:t>
            </a:r>
            <a:endParaRPr lang="en-US" sz="12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Words you will hear, continued</a:t>
            </a:r>
            <a:endParaRPr lang="en-US" sz="3200" dirty="0"/>
          </a:p>
        </p:txBody>
      </p:sp>
      <p:sp>
        <p:nvSpPr>
          <p:cNvPr id="3" name="Glossary Initiation, Passing, Raising"/>
          <p:cNvSpPr/>
          <p:nvPr/>
        </p:nvSpPr>
        <p:spPr>
          <a:xfrm>
            <a:off x="548640" y="1280160"/>
            <a:ext cx="5440680" cy="1051560"/>
          </a:xfrm>
          <a:prstGeom prst="roundRect">
            <a:avLst>
              <a:gd name="adj" fmla="val 6957"/>
            </a:avLst>
          </a:prstGeom>
          <a:solidFill>
            <a:srgbClr val="F2F7FC"/>
          </a:solidFill>
          <a:ln w="12700">
            <a:solidFill>
              <a:srgbClr val="F2F7FC"/>
            </a:solidFill>
            <a:prstDash val="solid"/>
          </a:ln>
        </p:spPr>
      </p:sp>
      <p:sp>
        <p:nvSpPr>
          <p:cNvPr id="4" name="Text 2"/>
          <p:cNvSpPr txBox="1"/>
          <p:nvPr/>
        </p:nvSpPr>
        <p:spPr>
          <a:xfrm>
            <a:off x="777240" y="1371600"/>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Initiation, Passing, Raising</a:t>
            </a:r>
            <a:endParaRPr lang="en-US" sz="1350" dirty="0"/>
          </a:p>
        </p:txBody>
      </p:sp>
      <p:sp>
        <p:nvSpPr>
          <p:cNvPr id="5" name="Text 3"/>
          <p:cNvSpPr txBox="1"/>
          <p:nvPr/>
        </p:nvSpPr>
        <p:spPr>
          <a:xfrm>
            <a:off x="2788920" y="1371600"/>
            <a:ext cx="2971800" cy="868680"/>
          </a:xfrm>
          <a:prstGeom prst="rect">
            <a:avLst/>
          </a:prstGeom>
          <a:noFill/>
          <a:ln/>
        </p:spPr>
        <p:txBody>
          <a:bodyPr wrap="square" lIns="0" tIns="0" rIns="0" bIns="0" rtlCol="0" anchor="ctr"/>
          <a:lstStyle/>
          <a:p>
            <a:pPr indent="0" marL="0">
              <a:buNone/>
            </a:pPr>
            <a:r>
              <a:rPr lang="en-US" sz="1250" dirty="0">
                <a:solidFill>
                  <a:srgbClr val="1E2329"/>
                </a:solidFill>
              </a:rPr>
              <a:t>The three ceremonies that make you an Entered Apprentice, a Fellow Craft and a Master Mason.</a:t>
            </a:r>
            <a:endParaRPr lang="en-US" sz="1250" dirty="0"/>
          </a:p>
        </p:txBody>
      </p:sp>
      <p:sp>
        <p:nvSpPr>
          <p:cNvPr id="6" name="Glossary Apron"/>
          <p:cNvSpPr/>
          <p:nvPr/>
        </p:nvSpPr>
        <p:spPr>
          <a:xfrm>
            <a:off x="548640" y="2441448"/>
            <a:ext cx="5440680" cy="1051560"/>
          </a:xfrm>
          <a:prstGeom prst="roundRect">
            <a:avLst>
              <a:gd name="adj" fmla="val 6957"/>
            </a:avLst>
          </a:prstGeom>
          <a:solidFill>
            <a:srgbClr val="F2F7FC"/>
          </a:solidFill>
          <a:ln w="12700">
            <a:solidFill>
              <a:srgbClr val="F2F7FC"/>
            </a:solidFill>
            <a:prstDash val="solid"/>
          </a:ln>
        </p:spPr>
      </p:sp>
      <p:sp>
        <p:nvSpPr>
          <p:cNvPr id="7" name="Text 5"/>
          <p:cNvSpPr txBox="1"/>
          <p:nvPr/>
        </p:nvSpPr>
        <p:spPr>
          <a:xfrm>
            <a:off x="777240" y="2532888"/>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Apron</a:t>
            </a:r>
            <a:endParaRPr lang="en-US" sz="1350" dirty="0"/>
          </a:p>
        </p:txBody>
      </p:sp>
      <p:sp>
        <p:nvSpPr>
          <p:cNvPr id="8" name="Text 6"/>
          <p:cNvSpPr txBox="1"/>
          <p:nvPr/>
        </p:nvSpPr>
        <p:spPr>
          <a:xfrm>
            <a:off x="2788920" y="2532888"/>
            <a:ext cx="2971800" cy="868680"/>
          </a:xfrm>
          <a:prstGeom prst="rect">
            <a:avLst/>
          </a:prstGeom>
          <a:noFill/>
          <a:ln/>
        </p:spPr>
        <p:txBody>
          <a:bodyPr wrap="square" lIns="0" tIns="0" rIns="0" bIns="0" rtlCol="0" anchor="ctr"/>
          <a:lstStyle/>
          <a:p>
            <a:pPr indent="0" marL="0">
              <a:buNone/>
            </a:pPr>
            <a:r>
              <a:rPr lang="en-US" sz="1250" dirty="0">
                <a:solidFill>
                  <a:srgbClr val="1E2329"/>
                </a:solidFill>
              </a:rPr>
              <a:t>Worn by every Freemason in Lodge. White for an Entered Apprentice, then light blue, then dark blue for Provincial or Grand rank. Hence “light blue”.</a:t>
            </a:r>
            <a:endParaRPr lang="en-US" sz="1250" dirty="0"/>
          </a:p>
        </p:txBody>
      </p:sp>
      <p:sp>
        <p:nvSpPr>
          <p:cNvPr id="9" name="Glossary Regalia and jewels"/>
          <p:cNvSpPr/>
          <p:nvPr/>
        </p:nvSpPr>
        <p:spPr>
          <a:xfrm>
            <a:off x="548640" y="3602736"/>
            <a:ext cx="5440680" cy="1051560"/>
          </a:xfrm>
          <a:prstGeom prst="roundRect">
            <a:avLst>
              <a:gd name="adj" fmla="val 6957"/>
            </a:avLst>
          </a:prstGeom>
          <a:solidFill>
            <a:srgbClr val="F2F7FC"/>
          </a:solidFill>
          <a:ln w="12700">
            <a:solidFill>
              <a:srgbClr val="F2F7FC"/>
            </a:solidFill>
            <a:prstDash val="solid"/>
          </a:ln>
        </p:spPr>
      </p:sp>
      <p:sp>
        <p:nvSpPr>
          <p:cNvPr id="10" name="Text 8"/>
          <p:cNvSpPr txBox="1"/>
          <p:nvPr/>
        </p:nvSpPr>
        <p:spPr>
          <a:xfrm>
            <a:off x="777240" y="3694176"/>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Regalia and jewels</a:t>
            </a:r>
            <a:endParaRPr lang="en-US" sz="1350" dirty="0"/>
          </a:p>
        </p:txBody>
      </p:sp>
      <p:sp>
        <p:nvSpPr>
          <p:cNvPr id="11" name="Text 9"/>
          <p:cNvSpPr txBox="1"/>
          <p:nvPr/>
        </p:nvSpPr>
        <p:spPr>
          <a:xfrm>
            <a:off x="2788920" y="3694176"/>
            <a:ext cx="2971800" cy="868680"/>
          </a:xfrm>
          <a:prstGeom prst="rect">
            <a:avLst/>
          </a:prstGeom>
          <a:noFill/>
          <a:ln/>
        </p:spPr>
        <p:txBody>
          <a:bodyPr wrap="square" lIns="0" tIns="0" rIns="0" bIns="0" rtlCol="0" anchor="ctr"/>
          <a:lstStyle/>
          <a:p>
            <a:pPr indent="0" marL="0">
              <a:buNone/>
            </a:pPr>
            <a:r>
              <a:rPr lang="en-US" sz="1250" dirty="0">
                <a:solidFill>
                  <a:srgbClr val="1E2329"/>
                </a:solidFill>
              </a:rPr>
              <a:t>Apron, collar for officers, and gloves. Jewels are the medals worn on the breast: charity festivals, the Royal Arch and the like.</a:t>
            </a:r>
            <a:endParaRPr lang="en-US" sz="1250" dirty="0"/>
          </a:p>
        </p:txBody>
      </p:sp>
      <p:sp>
        <p:nvSpPr>
          <p:cNvPr id="12" name="Glossary Visiting"/>
          <p:cNvSpPr/>
          <p:nvPr/>
        </p:nvSpPr>
        <p:spPr>
          <a:xfrm>
            <a:off x="548640" y="4764024"/>
            <a:ext cx="5440680" cy="1051560"/>
          </a:xfrm>
          <a:prstGeom prst="roundRect">
            <a:avLst>
              <a:gd name="adj" fmla="val 6957"/>
            </a:avLst>
          </a:prstGeom>
          <a:solidFill>
            <a:srgbClr val="F2F7FC"/>
          </a:solidFill>
          <a:ln w="12700">
            <a:solidFill>
              <a:srgbClr val="F2F7FC"/>
            </a:solidFill>
            <a:prstDash val="solid"/>
          </a:ln>
        </p:spPr>
      </p:sp>
      <p:sp>
        <p:nvSpPr>
          <p:cNvPr id="13" name="Text 11"/>
          <p:cNvSpPr txBox="1"/>
          <p:nvPr/>
        </p:nvSpPr>
        <p:spPr>
          <a:xfrm>
            <a:off x="777240" y="4855464"/>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Visiting</a:t>
            </a:r>
            <a:endParaRPr lang="en-US" sz="1350" dirty="0"/>
          </a:p>
        </p:txBody>
      </p:sp>
      <p:sp>
        <p:nvSpPr>
          <p:cNvPr id="14" name="Text 12"/>
          <p:cNvSpPr txBox="1"/>
          <p:nvPr/>
        </p:nvSpPr>
        <p:spPr>
          <a:xfrm>
            <a:off x="2788920" y="4855464"/>
            <a:ext cx="2971800" cy="868680"/>
          </a:xfrm>
          <a:prstGeom prst="rect">
            <a:avLst/>
          </a:prstGeom>
          <a:noFill/>
          <a:ln/>
        </p:spPr>
        <p:txBody>
          <a:bodyPr wrap="square" lIns="0" tIns="0" rIns="0" bIns="0" rtlCol="0" anchor="ctr"/>
          <a:lstStyle/>
          <a:p>
            <a:pPr indent="0" marL="0">
              <a:buNone/>
            </a:pPr>
            <a:r>
              <a:rPr lang="en-US" sz="1250" dirty="0">
                <a:solidFill>
                  <a:srgbClr val="1E2329"/>
                </a:solidFill>
              </a:rPr>
              <a:t>Attending another Lodge’s meeting as a guest. Encouraged from the start; your mentor will take you the first time.</a:t>
            </a:r>
            <a:endParaRPr lang="en-US" sz="1250" dirty="0"/>
          </a:p>
        </p:txBody>
      </p:sp>
      <p:sp>
        <p:nvSpPr>
          <p:cNvPr id="15" name="Glossary Risings"/>
          <p:cNvSpPr/>
          <p:nvPr/>
        </p:nvSpPr>
        <p:spPr>
          <a:xfrm>
            <a:off x="6172200" y="1280160"/>
            <a:ext cx="5440680" cy="1051560"/>
          </a:xfrm>
          <a:prstGeom prst="roundRect">
            <a:avLst>
              <a:gd name="adj" fmla="val 6957"/>
            </a:avLst>
          </a:prstGeom>
          <a:solidFill>
            <a:srgbClr val="F2F7FC"/>
          </a:solidFill>
          <a:ln w="12700">
            <a:solidFill>
              <a:srgbClr val="F2F7FC"/>
            </a:solidFill>
            <a:prstDash val="solid"/>
          </a:ln>
        </p:spPr>
      </p:sp>
      <p:sp>
        <p:nvSpPr>
          <p:cNvPr id="16" name="Text 14"/>
          <p:cNvSpPr txBox="1"/>
          <p:nvPr/>
        </p:nvSpPr>
        <p:spPr>
          <a:xfrm>
            <a:off x="6400800" y="1371600"/>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Risings</a:t>
            </a:r>
            <a:endParaRPr lang="en-US" sz="1350" dirty="0"/>
          </a:p>
        </p:txBody>
      </p:sp>
      <p:sp>
        <p:nvSpPr>
          <p:cNvPr id="17" name="Text 15"/>
          <p:cNvSpPr txBox="1"/>
          <p:nvPr/>
        </p:nvSpPr>
        <p:spPr>
          <a:xfrm>
            <a:off x="8412480" y="1371600"/>
            <a:ext cx="2971800" cy="868680"/>
          </a:xfrm>
          <a:prstGeom prst="rect">
            <a:avLst/>
          </a:prstGeom>
          <a:noFill/>
          <a:ln/>
        </p:spPr>
        <p:txBody>
          <a:bodyPr wrap="square" lIns="0" tIns="0" rIns="0" bIns="0" rtlCol="0" anchor="ctr"/>
          <a:lstStyle/>
          <a:p>
            <a:pPr indent="0" marL="0">
              <a:buNone/>
            </a:pPr>
            <a:r>
              <a:rPr lang="en-US" sz="1250" dirty="0">
                <a:solidFill>
                  <a:srgbClr val="1E2329"/>
                </a:solidFill>
              </a:rPr>
              <a:t>The three points near the end of a meeting when the Master rises to ask for communications, apologies and other business.</a:t>
            </a:r>
            <a:endParaRPr lang="en-US" sz="1250" dirty="0"/>
          </a:p>
        </p:txBody>
      </p:sp>
      <p:sp>
        <p:nvSpPr>
          <p:cNvPr id="18" name="Glossary Royal Arch, Chapter"/>
          <p:cNvSpPr/>
          <p:nvPr/>
        </p:nvSpPr>
        <p:spPr>
          <a:xfrm>
            <a:off x="6172200" y="2441448"/>
            <a:ext cx="5440680" cy="1051560"/>
          </a:xfrm>
          <a:prstGeom prst="roundRect">
            <a:avLst>
              <a:gd name="adj" fmla="val 6957"/>
            </a:avLst>
          </a:prstGeom>
          <a:solidFill>
            <a:srgbClr val="F2F7FC"/>
          </a:solidFill>
          <a:ln w="12700">
            <a:solidFill>
              <a:srgbClr val="F2F7FC"/>
            </a:solidFill>
            <a:prstDash val="solid"/>
          </a:ln>
        </p:spPr>
      </p:sp>
      <p:sp>
        <p:nvSpPr>
          <p:cNvPr id="19" name="Text 17"/>
          <p:cNvSpPr txBox="1"/>
          <p:nvPr/>
        </p:nvSpPr>
        <p:spPr>
          <a:xfrm>
            <a:off x="6400800" y="2532888"/>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Royal Arch, Chapter</a:t>
            </a:r>
            <a:endParaRPr lang="en-US" sz="1350" dirty="0"/>
          </a:p>
        </p:txBody>
      </p:sp>
      <p:sp>
        <p:nvSpPr>
          <p:cNvPr id="20" name="Text 18"/>
          <p:cNvSpPr txBox="1"/>
          <p:nvPr/>
        </p:nvSpPr>
        <p:spPr>
          <a:xfrm>
            <a:off x="8412480" y="2532888"/>
            <a:ext cx="2971800" cy="868680"/>
          </a:xfrm>
          <a:prstGeom prst="rect">
            <a:avLst/>
          </a:prstGeom>
          <a:noFill/>
          <a:ln/>
        </p:spPr>
        <p:txBody>
          <a:bodyPr wrap="square" lIns="0" tIns="0" rIns="0" bIns="0" rtlCol="0" anchor="ctr"/>
          <a:lstStyle/>
          <a:p>
            <a:pPr indent="0" marL="0">
              <a:buNone/>
            </a:pPr>
            <a:r>
              <a:rPr lang="en-US" sz="1250" dirty="0">
                <a:solidFill>
                  <a:srgbClr val="1E2329"/>
                </a:solidFill>
              </a:rPr>
              <a:t>The completion of Pure Antient Masonry. A Chapter is to the Royal Arch what a Lodge is to the Craft; its members are Companions.</a:t>
            </a:r>
            <a:endParaRPr lang="en-US" sz="1250" dirty="0"/>
          </a:p>
        </p:txBody>
      </p:sp>
      <p:sp>
        <p:nvSpPr>
          <p:cNvPr id="21" name="Glossary Proposer, Seconder"/>
          <p:cNvSpPr/>
          <p:nvPr/>
        </p:nvSpPr>
        <p:spPr>
          <a:xfrm>
            <a:off x="6172200" y="3602736"/>
            <a:ext cx="5440680" cy="1051560"/>
          </a:xfrm>
          <a:prstGeom prst="roundRect">
            <a:avLst>
              <a:gd name="adj" fmla="val 6957"/>
            </a:avLst>
          </a:prstGeom>
          <a:solidFill>
            <a:srgbClr val="F2F7FC"/>
          </a:solidFill>
          <a:ln w="12700">
            <a:solidFill>
              <a:srgbClr val="F2F7FC"/>
            </a:solidFill>
            <a:prstDash val="solid"/>
          </a:ln>
        </p:spPr>
      </p:sp>
      <p:sp>
        <p:nvSpPr>
          <p:cNvPr id="22" name="Text 20"/>
          <p:cNvSpPr txBox="1"/>
          <p:nvPr/>
        </p:nvSpPr>
        <p:spPr>
          <a:xfrm>
            <a:off x="6400800" y="3694176"/>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Proposer, Seconder</a:t>
            </a:r>
            <a:endParaRPr lang="en-US" sz="1350" dirty="0"/>
          </a:p>
        </p:txBody>
      </p:sp>
      <p:sp>
        <p:nvSpPr>
          <p:cNvPr id="23" name="Text 21"/>
          <p:cNvSpPr txBox="1"/>
          <p:nvPr/>
        </p:nvSpPr>
        <p:spPr>
          <a:xfrm>
            <a:off x="8412480" y="3694176"/>
            <a:ext cx="2971800" cy="868680"/>
          </a:xfrm>
          <a:prstGeom prst="rect">
            <a:avLst/>
          </a:prstGeom>
          <a:noFill/>
          <a:ln/>
        </p:spPr>
        <p:txBody>
          <a:bodyPr wrap="square" lIns="0" tIns="0" rIns="0" bIns="0" rtlCol="0" anchor="ctr"/>
          <a:lstStyle/>
          <a:p>
            <a:pPr indent="0" marL="0">
              <a:buNone/>
            </a:pPr>
            <a:r>
              <a:rPr lang="en-US" sz="1250" dirty="0">
                <a:solidFill>
                  <a:srgbClr val="1E2329"/>
                </a:solidFill>
              </a:rPr>
              <a:t>The two members who put your name forward. Your Proposer is often, but not always, your Personal Mentor.</a:t>
            </a:r>
            <a:endParaRPr lang="en-US" sz="1250" dirty="0"/>
          </a:p>
        </p:txBody>
      </p:sp>
      <p:sp>
        <p:nvSpPr>
          <p:cNvPr id="24" name="Glossary White Table"/>
          <p:cNvSpPr/>
          <p:nvPr/>
        </p:nvSpPr>
        <p:spPr>
          <a:xfrm>
            <a:off x="6172200" y="4764024"/>
            <a:ext cx="5440680" cy="1051560"/>
          </a:xfrm>
          <a:prstGeom prst="roundRect">
            <a:avLst>
              <a:gd name="adj" fmla="val 6957"/>
            </a:avLst>
          </a:prstGeom>
          <a:solidFill>
            <a:srgbClr val="F2F7FC"/>
          </a:solidFill>
          <a:ln w="12700">
            <a:solidFill>
              <a:srgbClr val="F2F7FC"/>
            </a:solidFill>
            <a:prstDash val="solid"/>
          </a:ln>
        </p:spPr>
      </p:sp>
      <p:sp>
        <p:nvSpPr>
          <p:cNvPr id="25" name="Text 23"/>
          <p:cNvSpPr txBox="1"/>
          <p:nvPr/>
        </p:nvSpPr>
        <p:spPr>
          <a:xfrm>
            <a:off x="6400800" y="4855464"/>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White Table</a:t>
            </a:r>
            <a:endParaRPr lang="en-US" sz="1350" dirty="0"/>
          </a:p>
        </p:txBody>
      </p:sp>
      <p:sp>
        <p:nvSpPr>
          <p:cNvPr id="26" name="Text 24"/>
          <p:cNvSpPr txBox="1"/>
          <p:nvPr/>
        </p:nvSpPr>
        <p:spPr>
          <a:xfrm>
            <a:off x="8412480" y="4855464"/>
            <a:ext cx="2971800" cy="868680"/>
          </a:xfrm>
          <a:prstGeom prst="rect">
            <a:avLst/>
          </a:prstGeom>
          <a:noFill/>
          <a:ln/>
        </p:spPr>
        <p:txBody>
          <a:bodyPr wrap="square" lIns="0" tIns="0" rIns="0" bIns="0" rtlCol="0" anchor="ctr"/>
          <a:lstStyle/>
          <a:p>
            <a:pPr indent="0" marL="0">
              <a:buNone/>
            </a:pPr>
            <a:r>
              <a:rPr lang="en-US" sz="1250" dirty="0">
                <a:solidFill>
                  <a:srgbClr val="1E2329"/>
                </a:solidFill>
              </a:rPr>
              <a:t>A dinner to which partners are invited, sometimes with the untyled part of a meeting. Ladies Night is the Master’s formal dinner.</a:t>
            </a:r>
            <a:endParaRPr lang="en-US" sz="12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Letters you will see</a:t>
            </a:r>
            <a:endParaRPr lang="en-US" sz="3200" dirty="0"/>
          </a:p>
        </p:txBody>
      </p:sp>
      <p:sp>
        <p:nvSpPr>
          <p:cNvPr id="3" name="Glossary WM, IPM"/>
          <p:cNvSpPr/>
          <p:nvPr/>
        </p:nvSpPr>
        <p:spPr>
          <a:xfrm>
            <a:off x="548640" y="1280160"/>
            <a:ext cx="5440680" cy="1051560"/>
          </a:xfrm>
          <a:prstGeom prst="roundRect">
            <a:avLst>
              <a:gd name="adj" fmla="val 6957"/>
            </a:avLst>
          </a:prstGeom>
          <a:solidFill>
            <a:srgbClr val="F2F7FC"/>
          </a:solidFill>
          <a:ln w="12700">
            <a:solidFill>
              <a:srgbClr val="F2F7FC"/>
            </a:solidFill>
            <a:prstDash val="solid"/>
          </a:ln>
        </p:spPr>
      </p:sp>
      <p:sp>
        <p:nvSpPr>
          <p:cNvPr id="4" name="Text 2"/>
          <p:cNvSpPr txBox="1"/>
          <p:nvPr/>
        </p:nvSpPr>
        <p:spPr>
          <a:xfrm>
            <a:off x="777240" y="1371600"/>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WM, IPM</a:t>
            </a:r>
            <a:endParaRPr lang="en-US" sz="1350" dirty="0"/>
          </a:p>
        </p:txBody>
      </p:sp>
      <p:sp>
        <p:nvSpPr>
          <p:cNvPr id="5" name="Text 3"/>
          <p:cNvSpPr txBox="1"/>
          <p:nvPr/>
        </p:nvSpPr>
        <p:spPr>
          <a:xfrm>
            <a:off x="2788920" y="1371600"/>
            <a:ext cx="2971800" cy="868680"/>
          </a:xfrm>
          <a:prstGeom prst="rect">
            <a:avLst/>
          </a:prstGeom>
          <a:noFill/>
          <a:ln/>
        </p:spPr>
        <p:txBody>
          <a:bodyPr wrap="square" lIns="0" tIns="0" rIns="0" bIns="0" rtlCol="0" anchor="ctr"/>
          <a:lstStyle/>
          <a:p>
            <a:pPr indent="0" marL="0">
              <a:buNone/>
            </a:pPr>
            <a:r>
              <a:rPr lang="en-US" sz="1250" dirty="0">
                <a:solidFill>
                  <a:srgbClr val="1E2329"/>
                </a:solidFill>
              </a:rPr>
              <a:t>Worshipful Master; Immediate Past Master, who has just left the Chair and sits beside him.</a:t>
            </a:r>
            <a:endParaRPr lang="en-US" sz="1250" dirty="0"/>
          </a:p>
        </p:txBody>
      </p:sp>
      <p:sp>
        <p:nvSpPr>
          <p:cNvPr id="6" name="Glossary SW, JW"/>
          <p:cNvSpPr/>
          <p:nvPr/>
        </p:nvSpPr>
        <p:spPr>
          <a:xfrm>
            <a:off x="548640" y="2441448"/>
            <a:ext cx="5440680" cy="1051560"/>
          </a:xfrm>
          <a:prstGeom prst="roundRect">
            <a:avLst>
              <a:gd name="adj" fmla="val 6957"/>
            </a:avLst>
          </a:prstGeom>
          <a:solidFill>
            <a:srgbClr val="F2F7FC"/>
          </a:solidFill>
          <a:ln w="12700">
            <a:solidFill>
              <a:srgbClr val="F2F7FC"/>
            </a:solidFill>
            <a:prstDash val="solid"/>
          </a:ln>
        </p:spPr>
      </p:sp>
      <p:sp>
        <p:nvSpPr>
          <p:cNvPr id="7" name="Text 5"/>
          <p:cNvSpPr txBox="1"/>
          <p:nvPr/>
        </p:nvSpPr>
        <p:spPr>
          <a:xfrm>
            <a:off x="777240" y="2532888"/>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SW, JW</a:t>
            </a:r>
            <a:endParaRPr lang="en-US" sz="1350" dirty="0"/>
          </a:p>
        </p:txBody>
      </p:sp>
      <p:sp>
        <p:nvSpPr>
          <p:cNvPr id="8" name="Text 6"/>
          <p:cNvSpPr txBox="1"/>
          <p:nvPr/>
        </p:nvSpPr>
        <p:spPr>
          <a:xfrm>
            <a:off x="2788920" y="2532888"/>
            <a:ext cx="2971800" cy="868680"/>
          </a:xfrm>
          <a:prstGeom prst="rect">
            <a:avLst/>
          </a:prstGeom>
          <a:noFill/>
          <a:ln/>
        </p:spPr>
        <p:txBody>
          <a:bodyPr wrap="square" lIns="0" tIns="0" rIns="0" bIns="0" rtlCol="0" anchor="ctr"/>
          <a:lstStyle/>
          <a:p>
            <a:pPr indent="0" marL="0">
              <a:buNone/>
            </a:pPr>
            <a:r>
              <a:rPr lang="en-US" sz="1250" dirty="0">
                <a:solidFill>
                  <a:srgbClr val="1E2329"/>
                </a:solidFill>
              </a:rPr>
              <a:t>Senior and Junior Warden. With the Master, the three principal officers; the Wardens usually become Master in turn.</a:t>
            </a:r>
            <a:endParaRPr lang="en-US" sz="1250" dirty="0"/>
          </a:p>
        </p:txBody>
      </p:sp>
      <p:sp>
        <p:nvSpPr>
          <p:cNvPr id="9" name="Glossary SD, JD, IG"/>
          <p:cNvSpPr/>
          <p:nvPr/>
        </p:nvSpPr>
        <p:spPr>
          <a:xfrm>
            <a:off x="548640" y="3602736"/>
            <a:ext cx="5440680" cy="1051560"/>
          </a:xfrm>
          <a:prstGeom prst="roundRect">
            <a:avLst>
              <a:gd name="adj" fmla="val 6957"/>
            </a:avLst>
          </a:prstGeom>
          <a:solidFill>
            <a:srgbClr val="F2F7FC"/>
          </a:solidFill>
          <a:ln w="12700">
            <a:solidFill>
              <a:srgbClr val="F2F7FC"/>
            </a:solidFill>
            <a:prstDash val="solid"/>
          </a:ln>
        </p:spPr>
      </p:sp>
      <p:sp>
        <p:nvSpPr>
          <p:cNvPr id="10" name="Text 8"/>
          <p:cNvSpPr txBox="1"/>
          <p:nvPr/>
        </p:nvSpPr>
        <p:spPr>
          <a:xfrm>
            <a:off x="777240" y="3694176"/>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SD, JD, IG</a:t>
            </a:r>
            <a:endParaRPr lang="en-US" sz="1350" dirty="0"/>
          </a:p>
        </p:txBody>
      </p:sp>
      <p:sp>
        <p:nvSpPr>
          <p:cNvPr id="11" name="Text 9"/>
          <p:cNvSpPr txBox="1"/>
          <p:nvPr/>
        </p:nvSpPr>
        <p:spPr>
          <a:xfrm>
            <a:off x="2788920" y="3694176"/>
            <a:ext cx="2971800" cy="868680"/>
          </a:xfrm>
          <a:prstGeom prst="rect">
            <a:avLst/>
          </a:prstGeom>
          <a:noFill/>
          <a:ln/>
        </p:spPr>
        <p:txBody>
          <a:bodyPr wrap="square" lIns="0" tIns="0" rIns="0" bIns="0" rtlCol="0" anchor="ctr"/>
          <a:lstStyle/>
          <a:p>
            <a:pPr indent="0" marL="0">
              <a:buNone/>
            </a:pPr>
            <a:r>
              <a:rPr lang="en-US" sz="1250" dirty="0">
                <a:solidFill>
                  <a:srgbClr val="1E2329"/>
                </a:solidFill>
              </a:rPr>
              <a:t>Senior Deacon, Junior Deacon, Inner Guard: the floor officers who conduct candidates and guard the door from inside.</a:t>
            </a:r>
            <a:endParaRPr lang="en-US" sz="1250" dirty="0"/>
          </a:p>
        </p:txBody>
      </p:sp>
      <p:sp>
        <p:nvSpPr>
          <p:cNvPr id="12" name="Glossary DC, ADC"/>
          <p:cNvSpPr/>
          <p:nvPr/>
        </p:nvSpPr>
        <p:spPr>
          <a:xfrm>
            <a:off x="548640" y="4764024"/>
            <a:ext cx="5440680" cy="1051560"/>
          </a:xfrm>
          <a:prstGeom prst="roundRect">
            <a:avLst>
              <a:gd name="adj" fmla="val 6957"/>
            </a:avLst>
          </a:prstGeom>
          <a:solidFill>
            <a:srgbClr val="F2F7FC"/>
          </a:solidFill>
          <a:ln w="12700">
            <a:solidFill>
              <a:srgbClr val="F2F7FC"/>
            </a:solidFill>
            <a:prstDash val="solid"/>
          </a:ln>
        </p:spPr>
      </p:sp>
      <p:sp>
        <p:nvSpPr>
          <p:cNvPr id="13" name="Text 11"/>
          <p:cNvSpPr txBox="1"/>
          <p:nvPr/>
        </p:nvSpPr>
        <p:spPr>
          <a:xfrm>
            <a:off x="777240" y="4855464"/>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DC, ADC</a:t>
            </a:r>
            <a:endParaRPr lang="en-US" sz="1350" dirty="0"/>
          </a:p>
        </p:txBody>
      </p:sp>
      <p:sp>
        <p:nvSpPr>
          <p:cNvPr id="14" name="Text 12"/>
          <p:cNvSpPr txBox="1"/>
          <p:nvPr/>
        </p:nvSpPr>
        <p:spPr>
          <a:xfrm>
            <a:off x="2788920" y="4855464"/>
            <a:ext cx="2971800" cy="868680"/>
          </a:xfrm>
          <a:prstGeom prst="rect">
            <a:avLst/>
          </a:prstGeom>
          <a:noFill/>
          <a:ln/>
        </p:spPr>
        <p:txBody>
          <a:bodyPr wrap="square" lIns="0" tIns="0" rIns="0" bIns="0" rtlCol="0" anchor="ctr"/>
          <a:lstStyle/>
          <a:p>
            <a:pPr indent="0" marL="0">
              <a:buNone/>
            </a:pPr>
            <a:r>
              <a:rPr lang="en-US" sz="1250" dirty="0">
                <a:solidFill>
                  <a:srgbClr val="1E2329"/>
                </a:solidFill>
              </a:rPr>
              <a:t>Director of Ceremonies and his Assistant: in charge of how the meeting and the Festive Board run. Follow the DC.</a:t>
            </a:r>
            <a:endParaRPr lang="en-US" sz="1250" dirty="0"/>
          </a:p>
        </p:txBody>
      </p:sp>
      <p:sp>
        <p:nvSpPr>
          <p:cNvPr id="15" name="Glossary Tyler"/>
          <p:cNvSpPr/>
          <p:nvPr/>
        </p:nvSpPr>
        <p:spPr>
          <a:xfrm>
            <a:off x="6172200" y="1280160"/>
            <a:ext cx="5440680" cy="1051560"/>
          </a:xfrm>
          <a:prstGeom prst="roundRect">
            <a:avLst>
              <a:gd name="adj" fmla="val 6957"/>
            </a:avLst>
          </a:prstGeom>
          <a:solidFill>
            <a:srgbClr val="F2F7FC"/>
          </a:solidFill>
          <a:ln w="12700">
            <a:solidFill>
              <a:srgbClr val="F2F7FC"/>
            </a:solidFill>
            <a:prstDash val="solid"/>
          </a:ln>
        </p:spPr>
      </p:sp>
      <p:sp>
        <p:nvSpPr>
          <p:cNvPr id="16" name="Text 14"/>
          <p:cNvSpPr txBox="1"/>
          <p:nvPr/>
        </p:nvSpPr>
        <p:spPr>
          <a:xfrm>
            <a:off x="6400800" y="1371600"/>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Tyler</a:t>
            </a:r>
            <a:endParaRPr lang="en-US" sz="1350" dirty="0"/>
          </a:p>
        </p:txBody>
      </p:sp>
      <p:sp>
        <p:nvSpPr>
          <p:cNvPr id="17" name="Text 15"/>
          <p:cNvSpPr txBox="1"/>
          <p:nvPr/>
        </p:nvSpPr>
        <p:spPr>
          <a:xfrm>
            <a:off x="8412480" y="1371600"/>
            <a:ext cx="2971800" cy="868680"/>
          </a:xfrm>
          <a:prstGeom prst="rect">
            <a:avLst/>
          </a:prstGeom>
          <a:noFill/>
          <a:ln/>
        </p:spPr>
        <p:txBody>
          <a:bodyPr wrap="square" lIns="0" tIns="0" rIns="0" bIns="0" rtlCol="0" anchor="ctr"/>
          <a:lstStyle/>
          <a:p>
            <a:pPr indent="0" marL="0">
              <a:buNone/>
            </a:pPr>
            <a:r>
              <a:rPr lang="en-US" sz="1250" dirty="0">
                <a:solidFill>
                  <a:srgbClr val="1E2329"/>
                </a:solidFill>
              </a:rPr>
              <a:t>The officer outside the door. The first person you met on your Initiation night.</a:t>
            </a:r>
            <a:endParaRPr lang="en-US" sz="1250" dirty="0"/>
          </a:p>
        </p:txBody>
      </p:sp>
      <p:sp>
        <p:nvSpPr>
          <p:cNvPr id="18" name="Glossary Bro, W Bro, VW Bro, RW Bro"/>
          <p:cNvSpPr/>
          <p:nvPr/>
        </p:nvSpPr>
        <p:spPr>
          <a:xfrm>
            <a:off x="6172200" y="2441448"/>
            <a:ext cx="5440680" cy="1051560"/>
          </a:xfrm>
          <a:prstGeom prst="roundRect">
            <a:avLst>
              <a:gd name="adj" fmla="val 6957"/>
            </a:avLst>
          </a:prstGeom>
          <a:solidFill>
            <a:srgbClr val="F2F7FC"/>
          </a:solidFill>
          <a:ln w="12700">
            <a:solidFill>
              <a:srgbClr val="F2F7FC"/>
            </a:solidFill>
            <a:prstDash val="solid"/>
          </a:ln>
        </p:spPr>
      </p:sp>
      <p:sp>
        <p:nvSpPr>
          <p:cNvPr id="19" name="Text 17"/>
          <p:cNvSpPr txBox="1"/>
          <p:nvPr/>
        </p:nvSpPr>
        <p:spPr>
          <a:xfrm>
            <a:off x="6400800" y="2532888"/>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Bro, W Bro, VW Bro, RW Bro</a:t>
            </a:r>
            <a:endParaRPr lang="en-US" sz="1350" dirty="0"/>
          </a:p>
        </p:txBody>
      </p:sp>
      <p:sp>
        <p:nvSpPr>
          <p:cNvPr id="20" name="Text 18"/>
          <p:cNvSpPr txBox="1"/>
          <p:nvPr/>
        </p:nvSpPr>
        <p:spPr>
          <a:xfrm>
            <a:off x="8412480" y="2532888"/>
            <a:ext cx="2971800" cy="868680"/>
          </a:xfrm>
          <a:prstGeom prst="rect">
            <a:avLst/>
          </a:prstGeom>
          <a:noFill/>
          <a:ln/>
        </p:spPr>
        <p:txBody>
          <a:bodyPr wrap="square" lIns="0" tIns="0" rIns="0" bIns="0" rtlCol="0" anchor="ctr"/>
          <a:lstStyle/>
          <a:p>
            <a:pPr indent="0" marL="0">
              <a:buNone/>
            </a:pPr>
            <a:r>
              <a:rPr lang="en-US" sz="1250" dirty="0">
                <a:solidFill>
                  <a:srgbClr val="1E2329"/>
                </a:solidFill>
              </a:rPr>
              <a:t>Brother; Worshipful Brother, who has been Master; Very Worshipful and Right Worshipful for senior Grand rank.</a:t>
            </a:r>
            <a:endParaRPr lang="en-US" sz="1250" dirty="0"/>
          </a:p>
        </p:txBody>
      </p:sp>
      <p:sp>
        <p:nvSpPr>
          <p:cNvPr id="21" name="Glossary EA, FC, MM"/>
          <p:cNvSpPr/>
          <p:nvPr/>
        </p:nvSpPr>
        <p:spPr>
          <a:xfrm>
            <a:off x="6172200" y="3602736"/>
            <a:ext cx="5440680" cy="1051560"/>
          </a:xfrm>
          <a:prstGeom prst="roundRect">
            <a:avLst>
              <a:gd name="adj" fmla="val 6957"/>
            </a:avLst>
          </a:prstGeom>
          <a:solidFill>
            <a:srgbClr val="F2F7FC"/>
          </a:solidFill>
          <a:ln w="12700">
            <a:solidFill>
              <a:srgbClr val="F2F7FC"/>
            </a:solidFill>
            <a:prstDash val="solid"/>
          </a:ln>
        </p:spPr>
      </p:sp>
      <p:sp>
        <p:nvSpPr>
          <p:cNvPr id="22" name="Text 20"/>
          <p:cNvSpPr txBox="1"/>
          <p:nvPr/>
        </p:nvSpPr>
        <p:spPr>
          <a:xfrm>
            <a:off x="6400800" y="3694176"/>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EA, FC, MM</a:t>
            </a:r>
            <a:endParaRPr lang="en-US" sz="1350" dirty="0"/>
          </a:p>
        </p:txBody>
      </p:sp>
      <p:sp>
        <p:nvSpPr>
          <p:cNvPr id="23" name="Text 21"/>
          <p:cNvSpPr txBox="1"/>
          <p:nvPr/>
        </p:nvSpPr>
        <p:spPr>
          <a:xfrm>
            <a:off x="8412480" y="3694176"/>
            <a:ext cx="2971800" cy="868680"/>
          </a:xfrm>
          <a:prstGeom prst="rect">
            <a:avLst/>
          </a:prstGeom>
          <a:noFill/>
          <a:ln/>
        </p:spPr>
        <p:txBody>
          <a:bodyPr wrap="square" lIns="0" tIns="0" rIns="0" bIns="0" rtlCol="0" anchor="ctr"/>
          <a:lstStyle/>
          <a:p>
            <a:pPr indent="0" marL="0">
              <a:buNone/>
            </a:pPr>
            <a:r>
              <a:rPr lang="en-US" sz="1250" dirty="0">
                <a:solidFill>
                  <a:srgbClr val="1E2329"/>
                </a:solidFill>
              </a:rPr>
              <a:t>Entered Apprentice, Fellow Craft, Master Mason: the three degrees.</a:t>
            </a:r>
            <a:endParaRPr lang="en-US" sz="1250" dirty="0"/>
          </a:p>
        </p:txBody>
      </p:sp>
      <p:sp>
        <p:nvSpPr>
          <p:cNvPr id="24" name="Glossary PM"/>
          <p:cNvSpPr/>
          <p:nvPr/>
        </p:nvSpPr>
        <p:spPr>
          <a:xfrm>
            <a:off x="6172200" y="4764024"/>
            <a:ext cx="5440680" cy="1051560"/>
          </a:xfrm>
          <a:prstGeom prst="roundRect">
            <a:avLst>
              <a:gd name="adj" fmla="val 6957"/>
            </a:avLst>
          </a:prstGeom>
          <a:solidFill>
            <a:srgbClr val="F2F7FC"/>
          </a:solidFill>
          <a:ln w="12700">
            <a:solidFill>
              <a:srgbClr val="F2F7FC"/>
            </a:solidFill>
            <a:prstDash val="solid"/>
          </a:ln>
        </p:spPr>
      </p:sp>
      <p:sp>
        <p:nvSpPr>
          <p:cNvPr id="25" name="Text 23"/>
          <p:cNvSpPr txBox="1"/>
          <p:nvPr/>
        </p:nvSpPr>
        <p:spPr>
          <a:xfrm>
            <a:off x="6400800" y="4855464"/>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PM</a:t>
            </a:r>
            <a:endParaRPr lang="en-US" sz="1350" dirty="0"/>
          </a:p>
        </p:txBody>
      </p:sp>
      <p:sp>
        <p:nvSpPr>
          <p:cNvPr id="26" name="Text 24"/>
          <p:cNvSpPr txBox="1"/>
          <p:nvPr/>
        </p:nvSpPr>
        <p:spPr>
          <a:xfrm>
            <a:off x="8412480" y="4855464"/>
            <a:ext cx="2971800" cy="868680"/>
          </a:xfrm>
          <a:prstGeom prst="rect">
            <a:avLst/>
          </a:prstGeom>
          <a:noFill/>
          <a:ln/>
        </p:spPr>
        <p:txBody>
          <a:bodyPr wrap="square" lIns="0" tIns="0" rIns="0" bIns="0" rtlCol="0" anchor="ctr"/>
          <a:lstStyle/>
          <a:p>
            <a:pPr indent="0" marL="0">
              <a:buNone/>
            </a:pPr>
            <a:r>
              <a:rPr lang="en-US" sz="1250" dirty="0">
                <a:solidFill>
                  <a:srgbClr val="1E2329"/>
                </a:solidFill>
              </a:rPr>
              <a:t>Past Master in most Masonic writing. In Hertfordshire mentoring documents PM is also the Personal Mentor; context tells you which.</a:t>
            </a:r>
            <a:endParaRPr lang="en-US" sz="12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Letters you will see, continued</a:t>
            </a:r>
            <a:endParaRPr lang="en-US" sz="3200" dirty="0"/>
          </a:p>
        </p:txBody>
      </p:sp>
      <p:sp>
        <p:nvSpPr>
          <p:cNvPr id="3" name="Glossary LM"/>
          <p:cNvSpPr/>
          <p:nvPr/>
        </p:nvSpPr>
        <p:spPr>
          <a:xfrm>
            <a:off x="548640" y="1280160"/>
            <a:ext cx="5440680" cy="1051560"/>
          </a:xfrm>
          <a:prstGeom prst="roundRect">
            <a:avLst>
              <a:gd name="adj" fmla="val 6957"/>
            </a:avLst>
          </a:prstGeom>
          <a:solidFill>
            <a:srgbClr val="F2F7FC"/>
          </a:solidFill>
          <a:ln w="12700">
            <a:solidFill>
              <a:srgbClr val="F2F7FC"/>
            </a:solidFill>
            <a:prstDash val="solid"/>
          </a:ln>
        </p:spPr>
      </p:sp>
      <p:sp>
        <p:nvSpPr>
          <p:cNvPr id="4" name="Text 2"/>
          <p:cNvSpPr txBox="1"/>
          <p:nvPr/>
        </p:nvSpPr>
        <p:spPr>
          <a:xfrm>
            <a:off x="777240" y="1371600"/>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LM</a:t>
            </a:r>
            <a:endParaRPr lang="en-US" sz="1350" dirty="0"/>
          </a:p>
        </p:txBody>
      </p:sp>
      <p:sp>
        <p:nvSpPr>
          <p:cNvPr id="5" name="Text 3"/>
          <p:cNvSpPr txBox="1"/>
          <p:nvPr/>
        </p:nvSpPr>
        <p:spPr>
          <a:xfrm>
            <a:off x="2788920" y="1371600"/>
            <a:ext cx="2971800" cy="868680"/>
          </a:xfrm>
          <a:prstGeom prst="rect">
            <a:avLst/>
          </a:prstGeom>
          <a:noFill/>
          <a:ln/>
        </p:spPr>
        <p:txBody>
          <a:bodyPr wrap="square" lIns="0" tIns="0" rIns="0" bIns="0" rtlCol="0" anchor="ctr"/>
          <a:lstStyle/>
          <a:p>
            <a:pPr indent="0" marL="0">
              <a:buNone/>
            </a:pPr>
            <a:r>
              <a:rPr lang="en-US" sz="1250" dirty="0">
                <a:solidFill>
                  <a:srgbClr val="1E2329"/>
                </a:solidFill>
              </a:rPr>
              <a:t>Lodge Mentor: the officer who co-ordinates mentoring in the Lodge and makes sure every new member has a Personal Mentor.</a:t>
            </a:r>
            <a:endParaRPr lang="en-US" sz="1250" dirty="0"/>
          </a:p>
        </p:txBody>
      </p:sp>
      <p:sp>
        <p:nvSpPr>
          <p:cNvPr id="6" name="Glossary ProvGM, DepProvGM, APGM"/>
          <p:cNvSpPr/>
          <p:nvPr/>
        </p:nvSpPr>
        <p:spPr>
          <a:xfrm>
            <a:off x="548640" y="2441448"/>
            <a:ext cx="5440680" cy="1051560"/>
          </a:xfrm>
          <a:prstGeom prst="roundRect">
            <a:avLst>
              <a:gd name="adj" fmla="val 6957"/>
            </a:avLst>
          </a:prstGeom>
          <a:solidFill>
            <a:srgbClr val="F2F7FC"/>
          </a:solidFill>
          <a:ln w="12700">
            <a:solidFill>
              <a:srgbClr val="F2F7FC"/>
            </a:solidFill>
            <a:prstDash val="solid"/>
          </a:ln>
        </p:spPr>
      </p:sp>
      <p:sp>
        <p:nvSpPr>
          <p:cNvPr id="7" name="Text 5"/>
          <p:cNvSpPr txBox="1"/>
          <p:nvPr/>
        </p:nvSpPr>
        <p:spPr>
          <a:xfrm>
            <a:off x="777240" y="2532888"/>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ProvGM, DepProvGM, APGM</a:t>
            </a:r>
            <a:endParaRPr lang="en-US" sz="1350" dirty="0"/>
          </a:p>
        </p:txBody>
      </p:sp>
      <p:sp>
        <p:nvSpPr>
          <p:cNvPr id="8" name="Text 6"/>
          <p:cNvSpPr txBox="1"/>
          <p:nvPr/>
        </p:nvSpPr>
        <p:spPr>
          <a:xfrm>
            <a:off x="2788920" y="2532888"/>
            <a:ext cx="2971800" cy="868680"/>
          </a:xfrm>
          <a:prstGeom prst="rect">
            <a:avLst/>
          </a:prstGeom>
          <a:noFill/>
          <a:ln/>
        </p:spPr>
        <p:txBody>
          <a:bodyPr wrap="square" lIns="0" tIns="0" rIns="0" bIns="0" rtlCol="0" anchor="ctr"/>
          <a:lstStyle/>
          <a:p>
            <a:pPr indent="0" marL="0">
              <a:buNone/>
            </a:pPr>
            <a:r>
              <a:rPr lang="en-US" sz="1250" dirty="0">
                <a:solidFill>
                  <a:srgbClr val="1E2329"/>
                </a:solidFill>
              </a:rPr>
              <a:t>Provincial Grand Master, his Deputy, and the Assistant Provincial Grand Masters, each with an area of the Province.</a:t>
            </a:r>
            <a:endParaRPr lang="en-US" sz="1250" dirty="0"/>
          </a:p>
        </p:txBody>
      </p:sp>
      <p:sp>
        <p:nvSpPr>
          <p:cNvPr id="9" name="Glossary ProvGMen, APGMen"/>
          <p:cNvSpPr/>
          <p:nvPr/>
        </p:nvSpPr>
        <p:spPr>
          <a:xfrm>
            <a:off x="548640" y="3602736"/>
            <a:ext cx="5440680" cy="1051560"/>
          </a:xfrm>
          <a:prstGeom prst="roundRect">
            <a:avLst>
              <a:gd name="adj" fmla="val 6957"/>
            </a:avLst>
          </a:prstGeom>
          <a:solidFill>
            <a:srgbClr val="F2F7FC"/>
          </a:solidFill>
          <a:ln w="12700">
            <a:solidFill>
              <a:srgbClr val="F2F7FC"/>
            </a:solidFill>
            <a:prstDash val="solid"/>
          </a:ln>
        </p:spPr>
      </p:sp>
      <p:sp>
        <p:nvSpPr>
          <p:cNvPr id="10" name="Text 8"/>
          <p:cNvSpPr txBox="1"/>
          <p:nvPr/>
        </p:nvSpPr>
        <p:spPr>
          <a:xfrm>
            <a:off x="777240" y="3694176"/>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ProvGMen, APGMen</a:t>
            </a:r>
            <a:endParaRPr lang="en-US" sz="1350" dirty="0"/>
          </a:p>
        </p:txBody>
      </p:sp>
      <p:sp>
        <p:nvSpPr>
          <p:cNvPr id="11" name="Text 9"/>
          <p:cNvSpPr txBox="1"/>
          <p:nvPr/>
        </p:nvSpPr>
        <p:spPr>
          <a:xfrm>
            <a:off x="2788920" y="3694176"/>
            <a:ext cx="2971800" cy="868680"/>
          </a:xfrm>
          <a:prstGeom prst="rect">
            <a:avLst/>
          </a:prstGeom>
          <a:noFill/>
          <a:ln/>
        </p:spPr>
        <p:txBody>
          <a:bodyPr wrap="square" lIns="0" tIns="0" rIns="0" bIns="0" rtlCol="0" anchor="ctr"/>
          <a:lstStyle/>
          <a:p>
            <a:pPr indent="0" marL="0">
              <a:buNone/>
            </a:pPr>
            <a:r>
              <a:rPr lang="en-US" sz="1250" dirty="0">
                <a:solidFill>
                  <a:srgbClr val="1E2329"/>
                </a:solidFill>
              </a:rPr>
              <a:t>Provincial Grand Mentor and the Assistant Provincial Grand Mentors. Written this way so they are never confused with the Masters.</a:t>
            </a:r>
            <a:endParaRPr lang="en-US" sz="1250" dirty="0"/>
          </a:p>
        </p:txBody>
      </p:sp>
      <p:sp>
        <p:nvSpPr>
          <p:cNvPr id="12" name="Glossary VO"/>
          <p:cNvSpPr/>
          <p:nvPr/>
        </p:nvSpPr>
        <p:spPr>
          <a:xfrm>
            <a:off x="548640" y="4764024"/>
            <a:ext cx="5440680" cy="1051560"/>
          </a:xfrm>
          <a:prstGeom prst="roundRect">
            <a:avLst>
              <a:gd name="adj" fmla="val 6957"/>
            </a:avLst>
          </a:prstGeom>
          <a:solidFill>
            <a:srgbClr val="F2F7FC"/>
          </a:solidFill>
          <a:ln w="12700">
            <a:solidFill>
              <a:srgbClr val="F2F7FC"/>
            </a:solidFill>
            <a:prstDash val="solid"/>
          </a:ln>
        </p:spPr>
      </p:sp>
      <p:sp>
        <p:nvSpPr>
          <p:cNvPr id="13" name="Text 11"/>
          <p:cNvSpPr txBox="1"/>
          <p:nvPr/>
        </p:nvSpPr>
        <p:spPr>
          <a:xfrm>
            <a:off x="777240" y="4855464"/>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VO</a:t>
            </a:r>
            <a:endParaRPr lang="en-US" sz="1350" dirty="0"/>
          </a:p>
        </p:txBody>
      </p:sp>
      <p:sp>
        <p:nvSpPr>
          <p:cNvPr id="14" name="Text 12"/>
          <p:cNvSpPr txBox="1"/>
          <p:nvPr/>
        </p:nvSpPr>
        <p:spPr>
          <a:xfrm>
            <a:off x="2788920" y="4855464"/>
            <a:ext cx="2971800" cy="868680"/>
          </a:xfrm>
          <a:prstGeom prst="rect">
            <a:avLst/>
          </a:prstGeom>
          <a:noFill/>
          <a:ln/>
        </p:spPr>
        <p:txBody>
          <a:bodyPr wrap="square" lIns="0" tIns="0" rIns="0" bIns="0" rtlCol="0" anchor="ctr"/>
          <a:lstStyle/>
          <a:p>
            <a:pPr indent="0" marL="0">
              <a:buNone/>
            </a:pPr>
            <a:r>
              <a:rPr lang="en-US" sz="1250" dirty="0">
                <a:solidFill>
                  <a:srgbClr val="1E2329"/>
                </a:solidFill>
              </a:rPr>
              <a:t>Visiting Officer: the Provincial officer who visits your Lodge on the Provincial Grand Master’s behalf. A friend, not an inspector.</a:t>
            </a:r>
            <a:endParaRPr lang="en-US" sz="1250" dirty="0"/>
          </a:p>
        </p:txBody>
      </p:sp>
      <p:sp>
        <p:nvSpPr>
          <p:cNvPr id="15" name="Glossary LoI, CoI"/>
          <p:cNvSpPr/>
          <p:nvPr/>
        </p:nvSpPr>
        <p:spPr>
          <a:xfrm>
            <a:off x="6172200" y="1280160"/>
            <a:ext cx="5440680" cy="1051560"/>
          </a:xfrm>
          <a:prstGeom prst="roundRect">
            <a:avLst>
              <a:gd name="adj" fmla="val 6957"/>
            </a:avLst>
          </a:prstGeom>
          <a:solidFill>
            <a:srgbClr val="F2F7FC"/>
          </a:solidFill>
          <a:ln w="12700">
            <a:solidFill>
              <a:srgbClr val="F2F7FC"/>
            </a:solidFill>
            <a:prstDash val="solid"/>
          </a:ln>
        </p:spPr>
      </p:sp>
      <p:sp>
        <p:nvSpPr>
          <p:cNvPr id="16" name="Text 14"/>
          <p:cNvSpPr txBox="1"/>
          <p:nvPr/>
        </p:nvSpPr>
        <p:spPr>
          <a:xfrm>
            <a:off x="6400800" y="1371600"/>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LoI, CoI</a:t>
            </a:r>
            <a:endParaRPr lang="en-US" sz="1350" dirty="0"/>
          </a:p>
        </p:txBody>
      </p:sp>
      <p:sp>
        <p:nvSpPr>
          <p:cNvPr id="17" name="Text 15"/>
          <p:cNvSpPr txBox="1"/>
          <p:nvPr/>
        </p:nvSpPr>
        <p:spPr>
          <a:xfrm>
            <a:off x="8412480" y="1371600"/>
            <a:ext cx="2971800" cy="868680"/>
          </a:xfrm>
          <a:prstGeom prst="rect">
            <a:avLst/>
          </a:prstGeom>
          <a:noFill/>
          <a:ln/>
        </p:spPr>
        <p:txBody>
          <a:bodyPr wrap="square" lIns="0" tIns="0" rIns="0" bIns="0" rtlCol="0" anchor="ctr"/>
          <a:lstStyle/>
          <a:p>
            <a:pPr indent="0" marL="0">
              <a:buNone/>
            </a:pPr>
            <a:r>
              <a:rPr lang="en-US" sz="1250" dirty="0">
                <a:solidFill>
                  <a:srgbClr val="1E2329"/>
                </a:solidFill>
              </a:rPr>
              <a:t>Lodge of Instruction; Chapter of Instruction, its Royal Arch equivalent.</a:t>
            </a:r>
            <a:endParaRPr lang="en-US" sz="1250" dirty="0"/>
          </a:p>
        </p:txBody>
      </p:sp>
      <p:sp>
        <p:nvSpPr>
          <p:cNvPr id="18" name="Glossary PGL, GL"/>
          <p:cNvSpPr/>
          <p:nvPr/>
        </p:nvSpPr>
        <p:spPr>
          <a:xfrm>
            <a:off x="6172200" y="2441448"/>
            <a:ext cx="5440680" cy="1051560"/>
          </a:xfrm>
          <a:prstGeom prst="roundRect">
            <a:avLst>
              <a:gd name="adj" fmla="val 6957"/>
            </a:avLst>
          </a:prstGeom>
          <a:solidFill>
            <a:srgbClr val="F2F7FC"/>
          </a:solidFill>
          <a:ln w="12700">
            <a:solidFill>
              <a:srgbClr val="F2F7FC"/>
            </a:solidFill>
            <a:prstDash val="solid"/>
          </a:ln>
        </p:spPr>
      </p:sp>
      <p:sp>
        <p:nvSpPr>
          <p:cNvPr id="19" name="Text 17"/>
          <p:cNvSpPr txBox="1"/>
          <p:nvPr/>
        </p:nvSpPr>
        <p:spPr>
          <a:xfrm>
            <a:off x="6400800" y="2532888"/>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PGL, GL</a:t>
            </a:r>
            <a:endParaRPr lang="en-US" sz="1350" dirty="0"/>
          </a:p>
        </p:txBody>
      </p:sp>
      <p:sp>
        <p:nvSpPr>
          <p:cNvPr id="20" name="Text 18"/>
          <p:cNvSpPr txBox="1"/>
          <p:nvPr/>
        </p:nvSpPr>
        <p:spPr>
          <a:xfrm>
            <a:off x="8412480" y="2532888"/>
            <a:ext cx="2971800" cy="868680"/>
          </a:xfrm>
          <a:prstGeom prst="rect">
            <a:avLst/>
          </a:prstGeom>
          <a:noFill/>
          <a:ln/>
        </p:spPr>
        <p:txBody>
          <a:bodyPr wrap="square" lIns="0" tIns="0" rIns="0" bIns="0" rtlCol="0" anchor="ctr"/>
          <a:lstStyle/>
          <a:p>
            <a:pPr indent="0" marL="0">
              <a:buNone/>
            </a:pPr>
            <a:r>
              <a:rPr lang="en-US" sz="1250" dirty="0">
                <a:solidFill>
                  <a:srgbClr val="1E2329"/>
                </a:solidFill>
              </a:rPr>
              <a:t>Provincial Grand Lodge; Grand Lodge. PProvSGW, PAGDC and the like on a Summons are Past Provincial or Grand ranks.</a:t>
            </a:r>
            <a:endParaRPr lang="en-US" sz="1250" dirty="0"/>
          </a:p>
        </p:txBody>
      </p:sp>
      <p:sp>
        <p:nvSpPr>
          <p:cNvPr id="21" name="Glossary FHLBC, DAWG"/>
          <p:cNvSpPr/>
          <p:nvPr/>
        </p:nvSpPr>
        <p:spPr>
          <a:xfrm>
            <a:off x="6172200" y="3602736"/>
            <a:ext cx="5440680" cy="1051560"/>
          </a:xfrm>
          <a:prstGeom prst="roundRect">
            <a:avLst>
              <a:gd name="adj" fmla="val 6957"/>
            </a:avLst>
          </a:prstGeom>
          <a:solidFill>
            <a:srgbClr val="F2F7FC"/>
          </a:solidFill>
          <a:ln w="12700">
            <a:solidFill>
              <a:srgbClr val="F2F7FC"/>
            </a:solidFill>
            <a:prstDash val="solid"/>
          </a:ln>
        </p:spPr>
      </p:sp>
      <p:sp>
        <p:nvSpPr>
          <p:cNvPr id="22" name="Text 20"/>
          <p:cNvSpPr txBox="1"/>
          <p:nvPr/>
        </p:nvSpPr>
        <p:spPr>
          <a:xfrm>
            <a:off x="6400800" y="3694176"/>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FHLBC, DAWG</a:t>
            </a:r>
            <a:endParaRPr lang="en-US" sz="1350" dirty="0"/>
          </a:p>
        </p:txBody>
      </p:sp>
      <p:sp>
        <p:nvSpPr>
          <p:cNvPr id="23" name="Text 21"/>
          <p:cNvSpPr txBox="1"/>
          <p:nvPr/>
        </p:nvSpPr>
        <p:spPr>
          <a:xfrm>
            <a:off x="8412480" y="3694176"/>
            <a:ext cx="2971800" cy="868680"/>
          </a:xfrm>
          <a:prstGeom prst="rect">
            <a:avLst/>
          </a:prstGeom>
          <a:noFill/>
          <a:ln/>
        </p:spPr>
        <p:txBody>
          <a:bodyPr wrap="square" lIns="0" tIns="0" rIns="0" bIns="0" rtlCol="0" anchor="ctr"/>
          <a:lstStyle/>
          <a:p>
            <a:pPr indent="0" marL="0">
              <a:buNone/>
            </a:pPr>
            <a:r>
              <a:rPr lang="en-US" sz="1250" dirty="0">
                <a:solidFill>
                  <a:srgbClr val="1E2329"/>
                </a:solidFill>
              </a:rPr>
              <a:t>Fleet House Light Blues Club; the Daily Advancement WhatsApp Group, run by the Provincial Mentoring Team.</a:t>
            </a:r>
            <a:endParaRPr lang="en-US" sz="1250" dirty="0"/>
          </a:p>
        </p:txBody>
      </p:sp>
      <p:sp>
        <p:nvSpPr>
          <p:cNvPr id="24" name="Glossary Solomon, Hermes"/>
          <p:cNvSpPr/>
          <p:nvPr/>
        </p:nvSpPr>
        <p:spPr>
          <a:xfrm>
            <a:off x="6172200" y="4764024"/>
            <a:ext cx="5440680" cy="1051560"/>
          </a:xfrm>
          <a:prstGeom prst="roundRect">
            <a:avLst>
              <a:gd name="adj" fmla="val 6957"/>
            </a:avLst>
          </a:prstGeom>
          <a:solidFill>
            <a:srgbClr val="F2F7FC"/>
          </a:solidFill>
          <a:ln w="12700">
            <a:solidFill>
              <a:srgbClr val="F2F7FC"/>
            </a:solidFill>
            <a:prstDash val="solid"/>
          </a:ln>
        </p:spPr>
      </p:sp>
      <p:sp>
        <p:nvSpPr>
          <p:cNvPr id="25" name="Text 23"/>
          <p:cNvSpPr txBox="1"/>
          <p:nvPr/>
        </p:nvSpPr>
        <p:spPr>
          <a:xfrm>
            <a:off x="6400800" y="4855464"/>
            <a:ext cx="1874520" cy="868680"/>
          </a:xfrm>
          <a:prstGeom prst="rect">
            <a:avLst/>
          </a:prstGeom>
          <a:noFill/>
          <a:ln/>
        </p:spPr>
        <p:txBody>
          <a:bodyPr wrap="square" lIns="0" tIns="0" rIns="0" bIns="0" rtlCol="0" anchor="ctr"/>
          <a:lstStyle/>
          <a:p>
            <a:pPr indent="0" marL="0">
              <a:buNone/>
            </a:pPr>
            <a:r>
              <a:rPr lang="en-US" sz="1350" b="1" dirty="0">
                <a:solidFill>
                  <a:srgbClr val="003668"/>
                </a:solidFill>
              </a:rPr>
              <a:t>Solomon, Hermes</a:t>
            </a:r>
            <a:endParaRPr lang="en-US" sz="1350" dirty="0"/>
          </a:p>
        </p:txBody>
      </p:sp>
      <p:sp>
        <p:nvSpPr>
          <p:cNvPr id="26" name="Text 24"/>
          <p:cNvSpPr txBox="1"/>
          <p:nvPr/>
        </p:nvSpPr>
        <p:spPr>
          <a:xfrm>
            <a:off x="8412480" y="4855464"/>
            <a:ext cx="2971800" cy="868680"/>
          </a:xfrm>
          <a:prstGeom prst="rect">
            <a:avLst/>
          </a:prstGeom>
          <a:noFill/>
          <a:ln/>
        </p:spPr>
        <p:txBody>
          <a:bodyPr wrap="square" lIns="0" tIns="0" rIns="0" bIns="0" rtlCol="0" anchor="ctr"/>
          <a:lstStyle/>
          <a:p>
            <a:pPr indent="0" marL="0">
              <a:buNone/>
            </a:pPr>
            <a:r>
              <a:rPr lang="en-US" sz="1250" dirty="0">
                <a:solidFill>
                  <a:srgbClr val="1E2329"/>
                </a:solidFill>
              </a:rPr>
              <a:t>UGLE’s learning platform; UGLE’s membership administration system, which your Secretary uses.</a:t>
            </a:r>
            <a:endParaRPr lang="en-US" sz="12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The Festive Board</a:t>
            </a:r>
            <a:endParaRPr lang="en-US" sz="3200" dirty="0"/>
          </a:p>
        </p:txBody>
      </p:sp>
      <p:sp>
        <p:nvSpPr>
          <p:cNvPr id="3" name="Card Etiquette"/>
          <p:cNvSpPr/>
          <p:nvPr/>
        </p:nvSpPr>
        <p:spPr>
          <a:xfrm>
            <a:off x="548640" y="1280160"/>
            <a:ext cx="5486400" cy="2240280"/>
          </a:xfrm>
          <a:prstGeom prst="roundRect">
            <a:avLst>
              <a:gd name="adj" fmla="val 3265"/>
            </a:avLst>
          </a:prstGeom>
          <a:solidFill>
            <a:srgbClr val="F2F7FC"/>
          </a:solidFill>
          <a:ln w="12700">
            <a:solidFill>
              <a:srgbClr val="F2F7FC"/>
            </a:solidFill>
            <a:prstDash val="solid"/>
          </a:ln>
        </p:spPr>
      </p:sp>
      <p:pic>
        <p:nvPicPr>
          <p:cNvPr id="4" name="Image 0" descr="preencoded.png">    </p:cNvPr>
          <p:cNvPicPr>
            <a:picLocks noChangeAspect="1"/>
          </p:cNvPicPr>
          <p:nvPr/>
        </p:nvPicPr>
        <p:blipFill>
          <a:blip r:embed="rId1"/>
          <a:stretch>
            <a:fillRect/>
          </a:stretch>
        </p:blipFill>
        <p:spPr>
          <a:xfrm>
            <a:off x="749808" y="1463040"/>
            <a:ext cx="384048" cy="384048"/>
          </a:xfrm>
          <a:prstGeom prst="rect">
            <a:avLst/>
          </a:prstGeom>
        </p:spPr>
      </p:pic>
      <p:sp>
        <p:nvSpPr>
          <p:cNvPr id="5" name="Text 2"/>
          <p:cNvSpPr txBox="1"/>
          <p:nvPr/>
        </p:nvSpPr>
        <p:spPr>
          <a:xfrm>
            <a:off x="1261872" y="1444752"/>
            <a:ext cx="4572000" cy="411480"/>
          </a:xfrm>
          <a:prstGeom prst="rect">
            <a:avLst/>
          </a:prstGeom>
          <a:noFill/>
          <a:ln/>
        </p:spPr>
        <p:txBody>
          <a:bodyPr wrap="square" lIns="0" tIns="0" rIns="0" bIns="0" rtlCol="0" anchor="ctr"/>
          <a:lstStyle/>
          <a:p>
            <a:pPr indent="0" marL="0">
              <a:buNone/>
            </a:pPr>
            <a:r>
              <a:rPr lang="en-US" sz="1600" b="1" dirty="0">
                <a:solidFill>
                  <a:srgbClr val="003668"/>
                </a:solidFill>
              </a:rPr>
              <a:t>Etiquette</a:t>
            </a:r>
            <a:endParaRPr lang="en-US" sz="1600" dirty="0"/>
          </a:p>
        </p:txBody>
      </p:sp>
      <p:sp>
        <p:nvSpPr>
          <p:cNvPr id="6" name="Text 3"/>
          <p:cNvSpPr txBox="1"/>
          <p:nvPr/>
        </p:nvSpPr>
        <p:spPr>
          <a:xfrm>
            <a:off x="777240" y="1901952"/>
            <a:ext cx="5029200" cy="1508760"/>
          </a:xfrm>
          <a:prstGeom prst="rect">
            <a:avLst/>
          </a:prstGeom>
          <a:noFill/>
          <a:ln/>
        </p:spPr>
        <p:txBody>
          <a:bodyPr wrap="square" lIns="0" tIns="0" rIns="0" bIns="0" rtlCol="0" anchor="t"/>
          <a:lstStyle/>
          <a:p>
            <a:pPr marL="203200" indent="-203200">
              <a:spcAft>
                <a:spcPts val="400"/>
              </a:spcAft>
              <a:buSzPct val="100000"/>
              <a:buChar char="■"/>
            </a:pPr>
            <a:r>
              <a:rPr lang="en-US" sz="1300" dirty="0">
                <a:solidFill>
                  <a:srgbClr val="1E2329"/>
                </a:solidFill>
              </a:rPr>
              <a:t>Light-hearted and fun, but the Lodge’s rules still apply: no religion, no politics</a:t>
            </a:r>
            <a:endParaRPr lang="en-US" sz="1300" dirty="0"/>
          </a:p>
          <a:p>
            <a:pPr marL="203200" indent="-203200">
              <a:spcAft>
                <a:spcPts val="400"/>
              </a:spcAft>
              <a:buSzPct val="100000"/>
              <a:buChar char="■"/>
            </a:pPr>
            <a:r>
              <a:rPr lang="en-US" sz="1300" dirty="0">
                <a:solidFill>
                  <a:srgbClr val="1E2329"/>
                </a:solidFill>
              </a:rPr>
              <a:t>Jackets on, unless the Master says otherwise in summer</a:t>
            </a:r>
            <a:endParaRPr lang="en-US" sz="1300" dirty="0"/>
          </a:p>
          <a:p>
            <a:pPr marL="203200" indent="-203200">
              <a:spcAft>
                <a:spcPts val="400"/>
              </a:spcAft>
              <a:buSzPct val="100000"/>
              <a:buChar char="■"/>
            </a:pPr>
            <a:r>
              <a:rPr lang="en-US" sz="1300" dirty="0">
                <a:solidFill>
                  <a:srgbClr val="1E2329"/>
                </a:solidFill>
              </a:rPr>
              <a:t>Phones away. A quick photo of dinner, fine; a running text conversation, not</a:t>
            </a:r>
            <a:endParaRPr lang="en-US" sz="1300" dirty="0"/>
          </a:p>
          <a:p>
            <a:pPr marL="203200" indent="-203200">
              <a:spcAft>
                <a:spcPts val="400"/>
              </a:spcAft>
              <a:buSzPct val="100000"/>
              <a:buChar char="■"/>
            </a:pPr>
            <a:r>
              <a:rPr lang="en-US" sz="1300" dirty="0">
                <a:solidFill>
                  <a:srgbClr val="1E2329"/>
                </a:solidFill>
              </a:rPr>
              <a:t>Need to take a call? Excuse yourself and leave the room</a:t>
            </a:r>
            <a:endParaRPr lang="en-US" sz="1300" dirty="0"/>
          </a:p>
        </p:txBody>
      </p:sp>
      <p:sp>
        <p:nvSpPr>
          <p:cNvPr id="7" name="Card Masonic Fire and the toasts"/>
          <p:cNvSpPr/>
          <p:nvPr/>
        </p:nvSpPr>
        <p:spPr>
          <a:xfrm>
            <a:off x="6172200" y="1280160"/>
            <a:ext cx="5486400" cy="2240280"/>
          </a:xfrm>
          <a:prstGeom prst="roundRect">
            <a:avLst>
              <a:gd name="adj" fmla="val 3265"/>
            </a:avLst>
          </a:prstGeom>
          <a:solidFill>
            <a:srgbClr val="F2F7FC"/>
          </a:solidFill>
          <a:ln w="12700">
            <a:solidFill>
              <a:srgbClr val="F2F7FC"/>
            </a:solidFill>
            <a:prstDash val="solid"/>
          </a:ln>
        </p:spPr>
      </p:sp>
      <p:pic>
        <p:nvPicPr>
          <p:cNvPr id="8" name="Image 1" descr="preencoded.png">    </p:cNvPr>
          <p:cNvPicPr>
            <a:picLocks noChangeAspect="1"/>
          </p:cNvPicPr>
          <p:nvPr/>
        </p:nvPicPr>
        <p:blipFill>
          <a:blip r:embed="rId2"/>
          <a:stretch>
            <a:fillRect/>
          </a:stretch>
        </p:blipFill>
        <p:spPr>
          <a:xfrm>
            <a:off x="6373368" y="1463040"/>
            <a:ext cx="384048" cy="384048"/>
          </a:xfrm>
          <a:prstGeom prst="rect">
            <a:avLst/>
          </a:prstGeom>
        </p:spPr>
      </p:pic>
      <p:sp>
        <p:nvSpPr>
          <p:cNvPr id="9" name="Text 5"/>
          <p:cNvSpPr txBox="1"/>
          <p:nvPr/>
        </p:nvSpPr>
        <p:spPr>
          <a:xfrm>
            <a:off x="6885432" y="1444752"/>
            <a:ext cx="4572000" cy="411480"/>
          </a:xfrm>
          <a:prstGeom prst="rect">
            <a:avLst/>
          </a:prstGeom>
          <a:noFill/>
          <a:ln/>
        </p:spPr>
        <p:txBody>
          <a:bodyPr wrap="square" lIns="0" tIns="0" rIns="0" bIns="0" rtlCol="0" anchor="ctr"/>
          <a:lstStyle/>
          <a:p>
            <a:pPr indent="0" marL="0">
              <a:buNone/>
            </a:pPr>
            <a:r>
              <a:rPr lang="en-US" sz="1600" b="1" dirty="0">
                <a:solidFill>
                  <a:srgbClr val="003668"/>
                </a:solidFill>
              </a:rPr>
              <a:t>Masonic Fire and the toasts</a:t>
            </a:r>
            <a:endParaRPr lang="en-US" sz="1600" dirty="0"/>
          </a:p>
        </p:txBody>
      </p:sp>
      <p:sp>
        <p:nvSpPr>
          <p:cNvPr id="10" name="Text 6"/>
          <p:cNvSpPr txBox="1"/>
          <p:nvPr/>
        </p:nvSpPr>
        <p:spPr>
          <a:xfrm>
            <a:off x="6400800" y="1901952"/>
            <a:ext cx="5029200" cy="1508760"/>
          </a:xfrm>
          <a:prstGeom prst="rect">
            <a:avLst/>
          </a:prstGeom>
          <a:noFill/>
          <a:ln/>
        </p:spPr>
        <p:txBody>
          <a:bodyPr wrap="square" lIns="0" tIns="0" rIns="0" bIns="0" rtlCol="0" anchor="t"/>
          <a:lstStyle/>
          <a:p>
            <a:pPr marL="203200" indent="-203200">
              <a:spcAft>
                <a:spcPts val="400"/>
              </a:spcAft>
              <a:buSzPct val="100000"/>
              <a:buChar char="■"/>
            </a:pPr>
            <a:r>
              <a:rPr lang="en-US" sz="1300" dirty="0">
                <a:solidFill>
                  <a:srgbClr val="1E2329"/>
                </a:solidFill>
              </a:rPr>
              <a:t>Your mentor will walk you through the order of toasts and the Fire before your first night</a:t>
            </a:r>
            <a:endParaRPr lang="en-US" sz="1300" dirty="0"/>
          </a:p>
          <a:p>
            <a:pPr marL="203200" indent="-203200">
              <a:spcAft>
                <a:spcPts val="400"/>
              </a:spcAft>
              <a:buSzPct val="100000"/>
              <a:buChar char="■"/>
            </a:pPr>
            <a:r>
              <a:rPr lang="en-US" sz="1300" dirty="0">
                <a:solidFill>
                  <a:srgbClr val="1E2329"/>
                </a:solidFill>
              </a:rPr>
              <a:t>Stand when the Director of Ceremonies stands; follow the Brother next to you</a:t>
            </a:r>
            <a:endParaRPr lang="en-US" sz="1300" dirty="0"/>
          </a:p>
          <a:p>
            <a:pPr marL="203200" indent="-203200">
              <a:spcAft>
                <a:spcPts val="400"/>
              </a:spcAft>
              <a:buSzPct val="100000"/>
              <a:buChar char="■"/>
            </a:pPr>
            <a:r>
              <a:rPr lang="en-US" sz="1300" dirty="0">
                <a:solidFill>
                  <a:srgbClr val="1E2329"/>
                </a:solidFill>
              </a:rPr>
              <a:t>You may be asked to reply to a toast. Here is how</a:t>
            </a:r>
            <a:endParaRPr lang="en-US" sz="1300" dirty="0"/>
          </a:p>
        </p:txBody>
      </p:sp>
      <p:sp>
        <p:nvSpPr>
          <p:cNvPr id="11" name="Card Replying to a toast, in six lines"/>
          <p:cNvSpPr/>
          <p:nvPr/>
        </p:nvSpPr>
        <p:spPr>
          <a:xfrm>
            <a:off x="548640" y="3657600"/>
            <a:ext cx="11109960" cy="2194560"/>
          </a:xfrm>
          <a:prstGeom prst="roundRect">
            <a:avLst>
              <a:gd name="adj" fmla="val 3333"/>
            </a:avLst>
          </a:prstGeom>
          <a:solidFill>
            <a:srgbClr val="E6F2F2"/>
          </a:solidFill>
          <a:ln w="12700">
            <a:solidFill>
              <a:srgbClr val="E6F2F2"/>
            </a:solidFill>
            <a:prstDash val="solid"/>
          </a:ln>
        </p:spPr>
      </p:sp>
      <p:sp>
        <p:nvSpPr>
          <p:cNvPr id="12" name="Text 8"/>
          <p:cNvSpPr txBox="1"/>
          <p:nvPr/>
        </p:nvSpPr>
        <p:spPr>
          <a:xfrm>
            <a:off x="777240" y="3822192"/>
            <a:ext cx="10652760" cy="411480"/>
          </a:xfrm>
          <a:prstGeom prst="rect">
            <a:avLst/>
          </a:prstGeom>
          <a:noFill/>
          <a:ln/>
        </p:spPr>
        <p:txBody>
          <a:bodyPr wrap="square" lIns="0" tIns="0" rIns="0" bIns="0" rtlCol="0" anchor="ctr"/>
          <a:lstStyle/>
          <a:p>
            <a:pPr indent="0" marL="0">
              <a:buNone/>
            </a:pPr>
            <a:r>
              <a:rPr lang="en-US" sz="1600" b="1" dirty="0">
                <a:solidFill>
                  <a:srgbClr val="003668"/>
                </a:solidFill>
              </a:rPr>
              <a:t>Replying to a toast, in six lines</a:t>
            </a:r>
            <a:endParaRPr lang="en-US" sz="1600" dirty="0"/>
          </a:p>
        </p:txBody>
      </p:sp>
      <p:sp>
        <p:nvSpPr>
          <p:cNvPr id="13" name="Text 9"/>
          <p:cNvSpPr txBox="1"/>
          <p:nvPr/>
        </p:nvSpPr>
        <p:spPr>
          <a:xfrm>
            <a:off x="777240" y="4279392"/>
            <a:ext cx="10652760" cy="1463040"/>
          </a:xfrm>
          <a:prstGeom prst="rect">
            <a:avLst/>
          </a:prstGeom>
          <a:noFill/>
          <a:ln/>
        </p:spPr>
        <p:txBody>
          <a:bodyPr wrap="square" lIns="0" tIns="0" rIns="0" bIns="0" rtlCol="0" anchor="t"/>
          <a:lstStyle/>
          <a:p>
            <a:pPr marL="203200" indent="-203200">
              <a:spcAft>
                <a:spcPts val="400"/>
              </a:spcAft>
              <a:buSzPct val="100000"/>
              <a:buChar char="■"/>
            </a:pPr>
            <a:r>
              <a:rPr lang="en-US" sz="1300" dirty="0">
                <a:solidFill>
                  <a:srgbClr val="1E2329"/>
                </a:solidFill>
              </a:rPr>
              <a:t>Start with “Worshipful Master, Distinguished Brethren, Brethren all”</a:t>
            </a:r>
            <a:endParaRPr lang="en-US" sz="1300" dirty="0"/>
          </a:p>
          <a:p>
            <a:pPr marL="203200" indent="-203200">
              <a:spcAft>
                <a:spcPts val="400"/>
              </a:spcAft>
              <a:buSzPct val="100000"/>
              <a:buChar char="■"/>
            </a:pPr>
            <a:r>
              <a:rPr lang="en-US" sz="1300" dirty="0">
                <a:solidFill>
                  <a:srgbClr val="1E2329"/>
                </a:solidFill>
              </a:rPr>
              <a:t>Thank the Lodge for the meeting, the work, and the Brother who invited or looked after you</a:t>
            </a:r>
            <a:endParaRPr lang="en-US" sz="1300" dirty="0"/>
          </a:p>
          <a:p>
            <a:pPr marL="203200" indent="-203200">
              <a:spcAft>
                <a:spcPts val="400"/>
              </a:spcAft>
              <a:buSzPct val="100000"/>
              <a:buChar char="■"/>
            </a:pPr>
            <a:r>
              <a:rPr lang="en-US" sz="1300" dirty="0">
                <a:solidFill>
                  <a:srgbClr val="1E2329"/>
                </a:solidFill>
              </a:rPr>
              <a:t>Mention one thing you enjoyed; one good piece of ritual is plenty</a:t>
            </a:r>
            <a:endParaRPr lang="en-US" sz="1300" dirty="0"/>
          </a:p>
          <a:p>
            <a:pPr marL="203200" indent="-203200">
              <a:spcAft>
                <a:spcPts val="400"/>
              </a:spcAft>
              <a:buSzPct val="100000"/>
              <a:buChar char="■"/>
            </a:pPr>
            <a:r>
              <a:rPr lang="en-US" sz="1300" dirty="0">
                <a:solidFill>
                  <a:srgbClr val="1E2329"/>
                </a:solidFill>
              </a:rPr>
              <a:t>Invite them to your next meeting</a:t>
            </a:r>
            <a:endParaRPr lang="en-US" sz="1300" dirty="0"/>
          </a:p>
          <a:p>
            <a:pPr marL="203200" indent="-203200">
              <a:spcAft>
                <a:spcPts val="400"/>
              </a:spcAft>
              <a:buSzPct val="100000"/>
              <a:buChar char="■"/>
            </a:pPr>
            <a:r>
              <a:rPr lang="en-US" sz="1300" dirty="0">
                <a:solidFill>
                  <a:srgbClr val="1E2329"/>
                </a:solidFill>
              </a:rPr>
              <a:t>One to two minutes. Do not rush, and do not give a best man’s speech</a:t>
            </a:r>
            <a:endParaRPr lang="en-US" sz="1300" dirty="0"/>
          </a:p>
          <a:p>
            <a:pPr marL="203200" indent="-203200">
              <a:spcAft>
                <a:spcPts val="400"/>
              </a:spcAft>
              <a:buSzPct val="100000"/>
              <a:buChar char="■"/>
            </a:pPr>
            <a:r>
              <a:rPr lang="en-US" sz="1300" dirty="0">
                <a:solidFill>
                  <a:srgbClr val="1E2329"/>
                </a:solidFill>
              </a:rPr>
              <a:t>You may move to where people can see you, but no laps of the room</a:t>
            </a:r>
            <a:endParaRPr lang="en-US" sz="13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Visiting other Lodges</a:t>
            </a:r>
            <a:endParaRPr lang="en-US" sz="3200" dirty="0"/>
          </a:p>
        </p:txBody>
      </p:sp>
      <p:sp>
        <p:nvSpPr>
          <p:cNvPr id="3" name="FAQ Can I visit?"/>
          <p:cNvSpPr/>
          <p:nvPr/>
        </p:nvSpPr>
        <p:spPr>
          <a:xfrm>
            <a:off x="548640" y="1280160"/>
            <a:ext cx="5486400" cy="2377440"/>
          </a:xfrm>
          <a:prstGeom prst="roundRect">
            <a:avLst>
              <a:gd name="adj" fmla="val 3077"/>
            </a:avLst>
          </a:prstGeom>
          <a:solidFill>
            <a:srgbClr val="F2F7FC"/>
          </a:solidFill>
          <a:ln w="12700">
            <a:solidFill>
              <a:srgbClr val="F2F7FC"/>
            </a:solidFill>
            <a:prstDash val="solid"/>
          </a:ln>
        </p:spPr>
      </p:sp>
      <p:sp>
        <p:nvSpPr>
          <p:cNvPr id="4" name="Text 2"/>
          <p:cNvSpPr txBox="1"/>
          <p:nvPr/>
        </p:nvSpPr>
        <p:spPr>
          <a:xfrm>
            <a:off x="777240" y="1417320"/>
            <a:ext cx="5029200" cy="457200"/>
          </a:xfrm>
          <a:prstGeom prst="rect">
            <a:avLst/>
          </a:prstGeom>
          <a:noFill/>
          <a:ln/>
        </p:spPr>
        <p:txBody>
          <a:bodyPr wrap="square" lIns="0" tIns="0" rIns="0" bIns="0" rtlCol="0" anchor="t"/>
          <a:lstStyle/>
          <a:p>
            <a:pPr indent="0" marL="0">
              <a:buNone/>
            </a:pPr>
            <a:r>
              <a:rPr lang="en-US" sz="1500" b="1" dirty="0">
                <a:solidFill>
                  <a:srgbClr val="003668"/>
                </a:solidFill>
              </a:rPr>
              <a:t>Can I visit?</a:t>
            </a:r>
            <a:endParaRPr lang="en-US" sz="1500" dirty="0"/>
          </a:p>
        </p:txBody>
      </p:sp>
      <p:sp>
        <p:nvSpPr>
          <p:cNvPr id="5" name="Text 3"/>
          <p:cNvSpPr txBox="1"/>
          <p:nvPr/>
        </p:nvSpPr>
        <p:spPr>
          <a:xfrm>
            <a:off x="777240" y="1847088"/>
            <a:ext cx="5029200" cy="1691640"/>
          </a:xfrm>
          <a:prstGeom prst="rect">
            <a:avLst/>
          </a:prstGeom>
          <a:noFill/>
          <a:ln/>
        </p:spPr>
        <p:txBody>
          <a:bodyPr wrap="square" lIns="0" tIns="0" rIns="0" bIns="0" rtlCol="0" anchor="t"/>
          <a:lstStyle/>
          <a:p>
            <a:pPr indent="0" marL="0">
              <a:buNone/>
            </a:pPr>
            <a:r>
              <a:rPr lang="en-US" sz="1350" dirty="0">
                <a:solidFill>
                  <a:srgbClr val="1E2329"/>
                </a:solidFill>
              </a:rPr>
              <a:t>Yes, and it is encouraged. You can visit any Lodge under UGLE. Contact the Lodge Secretary, introduce yourself and say who you are; you may be asked for proof of membership, though most visits start with an invitation. Visiting abroad? Ask the Provincial Secretary first, as Grand Lodge permission may be needed.</a:t>
            </a:r>
            <a:endParaRPr lang="en-US" sz="1350" dirty="0"/>
          </a:p>
        </p:txBody>
      </p:sp>
      <p:sp>
        <p:nvSpPr>
          <p:cNvPr id="6" name="FAQ What will it be like"/>
          <p:cNvSpPr/>
          <p:nvPr/>
        </p:nvSpPr>
        <p:spPr>
          <a:xfrm>
            <a:off x="6172200" y="1280160"/>
            <a:ext cx="5486400" cy="2377440"/>
          </a:xfrm>
          <a:prstGeom prst="roundRect">
            <a:avLst>
              <a:gd name="adj" fmla="val 3077"/>
            </a:avLst>
          </a:prstGeom>
          <a:solidFill>
            <a:srgbClr val="F2F7FC"/>
          </a:solidFill>
          <a:ln w="12700">
            <a:solidFill>
              <a:srgbClr val="F2F7FC"/>
            </a:solidFill>
            <a:prstDash val="solid"/>
          </a:ln>
        </p:spPr>
      </p:sp>
      <p:sp>
        <p:nvSpPr>
          <p:cNvPr id="7" name="Text 5"/>
          <p:cNvSpPr txBox="1"/>
          <p:nvPr/>
        </p:nvSpPr>
        <p:spPr>
          <a:xfrm>
            <a:off x="6400800" y="1417320"/>
            <a:ext cx="5029200" cy="457200"/>
          </a:xfrm>
          <a:prstGeom prst="rect">
            <a:avLst/>
          </a:prstGeom>
          <a:noFill/>
          <a:ln/>
        </p:spPr>
        <p:txBody>
          <a:bodyPr wrap="square" lIns="0" tIns="0" rIns="0" bIns="0" rtlCol="0" anchor="t"/>
          <a:lstStyle/>
          <a:p>
            <a:pPr indent="0" marL="0">
              <a:buNone/>
            </a:pPr>
            <a:r>
              <a:rPr lang="en-US" sz="1500" b="1" dirty="0">
                <a:solidFill>
                  <a:srgbClr val="0A4F72"/>
                </a:solidFill>
              </a:rPr>
              <a:t>What will it be like?</a:t>
            </a:r>
            <a:endParaRPr lang="en-US" sz="1500" dirty="0"/>
          </a:p>
        </p:txBody>
      </p:sp>
      <p:sp>
        <p:nvSpPr>
          <p:cNvPr id="8" name="Text 6"/>
          <p:cNvSpPr txBox="1"/>
          <p:nvPr/>
        </p:nvSpPr>
        <p:spPr>
          <a:xfrm>
            <a:off x="6400800" y="1847088"/>
            <a:ext cx="5029200" cy="1691640"/>
          </a:xfrm>
          <a:prstGeom prst="rect">
            <a:avLst/>
          </a:prstGeom>
          <a:noFill/>
          <a:ln/>
        </p:spPr>
        <p:txBody>
          <a:bodyPr wrap="square" lIns="0" tIns="0" rIns="0" bIns="0" rtlCol="0" anchor="t"/>
          <a:lstStyle/>
          <a:p>
            <a:pPr indent="0" marL="0">
              <a:buNone/>
            </a:pPr>
            <a:r>
              <a:rPr lang="en-US" sz="1350" dirty="0">
                <a:solidFill>
                  <a:srgbClr val="1E2329"/>
                </a:solidFill>
              </a:rPr>
              <a:t>Different. Lodges work differently and that is half the point. Observe before judging, and never criticise another Lodge’s working. Sign in on arrival, say thank you to your hosts on the night and again afterwards, and expect to be asked to reply to the Visitors’ Toast.</a:t>
            </a:r>
            <a:endParaRPr lang="en-US" sz="1350" dirty="0"/>
          </a:p>
        </p:txBody>
      </p:sp>
      <p:sp>
        <p:nvSpPr>
          <p:cNvPr id="9" name="Card Three easy first visits"/>
          <p:cNvSpPr/>
          <p:nvPr/>
        </p:nvSpPr>
        <p:spPr>
          <a:xfrm>
            <a:off x="548640" y="3794760"/>
            <a:ext cx="11109960" cy="2057400"/>
          </a:xfrm>
          <a:prstGeom prst="roundRect">
            <a:avLst>
              <a:gd name="adj" fmla="val 3556"/>
            </a:avLst>
          </a:prstGeom>
          <a:solidFill>
            <a:srgbClr val="F2F7FC"/>
          </a:solidFill>
          <a:ln w="12700">
            <a:solidFill>
              <a:srgbClr val="F2F7FC"/>
            </a:solidFill>
            <a:prstDash val="solid"/>
          </a:ln>
        </p:spPr>
      </p:sp>
      <p:pic>
        <p:nvPicPr>
          <p:cNvPr id="10" name="Image 0" descr="preencoded.png">    </p:cNvPr>
          <p:cNvPicPr>
            <a:picLocks noChangeAspect="1"/>
          </p:cNvPicPr>
          <p:nvPr/>
        </p:nvPicPr>
        <p:blipFill>
          <a:blip r:embed="rId1"/>
          <a:stretch>
            <a:fillRect/>
          </a:stretch>
        </p:blipFill>
        <p:spPr>
          <a:xfrm>
            <a:off x="749808" y="3977640"/>
            <a:ext cx="384048" cy="384048"/>
          </a:xfrm>
          <a:prstGeom prst="rect">
            <a:avLst/>
          </a:prstGeom>
        </p:spPr>
      </p:pic>
      <p:sp>
        <p:nvSpPr>
          <p:cNvPr id="11" name="Text 8"/>
          <p:cNvSpPr txBox="1"/>
          <p:nvPr/>
        </p:nvSpPr>
        <p:spPr>
          <a:xfrm>
            <a:off x="1261872" y="3959352"/>
            <a:ext cx="10195560" cy="411480"/>
          </a:xfrm>
          <a:prstGeom prst="rect">
            <a:avLst/>
          </a:prstGeom>
          <a:noFill/>
          <a:ln/>
        </p:spPr>
        <p:txBody>
          <a:bodyPr wrap="square" lIns="0" tIns="0" rIns="0" bIns="0" rtlCol="0" anchor="ctr"/>
          <a:lstStyle/>
          <a:p>
            <a:pPr indent="0" marL="0">
              <a:buNone/>
            </a:pPr>
            <a:r>
              <a:rPr lang="en-US" sz="1600" b="1" dirty="0">
                <a:solidFill>
                  <a:srgbClr val="003668"/>
                </a:solidFill>
              </a:rPr>
              <a:t>Three easy first visits</a:t>
            </a:r>
            <a:endParaRPr lang="en-US" sz="1600" dirty="0"/>
          </a:p>
        </p:txBody>
      </p:sp>
      <p:sp>
        <p:nvSpPr>
          <p:cNvPr id="12" name="Text 9"/>
          <p:cNvSpPr txBox="1"/>
          <p:nvPr/>
        </p:nvSpPr>
        <p:spPr>
          <a:xfrm>
            <a:off x="777240" y="4416552"/>
            <a:ext cx="10652760" cy="1325880"/>
          </a:xfrm>
          <a:prstGeom prst="rect">
            <a:avLst/>
          </a:prstGeom>
          <a:noFill/>
          <a:ln/>
        </p:spPr>
        <p:txBody>
          <a:bodyPr wrap="square" lIns="0" tIns="0" rIns="0" bIns="0" rtlCol="0" anchor="t"/>
          <a:lstStyle/>
          <a:p>
            <a:pPr marL="203200" indent="-203200">
              <a:spcAft>
                <a:spcPts val="400"/>
              </a:spcAft>
              <a:buSzPct val="100000"/>
              <a:buChar char="■"/>
            </a:pPr>
            <a:r>
              <a:rPr lang="en-US" sz="1350" dirty="0">
                <a:solidFill>
                  <a:srgbClr val="1E2329"/>
                </a:solidFill>
              </a:rPr>
              <a:t>Go with your mentor or a Brother from your Lodge the first time; nobody should visit alone until he wants to</a:t>
            </a:r>
            <a:endParaRPr lang="en-US" sz="1350" dirty="0"/>
          </a:p>
          <a:p>
            <a:pPr marL="203200" indent="-203200">
              <a:spcAft>
                <a:spcPts val="400"/>
              </a:spcAft>
              <a:buSzPct val="100000"/>
              <a:buChar char="■"/>
            </a:pPr>
            <a:r>
              <a:rPr lang="en-US" sz="1350" dirty="0">
                <a:solidFill>
                  <a:srgbClr val="1E2329"/>
                </a:solidFill>
              </a:rPr>
              <a:t>FHLBC visits are built for this: a group of light blues, a ceremony, a Festive Board and a host Lodge that is expecting you</a:t>
            </a:r>
            <a:endParaRPr lang="en-US" sz="1350" dirty="0"/>
          </a:p>
          <a:p>
            <a:pPr marL="203200" indent="-203200">
              <a:spcAft>
                <a:spcPts val="400"/>
              </a:spcAft>
              <a:buSzPct val="100000"/>
              <a:buChar char="■"/>
            </a:pPr>
            <a:r>
              <a:rPr lang="en-US" sz="1350" dirty="0">
                <a:solidFill>
                  <a:srgbClr val="1E2329"/>
                </a:solidFill>
              </a:rPr>
              <a:t>The Visitors’ Festival: each year the Province picks an exemplary First, Second and Third Degree for newly initiated, passed and raised Brethren to see, seated with the Mentoring Team</a:t>
            </a:r>
            <a:endParaRPr lang="en-US" sz="13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The questions you asked, and a few you will</a:t>
            </a:r>
            <a:endParaRPr lang="en-US" sz="3200" dirty="0"/>
          </a:p>
        </p:txBody>
      </p:sp>
      <p:sp>
        <p:nvSpPr>
          <p:cNvPr id="3" name="FAQ What do I tell peopl"/>
          <p:cNvSpPr/>
          <p:nvPr/>
        </p:nvSpPr>
        <p:spPr>
          <a:xfrm>
            <a:off x="548640" y="1280160"/>
            <a:ext cx="3657600" cy="2240280"/>
          </a:xfrm>
          <a:prstGeom prst="roundRect">
            <a:avLst>
              <a:gd name="adj" fmla="val 3265"/>
            </a:avLst>
          </a:prstGeom>
          <a:solidFill>
            <a:srgbClr val="F2F7FC"/>
          </a:solidFill>
          <a:ln w="12700">
            <a:solidFill>
              <a:srgbClr val="F2F7FC"/>
            </a:solidFill>
            <a:prstDash val="solid"/>
          </a:ln>
        </p:spPr>
      </p:sp>
      <p:sp>
        <p:nvSpPr>
          <p:cNvPr id="4" name="Text 2"/>
          <p:cNvSpPr txBox="1"/>
          <p:nvPr/>
        </p:nvSpPr>
        <p:spPr>
          <a:xfrm>
            <a:off x="777240" y="1417320"/>
            <a:ext cx="3200400" cy="457200"/>
          </a:xfrm>
          <a:prstGeom prst="rect">
            <a:avLst/>
          </a:prstGeom>
          <a:noFill/>
          <a:ln/>
        </p:spPr>
        <p:txBody>
          <a:bodyPr wrap="square" lIns="0" tIns="0" rIns="0" bIns="0" rtlCol="0" anchor="t"/>
          <a:lstStyle/>
          <a:p>
            <a:pPr indent="0" marL="0">
              <a:buNone/>
            </a:pPr>
            <a:r>
              <a:rPr lang="en-US" sz="1500" b="1" dirty="0">
                <a:solidFill>
                  <a:srgbClr val="003668"/>
                </a:solidFill>
              </a:rPr>
              <a:t>What do I tell people at work?</a:t>
            </a:r>
            <a:endParaRPr lang="en-US" sz="1500" dirty="0"/>
          </a:p>
        </p:txBody>
      </p:sp>
      <p:sp>
        <p:nvSpPr>
          <p:cNvPr id="5" name="Text 3"/>
          <p:cNvSpPr txBox="1"/>
          <p:nvPr/>
        </p:nvSpPr>
        <p:spPr>
          <a:xfrm>
            <a:off x="777240" y="1847088"/>
            <a:ext cx="3200400" cy="1554480"/>
          </a:xfrm>
          <a:prstGeom prst="rect">
            <a:avLst/>
          </a:prstGeom>
          <a:noFill/>
          <a:ln/>
        </p:spPr>
        <p:txBody>
          <a:bodyPr wrap="square" lIns="0" tIns="0" rIns="0" bIns="0" rtlCol="0" anchor="t"/>
          <a:lstStyle/>
          <a:p>
            <a:pPr indent="0" marL="0">
              <a:buNone/>
            </a:pPr>
            <a:r>
              <a:rPr lang="en-US" sz="1350" dirty="0">
                <a:solidFill>
                  <a:srgbClr val="1E2329"/>
                </a:solidFill>
              </a:rPr>
              <a:t>The truth: you have joined a Lodge, you meet a few times a year, there is a dinner, and it raises a lot for charity. You will be surprised how many say “so is my dad”.</a:t>
            </a:r>
            <a:endParaRPr lang="en-US" sz="1350" dirty="0"/>
          </a:p>
        </p:txBody>
      </p:sp>
      <p:sp>
        <p:nvSpPr>
          <p:cNvPr id="6" name="FAQ Can I post about it "/>
          <p:cNvSpPr/>
          <p:nvPr/>
        </p:nvSpPr>
        <p:spPr>
          <a:xfrm>
            <a:off x="4279392" y="1280160"/>
            <a:ext cx="3657600" cy="2240280"/>
          </a:xfrm>
          <a:prstGeom prst="roundRect">
            <a:avLst>
              <a:gd name="adj" fmla="val 3265"/>
            </a:avLst>
          </a:prstGeom>
          <a:solidFill>
            <a:srgbClr val="F2F7FC"/>
          </a:solidFill>
          <a:ln w="12700">
            <a:solidFill>
              <a:srgbClr val="F2F7FC"/>
            </a:solidFill>
            <a:prstDash val="solid"/>
          </a:ln>
        </p:spPr>
      </p:sp>
      <p:sp>
        <p:nvSpPr>
          <p:cNvPr id="7" name="Text 5"/>
          <p:cNvSpPr txBox="1"/>
          <p:nvPr/>
        </p:nvSpPr>
        <p:spPr>
          <a:xfrm>
            <a:off x="4507992" y="1417320"/>
            <a:ext cx="3200400" cy="457200"/>
          </a:xfrm>
          <a:prstGeom prst="rect">
            <a:avLst/>
          </a:prstGeom>
          <a:noFill/>
          <a:ln/>
        </p:spPr>
        <p:txBody>
          <a:bodyPr wrap="square" lIns="0" tIns="0" rIns="0" bIns="0" rtlCol="0" anchor="t"/>
          <a:lstStyle/>
          <a:p>
            <a:pPr indent="0" marL="0">
              <a:buNone/>
            </a:pPr>
            <a:r>
              <a:rPr lang="en-US" sz="1500" b="1" dirty="0">
                <a:solidFill>
                  <a:srgbClr val="0A4F72"/>
                </a:solidFill>
              </a:rPr>
              <a:t>Can I post about it online?</a:t>
            </a:r>
            <a:endParaRPr lang="en-US" sz="1500" dirty="0"/>
          </a:p>
        </p:txBody>
      </p:sp>
      <p:sp>
        <p:nvSpPr>
          <p:cNvPr id="8" name="Text 6"/>
          <p:cNvSpPr txBox="1"/>
          <p:nvPr/>
        </p:nvSpPr>
        <p:spPr>
          <a:xfrm>
            <a:off x="4507992" y="1847088"/>
            <a:ext cx="3200400" cy="1554480"/>
          </a:xfrm>
          <a:prstGeom prst="rect">
            <a:avLst/>
          </a:prstGeom>
          <a:noFill/>
          <a:ln/>
        </p:spPr>
        <p:txBody>
          <a:bodyPr wrap="square" lIns="0" tIns="0" rIns="0" bIns="0" rtlCol="0" anchor="t"/>
          <a:lstStyle/>
          <a:p>
            <a:pPr indent="0" marL="0">
              <a:buNone/>
            </a:pPr>
            <a:r>
              <a:rPr lang="en-US" sz="1350" dirty="0">
                <a:solidFill>
                  <a:srgbClr val="1E2329"/>
                </a:solidFill>
              </a:rPr>
              <a:t>Yes, with judgement. Photos from the Festive Board and charity events are fine; anything from inside the Lodge room is not. Treat it as you would your employer’s name.</a:t>
            </a:r>
            <a:endParaRPr lang="en-US" sz="1350" dirty="0"/>
          </a:p>
        </p:txBody>
      </p:sp>
      <p:sp>
        <p:nvSpPr>
          <p:cNvPr id="9" name="FAQ Can my partner get i"/>
          <p:cNvSpPr/>
          <p:nvPr/>
        </p:nvSpPr>
        <p:spPr>
          <a:xfrm>
            <a:off x="8010144" y="1280160"/>
            <a:ext cx="3657600" cy="2240280"/>
          </a:xfrm>
          <a:prstGeom prst="roundRect">
            <a:avLst>
              <a:gd name="adj" fmla="val 3265"/>
            </a:avLst>
          </a:prstGeom>
          <a:solidFill>
            <a:srgbClr val="F2F7FC"/>
          </a:solidFill>
          <a:ln w="12700">
            <a:solidFill>
              <a:srgbClr val="F2F7FC"/>
            </a:solidFill>
            <a:prstDash val="solid"/>
          </a:ln>
        </p:spPr>
      </p:sp>
      <p:sp>
        <p:nvSpPr>
          <p:cNvPr id="10" name="Text 8"/>
          <p:cNvSpPr txBox="1"/>
          <p:nvPr/>
        </p:nvSpPr>
        <p:spPr>
          <a:xfrm>
            <a:off x="8238744" y="1417320"/>
            <a:ext cx="3200400" cy="457200"/>
          </a:xfrm>
          <a:prstGeom prst="rect">
            <a:avLst/>
          </a:prstGeom>
          <a:noFill/>
          <a:ln/>
        </p:spPr>
        <p:txBody>
          <a:bodyPr wrap="square" lIns="0" tIns="0" rIns="0" bIns="0" rtlCol="0" anchor="t"/>
          <a:lstStyle/>
          <a:p>
            <a:pPr indent="0" marL="0">
              <a:buNone/>
            </a:pPr>
            <a:r>
              <a:rPr lang="en-US" sz="1500" b="1" dirty="0">
                <a:solidFill>
                  <a:srgbClr val="106576"/>
                </a:solidFill>
              </a:rPr>
              <a:t>Can my partner get involved?</a:t>
            </a:r>
            <a:endParaRPr lang="en-US" sz="1500" dirty="0"/>
          </a:p>
        </p:txBody>
      </p:sp>
      <p:sp>
        <p:nvSpPr>
          <p:cNvPr id="11" name="Text 9"/>
          <p:cNvSpPr txBox="1"/>
          <p:nvPr/>
        </p:nvSpPr>
        <p:spPr>
          <a:xfrm>
            <a:off x="8238744" y="1847088"/>
            <a:ext cx="3200400" cy="1554480"/>
          </a:xfrm>
          <a:prstGeom prst="rect">
            <a:avLst/>
          </a:prstGeom>
          <a:noFill/>
          <a:ln/>
        </p:spPr>
        <p:txBody>
          <a:bodyPr wrap="square" lIns="0" tIns="0" rIns="0" bIns="0" rtlCol="0" anchor="t"/>
          <a:lstStyle/>
          <a:p>
            <a:pPr indent="0" marL="0">
              <a:buNone/>
            </a:pPr>
            <a:r>
              <a:rPr lang="en-US" sz="1350" dirty="0">
                <a:solidFill>
                  <a:srgbClr val="1E2329"/>
                </a:solidFill>
              </a:rPr>
              <a:t>Yes. White Table evenings invite partners to dine, and sometimes into the untyled meeting. Ladies Night is the Master’s formal dinner each year, often with a dance, raising money for his charity. Most Lodges run socials too.</a:t>
            </a:r>
            <a:endParaRPr lang="en-US" sz="1350" dirty="0"/>
          </a:p>
        </p:txBody>
      </p:sp>
      <p:sp>
        <p:nvSpPr>
          <p:cNvPr id="12" name="FAQ When will I take off"/>
          <p:cNvSpPr/>
          <p:nvPr/>
        </p:nvSpPr>
        <p:spPr>
          <a:xfrm>
            <a:off x="548640" y="3657600"/>
            <a:ext cx="3657600" cy="2194560"/>
          </a:xfrm>
          <a:prstGeom prst="roundRect">
            <a:avLst>
              <a:gd name="adj" fmla="val 3333"/>
            </a:avLst>
          </a:prstGeom>
          <a:solidFill>
            <a:srgbClr val="F2F7FC"/>
          </a:solidFill>
          <a:ln w="12700">
            <a:solidFill>
              <a:srgbClr val="F2F7FC"/>
            </a:solidFill>
            <a:prstDash val="solid"/>
          </a:ln>
        </p:spPr>
      </p:sp>
      <p:sp>
        <p:nvSpPr>
          <p:cNvPr id="13" name="Text 11"/>
          <p:cNvSpPr txBox="1"/>
          <p:nvPr/>
        </p:nvSpPr>
        <p:spPr>
          <a:xfrm>
            <a:off x="777240" y="3794760"/>
            <a:ext cx="3200400" cy="457200"/>
          </a:xfrm>
          <a:prstGeom prst="rect">
            <a:avLst/>
          </a:prstGeom>
          <a:noFill/>
          <a:ln/>
        </p:spPr>
        <p:txBody>
          <a:bodyPr wrap="square" lIns="0" tIns="0" rIns="0" bIns="0" rtlCol="0" anchor="t"/>
          <a:lstStyle/>
          <a:p>
            <a:pPr indent="0" marL="0">
              <a:buNone/>
            </a:pPr>
            <a:r>
              <a:rPr lang="en-US" sz="1500" b="1" dirty="0">
                <a:solidFill>
                  <a:srgbClr val="157A7C"/>
                </a:solidFill>
              </a:rPr>
              <a:t>When will I take office?</a:t>
            </a:r>
            <a:endParaRPr lang="en-US" sz="1500" dirty="0"/>
          </a:p>
        </p:txBody>
      </p:sp>
      <p:sp>
        <p:nvSpPr>
          <p:cNvPr id="14" name="Text 12"/>
          <p:cNvSpPr txBox="1"/>
          <p:nvPr/>
        </p:nvSpPr>
        <p:spPr>
          <a:xfrm>
            <a:off x="777240" y="4224528"/>
            <a:ext cx="3200400" cy="1508760"/>
          </a:xfrm>
          <a:prstGeom prst="rect">
            <a:avLst/>
          </a:prstGeom>
          <a:noFill/>
          <a:ln/>
        </p:spPr>
        <p:txBody>
          <a:bodyPr wrap="square" lIns="0" tIns="0" rIns="0" bIns="0" rtlCol="0" anchor="t"/>
          <a:lstStyle/>
          <a:p>
            <a:pPr indent="0" marL="0">
              <a:buNone/>
            </a:pPr>
            <a:r>
              <a:rPr lang="en-US" sz="1350" dirty="0">
                <a:solidFill>
                  <a:srgbClr val="1E2329"/>
                </a:solidFill>
              </a:rPr>
              <a:t>When you are ready and if you want to. Readiness runs both ways: nobody should push you early, and nobody should leave you waiting. Talk to your mentor.</a:t>
            </a:r>
            <a:endParaRPr lang="en-US" sz="1350" dirty="0"/>
          </a:p>
        </p:txBody>
      </p:sp>
      <p:sp>
        <p:nvSpPr>
          <p:cNvPr id="15" name="FAQ What is the Royal Ar"/>
          <p:cNvSpPr/>
          <p:nvPr/>
        </p:nvSpPr>
        <p:spPr>
          <a:xfrm>
            <a:off x="4279392" y="3657600"/>
            <a:ext cx="3657600" cy="2194560"/>
          </a:xfrm>
          <a:prstGeom prst="roundRect">
            <a:avLst>
              <a:gd name="adj" fmla="val 3333"/>
            </a:avLst>
          </a:prstGeom>
          <a:solidFill>
            <a:srgbClr val="F2F7FC"/>
          </a:solidFill>
          <a:ln w="12700">
            <a:solidFill>
              <a:srgbClr val="F2F7FC"/>
            </a:solidFill>
            <a:prstDash val="solid"/>
          </a:ln>
        </p:spPr>
      </p:sp>
      <p:sp>
        <p:nvSpPr>
          <p:cNvPr id="16" name="Text 14"/>
          <p:cNvSpPr txBox="1"/>
          <p:nvPr/>
        </p:nvSpPr>
        <p:spPr>
          <a:xfrm>
            <a:off x="4507992" y="3794760"/>
            <a:ext cx="3200400" cy="457200"/>
          </a:xfrm>
          <a:prstGeom prst="rect">
            <a:avLst/>
          </a:prstGeom>
          <a:noFill/>
          <a:ln/>
        </p:spPr>
        <p:txBody>
          <a:bodyPr wrap="square" lIns="0" tIns="0" rIns="0" bIns="0" rtlCol="0" anchor="t"/>
          <a:lstStyle/>
          <a:p>
            <a:pPr indent="0" marL="0">
              <a:buNone/>
            </a:pPr>
            <a:r>
              <a:rPr lang="en-US" sz="1500" b="1" dirty="0">
                <a:solidFill>
                  <a:srgbClr val="06345D"/>
                </a:solidFill>
              </a:rPr>
              <a:t>What is the Royal Arch?</a:t>
            </a:r>
            <a:endParaRPr lang="en-US" sz="1500" dirty="0"/>
          </a:p>
        </p:txBody>
      </p:sp>
      <p:sp>
        <p:nvSpPr>
          <p:cNvPr id="17" name="Text 15"/>
          <p:cNvSpPr txBox="1"/>
          <p:nvPr/>
        </p:nvSpPr>
        <p:spPr>
          <a:xfrm>
            <a:off x="4507992" y="4224528"/>
            <a:ext cx="3200400" cy="1508760"/>
          </a:xfrm>
          <a:prstGeom prst="rect">
            <a:avLst/>
          </a:prstGeom>
          <a:noFill/>
          <a:ln/>
        </p:spPr>
        <p:txBody>
          <a:bodyPr wrap="square" lIns="0" tIns="0" rIns="0" bIns="0" rtlCol="0" anchor="t"/>
          <a:lstStyle/>
          <a:p>
            <a:pPr indent="0" marL="0">
              <a:buNone/>
            </a:pPr>
            <a:r>
              <a:rPr lang="en-US" sz="1350" dirty="0">
                <a:solidFill>
                  <a:srgbClr val="1E2329"/>
                </a:solidFill>
              </a:rPr>
              <a:t>The completion of Pure Antient Masonry, which UGLE encourages Master Masons to consider before other orders. Your Lodge’s Royal Arch Representative will explain it when you are ready. Information, not recruitment.</a:t>
            </a:r>
            <a:endParaRPr lang="en-US" sz="1350" dirty="0"/>
          </a:p>
        </p:txBody>
      </p:sp>
      <p:sp>
        <p:nvSpPr>
          <p:cNvPr id="18" name="FAQ What if I am struggl"/>
          <p:cNvSpPr/>
          <p:nvPr/>
        </p:nvSpPr>
        <p:spPr>
          <a:xfrm>
            <a:off x="8010144" y="3657600"/>
            <a:ext cx="3657600" cy="2194560"/>
          </a:xfrm>
          <a:prstGeom prst="roundRect">
            <a:avLst>
              <a:gd name="adj" fmla="val 3333"/>
            </a:avLst>
          </a:prstGeom>
          <a:solidFill>
            <a:srgbClr val="F2F7FC"/>
          </a:solidFill>
          <a:ln w="12700">
            <a:solidFill>
              <a:srgbClr val="F2F7FC"/>
            </a:solidFill>
            <a:prstDash val="solid"/>
          </a:ln>
        </p:spPr>
      </p:sp>
      <p:sp>
        <p:nvSpPr>
          <p:cNvPr id="19" name="Text 17"/>
          <p:cNvSpPr txBox="1"/>
          <p:nvPr/>
        </p:nvSpPr>
        <p:spPr>
          <a:xfrm>
            <a:off x="8238744" y="3794760"/>
            <a:ext cx="3200400" cy="457200"/>
          </a:xfrm>
          <a:prstGeom prst="rect">
            <a:avLst/>
          </a:prstGeom>
          <a:noFill/>
          <a:ln/>
        </p:spPr>
        <p:txBody>
          <a:bodyPr wrap="square" lIns="0" tIns="0" rIns="0" bIns="0" rtlCol="0" anchor="t"/>
          <a:lstStyle/>
          <a:p>
            <a:pPr indent="0" marL="0">
              <a:buNone/>
            </a:pPr>
            <a:r>
              <a:rPr lang="en-US" sz="1500" b="1" dirty="0">
                <a:solidFill>
                  <a:srgbClr val="003668"/>
                </a:solidFill>
              </a:rPr>
              <a:t>What if I am struggling?</a:t>
            </a:r>
            <a:endParaRPr lang="en-US" sz="1500" dirty="0"/>
          </a:p>
        </p:txBody>
      </p:sp>
      <p:sp>
        <p:nvSpPr>
          <p:cNvPr id="20" name="Text 18"/>
          <p:cNvSpPr txBox="1"/>
          <p:nvPr/>
        </p:nvSpPr>
        <p:spPr>
          <a:xfrm>
            <a:off x="8238744" y="4224528"/>
            <a:ext cx="3200400" cy="1508760"/>
          </a:xfrm>
          <a:prstGeom prst="rect">
            <a:avLst/>
          </a:prstGeom>
          <a:noFill/>
          <a:ln/>
        </p:spPr>
        <p:txBody>
          <a:bodyPr wrap="square" lIns="0" tIns="0" rIns="0" bIns="0" rtlCol="0" anchor="t"/>
          <a:lstStyle/>
          <a:p>
            <a:pPr indent="0" marL="0">
              <a:buNone/>
            </a:pPr>
            <a:r>
              <a:rPr lang="en-US" sz="1350" dirty="0">
                <a:solidFill>
                  <a:srgbClr val="1E2329"/>
                </a:solidFill>
              </a:rPr>
              <a:t>Say so, early, to anyone: your mentor, the Almoner, the Club. Money, time, family, confidence. The question is always “How can we help?”. One resignation in three is recovered by a single honest conversation.</a:t>
            </a:r>
            <a:endParaRPr lang="en-US" sz="13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Number"/>
          <p:cNvSpPr txBox="1"/>
          <p:nvPr/>
        </p:nvSpPr>
        <p:spPr>
          <a:xfrm>
            <a:off x="822960" y="1463040"/>
            <a:ext cx="2011680" cy="2011680"/>
          </a:xfrm>
          <a:prstGeom prst="rect">
            <a:avLst/>
          </a:prstGeom>
          <a:noFill/>
          <a:ln/>
        </p:spPr>
        <p:txBody>
          <a:bodyPr wrap="square" lIns="0" tIns="0" rIns="0" bIns="0" rtlCol="0" anchor="ctr"/>
          <a:lstStyle/>
          <a:p>
            <a:pPr indent="0" marL="0">
              <a:buNone/>
            </a:pPr>
            <a:r>
              <a:rPr lang="en-US" sz="12000" b="1" dirty="0">
                <a:solidFill>
                  <a:srgbClr val="8FD3D1"/>
                </a:solidFill>
              </a:rPr>
              <a:t>2</a:t>
            </a:r>
            <a:endParaRPr lang="en-US" sz="12000" dirty="0"/>
          </a:p>
        </p:txBody>
      </p:sp>
      <p:sp>
        <p:nvSpPr>
          <p:cNvPr id="3" name="Section title"/>
          <p:cNvSpPr txBox="1"/>
          <p:nvPr/>
        </p:nvSpPr>
        <p:spPr>
          <a:xfrm>
            <a:off x="3108960" y="1737360"/>
            <a:ext cx="8229600" cy="1097280"/>
          </a:xfrm>
          <a:prstGeom prst="rect">
            <a:avLst/>
          </a:prstGeom>
          <a:noFill/>
          <a:ln/>
        </p:spPr>
        <p:txBody>
          <a:bodyPr wrap="square" lIns="0" tIns="0" rIns="0" bIns="0" rtlCol="0" anchor="ctr"/>
          <a:lstStyle/>
          <a:p>
            <a:pPr indent="0" marL="0">
              <a:buNone/>
            </a:pPr>
            <a:r>
              <a:rPr lang="en-US" sz="4400" b="1" dirty="0">
                <a:solidFill>
                  <a:srgbClr val="FFFFFF"/>
                </a:solidFill>
              </a:rPr>
              <a:t>Learning and Development</a:t>
            </a:r>
            <a:endParaRPr lang="en-US" sz="4400" dirty="0"/>
          </a:p>
        </p:txBody>
      </p:sp>
      <p:sp>
        <p:nvSpPr>
          <p:cNvPr id="4" name="Section subtitle"/>
          <p:cNvSpPr txBox="1"/>
          <p:nvPr/>
        </p:nvSpPr>
        <p:spPr>
          <a:xfrm>
            <a:off x="3108960" y="2834640"/>
            <a:ext cx="8229600" cy="731520"/>
          </a:xfrm>
          <a:prstGeom prst="rect">
            <a:avLst/>
          </a:prstGeom>
          <a:noFill/>
          <a:ln/>
        </p:spPr>
        <p:txBody>
          <a:bodyPr wrap="square" lIns="0" tIns="0" rIns="0" bIns="0" rtlCol="0" anchor="t"/>
          <a:lstStyle/>
          <a:p>
            <a:pPr indent="0" marL="0">
              <a:buNone/>
            </a:pPr>
            <a:r>
              <a:rPr lang="en-US" sz="1800" dirty="0">
                <a:solidFill>
                  <a:srgbClr val="BFD6EA"/>
                </a:solidFill>
              </a:rPr>
              <a:t>Solomon, the Academy diploma, the Lodge of Instruction and how to learn ritual without losing sleep</a:t>
            </a:r>
            <a:endParaRPr lang="en-US" sz="1800" dirty="0"/>
          </a:p>
        </p:txBody>
      </p:sp>
      <p:sp>
        <p:nvSpPr>
          <p:cNvPr id="5" name="Presenter"/>
          <p:cNvSpPr txBox="1"/>
          <p:nvPr/>
        </p:nvSpPr>
        <p:spPr>
          <a:xfrm>
            <a:off x="3108960" y="3931920"/>
            <a:ext cx="8229600" cy="457200"/>
          </a:xfrm>
          <a:prstGeom prst="rect">
            <a:avLst/>
          </a:prstGeom>
          <a:noFill/>
          <a:ln/>
        </p:spPr>
        <p:txBody>
          <a:bodyPr wrap="square" lIns="0" tIns="0" rIns="0" bIns="0" rtlCol="0" anchor="ctr"/>
          <a:lstStyle/>
          <a:p>
            <a:pPr indent="0" marL="0">
              <a:buNone/>
            </a:pPr>
            <a:r>
              <a:rPr lang="en-US" sz="1600" b="1" dirty="0">
                <a:solidFill>
                  <a:srgbClr val="FFFFFF"/>
                </a:solidFill>
              </a:rPr>
              <a:t>W Bro Tom Golds, Provincial Learning and Development Officer</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Solomon: UGLE's learning platform</a:t>
            </a:r>
            <a:endParaRPr lang="en-US" sz="3200" dirty="0"/>
          </a:p>
        </p:txBody>
      </p:sp>
      <p:sp>
        <p:nvSpPr>
          <p:cNvPr id="3" name="Card What it is"/>
          <p:cNvSpPr/>
          <p:nvPr/>
        </p:nvSpPr>
        <p:spPr>
          <a:xfrm>
            <a:off x="548640" y="1280160"/>
            <a:ext cx="5486400" cy="2286000"/>
          </a:xfrm>
          <a:prstGeom prst="roundRect">
            <a:avLst>
              <a:gd name="adj" fmla="val 3200"/>
            </a:avLst>
          </a:prstGeom>
          <a:solidFill>
            <a:srgbClr val="F2F7FC"/>
          </a:solidFill>
          <a:ln w="12700">
            <a:solidFill>
              <a:srgbClr val="F2F7FC"/>
            </a:solidFill>
            <a:prstDash val="solid"/>
          </a:ln>
        </p:spPr>
      </p:sp>
      <p:pic>
        <p:nvPicPr>
          <p:cNvPr id="4" name="Image 0" descr="preencoded.png">    </p:cNvPr>
          <p:cNvPicPr>
            <a:picLocks noChangeAspect="1"/>
          </p:cNvPicPr>
          <p:nvPr/>
        </p:nvPicPr>
        <p:blipFill>
          <a:blip r:embed="rId1"/>
          <a:stretch>
            <a:fillRect/>
          </a:stretch>
        </p:blipFill>
        <p:spPr>
          <a:xfrm>
            <a:off x="749808" y="1463040"/>
            <a:ext cx="384048" cy="384048"/>
          </a:xfrm>
          <a:prstGeom prst="rect">
            <a:avLst/>
          </a:prstGeom>
        </p:spPr>
      </p:pic>
      <p:sp>
        <p:nvSpPr>
          <p:cNvPr id="5" name="Text 2"/>
          <p:cNvSpPr txBox="1"/>
          <p:nvPr/>
        </p:nvSpPr>
        <p:spPr>
          <a:xfrm>
            <a:off x="1261872" y="1444752"/>
            <a:ext cx="4572000" cy="411480"/>
          </a:xfrm>
          <a:prstGeom prst="rect">
            <a:avLst/>
          </a:prstGeom>
          <a:noFill/>
          <a:ln/>
        </p:spPr>
        <p:txBody>
          <a:bodyPr wrap="square" lIns="0" tIns="0" rIns="0" bIns="0" rtlCol="0" anchor="ctr"/>
          <a:lstStyle/>
          <a:p>
            <a:pPr indent="0" marL="0">
              <a:buNone/>
            </a:pPr>
            <a:r>
              <a:rPr lang="en-US" sz="1600" b="1" dirty="0">
                <a:solidFill>
                  <a:srgbClr val="003668"/>
                </a:solidFill>
              </a:rPr>
              <a:t>What it is</a:t>
            </a:r>
            <a:endParaRPr lang="en-US" sz="1600" dirty="0"/>
          </a:p>
        </p:txBody>
      </p:sp>
      <p:sp>
        <p:nvSpPr>
          <p:cNvPr id="6" name="Text 3"/>
          <p:cNvSpPr txBox="1"/>
          <p:nvPr/>
        </p:nvSpPr>
        <p:spPr>
          <a:xfrm>
            <a:off x="777240" y="1901952"/>
            <a:ext cx="5029200" cy="1554480"/>
          </a:xfrm>
          <a:prstGeom prst="rect">
            <a:avLst/>
          </a:prstGeom>
          <a:noFill/>
          <a:ln/>
        </p:spPr>
        <p:txBody>
          <a:bodyPr wrap="square" lIns="0" tIns="0" rIns="0" bIns="0" rtlCol="0" anchor="t"/>
          <a:lstStyle/>
          <a:p>
            <a:pPr marL="203200" indent="-203200">
              <a:spcAft>
                <a:spcPts val="400"/>
              </a:spcAft>
              <a:buSzPct val="100000"/>
              <a:buChar char="■"/>
            </a:pPr>
            <a:r>
              <a:rPr lang="en-US" sz="1350" dirty="0">
                <a:solidFill>
                  <a:srgbClr val="1E2329"/>
                </a:solidFill>
              </a:rPr>
              <a:t>UGLE’s online learning hub: accurate, approved material for every stage of your journey</a:t>
            </a:r>
            <a:endParaRPr lang="en-US" sz="1350" dirty="0"/>
          </a:p>
          <a:p>
            <a:pPr marL="203200" indent="-203200">
              <a:spcAft>
                <a:spcPts val="400"/>
              </a:spcAft>
              <a:buSzPct val="100000"/>
              <a:buChar char="■"/>
            </a:pPr>
            <a:r>
              <a:rPr lang="en-US" sz="1350" dirty="0">
                <a:solidFill>
                  <a:srgbClr val="1E2329"/>
                </a:solidFill>
              </a:rPr>
              <a:t>Papers, Nuggets, presentations, quizzes and the Welcome modules</a:t>
            </a:r>
            <a:endParaRPr lang="en-US" sz="1350" dirty="0"/>
          </a:p>
          <a:p>
            <a:pPr marL="203200" indent="-203200">
              <a:spcAft>
                <a:spcPts val="400"/>
              </a:spcAft>
              <a:buSzPct val="100000"/>
              <a:buChar char="■"/>
            </a:pPr>
            <a:r>
              <a:rPr lang="en-US" sz="1350" dirty="0">
                <a:solidFill>
                  <a:srgbClr val="1E2329"/>
                </a:solidFill>
              </a:rPr>
              <a:t>Free, and open to every member of a UGLE Lodge</a:t>
            </a:r>
            <a:endParaRPr lang="en-US" sz="1350" dirty="0"/>
          </a:p>
          <a:p>
            <a:pPr marL="203200" indent="-203200">
              <a:spcAft>
                <a:spcPts val="400"/>
              </a:spcAft>
              <a:buSzPct val="100000"/>
              <a:buChar char="■"/>
            </a:pPr>
            <a:r>
              <a:rPr lang="en-US" sz="1350" dirty="0">
                <a:solidFill>
                  <a:srgbClr val="1E2329"/>
                </a:solidFill>
              </a:rPr>
              <a:t>The place to send yourself for an answer you can trust, rather than the internet</a:t>
            </a:r>
            <a:endParaRPr lang="en-US" sz="1350" dirty="0"/>
          </a:p>
        </p:txBody>
      </p:sp>
      <p:sp>
        <p:nvSpPr>
          <p:cNvPr id="7" name="Card Getting started tonight"/>
          <p:cNvSpPr/>
          <p:nvPr/>
        </p:nvSpPr>
        <p:spPr>
          <a:xfrm>
            <a:off x="6172200" y="1280160"/>
            <a:ext cx="5486400" cy="2286000"/>
          </a:xfrm>
          <a:prstGeom prst="roundRect">
            <a:avLst>
              <a:gd name="adj" fmla="val 3200"/>
            </a:avLst>
          </a:prstGeom>
          <a:solidFill>
            <a:srgbClr val="F2F7FC"/>
          </a:solidFill>
          <a:ln w="12700">
            <a:solidFill>
              <a:srgbClr val="F2F7FC"/>
            </a:solidFill>
            <a:prstDash val="solid"/>
          </a:ln>
        </p:spPr>
      </p:sp>
      <p:pic>
        <p:nvPicPr>
          <p:cNvPr id="8" name="Image 1" descr="preencoded.png">    </p:cNvPr>
          <p:cNvPicPr>
            <a:picLocks noChangeAspect="1"/>
          </p:cNvPicPr>
          <p:nvPr/>
        </p:nvPicPr>
        <p:blipFill>
          <a:blip r:embed="rId2"/>
          <a:stretch>
            <a:fillRect/>
          </a:stretch>
        </p:blipFill>
        <p:spPr>
          <a:xfrm>
            <a:off x="6373368" y="1463040"/>
            <a:ext cx="384048" cy="384048"/>
          </a:xfrm>
          <a:prstGeom prst="rect">
            <a:avLst/>
          </a:prstGeom>
        </p:spPr>
      </p:pic>
      <p:sp>
        <p:nvSpPr>
          <p:cNvPr id="9" name="Text 5"/>
          <p:cNvSpPr txBox="1"/>
          <p:nvPr/>
        </p:nvSpPr>
        <p:spPr>
          <a:xfrm>
            <a:off x="6885432" y="1444752"/>
            <a:ext cx="4572000" cy="411480"/>
          </a:xfrm>
          <a:prstGeom prst="rect">
            <a:avLst/>
          </a:prstGeom>
          <a:noFill/>
          <a:ln/>
        </p:spPr>
        <p:txBody>
          <a:bodyPr wrap="square" lIns="0" tIns="0" rIns="0" bIns="0" rtlCol="0" anchor="ctr"/>
          <a:lstStyle/>
          <a:p>
            <a:pPr indent="0" marL="0">
              <a:buNone/>
            </a:pPr>
            <a:r>
              <a:rPr lang="en-US" sz="1600" b="1" dirty="0">
                <a:solidFill>
                  <a:srgbClr val="003668"/>
                </a:solidFill>
              </a:rPr>
              <a:t>Getting started tonight</a:t>
            </a:r>
            <a:endParaRPr lang="en-US" sz="1600" dirty="0"/>
          </a:p>
        </p:txBody>
      </p:sp>
      <p:sp>
        <p:nvSpPr>
          <p:cNvPr id="10" name="Text 6"/>
          <p:cNvSpPr txBox="1"/>
          <p:nvPr/>
        </p:nvSpPr>
        <p:spPr>
          <a:xfrm>
            <a:off x="6400800" y="1901952"/>
            <a:ext cx="5029200" cy="1554480"/>
          </a:xfrm>
          <a:prstGeom prst="rect">
            <a:avLst/>
          </a:prstGeom>
          <a:noFill/>
          <a:ln/>
        </p:spPr>
        <p:txBody>
          <a:bodyPr wrap="square" lIns="0" tIns="0" rIns="0" bIns="0" rtlCol="0" anchor="t"/>
          <a:lstStyle/>
          <a:p>
            <a:pPr marL="203200" indent="-203200">
              <a:spcAft>
                <a:spcPts val="400"/>
              </a:spcAft>
              <a:buSzPct val="100000"/>
              <a:buChar char="■"/>
            </a:pPr>
            <a:r>
              <a:rPr lang="en-US" sz="1350" dirty="0">
                <a:solidFill>
                  <a:srgbClr val="1E2329"/>
                </a:solidFill>
              </a:rPr>
              <a:t>Go to solomon.ugle.org.uk on your phone</a:t>
            </a:r>
            <a:endParaRPr lang="en-US" sz="1350" dirty="0"/>
          </a:p>
          <a:p>
            <a:pPr marL="203200" indent="-203200">
              <a:spcAft>
                <a:spcPts val="400"/>
              </a:spcAft>
              <a:buSzPct val="100000"/>
              <a:buChar char="■"/>
            </a:pPr>
            <a:r>
              <a:rPr lang="en-US" sz="1350" dirty="0">
                <a:solidFill>
                  <a:srgbClr val="1E2329"/>
                </a:solidFill>
              </a:rPr>
              <a:t>Create a login with your name, Lodge name and number</a:t>
            </a:r>
            <a:endParaRPr lang="en-US" sz="1350" dirty="0"/>
          </a:p>
          <a:p>
            <a:pPr marL="203200" indent="-203200">
              <a:spcAft>
                <a:spcPts val="400"/>
              </a:spcAft>
              <a:buSzPct val="100000"/>
              <a:buChar char="■"/>
            </a:pPr>
            <a:r>
              <a:rPr lang="en-US" sz="1350" dirty="0">
                <a:solidFill>
                  <a:srgbClr val="1E2329"/>
                </a:solidFill>
              </a:rPr>
              <a:t>Search “Getting Started with Solomon”, then “Welcome Apprentice”</a:t>
            </a:r>
            <a:endParaRPr lang="en-US" sz="1350" dirty="0"/>
          </a:p>
          <a:p>
            <a:pPr marL="203200" indent="-203200">
              <a:spcAft>
                <a:spcPts val="400"/>
              </a:spcAft>
              <a:buSzPct val="100000"/>
              <a:buChar char="■"/>
            </a:pPr>
            <a:r>
              <a:rPr lang="en-US" sz="1350" dirty="0">
                <a:solidFill>
                  <a:srgbClr val="1E2329"/>
                </a:solidFill>
              </a:rPr>
              <a:t>Follow @SolomonUGLE for a daily piece</a:t>
            </a:r>
            <a:endParaRPr lang="en-US" sz="1350" dirty="0"/>
          </a:p>
        </p:txBody>
      </p:sp>
      <p:sp>
        <p:nvSpPr>
          <p:cNvPr id="11" name="Card Use it for the evenings you cannot attend"/>
          <p:cNvSpPr/>
          <p:nvPr/>
        </p:nvSpPr>
        <p:spPr>
          <a:xfrm>
            <a:off x="548640" y="3703320"/>
            <a:ext cx="11109960" cy="2148840"/>
          </a:xfrm>
          <a:prstGeom prst="roundRect">
            <a:avLst>
              <a:gd name="adj" fmla="val 3404"/>
            </a:avLst>
          </a:prstGeom>
          <a:solidFill>
            <a:srgbClr val="E6F2F2"/>
          </a:solidFill>
          <a:ln w="12700">
            <a:solidFill>
              <a:srgbClr val="E6F2F2"/>
            </a:solidFill>
            <a:prstDash val="solid"/>
          </a:ln>
        </p:spPr>
      </p:sp>
      <p:sp>
        <p:nvSpPr>
          <p:cNvPr id="12" name="Text 8"/>
          <p:cNvSpPr txBox="1"/>
          <p:nvPr/>
        </p:nvSpPr>
        <p:spPr>
          <a:xfrm>
            <a:off x="777240" y="3867912"/>
            <a:ext cx="10652760" cy="411480"/>
          </a:xfrm>
          <a:prstGeom prst="rect">
            <a:avLst/>
          </a:prstGeom>
          <a:noFill/>
          <a:ln/>
        </p:spPr>
        <p:txBody>
          <a:bodyPr wrap="square" lIns="0" tIns="0" rIns="0" bIns="0" rtlCol="0" anchor="ctr"/>
          <a:lstStyle/>
          <a:p>
            <a:pPr indent="0" marL="0">
              <a:buNone/>
            </a:pPr>
            <a:r>
              <a:rPr lang="en-US" sz="1600" b="1" dirty="0">
                <a:solidFill>
                  <a:srgbClr val="003668"/>
                </a:solidFill>
              </a:rPr>
              <a:t>Use it for the evenings you cannot attend</a:t>
            </a:r>
            <a:endParaRPr lang="en-US" sz="1600" dirty="0"/>
          </a:p>
        </p:txBody>
      </p:sp>
      <p:sp>
        <p:nvSpPr>
          <p:cNvPr id="13" name="Text 9"/>
          <p:cNvSpPr txBox="1"/>
          <p:nvPr/>
        </p:nvSpPr>
        <p:spPr>
          <a:xfrm>
            <a:off x="777240" y="4325112"/>
            <a:ext cx="10652760" cy="1417320"/>
          </a:xfrm>
          <a:prstGeom prst="rect">
            <a:avLst/>
          </a:prstGeom>
          <a:noFill/>
          <a:ln/>
        </p:spPr>
        <p:txBody>
          <a:bodyPr wrap="square" lIns="0" tIns="0" rIns="0" bIns="0" rtlCol="0" anchor="t"/>
          <a:lstStyle/>
          <a:p>
            <a:pPr indent="0" marL="0">
              <a:buNone/>
            </a:pPr>
            <a:r>
              <a:rPr lang="en-US" sz="1400" dirty="0">
                <a:solidFill>
                  <a:srgbClr val="1E2329"/>
                </a:solidFill>
              </a:rPr>
              <a:t>When your Lodge works in a higher degree you cannot be in the room. That evening is not dead time: meet your mentor, open Solomon, and use it to explore the history, the symbolism of your own degree, or whatever you are curious about. Solomon sits alongside face-to-face conversation; it never replaces it.</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Solomon Academy and the Diploma</a:t>
            </a:r>
            <a:endParaRPr lang="en-US" sz="3200" dirty="0"/>
          </a:p>
        </p:txBody>
      </p:sp>
      <p:sp>
        <p:nvSpPr>
          <p:cNvPr id="3" name="Module Welcome Apprentice"/>
          <p:cNvSpPr/>
          <p:nvPr/>
        </p:nvSpPr>
        <p:spPr>
          <a:xfrm>
            <a:off x="548640" y="1280160"/>
            <a:ext cx="2651760" cy="1188720"/>
          </a:xfrm>
          <a:prstGeom prst="roundRect">
            <a:avLst>
              <a:gd name="adj" fmla="val 6154"/>
            </a:avLst>
          </a:prstGeom>
          <a:solidFill>
            <a:srgbClr val="003668"/>
          </a:solidFill>
          <a:ln w="12700">
            <a:solidFill>
              <a:srgbClr val="003668"/>
            </a:solidFill>
            <a:prstDash val="solid"/>
          </a:ln>
        </p:spPr>
      </p:sp>
      <p:sp>
        <p:nvSpPr>
          <p:cNvPr id="4" name="Text 2"/>
          <p:cNvSpPr txBox="1"/>
          <p:nvPr/>
        </p:nvSpPr>
        <p:spPr>
          <a:xfrm>
            <a:off x="731520" y="1280160"/>
            <a:ext cx="2377440" cy="1188720"/>
          </a:xfrm>
          <a:prstGeom prst="rect">
            <a:avLst/>
          </a:prstGeom>
          <a:noFill/>
          <a:ln/>
        </p:spPr>
        <p:txBody>
          <a:bodyPr wrap="square" lIns="0" tIns="0" rIns="0" bIns="0" rtlCol="0" anchor="ctr"/>
          <a:lstStyle/>
          <a:p>
            <a:pPr indent="0" marL="0">
              <a:buNone/>
            </a:pPr>
            <a:r>
              <a:rPr lang="en-US" sz="1100" b="1" dirty="0">
                <a:solidFill>
                  <a:srgbClr val="8FD3D1"/>
                </a:solidFill>
              </a:rPr>
              <a:t>Module 1
</a:t>
            </a:r>
            <a:pPr indent="0" marL="0">
              <a:buNone/>
            </a:pPr>
            <a:r>
              <a:rPr lang="en-US" sz="1600" b="1" dirty="0">
                <a:solidFill>
                  <a:srgbClr val="FFFFFF"/>
                </a:solidFill>
              </a:rPr>
              <a:t>Welcome Apprentice</a:t>
            </a:r>
            <a:endParaRPr lang="en-US" sz="1100" dirty="0"/>
          </a:p>
        </p:txBody>
      </p:sp>
      <p:sp>
        <p:nvSpPr>
          <p:cNvPr id="5" name="Module Welcome Fellow Craft"/>
          <p:cNvSpPr/>
          <p:nvPr/>
        </p:nvSpPr>
        <p:spPr>
          <a:xfrm>
            <a:off x="3383280" y="1280160"/>
            <a:ext cx="2651760" cy="1188720"/>
          </a:xfrm>
          <a:prstGeom prst="roundRect">
            <a:avLst>
              <a:gd name="adj" fmla="val 6154"/>
            </a:avLst>
          </a:prstGeom>
          <a:solidFill>
            <a:srgbClr val="0A4F72"/>
          </a:solidFill>
          <a:ln w="12700">
            <a:solidFill>
              <a:srgbClr val="0A4F72"/>
            </a:solidFill>
            <a:prstDash val="solid"/>
          </a:ln>
        </p:spPr>
      </p:sp>
      <p:sp>
        <p:nvSpPr>
          <p:cNvPr id="6" name="Text 4"/>
          <p:cNvSpPr txBox="1"/>
          <p:nvPr/>
        </p:nvSpPr>
        <p:spPr>
          <a:xfrm>
            <a:off x="3566160" y="1280160"/>
            <a:ext cx="2377440" cy="1188720"/>
          </a:xfrm>
          <a:prstGeom prst="rect">
            <a:avLst/>
          </a:prstGeom>
          <a:noFill/>
          <a:ln/>
        </p:spPr>
        <p:txBody>
          <a:bodyPr wrap="square" lIns="0" tIns="0" rIns="0" bIns="0" rtlCol="0" anchor="ctr"/>
          <a:lstStyle/>
          <a:p>
            <a:pPr indent="0" marL="0">
              <a:buNone/>
            </a:pPr>
            <a:r>
              <a:rPr lang="en-US" sz="1100" b="1" dirty="0">
                <a:solidFill>
                  <a:srgbClr val="8FD3D1"/>
                </a:solidFill>
              </a:rPr>
              <a:t>Module 2
</a:t>
            </a:r>
            <a:pPr indent="0" marL="0">
              <a:buNone/>
            </a:pPr>
            <a:r>
              <a:rPr lang="en-US" sz="1600" b="1" dirty="0">
                <a:solidFill>
                  <a:srgbClr val="FFFFFF"/>
                </a:solidFill>
              </a:rPr>
              <a:t>Welcome Fellow Craft</a:t>
            </a:r>
            <a:endParaRPr lang="en-US" sz="1100" dirty="0"/>
          </a:p>
        </p:txBody>
      </p:sp>
      <p:sp>
        <p:nvSpPr>
          <p:cNvPr id="7" name="Module Welcome Master Mason"/>
          <p:cNvSpPr/>
          <p:nvPr/>
        </p:nvSpPr>
        <p:spPr>
          <a:xfrm>
            <a:off x="6217920" y="1280160"/>
            <a:ext cx="2651760" cy="1188720"/>
          </a:xfrm>
          <a:prstGeom prst="roundRect">
            <a:avLst>
              <a:gd name="adj" fmla="val 6154"/>
            </a:avLst>
          </a:prstGeom>
          <a:solidFill>
            <a:srgbClr val="106576"/>
          </a:solidFill>
          <a:ln w="12700">
            <a:solidFill>
              <a:srgbClr val="106576"/>
            </a:solidFill>
            <a:prstDash val="solid"/>
          </a:ln>
        </p:spPr>
      </p:sp>
      <p:sp>
        <p:nvSpPr>
          <p:cNvPr id="8" name="Text 6"/>
          <p:cNvSpPr txBox="1"/>
          <p:nvPr/>
        </p:nvSpPr>
        <p:spPr>
          <a:xfrm>
            <a:off x="6400800" y="1280160"/>
            <a:ext cx="2377440" cy="1188720"/>
          </a:xfrm>
          <a:prstGeom prst="rect">
            <a:avLst/>
          </a:prstGeom>
          <a:noFill/>
          <a:ln/>
        </p:spPr>
        <p:txBody>
          <a:bodyPr wrap="square" lIns="0" tIns="0" rIns="0" bIns="0" rtlCol="0" anchor="ctr"/>
          <a:lstStyle/>
          <a:p>
            <a:pPr indent="0" marL="0">
              <a:buNone/>
            </a:pPr>
            <a:r>
              <a:rPr lang="en-US" sz="1100" b="1" dirty="0">
                <a:solidFill>
                  <a:srgbClr val="8FD3D1"/>
                </a:solidFill>
              </a:rPr>
              <a:t>Module 3
</a:t>
            </a:r>
            <a:pPr indent="0" marL="0">
              <a:buNone/>
            </a:pPr>
            <a:r>
              <a:rPr lang="en-US" sz="1600" b="1" dirty="0">
                <a:solidFill>
                  <a:srgbClr val="FFFFFF"/>
                </a:solidFill>
              </a:rPr>
              <a:t>Welcome Master Mason</a:t>
            </a:r>
            <a:endParaRPr lang="en-US" sz="1100" dirty="0"/>
          </a:p>
        </p:txBody>
      </p:sp>
      <p:sp>
        <p:nvSpPr>
          <p:cNvPr id="9" name="Module Welcome Companion"/>
          <p:cNvSpPr/>
          <p:nvPr/>
        </p:nvSpPr>
        <p:spPr>
          <a:xfrm>
            <a:off x="9052560" y="1280160"/>
            <a:ext cx="2651760" cy="1188720"/>
          </a:xfrm>
          <a:prstGeom prst="roundRect">
            <a:avLst>
              <a:gd name="adj" fmla="val 6154"/>
            </a:avLst>
          </a:prstGeom>
          <a:solidFill>
            <a:srgbClr val="157A7C"/>
          </a:solidFill>
          <a:ln w="12700">
            <a:solidFill>
              <a:srgbClr val="157A7C"/>
            </a:solidFill>
            <a:prstDash val="solid"/>
          </a:ln>
        </p:spPr>
      </p:sp>
      <p:sp>
        <p:nvSpPr>
          <p:cNvPr id="10" name="Text 8"/>
          <p:cNvSpPr txBox="1"/>
          <p:nvPr/>
        </p:nvSpPr>
        <p:spPr>
          <a:xfrm>
            <a:off x="9235440" y="1280160"/>
            <a:ext cx="2377440" cy="1188720"/>
          </a:xfrm>
          <a:prstGeom prst="rect">
            <a:avLst/>
          </a:prstGeom>
          <a:noFill/>
          <a:ln/>
        </p:spPr>
        <p:txBody>
          <a:bodyPr wrap="square" lIns="0" tIns="0" rIns="0" bIns="0" rtlCol="0" anchor="ctr"/>
          <a:lstStyle/>
          <a:p>
            <a:pPr indent="0" marL="0">
              <a:buNone/>
            </a:pPr>
            <a:r>
              <a:rPr lang="en-US" sz="1100" b="1" dirty="0">
                <a:solidFill>
                  <a:srgbClr val="8FD3D1"/>
                </a:solidFill>
              </a:rPr>
              <a:t>Module 4
</a:t>
            </a:r>
            <a:pPr indent="0" marL="0">
              <a:buNone/>
            </a:pPr>
            <a:r>
              <a:rPr lang="en-US" sz="1600" b="1" dirty="0">
                <a:solidFill>
                  <a:srgbClr val="FFFFFF"/>
                </a:solidFill>
              </a:rPr>
              <a:t>Welcome Companion</a:t>
            </a:r>
            <a:endParaRPr lang="en-US" sz="1100" dirty="0"/>
          </a:p>
        </p:txBody>
      </p:sp>
      <p:sp>
        <p:nvSpPr>
          <p:cNvPr id="11" name="Card How it works"/>
          <p:cNvSpPr/>
          <p:nvPr/>
        </p:nvSpPr>
        <p:spPr>
          <a:xfrm>
            <a:off x="548640" y="2697480"/>
            <a:ext cx="5486400" cy="3154680"/>
          </a:xfrm>
          <a:prstGeom prst="roundRect">
            <a:avLst>
              <a:gd name="adj" fmla="val 2319"/>
            </a:avLst>
          </a:prstGeom>
          <a:solidFill>
            <a:srgbClr val="F2F7FC"/>
          </a:solidFill>
          <a:ln w="12700">
            <a:solidFill>
              <a:srgbClr val="F2F7FC"/>
            </a:solidFill>
            <a:prstDash val="solid"/>
          </a:ln>
        </p:spPr>
      </p:sp>
      <p:pic>
        <p:nvPicPr>
          <p:cNvPr id="12" name="Image 0" descr="preencoded.png">    </p:cNvPr>
          <p:cNvPicPr>
            <a:picLocks noChangeAspect="1"/>
          </p:cNvPicPr>
          <p:nvPr/>
        </p:nvPicPr>
        <p:blipFill>
          <a:blip r:embed="rId1"/>
          <a:stretch>
            <a:fillRect/>
          </a:stretch>
        </p:blipFill>
        <p:spPr>
          <a:xfrm>
            <a:off x="749808" y="2880360"/>
            <a:ext cx="384048" cy="384048"/>
          </a:xfrm>
          <a:prstGeom prst="rect">
            <a:avLst/>
          </a:prstGeom>
        </p:spPr>
      </p:pic>
      <p:sp>
        <p:nvSpPr>
          <p:cNvPr id="13" name="Text 10"/>
          <p:cNvSpPr txBox="1"/>
          <p:nvPr/>
        </p:nvSpPr>
        <p:spPr>
          <a:xfrm>
            <a:off x="1261872" y="2862072"/>
            <a:ext cx="4572000" cy="411480"/>
          </a:xfrm>
          <a:prstGeom prst="rect">
            <a:avLst/>
          </a:prstGeom>
          <a:noFill/>
          <a:ln/>
        </p:spPr>
        <p:txBody>
          <a:bodyPr wrap="square" lIns="0" tIns="0" rIns="0" bIns="0" rtlCol="0" anchor="ctr"/>
          <a:lstStyle/>
          <a:p>
            <a:pPr indent="0" marL="0">
              <a:buNone/>
            </a:pPr>
            <a:r>
              <a:rPr lang="en-US" sz="1600" b="1" dirty="0">
                <a:solidFill>
                  <a:srgbClr val="003668"/>
                </a:solidFill>
              </a:rPr>
              <a:t>How it works</a:t>
            </a:r>
            <a:endParaRPr lang="en-US" sz="1600" dirty="0"/>
          </a:p>
        </p:txBody>
      </p:sp>
      <p:sp>
        <p:nvSpPr>
          <p:cNvPr id="14" name="Text 11"/>
          <p:cNvSpPr txBox="1"/>
          <p:nvPr/>
        </p:nvSpPr>
        <p:spPr>
          <a:xfrm>
            <a:off x="777240" y="3319272"/>
            <a:ext cx="5029200" cy="2423160"/>
          </a:xfrm>
          <a:prstGeom prst="rect">
            <a:avLst/>
          </a:prstGeom>
          <a:noFill/>
          <a:ln/>
        </p:spPr>
        <p:txBody>
          <a:bodyPr wrap="square" lIns="0" tIns="0" rIns="0" bIns="0" rtlCol="0" anchor="t"/>
          <a:lstStyle/>
          <a:p>
            <a:pPr marL="203200" indent="-203200">
              <a:spcAft>
                <a:spcPts val="400"/>
              </a:spcAft>
              <a:buSzPct val="100000"/>
              <a:buChar char="■"/>
            </a:pPr>
            <a:r>
              <a:rPr lang="en-US" sz="1350" dirty="0">
                <a:solidFill>
                  <a:srgbClr val="1E2329"/>
                </a:solidFill>
              </a:rPr>
              <a:t>Work through a module at your own pace; badges along the way</a:t>
            </a:r>
            <a:endParaRPr lang="en-US" sz="1350" dirty="0"/>
          </a:p>
          <a:p>
            <a:pPr marL="203200" indent="-203200">
              <a:spcAft>
                <a:spcPts val="400"/>
              </a:spcAft>
              <a:buSzPct val="100000"/>
              <a:buChar char="■"/>
            </a:pPr>
            <a:r>
              <a:rPr lang="en-US" sz="1350" dirty="0">
                <a:solidFill>
                  <a:srgbClr val="1E2329"/>
                </a:solidFill>
              </a:rPr>
              <a:t>A quiz at the end, based only on the module. Score 100% for a certificate; retake as often as you like</a:t>
            </a:r>
            <a:endParaRPr lang="en-US" sz="1350" dirty="0"/>
          </a:p>
          <a:p>
            <a:pPr marL="203200" indent="-203200">
              <a:spcAft>
                <a:spcPts val="400"/>
              </a:spcAft>
              <a:buSzPct val="100000"/>
              <a:buChar char="■"/>
            </a:pPr>
            <a:r>
              <a:rPr lang="en-US" sz="1350" dirty="0">
                <a:solidFill>
                  <a:srgbClr val="1E2329"/>
                </a:solidFill>
              </a:rPr>
              <a:t>A4 certificate signed by the Chair of UGLE’s Learning and Development Board</a:t>
            </a:r>
            <a:endParaRPr lang="en-US" sz="1350" dirty="0"/>
          </a:p>
          <a:p>
            <a:pPr marL="203200" indent="-203200">
              <a:spcAft>
                <a:spcPts val="400"/>
              </a:spcAft>
              <a:buSzPct val="100000"/>
              <a:buChar char="■"/>
            </a:pPr>
            <a:r>
              <a:rPr lang="en-US" sz="1350" dirty="0">
                <a:solidFill>
                  <a:srgbClr val="1E2329"/>
                </a:solidFill>
              </a:rPr>
              <a:t>All four certificates earn the Solomon Academy Diploma, signed by the Assistant Grand Master and the Third Grand Principal</a:t>
            </a:r>
            <a:endParaRPr lang="en-US" sz="1350" dirty="0"/>
          </a:p>
        </p:txBody>
      </p:sp>
      <p:sp>
        <p:nvSpPr>
          <p:cNvPr id="15" name="Card What Hertfordshire does with it"/>
          <p:cNvSpPr/>
          <p:nvPr/>
        </p:nvSpPr>
        <p:spPr>
          <a:xfrm>
            <a:off x="6172200" y="2697480"/>
            <a:ext cx="5486400" cy="3154680"/>
          </a:xfrm>
          <a:prstGeom prst="roundRect">
            <a:avLst>
              <a:gd name="adj" fmla="val 2319"/>
            </a:avLst>
          </a:prstGeom>
          <a:solidFill>
            <a:srgbClr val="F2F7FC"/>
          </a:solidFill>
          <a:ln w="12700">
            <a:solidFill>
              <a:srgbClr val="F2F7FC"/>
            </a:solidFill>
            <a:prstDash val="solid"/>
          </a:ln>
        </p:spPr>
      </p:sp>
      <p:pic>
        <p:nvPicPr>
          <p:cNvPr id="16" name="Image 1" descr="preencoded.png">    </p:cNvPr>
          <p:cNvPicPr>
            <a:picLocks noChangeAspect="1"/>
          </p:cNvPicPr>
          <p:nvPr/>
        </p:nvPicPr>
        <p:blipFill>
          <a:blip r:embed="rId2"/>
          <a:stretch>
            <a:fillRect/>
          </a:stretch>
        </p:blipFill>
        <p:spPr>
          <a:xfrm>
            <a:off x="6373368" y="2880360"/>
            <a:ext cx="384048" cy="384048"/>
          </a:xfrm>
          <a:prstGeom prst="rect">
            <a:avLst/>
          </a:prstGeom>
        </p:spPr>
      </p:pic>
      <p:sp>
        <p:nvSpPr>
          <p:cNvPr id="17" name="Text 13"/>
          <p:cNvSpPr txBox="1"/>
          <p:nvPr/>
        </p:nvSpPr>
        <p:spPr>
          <a:xfrm>
            <a:off x="6885432" y="2862072"/>
            <a:ext cx="4572000" cy="411480"/>
          </a:xfrm>
          <a:prstGeom prst="rect">
            <a:avLst/>
          </a:prstGeom>
          <a:noFill/>
          <a:ln/>
        </p:spPr>
        <p:txBody>
          <a:bodyPr wrap="square" lIns="0" tIns="0" rIns="0" bIns="0" rtlCol="0" anchor="ctr"/>
          <a:lstStyle/>
          <a:p>
            <a:pPr indent="0" marL="0">
              <a:buNone/>
            </a:pPr>
            <a:r>
              <a:rPr lang="en-US" sz="1600" b="1" dirty="0">
                <a:solidFill>
                  <a:srgbClr val="003668"/>
                </a:solidFill>
              </a:rPr>
              <a:t>What Hertfordshire does with it</a:t>
            </a:r>
            <a:endParaRPr lang="en-US" sz="1600" dirty="0"/>
          </a:p>
        </p:txBody>
      </p:sp>
      <p:sp>
        <p:nvSpPr>
          <p:cNvPr id="18" name="Text 14"/>
          <p:cNvSpPr txBox="1"/>
          <p:nvPr/>
        </p:nvSpPr>
        <p:spPr>
          <a:xfrm>
            <a:off x="6400800" y="3319272"/>
            <a:ext cx="5029200" cy="2423160"/>
          </a:xfrm>
          <a:prstGeom prst="rect">
            <a:avLst/>
          </a:prstGeom>
          <a:noFill/>
          <a:ln/>
        </p:spPr>
        <p:txBody>
          <a:bodyPr wrap="square" lIns="0" tIns="0" rIns="0" bIns="0" rtlCol="0" anchor="t"/>
          <a:lstStyle/>
          <a:p>
            <a:pPr marL="203200" indent="-203200">
              <a:spcAft>
                <a:spcPts val="400"/>
              </a:spcAft>
              <a:buSzPct val="100000"/>
              <a:buChar char="■"/>
            </a:pPr>
            <a:r>
              <a:rPr lang="en-US" sz="1350" dirty="0">
                <a:solidFill>
                  <a:srgbClr val="1E2329"/>
                </a:solidFill>
              </a:rPr>
              <a:t>Solomon does not tell the Province when you pass. You do</a:t>
            </a:r>
            <a:endParaRPr lang="en-US" sz="1350" dirty="0"/>
          </a:p>
          <a:p>
            <a:pPr marL="203200" indent="-203200">
              <a:spcAft>
                <a:spcPts val="400"/>
              </a:spcAft>
              <a:buSzPct val="100000"/>
              <a:buChar char="■"/>
            </a:pPr>
            <a:r>
              <a:rPr lang="en-US" sz="1350" dirty="0">
                <a:solidFill>
                  <a:srgbClr val="1E2329"/>
                </a:solidFill>
              </a:rPr>
              <a:t>Send your certificate, with your Lodge name and number, to mentor@hertfordshirefreemasons.org.uk</a:t>
            </a:r>
            <a:endParaRPr lang="en-US" sz="1350" dirty="0"/>
          </a:p>
          <a:p>
            <a:pPr marL="203200" indent="-203200">
              <a:spcAft>
                <a:spcPts val="400"/>
              </a:spcAft>
              <a:buSzPct val="100000"/>
              <a:buChar char="■"/>
            </a:pPr>
            <a:r>
              <a:rPr lang="en-US" sz="1350" dirty="0">
                <a:solidFill>
                  <a:srgbClr val="1E2329"/>
                </a:solidFill>
              </a:rPr>
              <a:t>The Mentoring Team arranges for it to be presented to you in your Lodge, with the Academy tie pin</a:t>
            </a:r>
            <a:endParaRPr lang="en-US" sz="1350" dirty="0"/>
          </a:p>
          <a:p>
            <a:pPr marL="203200" indent="-203200">
              <a:spcAft>
                <a:spcPts val="400"/>
              </a:spcAft>
              <a:buSzPct val="100000"/>
              <a:buChar char="■"/>
            </a:pPr>
            <a:r>
              <a:rPr lang="en-US" sz="1350" dirty="0">
                <a:solidFill>
                  <a:srgbClr val="1E2329"/>
                </a:solidFill>
              </a:rPr>
              <a:t>Do Welcome Companion when the time is right for you, not before; the Diploma waits</a:t>
            </a:r>
            <a:endParaRPr lang="en-US" sz="13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The Lodge of Instruction</a:t>
            </a:r>
            <a:endParaRPr lang="en-US" sz="3200" dirty="0"/>
          </a:p>
        </p:txBody>
      </p:sp>
      <p:sp>
        <p:nvSpPr>
          <p:cNvPr id="3" name="FAQ What is it?"/>
          <p:cNvSpPr/>
          <p:nvPr/>
        </p:nvSpPr>
        <p:spPr>
          <a:xfrm>
            <a:off x="548640" y="1280160"/>
            <a:ext cx="5486400" cy="2103120"/>
          </a:xfrm>
          <a:prstGeom prst="roundRect">
            <a:avLst>
              <a:gd name="adj" fmla="val 3478"/>
            </a:avLst>
          </a:prstGeom>
          <a:solidFill>
            <a:srgbClr val="F2F7FC"/>
          </a:solidFill>
          <a:ln w="12700">
            <a:solidFill>
              <a:srgbClr val="F2F7FC"/>
            </a:solidFill>
            <a:prstDash val="solid"/>
          </a:ln>
        </p:spPr>
      </p:sp>
      <p:sp>
        <p:nvSpPr>
          <p:cNvPr id="4" name="Text 2"/>
          <p:cNvSpPr txBox="1"/>
          <p:nvPr/>
        </p:nvSpPr>
        <p:spPr>
          <a:xfrm>
            <a:off x="777240" y="1417320"/>
            <a:ext cx="5029200" cy="457200"/>
          </a:xfrm>
          <a:prstGeom prst="rect">
            <a:avLst/>
          </a:prstGeom>
          <a:noFill/>
          <a:ln/>
        </p:spPr>
        <p:txBody>
          <a:bodyPr wrap="square" lIns="0" tIns="0" rIns="0" bIns="0" rtlCol="0" anchor="t"/>
          <a:lstStyle/>
          <a:p>
            <a:pPr indent="0" marL="0">
              <a:buNone/>
            </a:pPr>
            <a:r>
              <a:rPr lang="en-US" sz="1500" b="1" dirty="0">
                <a:solidFill>
                  <a:srgbClr val="003668"/>
                </a:solidFill>
              </a:rPr>
              <a:t>What is it?</a:t>
            </a:r>
            <a:endParaRPr lang="en-US" sz="1500" dirty="0"/>
          </a:p>
        </p:txBody>
      </p:sp>
      <p:sp>
        <p:nvSpPr>
          <p:cNvPr id="5" name="Text 3"/>
          <p:cNvSpPr txBox="1"/>
          <p:nvPr/>
        </p:nvSpPr>
        <p:spPr>
          <a:xfrm>
            <a:off x="777240" y="1847088"/>
            <a:ext cx="5029200" cy="1417320"/>
          </a:xfrm>
          <a:prstGeom prst="rect">
            <a:avLst/>
          </a:prstGeom>
          <a:noFill/>
          <a:ln/>
        </p:spPr>
        <p:txBody>
          <a:bodyPr wrap="square" lIns="0" tIns="0" rIns="0" bIns="0" rtlCol="0" anchor="t"/>
          <a:lstStyle/>
          <a:p>
            <a:pPr indent="0" marL="0">
              <a:buNone/>
            </a:pPr>
            <a:r>
              <a:rPr lang="en-US" sz="1350" dirty="0">
                <a:solidFill>
                  <a:srgbClr val="1E2329"/>
                </a:solidFill>
              </a:rPr>
              <a:t>A rehearsal for the next meeting, run by the Preceptor. The lines and the movements are walked through so everyone knows what to do on the night. Informal; shirt and tie usually not required. Royal Arch Chapters have the same thing, a Chapter of Instruction.</a:t>
            </a:r>
            <a:endParaRPr lang="en-US" sz="1350" dirty="0"/>
          </a:p>
        </p:txBody>
      </p:sp>
      <p:sp>
        <p:nvSpPr>
          <p:cNvPr id="6" name="FAQ Should I go if I hav"/>
          <p:cNvSpPr/>
          <p:nvPr/>
        </p:nvSpPr>
        <p:spPr>
          <a:xfrm>
            <a:off x="6172200" y="1280160"/>
            <a:ext cx="5486400" cy="2103120"/>
          </a:xfrm>
          <a:prstGeom prst="roundRect">
            <a:avLst>
              <a:gd name="adj" fmla="val 3478"/>
            </a:avLst>
          </a:prstGeom>
          <a:solidFill>
            <a:srgbClr val="F2F7FC"/>
          </a:solidFill>
          <a:ln w="12700">
            <a:solidFill>
              <a:srgbClr val="F2F7FC"/>
            </a:solidFill>
            <a:prstDash val="solid"/>
          </a:ln>
        </p:spPr>
      </p:sp>
      <p:sp>
        <p:nvSpPr>
          <p:cNvPr id="7" name="Text 5"/>
          <p:cNvSpPr txBox="1"/>
          <p:nvPr/>
        </p:nvSpPr>
        <p:spPr>
          <a:xfrm>
            <a:off x="6400800" y="1417320"/>
            <a:ext cx="5029200" cy="457200"/>
          </a:xfrm>
          <a:prstGeom prst="rect">
            <a:avLst/>
          </a:prstGeom>
          <a:noFill/>
          <a:ln/>
        </p:spPr>
        <p:txBody>
          <a:bodyPr wrap="square" lIns="0" tIns="0" rIns="0" bIns="0" rtlCol="0" anchor="t"/>
          <a:lstStyle/>
          <a:p>
            <a:pPr indent="0" marL="0">
              <a:buNone/>
            </a:pPr>
            <a:r>
              <a:rPr lang="en-US" sz="1500" b="1" dirty="0">
                <a:solidFill>
                  <a:srgbClr val="0A4F72"/>
                </a:solidFill>
              </a:rPr>
              <a:t>Should I go if I have no office?</a:t>
            </a:r>
            <a:endParaRPr lang="en-US" sz="1500" dirty="0"/>
          </a:p>
        </p:txBody>
      </p:sp>
      <p:sp>
        <p:nvSpPr>
          <p:cNvPr id="8" name="Text 6"/>
          <p:cNvSpPr txBox="1"/>
          <p:nvPr/>
        </p:nvSpPr>
        <p:spPr>
          <a:xfrm>
            <a:off x="6400800" y="1847088"/>
            <a:ext cx="5029200" cy="1417320"/>
          </a:xfrm>
          <a:prstGeom prst="rect">
            <a:avLst/>
          </a:prstGeom>
          <a:noFill/>
          <a:ln/>
        </p:spPr>
        <p:txBody>
          <a:bodyPr wrap="square" lIns="0" tIns="0" rIns="0" bIns="0" rtlCol="0" anchor="t"/>
          <a:lstStyle/>
          <a:p>
            <a:pPr indent="0" marL="0">
              <a:buNone/>
            </a:pPr>
            <a:r>
              <a:rPr lang="en-US" sz="1350" dirty="0">
                <a:solidFill>
                  <a:srgbClr val="1E2329"/>
                </a:solidFill>
              </a:rPr>
              <a:t>Yes. It is the fastest way to understand what you saw on your own night, to learn the questions for your next degree, and to belong. Ask your mentor when and where it meets and go with him the first time.</a:t>
            </a:r>
            <a:endParaRPr lang="en-US" sz="1350" dirty="0"/>
          </a:p>
        </p:txBody>
      </p:sp>
      <p:sp>
        <p:nvSpPr>
          <p:cNvPr id="9" name="Card Two kinds of learning, and both are yours"/>
          <p:cNvSpPr/>
          <p:nvPr/>
        </p:nvSpPr>
        <p:spPr>
          <a:xfrm>
            <a:off x="548640" y="3520440"/>
            <a:ext cx="11109960" cy="2331720"/>
          </a:xfrm>
          <a:prstGeom prst="roundRect">
            <a:avLst>
              <a:gd name="adj" fmla="val 3137"/>
            </a:avLst>
          </a:prstGeom>
          <a:solidFill>
            <a:srgbClr val="F2F7FC"/>
          </a:solidFill>
          <a:ln w="12700">
            <a:solidFill>
              <a:srgbClr val="F2F7FC"/>
            </a:solidFill>
            <a:prstDash val="solid"/>
          </a:ln>
        </p:spPr>
      </p:sp>
      <p:pic>
        <p:nvPicPr>
          <p:cNvPr id="10" name="Image 0" descr="preencoded.png">    </p:cNvPr>
          <p:cNvPicPr>
            <a:picLocks noChangeAspect="1"/>
          </p:cNvPicPr>
          <p:nvPr/>
        </p:nvPicPr>
        <p:blipFill>
          <a:blip r:embed="rId1"/>
          <a:stretch>
            <a:fillRect/>
          </a:stretch>
        </p:blipFill>
        <p:spPr>
          <a:xfrm>
            <a:off x="749808" y="3703320"/>
            <a:ext cx="384048" cy="384048"/>
          </a:xfrm>
          <a:prstGeom prst="rect">
            <a:avLst/>
          </a:prstGeom>
        </p:spPr>
      </p:pic>
      <p:sp>
        <p:nvSpPr>
          <p:cNvPr id="11" name="Text 8"/>
          <p:cNvSpPr txBox="1"/>
          <p:nvPr/>
        </p:nvSpPr>
        <p:spPr>
          <a:xfrm>
            <a:off x="1261872" y="3685032"/>
            <a:ext cx="10195560" cy="411480"/>
          </a:xfrm>
          <a:prstGeom prst="rect">
            <a:avLst/>
          </a:prstGeom>
          <a:noFill/>
          <a:ln/>
        </p:spPr>
        <p:txBody>
          <a:bodyPr wrap="square" lIns="0" tIns="0" rIns="0" bIns="0" rtlCol="0" anchor="ctr"/>
          <a:lstStyle/>
          <a:p>
            <a:pPr indent="0" marL="0">
              <a:buNone/>
            </a:pPr>
            <a:r>
              <a:rPr lang="en-US" sz="1600" b="1" dirty="0">
                <a:solidFill>
                  <a:srgbClr val="003668"/>
                </a:solidFill>
              </a:rPr>
              <a:t>Two kinds of learning, and both are yours</a:t>
            </a:r>
            <a:endParaRPr lang="en-US" sz="1600" dirty="0"/>
          </a:p>
        </p:txBody>
      </p:sp>
      <p:sp>
        <p:nvSpPr>
          <p:cNvPr id="12" name="Text 9"/>
          <p:cNvSpPr txBox="1"/>
          <p:nvPr/>
        </p:nvSpPr>
        <p:spPr>
          <a:xfrm>
            <a:off x="777240" y="4142232"/>
            <a:ext cx="10652760" cy="1600200"/>
          </a:xfrm>
          <a:prstGeom prst="rect">
            <a:avLst/>
          </a:prstGeom>
          <a:noFill/>
          <a:ln/>
        </p:spPr>
        <p:txBody>
          <a:bodyPr wrap="square" lIns="0" tIns="0" rIns="0" bIns="0" rtlCol="0" anchor="t"/>
          <a:lstStyle/>
          <a:p>
            <a:pPr marL="203200" indent="-203200">
              <a:spcAft>
                <a:spcPts val="400"/>
              </a:spcAft>
              <a:buSzPct val="100000"/>
              <a:buChar char="■"/>
            </a:pPr>
            <a:r>
              <a:rPr lang="en-US" sz="1350" dirty="0">
                <a:solidFill>
                  <a:srgbClr val="1E2329"/>
                </a:solidFill>
              </a:rPr>
              <a:t>Guided learning: what you need to take part. The questions and answers between degrees, the etiquette, the structure of the Craft. Planned, paced to you, and delivered by people who do it well</a:t>
            </a:r>
            <a:endParaRPr lang="en-US" sz="1350" dirty="0"/>
          </a:p>
          <a:p>
            <a:pPr marL="203200" indent="-203200">
              <a:spcAft>
                <a:spcPts val="400"/>
              </a:spcAft>
              <a:buSzPct val="100000"/>
              <a:buChar char="■"/>
            </a:pPr>
            <a:r>
              <a:rPr lang="en-US" sz="1350" dirty="0">
                <a:solidFill>
                  <a:srgbClr val="1E2329"/>
                </a:solidFill>
              </a:rPr>
              <a:t>Personal learning: what you want to explore. History, symbolism, the story of your own Lodge, the Royal Arch. Led by your curiosity and welcomed for life</a:t>
            </a:r>
            <a:endParaRPr lang="en-US" sz="1350" dirty="0"/>
          </a:p>
          <a:p>
            <a:pPr marL="203200" indent="-203200">
              <a:spcAft>
                <a:spcPts val="400"/>
              </a:spcAft>
              <a:buSzPct val="100000"/>
              <a:buChar char="■"/>
            </a:pPr>
            <a:r>
              <a:rPr lang="en-US" sz="1350" dirty="0">
                <a:solidFill>
                  <a:srgbClr val="1E2329"/>
                </a:solidFill>
              </a:rPr>
              <a:t>Nobody has to learn more ritual than the questions and answers. Many find they want to, and enjoy it. Either way you are a full member of your Lodge</a:t>
            </a:r>
            <a:endParaRPr lang="en-US" sz="13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Learning ritual without losing sleep</a:t>
            </a:r>
            <a:endParaRPr lang="en-US" sz="3200" dirty="0"/>
          </a:p>
        </p:txBody>
      </p:sp>
      <p:sp>
        <p:nvSpPr>
          <p:cNvPr id="3" name="Tip 1"/>
          <p:cNvSpPr/>
          <p:nvPr/>
        </p:nvSpPr>
        <p:spPr>
          <a:xfrm>
            <a:off x="548640" y="1280160"/>
            <a:ext cx="2651760" cy="2194560"/>
          </a:xfrm>
          <a:prstGeom prst="roundRect">
            <a:avLst>
              <a:gd name="adj" fmla="val 3333"/>
            </a:avLst>
          </a:prstGeom>
          <a:solidFill>
            <a:srgbClr val="F2F7FC"/>
          </a:solidFill>
          <a:ln w="12700">
            <a:solidFill>
              <a:srgbClr val="F2F7FC"/>
            </a:solidFill>
            <a:prstDash val="solid"/>
          </a:ln>
        </p:spPr>
      </p:sp>
      <p:sp>
        <p:nvSpPr>
          <p:cNvPr id="4" name="Tip number 1"/>
          <p:cNvSpPr/>
          <p:nvPr/>
        </p:nvSpPr>
        <p:spPr>
          <a:xfrm>
            <a:off x="731520" y="1444752"/>
            <a:ext cx="457200" cy="457200"/>
          </a:xfrm>
          <a:prstGeom prst="ellipse">
            <a:avLst/>
          </a:prstGeom>
          <a:solidFill>
            <a:srgbClr val="003668"/>
          </a:solidFill>
          <a:ln w="12700">
            <a:solidFill>
              <a:srgbClr val="003668"/>
            </a:solidFill>
            <a:prstDash val="solid"/>
          </a:ln>
        </p:spPr>
      </p:sp>
      <p:sp>
        <p:nvSpPr>
          <p:cNvPr id="5" name="Text 3"/>
          <p:cNvSpPr txBox="1"/>
          <p:nvPr/>
        </p:nvSpPr>
        <p:spPr>
          <a:xfrm>
            <a:off x="731520" y="14447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280160" y="1444752"/>
            <a:ext cx="1828800" cy="457200"/>
          </a:xfrm>
          <a:prstGeom prst="rect">
            <a:avLst/>
          </a:prstGeom>
          <a:noFill/>
          <a:ln/>
        </p:spPr>
        <p:txBody>
          <a:bodyPr wrap="square" lIns="0" tIns="0" rIns="0" bIns="0" rtlCol="0" anchor="ctr"/>
          <a:lstStyle/>
          <a:p>
            <a:pPr indent="0" marL="0">
              <a:buNone/>
            </a:pPr>
            <a:r>
              <a:rPr lang="en-US" sz="1400" b="1" dirty="0">
                <a:solidFill>
                  <a:srgbClr val="003668"/>
                </a:solidFill>
              </a:rPr>
              <a:t>Start early</a:t>
            </a:r>
            <a:endParaRPr lang="en-US" sz="1400" dirty="0"/>
          </a:p>
        </p:txBody>
      </p:sp>
      <p:sp>
        <p:nvSpPr>
          <p:cNvPr id="7" name="Text 5"/>
          <p:cNvSpPr txBox="1"/>
          <p:nvPr/>
        </p:nvSpPr>
        <p:spPr>
          <a:xfrm>
            <a:off x="731520" y="2011680"/>
            <a:ext cx="2286000" cy="1371600"/>
          </a:xfrm>
          <a:prstGeom prst="rect">
            <a:avLst/>
          </a:prstGeom>
          <a:noFill/>
          <a:ln/>
        </p:spPr>
        <p:txBody>
          <a:bodyPr wrap="square" lIns="0" tIns="0" rIns="0" bIns="0" rtlCol="0" anchor="t"/>
          <a:lstStyle/>
          <a:p>
            <a:pPr indent="0" marL="0">
              <a:buNone/>
            </a:pPr>
            <a:r>
              <a:rPr lang="en-US" sz="1150" dirty="0">
                <a:solidFill>
                  <a:srgbClr val="1E2329"/>
                </a:solidFill>
              </a:rPr>
              <a:t>Three to six months before you deliver it. Nobody learns ritual the week before.</a:t>
            </a:r>
            <a:endParaRPr lang="en-US" sz="1150" dirty="0"/>
          </a:p>
        </p:txBody>
      </p:sp>
      <p:sp>
        <p:nvSpPr>
          <p:cNvPr id="8" name="Tip 2"/>
          <p:cNvSpPr/>
          <p:nvPr/>
        </p:nvSpPr>
        <p:spPr>
          <a:xfrm>
            <a:off x="3364992" y="1280160"/>
            <a:ext cx="2651760" cy="2194560"/>
          </a:xfrm>
          <a:prstGeom prst="roundRect">
            <a:avLst>
              <a:gd name="adj" fmla="val 3333"/>
            </a:avLst>
          </a:prstGeom>
          <a:solidFill>
            <a:srgbClr val="F2F7FC"/>
          </a:solidFill>
          <a:ln w="12700">
            <a:solidFill>
              <a:srgbClr val="F2F7FC"/>
            </a:solidFill>
            <a:prstDash val="solid"/>
          </a:ln>
        </p:spPr>
      </p:sp>
      <p:sp>
        <p:nvSpPr>
          <p:cNvPr id="9" name="Tip number 2"/>
          <p:cNvSpPr/>
          <p:nvPr/>
        </p:nvSpPr>
        <p:spPr>
          <a:xfrm>
            <a:off x="3547872" y="1444752"/>
            <a:ext cx="457200" cy="457200"/>
          </a:xfrm>
          <a:prstGeom prst="ellipse">
            <a:avLst/>
          </a:prstGeom>
          <a:solidFill>
            <a:srgbClr val="0A4F72"/>
          </a:solidFill>
          <a:ln w="12700">
            <a:solidFill>
              <a:srgbClr val="0A4F72"/>
            </a:solidFill>
            <a:prstDash val="solid"/>
          </a:ln>
        </p:spPr>
      </p:sp>
      <p:sp>
        <p:nvSpPr>
          <p:cNvPr id="10" name="Text 8"/>
          <p:cNvSpPr txBox="1"/>
          <p:nvPr/>
        </p:nvSpPr>
        <p:spPr>
          <a:xfrm>
            <a:off x="3547872" y="14447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4096512" y="1444752"/>
            <a:ext cx="1828800" cy="457200"/>
          </a:xfrm>
          <a:prstGeom prst="rect">
            <a:avLst/>
          </a:prstGeom>
          <a:noFill/>
          <a:ln/>
        </p:spPr>
        <p:txBody>
          <a:bodyPr wrap="square" lIns="0" tIns="0" rIns="0" bIns="0" rtlCol="0" anchor="ctr"/>
          <a:lstStyle/>
          <a:p>
            <a:pPr indent="0" marL="0">
              <a:buNone/>
            </a:pPr>
            <a:r>
              <a:rPr lang="en-US" sz="1400" b="1" dirty="0">
                <a:solidFill>
                  <a:srgbClr val="003668"/>
                </a:solidFill>
              </a:rPr>
              <a:t>Little and often</a:t>
            </a:r>
            <a:endParaRPr lang="en-US" sz="1400" dirty="0"/>
          </a:p>
        </p:txBody>
      </p:sp>
      <p:sp>
        <p:nvSpPr>
          <p:cNvPr id="12" name="Text 10"/>
          <p:cNvSpPr txBox="1"/>
          <p:nvPr/>
        </p:nvSpPr>
        <p:spPr>
          <a:xfrm>
            <a:off x="3547872" y="2011680"/>
            <a:ext cx="2286000" cy="1371600"/>
          </a:xfrm>
          <a:prstGeom prst="rect">
            <a:avLst/>
          </a:prstGeom>
          <a:noFill/>
          <a:ln/>
        </p:spPr>
        <p:txBody>
          <a:bodyPr wrap="square" lIns="0" tIns="0" rIns="0" bIns="0" rtlCol="0" anchor="t"/>
          <a:lstStyle/>
          <a:p>
            <a:pPr indent="0" marL="0">
              <a:buNone/>
            </a:pPr>
            <a:r>
              <a:rPr lang="en-US" sz="1150" dirty="0">
                <a:solidFill>
                  <a:srgbClr val="1E2329"/>
                </a:solidFill>
              </a:rPr>
              <a:t>Ten minutes a day beats an hour on Sunday. Use committed time: the commute, the dog walk.</a:t>
            </a:r>
            <a:endParaRPr lang="en-US" sz="1150" dirty="0"/>
          </a:p>
        </p:txBody>
      </p:sp>
      <p:sp>
        <p:nvSpPr>
          <p:cNvPr id="13" name="Tip 3"/>
          <p:cNvSpPr/>
          <p:nvPr/>
        </p:nvSpPr>
        <p:spPr>
          <a:xfrm>
            <a:off x="6181344" y="1280160"/>
            <a:ext cx="2651760" cy="2194560"/>
          </a:xfrm>
          <a:prstGeom prst="roundRect">
            <a:avLst>
              <a:gd name="adj" fmla="val 3333"/>
            </a:avLst>
          </a:prstGeom>
          <a:solidFill>
            <a:srgbClr val="F2F7FC"/>
          </a:solidFill>
          <a:ln w="12700">
            <a:solidFill>
              <a:srgbClr val="F2F7FC"/>
            </a:solidFill>
            <a:prstDash val="solid"/>
          </a:ln>
        </p:spPr>
      </p:sp>
      <p:sp>
        <p:nvSpPr>
          <p:cNvPr id="14" name="Tip number 3"/>
          <p:cNvSpPr/>
          <p:nvPr/>
        </p:nvSpPr>
        <p:spPr>
          <a:xfrm>
            <a:off x="6364224" y="1444752"/>
            <a:ext cx="457200" cy="457200"/>
          </a:xfrm>
          <a:prstGeom prst="ellipse">
            <a:avLst/>
          </a:prstGeom>
          <a:solidFill>
            <a:srgbClr val="106576"/>
          </a:solidFill>
          <a:ln w="12700">
            <a:solidFill>
              <a:srgbClr val="106576"/>
            </a:solidFill>
            <a:prstDash val="solid"/>
          </a:ln>
        </p:spPr>
      </p:sp>
      <p:sp>
        <p:nvSpPr>
          <p:cNvPr id="15" name="Text 13"/>
          <p:cNvSpPr txBox="1"/>
          <p:nvPr/>
        </p:nvSpPr>
        <p:spPr>
          <a:xfrm>
            <a:off x="6364224" y="14447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6912864" y="1444752"/>
            <a:ext cx="1828800" cy="457200"/>
          </a:xfrm>
          <a:prstGeom prst="rect">
            <a:avLst/>
          </a:prstGeom>
          <a:noFill/>
          <a:ln/>
        </p:spPr>
        <p:txBody>
          <a:bodyPr wrap="square" lIns="0" tIns="0" rIns="0" bIns="0" rtlCol="0" anchor="ctr"/>
          <a:lstStyle/>
          <a:p>
            <a:pPr indent="0" marL="0">
              <a:buNone/>
            </a:pPr>
            <a:r>
              <a:rPr lang="en-US" sz="1400" b="1" dirty="0">
                <a:solidFill>
                  <a:srgbClr val="003668"/>
                </a:solidFill>
              </a:rPr>
              <a:t>Read, then read aloud</a:t>
            </a:r>
            <a:endParaRPr lang="en-US" sz="1400" dirty="0"/>
          </a:p>
        </p:txBody>
      </p:sp>
      <p:sp>
        <p:nvSpPr>
          <p:cNvPr id="17" name="Text 15"/>
          <p:cNvSpPr txBox="1"/>
          <p:nvPr/>
        </p:nvSpPr>
        <p:spPr>
          <a:xfrm>
            <a:off x="6364224" y="2011680"/>
            <a:ext cx="2286000" cy="1371600"/>
          </a:xfrm>
          <a:prstGeom prst="rect">
            <a:avLst/>
          </a:prstGeom>
          <a:noFill/>
          <a:ln/>
        </p:spPr>
        <p:txBody>
          <a:bodyPr wrap="square" lIns="0" tIns="0" rIns="0" bIns="0" rtlCol="0" anchor="t"/>
          <a:lstStyle/>
          <a:p>
            <a:pPr indent="0" marL="0">
              <a:buNone/>
            </a:pPr>
            <a:r>
              <a:rPr lang="en-US" sz="1150" dirty="0">
                <a:solidFill>
                  <a:srgbClr val="1E2329"/>
                </a:solidFill>
              </a:rPr>
              <a:t>Silently first, over and over. Look up any word you do not understand. Then out loud, over and over.</a:t>
            </a:r>
            <a:endParaRPr lang="en-US" sz="1150" dirty="0"/>
          </a:p>
        </p:txBody>
      </p:sp>
      <p:sp>
        <p:nvSpPr>
          <p:cNvPr id="18" name="Tip 4"/>
          <p:cNvSpPr/>
          <p:nvPr/>
        </p:nvSpPr>
        <p:spPr>
          <a:xfrm>
            <a:off x="8997696" y="1280160"/>
            <a:ext cx="2651760" cy="2194560"/>
          </a:xfrm>
          <a:prstGeom prst="roundRect">
            <a:avLst>
              <a:gd name="adj" fmla="val 3333"/>
            </a:avLst>
          </a:prstGeom>
          <a:solidFill>
            <a:srgbClr val="F2F7FC"/>
          </a:solidFill>
          <a:ln w="12700">
            <a:solidFill>
              <a:srgbClr val="F2F7FC"/>
            </a:solidFill>
            <a:prstDash val="solid"/>
          </a:ln>
        </p:spPr>
      </p:sp>
      <p:sp>
        <p:nvSpPr>
          <p:cNvPr id="19" name="Tip number 4"/>
          <p:cNvSpPr/>
          <p:nvPr/>
        </p:nvSpPr>
        <p:spPr>
          <a:xfrm>
            <a:off x="9180576" y="1444752"/>
            <a:ext cx="457200" cy="457200"/>
          </a:xfrm>
          <a:prstGeom prst="ellipse">
            <a:avLst/>
          </a:prstGeom>
          <a:solidFill>
            <a:srgbClr val="157A7C"/>
          </a:solidFill>
          <a:ln w="12700">
            <a:solidFill>
              <a:srgbClr val="157A7C"/>
            </a:solidFill>
            <a:prstDash val="solid"/>
          </a:ln>
        </p:spPr>
      </p:sp>
      <p:sp>
        <p:nvSpPr>
          <p:cNvPr id="20" name="Text 18"/>
          <p:cNvSpPr txBox="1"/>
          <p:nvPr/>
        </p:nvSpPr>
        <p:spPr>
          <a:xfrm>
            <a:off x="9180576" y="14447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Text 19"/>
          <p:cNvSpPr txBox="1"/>
          <p:nvPr/>
        </p:nvSpPr>
        <p:spPr>
          <a:xfrm>
            <a:off x="9729216" y="1444752"/>
            <a:ext cx="1828800" cy="457200"/>
          </a:xfrm>
          <a:prstGeom prst="rect">
            <a:avLst/>
          </a:prstGeom>
          <a:noFill/>
          <a:ln/>
        </p:spPr>
        <p:txBody>
          <a:bodyPr wrap="square" lIns="0" tIns="0" rIns="0" bIns="0" rtlCol="0" anchor="ctr"/>
          <a:lstStyle/>
          <a:p>
            <a:pPr indent="0" marL="0">
              <a:buNone/>
            </a:pPr>
            <a:r>
              <a:rPr lang="en-US" sz="1400" b="1" dirty="0">
                <a:solidFill>
                  <a:srgbClr val="003668"/>
                </a:solidFill>
              </a:rPr>
              <a:t>Record it</a:t>
            </a:r>
            <a:endParaRPr lang="en-US" sz="1400" dirty="0"/>
          </a:p>
        </p:txBody>
      </p:sp>
      <p:sp>
        <p:nvSpPr>
          <p:cNvPr id="22" name="Text 20"/>
          <p:cNvSpPr txBox="1"/>
          <p:nvPr/>
        </p:nvSpPr>
        <p:spPr>
          <a:xfrm>
            <a:off x="9180576" y="2011680"/>
            <a:ext cx="2286000" cy="1371600"/>
          </a:xfrm>
          <a:prstGeom prst="rect">
            <a:avLst/>
          </a:prstGeom>
          <a:noFill/>
          <a:ln/>
        </p:spPr>
        <p:txBody>
          <a:bodyPr wrap="square" lIns="0" tIns="0" rIns="0" bIns="0" rtlCol="0" anchor="t"/>
          <a:lstStyle/>
          <a:p>
            <a:pPr indent="0" marL="0">
              <a:buNone/>
            </a:pPr>
            <a:r>
              <a:rPr lang="en-US" sz="1150" dirty="0">
                <a:solidFill>
                  <a:srgbClr val="1E2329"/>
                </a:solidFill>
              </a:rPr>
              <a:t>Once your phrasing is right, record yourself, or ask your mentor to, and play it daily.</a:t>
            </a:r>
            <a:endParaRPr lang="en-US" sz="1150" dirty="0"/>
          </a:p>
        </p:txBody>
      </p:sp>
      <p:sp>
        <p:nvSpPr>
          <p:cNvPr id="23" name="Tip 5"/>
          <p:cNvSpPr/>
          <p:nvPr/>
        </p:nvSpPr>
        <p:spPr>
          <a:xfrm>
            <a:off x="548640" y="3611880"/>
            <a:ext cx="2651760" cy="2194560"/>
          </a:xfrm>
          <a:prstGeom prst="roundRect">
            <a:avLst>
              <a:gd name="adj" fmla="val 3333"/>
            </a:avLst>
          </a:prstGeom>
          <a:solidFill>
            <a:srgbClr val="F2F7FC"/>
          </a:solidFill>
          <a:ln w="12700">
            <a:solidFill>
              <a:srgbClr val="F2F7FC"/>
            </a:solidFill>
            <a:prstDash val="solid"/>
          </a:ln>
        </p:spPr>
      </p:sp>
      <p:sp>
        <p:nvSpPr>
          <p:cNvPr id="24" name="Tip number 5"/>
          <p:cNvSpPr/>
          <p:nvPr/>
        </p:nvSpPr>
        <p:spPr>
          <a:xfrm>
            <a:off x="731520" y="3776472"/>
            <a:ext cx="457200" cy="457200"/>
          </a:xfrm>
          <a:prstGeom prst="ellipse">
            <a:avLst/>
          </a:prstGeom>
          <a:solidFill>
            <a:srgbClr val="003668"/>
          </a:solidFill>
          <a:ln w="12700">
            <a:solidFill>
              <a:srgbClr val="003668"/>
            </a:solidFill>
            <a:prstDash val="solid"/>
          </a:ln>
        </p:spPr>
      </p:sp>
      <p:sp>
        <p:nvSpPr>
          <p:cNvPr id="25" name="Text 23"/>
          <p:cNvSpPr txBox="1"/>
          <p:nvPr/>
        </p:nvSpPr>
        <p:spPr>
          <a:xfrm>
            <a:off x="731520" y="37764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6" name="Text 24"/>
          <p:cNvSpPr txBox="1"/>
          <p:nvPr/>
        </p:nvSpPr>
        <p:spPr>
          <a:xfrm>
            <a:off x="1280160" y="3776472"/>
            <a:ext cx="1828800" cy="457200"/>
          </a:xfrm>
          <a:prstGeom prst="rect">
            <a:avLst/>
          </a:prstGeom>
          <a:noFill/>
          <a:ln/>
        </p:spPr>
        <p:txBody>
          <a:bodyPr wrap="square" lIns="0" tIns="0" rIns="0" bIns="0" rtlCol="0" anchor="ctr"/>
          <a:lstStyle/>
          <a:p>
            <a:pPr indent="0" marL="0">
              <a:buNone/>
            </a:pPr>
            <a:r>
              <a:rPr lang="en-US" sz="1400" b="1" dirty="0">
                <a:solidFill>
                  <a:srgbClr val="003668"/>
                </a:solidFill>
              </a:rPr>
              <a:t>One sentence at a time</a:t>
            </a:r>
            <a:endParaRPr lang="en-US" sz="1400" dirty="0"/>
          </a:p>
        </p:txBody>
      </p:sp>
      <p:sp>
        <p:nvSpPr>
          <p:cNvPr id="27" name="Text 25"/>
          <p:cNvSpPr txBox="1"/>
          <p:nvPr/>
        </p:nvSpPr>
        <p:spPr>
          <a:xfrm>
            <a:off x="731520" y="4343400"/>
            <a:ext cx="2286000" cy="1371600"/>
          </a:xfrm>
          <a:prstGeom prst="rect">
            <a:avLst/>
          </a:prstGeom>
          <a:noFill/>
          <a:ln/>
        </p:spPr>
        <p:txBody>
          <a:bodyPr wrap="square" lIns="0" tIns="0" rIns="0" bIns="0" rtlCol="0" anchor="t"/>
          <a:lstStyle/>
          <a:p>
            <a:pPr indent="0" marL="0">
              <a:buNone/>
            </a:pPr>
            <a:r>
              <a:rPr lang="en-US" sz="1150" dirty="0">
                <a:solidFill>
                  <a:srgbClr val="1E2329"/>
                </a:solidFill>
              </a:rPr>
              <a:t>Say one from memory. Add the next. Build the passage up; never try to swallow it whole.</a:t>
            </a:r>
            <a:endParaRPr lang="en-US" sz="1150" dirty="0"/>
          </a:p>
        </p:txBody>
      </p:sp>
      <p:sp>
        <p:nvSpPr>
          <p:cNvPr id="28" name="Tip 6"/>
          <p:cNvSpPr/>
          <p:nvPr/>
        </p:nvSpPr>
        <p:spPr>
          <a:xfrm>
            <a:off x="3364992" y="3611880"/>
            <a:ext cx="2651760" cy="2194560"/>
          </a:xfrm>
          <a:prstGeom prst="roundRect">
            <a:avLst>
              <a:gd name="adj" fmla="val 3333"/>
            </a:avLst>
          </a:prstGeom>
          <a:solidFill>
            <a:srgbClr val="F2F7FC"/>
          </a:solidFill>
          <a:ln w="12700">
            <a:solidFill>
              <a:srgbClr val="F2F7FC"/>
            </a:solidFill>
            <a:prstDash val="solid"/>
          </a:ln>
        </p:spPr>
      </p:sp>
      <p:sp>
        <p:nvSpPr>
          <p:cNvPr id="29" name="Tip number 6"/>
          <p:cNvSpPr/>
          <p:nvPr/>
        </p:nvSpPr>
        <p:spPr>
          <a:xfrm>
            <a:off x="3547872" y="3776472"/>
            <a:ext cx="457200" cy="457200"/>
          </a:xfrm>
          <a:prstGeom prst="ellipse">
            <a:avLst/>
          </a:prstGeom>
          <a:solidFill>
            <a:srgbClr val="0A4F72"/>
          </a:solidFill>
          <a:ln w="12700">
            <a:solidFill>
              <a:srgbClr val="0A4F72"/>
            </a:solidFill>
            <a:prstDash val="solid"/>
          </a:ln>
        </p:spPr>
      </p:sp>
      <p:sp>
        <p:nvSpPr>
          <p:cNvPr id="30" name="Text 28"/>
          <p:cNvSpPr txBox="1"/>
          <p:nvPr/>
        </p:nvSpPr>
        <p:spPr>
          <a:xfrm>
            <a:off x="3547872" y="37764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1" name="Text 29"/>
          <p:cNvSpPr txBox="1"/>
          <p:nvPr/>
        </p:nvSpPr>
        <p:spPr>
          <a:xfrm>
            <a:off x="4096512" y="3776472"/>
            <a:ext cx="1828800" cy="457200"/>
          </a:xfrm>
          <a:prstGeom prst="rect">
            <a:avLst/>
          </a:prstGeom>
          <a:noFill/>
          <a:ln/>
        </p:spPr>
        <p:txBody>
          <a:bodyPr wrap="square" lIns="0" tIns="0" rIns="0" bIns="0" rtlCol="0" anchor="ctr"/>
          <a:lstStyle/>
          <a:p>
            <a:pPr indent="0" marL="0">
              <a:buNone/>
            </a:pPr>
            <a:r>
              <a:rPr lang="en-US" sz="1400" b="1" dirty="0">
                <a:solidFill>
                  <a:srgbClr val="003668"/>
                </a:solidFill>
              </a:rPr>
              <a:t>Hold the book</a:t>
            </a:r>
            <a:endParaRPr lang="en-US" sz="1400" dirty="0"/>
          </a:p>
        </p:txBody>
      </p:sp>
      <p:sp>
        <p:nvSpPr>
          <p:cNvPr id="32" name="Text 30"/>
          <p:cNvSpPr txBox="1"/>
          <p:nvPr/>
        </p:nvSpPr>
        <p:spPr>
          <a:xfrm>
            <a:off x="3547872" y="4343400"/>
            <a:ext cx="2286000" cy="1371600"/>
          </a:xfrm>
          <a:prstGeom prst="rect">
            <a:avLst/>
          </a:prstGeom>
          <a:noFill/>
          <a:ln/>
        </p:spPr>
        <p:txBody>
          <a:bodyPr wrap="square" lIns="0" tIns="0" rIns="0" bIns="0" rtlCol="0" anchor="t"/>
          <a:lstStyle/>
          <a:p>
            <a:pPr indent="0" marL="0">
              <a:buNone/>
            </a:pPr>
            <a:r>
              <a:rPr lang="en-US" sz="1150" dirty="0">
                <a:solidFill>
                  <a:srgbClr val="1E2329"/>
                </a:solidFill>
              </a:rPr>
              <a:t>Ask someone to follow the book and tell you where you went wrong afterwards, not during. Never a non-Mason for anything that touches the secrets.</a:t>
            </a:r>
            <a:endParaRPr lang="en-US" sz="1150" dirty="0"/>
          </a:p>
        </p:txBody>
      </p:sp>
      <p:sp>
        <p:nvSpPr>
          <p:cNvPr id="33" name="Tip 7"/>
          <p:cNvSpPr/>
          <p:nvPr/>
        </p:nvSpPr>
        <p:spPr>
          <a:xfrm>
            <a:off x="6181344" y="3611880"/>
            <a:ext cx="2651760" cy="2194560"/>
          </a:xfrm>
          <a:prstGeom prst="roundRect">
            <a:avLst>
              <a:gd name="adj" fmla="val 3333"/>
            </a:avLst>
          </a:prstGeom>
          <a:solidFill>
            <a:srgbClr val="F2F7FC"/>
          </a:solidFill>
          <a:ln w="12700">
            <a:solidFill>
              <a:srgbClr val="F2F7FC"/>
            </a:solidFill>
            <a:prstDash val="solid"/>
          </a:ln>
        </p:spPr>
      </p:sp>
      <p:sp>
        <p:nvSpPr>
          <p:cNvPr id="34" name="Tip number 7"/>
          <p:cNvSpPr/>
          <p:nvPr/>
        </p:nvSpPr>
        <p:spPr>
          <a:xfrm>
            <a:off x="6364224" y="3776472"/>
            <a:ext cx="457200" cy="457200"/>
          </a:xfrm>
          <a:prstGeom prst="ellipse">
            <a:avLst/>
          </a:prstGeom>
          <a:solidFill>
            <a:srgbClr val="106576"/>
          </a:solidFill>
          <a:ln w="12700">
            <a:solidFill>
              <a:srgbClr val="106576"/>
            </a:solidFill>
            <a:prstDash val="solid"/>
          </a:ln>
        </p:spPr>
      </p:sp>
      <p:sp>
        <p:nvSpPr>
          <p:cNvPr id="35" name="Text 33"/>
          <p:cNvSpPr txBox="1"/>
          <p:nvPr/>
        </p:nvSpPr>
        <p:spPr>
          <a:xfrm>
            <a:off x="6364224" y="37764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36" name="Text 34"/>
          <p:cNvSpPr txBox="1"/>
          <p:nvPr/>
        </p:nvSpPr>
        <p:spPr>
          <a:xfrm>
            <a:off x="6912864" y="3776472"/>
            <a:ext cx="1828800" cy="457200"/>
          </a:xfrm>
          <a:prstGeom prst="rect">
            <a:avLst/>
          </a:prstGeom>
          <a:noFill/>
          <a:ln/>
        </p:spPr>
        <p:txBody>
          <a:bodyPr wrap="square" lIns="0" tIns="0" rIns="0" bIns="0" rtlCol="0" anchor="ctr"/>
          <a:lstStyle/>
          <a:p>
            <a:pPr indent="0" marL="0">
              <a:buNone/>
            </a:pPr>
            <a:r>
              <a:rPr lang="en-US" sz="1400" b="1" dirty="0">
                <a:solidFill>
                  <a:srgbClr val="003668"/>
                </a:solidFill>
              </a:rPr>
              <a:t>Say it in the room</a:t>
            </a:r>
            <a:endParaRPr lang="en-US" sz="1400" dirty="0"/>
          </a:p>
        </p:txBody>
      </p:sp>
      <p:sp>
        <p:nvSpPr>
          <p:cNvPr id="37" name="Text 35"/>
          <p:cNvSpPr txBox="1"/>
          <p:nvPr/>
        </p:nvSpPr>
        <p:spPr>
          <a:xfrm>
            <a:off x="6364224" y="4343400"/>
            <a:ext cx="2286000" cy="1371600"/>
          </a:xfrm>
          <a:prstGeom prst="rect">
            <a:avLst/>
          </a:prstGeom>
          <a:noFill/>
          <a:ln/>
        </p:spPr>
        <p:txBody>
          <a:bodyPr wrap="square" lIns="0" tIns="0" rIns="0" bIns="0" rtlCol="0" anchor="t"/>
          <a:lstStyle/>
          <a:p>
            <a:pPr indent="0" marL="0">
              <a:buNone/>
            </a:pPr>
            <a:r>
              <a:rPr lang="en-US" sz="1150" dirty="0">
                <a:solidFill>
                  <a:srgbClr val="1E2329"/>
                </a:solidFill>
              </a:rPr>
              <a:t>Rehearse in the Lodge room with one other person, then at the Lodge of Instruction with the group.</a:t>
            </a:r>
            <a:endParaRPr lang="en-US" sz="1150" dirty="0"/>
          </a:p>
        </p:txBody>
      </p:sp>
      <p:sp>
        <p:nvSpPr>
          <p:cNvPr id="38" name="Tip 8"/>
          <p:cNvSpPr/>
          <p:nvPr/>
        </p:nvSpPr>
        <p:spPr>
          <a:xfrm>
            <a:off x="8997696" y="3611880"/>
            <a:ext cx="2651760" cy="2194560"/>
          </a:xfrm>
          <a:prstGeom prst="roundRect">
            <a:avLst>
              <a:gd name="adj" fmla="val 3333"/>
            </a:avLst>
          </a:prstGeom>
          <a:solidFill>
            <a:srgbClr val="F2F7FC"/>
          </a:solidFill>
          <a:ln w="12700">
            <a:solidFill>
              <a:srgbClr val="F2F7FC"/>
            </a:solidFill>
            <a:prstDash val="solid"/>
          </a:ln>
        </p:spPr>
      </p:sp>
      <p:sp>
        <p:nvSpPr>
          <p:cNvPr id="39" name="Tip number 8"/>
          <p:cNvSpPr/>
          <p:nvPr/>
        </p:nvSpPr>
        <p:spPr>
          <a:xfrm>
            <a:off x="9180576" y="3776472"/>
            <a:ext cx="457200" cy="457200"/>
          </a:xfrm>
          <a:prstGeom prst="ellipse">
            <a:avLst/>
          </a:prstGeom>
          <a:solidFill>
            <a:srgbClr val="157A7C"/>
          </a:solidFill>
          <a:ln w="12700">
            <a:solidFill>
              <a:srgbClr val="157A7C"/>
            </a:solidFill>
            <a:prstDash val="solid"/>
          </a:ln>
        </p:spPr>
      </p:sp>
      <p:sp>
        <p:nvSpPr>
          <p:cNvPr id="40" name="Text 38"/>
          <p:cNvSpPr txBox="1"/>
          <p:nvPr/>
        </p:nvSpPr>
        <p:spPr>
          <a:xfrm>
            <a:off x="9180576" y="37764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8</a:t>
            </a:r>
            <a:endParaRPr lang="en-US" sz="1400" dirty="0"/>
          </a:p>
        </p:txBody>
      </p:sp>
      <p:sp>
        <p:nvSpPr>
          <p:cNvPr id="41" name="Text 39"/>
          <p:cNvSpPr txBox="1"/>
          <p:nvPr/>
        </p:nvSpPr>
        <p:spPr>
          <a:xfrm>
            <a:off x="9729216" y="3776472"/>
            <a:ext cx="1828800" cy="457200"/>
          </a:xfrm>
          <a:prstGeom prst="rect">
            <a:avLst/>
          </a:prstGeom>
          <a:noFill/>
          <a:ln/>
        </p:spPr>
        <p:txBody>
          <a:bodyPr wrap="square" lIns="0" tIns="0" rIns="0" bIns="0" rtlCol="0" anchor="ctr"/>
          <a:lstStyle/>
          <a:p>
            <a:pPr indent="0" marL="0">
              <a:buNone/>
            </a:pPr>
            <a:r>
              <a:rPr lang="en-US" sz="1400" b="1" dirty="0">
                <a:solidFill>
                  <a:srgbClr val="003668"/>
                </a:solidFill>
              </a:rPr>
              <a:t>Understand it</a:t>
            </a:r>
            <a:endParaRPr lang="en-US" sz="1400" dirty="0"/>
          </a:p>
        </p:txBody>
      </p:sp>
      <p:sp>
        <p:nvSpPr>
          <p:cNvPr id="42" name="Text 40"/>
          <p:cNvSpPr txBox="1"/>
          <p:nvPr/>
        </p:nvSpPr>
        <p:spPr>
          <a:xfrm>
            <a:off x="9180576" y="4343400"/>
            <a:ext cx="2286000" cy="1371600"/>
          </a:xfrm>
          <a:prstGeom prst="rect">
            <a:avLst/>
          </a:prstGeom>
          <a:noFill/>
          <a:ln/>
        </p:spPr>
        <p:txBody>
          <a:bodyPr wrap="square" lIns="0" tIns="0" rIns="0" bIns="0" rtlCol="0" anchor="t"/>
          <a:lstStyle/>
          <a:p>
            <a:pPr indent="0" marL="0">
              <a:buNone/>
            </a:pPr>
            <a:r>
              <a:rPr lang="en-US" sz="1150" dirty="0">
                <a:solidFill>
                  <a:srgbClr val="1E2329"/>
                </a:solidFill>
              </a:rPr>
              <a:t>Words you understand stay learned. Ask what a passage means. Solomon and your mentor will tell you.</a:t>
            </a:r>
            <a:endParaRPr lang="en-US" sz="11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More ways to learn, all free</a:t>
            </a:r>
            <a:endParaRPr lang="en-US" sz="3200" dirty="0"/>
          </a:p>
        </p:txBody>
      </p:sp>
      <p:sp>
        <p:nvSpPr>
          <p:cNvPr id="3" name="Card DAWG"/>
          <p:cNvSpPr/>
          <p:nvPr/>
        </p:nvSpPr>
        <p:spPr>
          <a:xfrm>
            <a:off x="548640" y="1280160"/>
            <a:ext cx="3566160" cy="2194560"/>
          </a:xfrm>
          <a:prstGeom prst="roundRect">
            <a:avLst>
              <a:gd name="adj" fmla="val 3333"/>
            </a:avLst>
          </a:prstGeom>
          <a:solidFill>
            <a:srgbClr val="F2F7FC"/>
          </a:solidFill>
          <a:ln w="12700">
            <a:solidFill>
              <a:srgbClr val="F2F7FC"/>
            </a:solidFill>
            <a:prstDash val="solid"/>
          </a:ln>
        </p:spPr>
      </p:sp>
      <p:pic>
        <p:nvPicPr>
          <p:cNvPr id="4" name="Image 0" descr="preencoded.png">    </p:cNvPr>
          <p:cNvPicPr>
            <a:picLocks noChangeAspect="1"/>
          </p:cNvPicPr>
          <p:nvPr/>
        </p:nvPicPr>
        <p:blipFill>
          <a:blip r:embed="rId1"/>
          <a:stretch>
            <a:fillRect/>
          </a:stretch>
        </p:blipFill>
        <p:spPr>
          <a:xfrm>
            <a:off x="749808" y="1463040"/>
            <a:ext cx="384048" cy="384048"/>
          </a:xfrm>
          <a:prstGeom prst="rect">
            <a:avLst/>
          </a:prstGeom>
        </p:spPr>
      </p:pic>
      <p:sp>
        <p:nvSpPr>
          <p:cNvPr id="5" name="Text 2"/>
          <p:cNvSpPr txBox="1"/>
          <p:nvPr/>
        </p:nvSpPr>
        <p:spPr>
          <a:xfrm>
            <a:off x="1261872" y="1444752"/>
            <a:ext cx="2651760" cy="411480"/>
          </a:xfrm>
          <a:prstGeom prst="rect">
            <a:avLst/>
          </a:prstGeom>
          <a:noFill/>
          <a:ln/>
        </p:spPr>
        <p:txBody>
          <a:bodyPr wrap="square" lIns="0" tIns="0" rIns="0" bIns="0" rtlCol="0" anchor="ctr"/>
          <a:lstStyle/>
          <a:p>
            <a:pPr indent="0" marL="0">
              <a:buNone/>
            </a:pPr>
            <a:r>
              <a:rPr lang="en-US" sz="1600" b="1" dirty="0">
                <a:solidFill>
                  <a:srgbClr val="003668"/>
                </a:solidFill>
              </a:rPr>
              <a:t>DAWG</a:t>
            </a:r>
            <a:endParaRPr lang="en-US" sz="1600" dirty="0"/>
          </a:p>
        </p:txBody>
      </p:sp>
      <p:sp>
        <p:nvSpPr>
          <p:cNvPr id="6" name="Text 3"/>
          <p:cNvSpPr txBox="1"/>
          <p:nvPr/>
        </p:nvSpPr>
        <p:spPr>
          <a:xfrm>
            <a:off x="777240" y="1901952"/>
            <a:ext cx="3108960" cy="1463040"/>
          </a:xfrm>
          <a:prstGeom prst="rect">
            <a:avLst/>
          </a:prstGeom>
          <a:noFill/>
          <a:ln/>
        </p:spPr>
        <p:txBody>
          <a:bodyPr wrap="square" lIns="0" tIns="0" rIns="0" bIns="0" rtlCol="0" anchor="t"/>
          <a:lstStyle/>
          <a:p>
            <a:pPr indent="0" marL="0">
              <a:buNone/>
            </a:pPr>
            <a:r>
              <a:rPr lang="en-US" sz="1400" dirty="0">
                <a:solidFill>
                  <a:srgbClr val="1E2329"/>
                </a:solidFill>
              </a:rPr>
              <a:t>The Daily Advancement WhatsApp Group, run by the Provincial Mentoring Team: a daily piece of Masonic interest and a community of mentors and new Masons. Ask tonight to be added.</a:t>
            </a:r>
            <a:endParaRPr lang="en-US" sz="1400" dirty="0"/>
          </a:p>
        </p:txBody>
      </p:sp>
      <p:sp>
        <p:nvSpPr>
          <p:cNvPr id="7" name="Card Mentoring and L&amp;D evenings"/>
          <p:cNvSpPr/>
          <p:nvPr/>
        </p:nvSpPr>
        <p:spPr>
          <a:xfrm>
            <a:off x="4297680" y="1280160"/>
            <a:ext cx="3566160" cy="2194560"/>
          </a:xfrm>
          <a:prstGeom prst="roundRect">
            <a:avLst>
              <a:gd name="adj" fmla="val 3333"/>
            </a:avLst>
          </a:prstGeom>
          <a:solidFill>
            <a:srgbClr val="F2F7FC"/>
          </a:solidFill>
          <a:ln w="12700">
            <a:solidFill>
              <a:srgbClr val="F2F7FC"/>
            </a:solidFill>
            <a:prstDash val="solid"/>
          </a:ln>
        </p:spPr>
      </p:sp>
      <p:pic>
        <p:nvPicPr>
          <p:cNvPr id="8" name="Image 1" descr="preencoded.png">    </p:cNvPr>
          <p:cNvPicPr>
            <a:picLocks noChangeAspect="1"/>
          </p:cNvPicPr>
          <p:nvPr/>
        </p:nvPicPr>
        <p:blipFill>
          <a:blip r:embed="rId2"/>
          <a:stretch>
            <a:fillRect/>
          </a:stretch>
        </p:blipFill>
        <p:spPr>
          <a:xfrm>
            <a:off x="4498848" y="1463040"/>
            <a:ext cx="384048" cy="384048"/>
          </a:xfrm>
          <a:prstGeom prst="rect">
            <a:avLst/>
          </a:prstGeom>
        </p:spPr>
      </p:pic>
      <p:sp>
        <p:nvSpPr>
          <p:cNvPr id="9" name="Text 5"/>
          <p:cNvSpPr txBox="1"/>
          <p:nvPr/>
        </p:nvSpPr>
        <p:spPr>
          <a:xfrm>
            <a:off x="5010912" y="1444752"/>
            <a:ext cx="2651760" cy="411480"/>
          </a:xfrm>
          <a:prstGeom prst="rect">
            <a:avLst/>
          </a:prstGeom>
          <a:noFill/>
          <a:ln/>
        </p:spPr>
        <p:txBody>
          <a:bodyPr wrap="square" lIns="0" tIns="0" rIns="0" bIns="0" rtlCol="0" anchor="ctr"/>
          <a:lstStyle/>
          <a:p>
            <a:pPr indent="0" marL="0">
              <a:buNone/>
            </a:pPr>
            <a:r>
              <a:rPr lang="en-US" sz="1600" b="1" dirty="0">
                <a:solidFill>
                  <a:srgbClr val="003668"/>
                </a:solidFill>
              </a:rPr>
              <a:t>Mentoring and L&amp;D evenings</a:t>
            </a:r>
            <a:endParaRPr lang="en-US" sz="1600" dirty="0"/>
          </a:p>
        </p:txBody>
      </p:sp>
      <p:sp>
        <p:nvSpPr>
          <p:cNvPr id="10" name="Text 6"/>
          <p:cNvSpPr txBox="1"/>
          <p:nvPr/>
        </p:nvSpPr>
        <p:spPr>
          <a:xfrm>
            <a:off x="4526280" y="1901952"/>
            <a:ext cx="3108960" cy="1463040"/>
          </a:xfrm>
          <a:prstGeom prst="rect">
            <a:avLst/>
          </a:prstGeom>
          <a:noFill/>
          <a:ln/>
        </p:spPr>
        <p:txBody>
          <a:bodyPr wrap="square" lIns="0" tIns="0" rIns="0" bIns="0" rtlCol="0" anchor="t"/>
          <a:lstStyle/>
          <a:p>
            <a:pPr indent="0" marL="0">
              <a:buNone/>
            </a:pPr>
            <a:r>
              <a:rPr lang="en-US" sz="1400" dirty="0">
                <a:solidFill>
                  <a:srgbClr val="1E2329"/>
                </a:solidFill>
              </a:rPr>
              <a:t>Twice a year the Province brings new Brethren together with the mentoring and learning teams. Tonight is one of them. Come to the next.</a:t>
            </a:r>
            <a:endParaRPr lang="en-US" sz="1400" dirty="0"/>
          </a:p>
        </p:txBody>
      </p:sp>
      <p:sp>
        <p:nvSpPr>
          <p:cNvPr id="11" name="Card The Visitors’ Festival"/>
          <p:cNvSpPr/>
          <p:nvPr/>
        </p:nvSpPr>
        <p:spPr>
          <a:xfrm>
            <a:off x="8046720" y="1280160"/>
            <a:ext cx="3566160" cy="2194560"/>
          </a:xfrm>
          <a:prstGeom prst="roundRect">
            <a:avLst>
              <a:gd name="adj" fmla="val 3333"/>
            </a:avLst>
          </a:prstGeom>
          <a:solidFill>
            <a:srgbClr val="F2F7FC"/>
          </a:solidFill>
          <a:ln w="12700">
            <a:solidFill>
              <a:srgbClr val="F2F7FC"/>
            </a:solidFill>
            <a:prstDash val="solid"/>
          </a:ln>
        </p:spPr>
      </p:sp>
      <p:pic>
        <p:nvPicPr>
          <p:cNvPr id="12" name="Image 2" descr="preencoded.png">    </p:cNvPr>
          <p:cNvPicPr>
            <a:picLocks noChangeAspect="1"/>
          </p:cNvPicPr>
          <p:nvPr/>
        </p:nvPicPr>
        <p:blipFill>
          <a:blip r:embed="rId3"/>
          <a:stretch>
            <a:fillRect/>
          </a:stretch>
        </p:blipFill>
        <p:spPr>
          <a:xfrm>
            <a:off x="8247888" y="1463040"/>
            <a:ext cx="384048" cy="384048"/>
          </a:xfrm>
          <a:prstGeom prst="rect">
            <a:avLst/>
          </a:prstGeom>
        </p:spPr>
      </p:pic>
      <p:sp>
        <p:nvSpPr>
          <p:cNvPr id="13" name="Text 8"/>
          <p:cNvSpPr txBox="1"/>
          <p:nvPr/>
        </p:nvSpPr>
        <p:spPr>
          <a:xfrm>
            <a:off x="8759952" y="1444752"/>
            <a:ext cx="2651760" cy="411480"/>
          </a:xfrm>
          <a:prstGeom prst="rect">
            <a:avLst/>
          </a:prstGeom>
          <a:noFill/>
          <a:ln/>
        </p:spPr>
        <p:txBody>
          <a:bodyPr wrap="square" lIns="0" tIns="0" rIns="0" bIns="0" rtlCol="0" anchor="ctr"/>
          <a:lstStyle/>
          <a:p>
            <a:pPr indent="0" marL="0">
              <a:buNone/>
            </a:pPr>
            <a:r>
              <a:rPr lang="en-US" sz="1600" b="1" dirty="0">
                <a:solidFill>
                  <a:srgbClr val="003668"/>
                </a:solidFill>
              </a:rPr>
              <a:t>The Visitors’ Festival</a:t>
            </a:r>
            <a:endParaRPr lang="en-US" sz="1600" dirty="0"/>
          </a:p>
        </p:txBody>
      </p:sp>
      <p:sp>
        <p:nvSpPr>
          <p:cNvPr id="14" name="Text 9"/>
          <p:cNvSpPr txBox="1"/>
          <p:nvPr/>
        </p:nvSpPr>
        <p:spPr>
          <a:xfrm>
            <a:off x="8275320" y="1901952"/>
            <a:ext cx="3108960" cy="1463040"/>
          </a:xfrm>
          <a:prstGeom prst="rect">
            <a:avLst/>
          </a:prstGeom>
          <a:noFill/>
          <a:ln/>
        </p:spPr>
        <p:txBody>
          <a:bodyPr wrap="square" lIns="0" tIns="0" rIns="0" bIns="0" rtlCol="0" anchor="t"/>
          <a:lstStyle/>
          <a:p>
            <a:pPr indent="0" marL="0">
              <a:buNone/>
            </a:pPr>
            <a:r>
              <a:rPr lang="en-US" sz="1400" dirty="0">
                <a:solidFill>
                  <a:srgbClr val="1E2329"/>
                </a:solidFill>
              </a:rPr>
              <a:t>An exemplary First, Second and Third Degree each year, chosen for newly initiated, passed and raised Brethren to see as visitors.</a:t>
            </a:r>
            <a:endParaRPr lang="en-US" sz="1400" dirty="0"/>
          </a:p>
        </p:txBody>
      </p:sp>
      <p:sp>
        <p:nvSpPr>
          <p:cNvPr id="15" name="Card Your guides"/>
          <p:cNvSpPr/>
          <p:nvPr/>
        </p:nvSpPr>
        <p:spPr>
          <a:xfrm>
            <a:off x="548640" y="3611880"/>
            <a:ext cx="3566160" cy="2240280"/>
          </a:xfrm>
          <a:prstGeom prst="roundRect">
            <a:avLst>
              <a:gd name="adj" fmla="val 3265"/>
            </a:avLst>
          </a:prstGeom>
          <a:solidFill>
            <a:srgbClr val="F2F7FC"/>
          </a:solidFill>
          <a:ln w="12700">
            <a:solidFill>
              <a:srgbClr val="F2F7FC"/>
            </a:solidFill>
            <a:prstDash val="solid"/>
          </a:ln>
        </p:spPr>
      </p:sp>
      <p:pic>
        <p:nvPicPr>
          <p:cNvPr id="16" name="Image 3" descr="preencoded.png">    </p:cNvPr>
          <p:cNvPicPr>
            <a:picLocks noChangeAspect="1"/>
          </p:cNvPicPr>
          <p:nvPr/>
        </p:nvPicPr>
        <p:blipFill>
          <a:blip r:embed="rId4"/>
          <a:stretch>
            <a:fillRect/>
          </a:stretch>
        </p:blipFill>
        <p:spPr>
          <a:xfrm>
            <a:off x="749808" y="3794760"/>
            <a:ext cx="384048" cy="384048"/>
          </a:xfrm>
          <a:prstGeom prst="rect">
            <a:avLst/>
          </a:prstGeom>
        </p:spPr>
      </p:pic>
      <p:sp>
        <p:nvSpPr>
          <p:cNvPr id="17" name="Text 11"/>
          <p:cNvSpPr txBox="1"/>
          <p:nvPr/>
        </p:nvSpPr>
        <p:spPr>
          <a:xfrm>
            <a:off x="1261872" y="3776472"/>
            <a:ext cx="2651760" cy="411480"/>
          </a:xfrm>
          <a:prstGeom prst="rect">
            <a:avLst/>
          </a:prstGeom>
          <a:noFill/>
          <a:ln/>
        </p:spPr>
        <p:txBody>
          <a:bodyPr wrap="square" lIns="0" tIns="0" rIns="0" bIns="0" rtlCol="0" anchor="ctr"/>
          <a:lstStyle/>
          <a:p>
            <a:pPr indent="0" marL="0">
              <a:buNone/>
            </a:pPr>
            <a:r>
              <a:rPr lang="en-US" sz="1600" b="1" dirty="0">
                <a:solidFill>
                  <a:srgbClr val="003668"/>
                </a:solidFill>
              </a:rPr>
              <a:t>Your guides</a:t>
            </a:r>
            <a:endParaRPr lang="en-US" sz="1600" dirty="0"/>
          </a:p>
        </p:txBody>
      </p:sp>
      <p:sp>
        <p:nvSpPr>
          <p:cNvPr id="18" name="Text 12"/>
          <p:cNvSpPr txBox="1"/>
          <p:nvPr/>
        </p:nvSpPr>
        <p:spPr>
          <a:xfrm>
            <a:off x="777240" y="4233672"/>
            <a:ext cx="3108960" cy="1508760"/>
          </a:xfrm>
          <a:prstGeom prst="rect">
            <a:avLst/>
          </a:prstGeom>
          <a:noFill/>
          <a:ln/>
        </p:spPr>
        <p:txBody>
          <a:bodyPr wrap="square" lIns="0" tIns="0" rIns="0" bIns="0" rtlCol="0" anchor="t"/>
          <a:lstStyle/>
          <a:p>
            <a:pPr indent="0" marL="0">
              <a:buNone/>
            </a:pPr>
            <a:r>
              <a:rPr lang="en-US" sz="1400" dirty="0">
                <a:solidFill>
                  <a:srgbClr val="1E2329"/>
                </a:solidFill>
              </a:rPr>
              <a:t>The Initiate’s, Fellow Craft’s and Master Mason’s Guides from UGLE, handed to you after each ceremony. Read them; then ask your mentor about anything in them.</a:t>
            </a:r>
            <a:endParaRPr lang="en-US" sz="1400" dirty="0"/>
          </a:p>
        </p:txBody>
      </p:sp>
      <p:sp>
        <p:nvSpPr>
          <p:cNvPr id="19" name="Card Talks and papers"/>
          <p:cNvSpPr/>
          <p:nvPr/>
        </p:nvSpPr>
        <p:spPr>
          <a:xfrm>
            <a:off x="4297680" y="3611880"/>
            <a:ext cx="3566160" cy="2240280"/>
          </a:xfrm>
          <a:prstGeom prst="roundRect">
            <a:avLst>
              <a:gd name="adj" fmla="val 3265"/>
            </a:avLst>
          </a:prstGeom>
          <a:solidFill>
            <a:srgbClr val="F2F7FC"/>
          </a:solidFill>
          <a:ln w="12700">
            <a:solidFill>
              <a:srgbClr val="F2F7FC"/>
            </a:solidFill>
            <a:prstDash val="solid"/>
          </a:ln>
        </p:spPr>
      </p:sp>
      <p:pic>
        <p:nvPicPr>
          <p:cNvPr id="20" name="Image 4" descr="preencoded.png">    </p:cNvPr>
          <p:cNvPicPr>
            <a:picLocks noChangeAspect="1"/>
          </p:cNvPicPr>
          <p:nvPr/>
        </p:nvPicPr>
        <p:blipFill>
          <a:blip r:embed="rId5"/>
          <a:stretch>
            <a:fillRect/>
          </a:stretch>
        </p:blipFill>
        <p:spPr>
          <a:xfrm>
            <a:off x="4498848" y="3794760"/>
            <a:ext cx="384048" cy="384048"/>
          </a:xfrm>
          <a:prstGeom prst="rect">
            <a:avLst/>
          </a:prstGeom>
        </p:spPr>
      </p:pic>
      <p:sp>
        <p:nvSpPr>
          <p:cNvPr id="21" name="Text 14"/>
          <p:cNvSpPr txBox="1"/>
          <p:nvPr/>
        </p:nvSpPr>
        <p:spPr>
          <a:xfrm>
            <a:off x="5010912" y="3776472"/>
            <a:ext cx="2651760" cy="411480"/>
          </a:xfrm>
          <a:prstGeom prst="rect">
            <a:avLst/>
          </a:prstGeom>
          <a:noFill/>
          <a:ln/>
        </p:spPr>
        <p:txBody>
          <a:bodyPr wrap="square" lIns="0" tIns="0" rIns="0" bIns="0" rtlCol="0" anchor="ctr"/>
          <a:lstStyle/>
          <a:p>
            <a:pPr indent="0" marL="0">
              <a:buNone/>
            </a:pPr>
            <a:r>
              <a:rPr lang="en-US" sz="1600" b="1" dirty="0">
                <a:solidFill>
                  <a:srgbClr val="003668"/>
                </a:solidFill>
              </a:rPr>
              <a:t>Talks and papers</a:t>
            </a:r>
            <a:endParaRPr lang="en-US" sz="1600" dirty="0"/>
          </a:p>
        </p:txBody>
      </p:sp>
      <p:sp>
        <p:nvSpPr>
          <p:cNvPr id="22" name="Text 15"/>
          <p:cNvSpPr txBox="1"/>
          <p:nvPr/>
        </p:nvSpPr>
        <p:spPr>
          <a:xfrm>
            <a:off x="4526280" y="4233672"/>
            <a:ext cx="3108960" cy="1508760"/>
          </a:xfrm>
          <a:prstGeom prst="rect">
            <a:avLst/>
          </a:prstGeom>
          <a:noFill/>
          <a:ln/>
        </p:spPr>
        <p:txBody>
          <a:bodyPr wrap="square" lIns="0" tIns="0" rIns="0" bIns="0" rtlCol="0" anchor="t"/>
          <a:lstStyle/>
          <a:p>
            <a:pPr indent="0" marL="0">
              <a:buNone/>
            </a:pPr>
            <a:r>
              <a:rPr lang="en-US" sz="1400" dirty="0">
                <a:solidFill>
                  <a:srgbClr val="1E2329"/>
                </a:solidFill>
              </a:rPr>
              <a:t>Many Lodges host a speaker when there is no ceremony. Solomon has hundreds of papers you can read or present yourself; a ten-minute Nugget is a good first piece of work in Lodge.</a:t>
            </a:r>
            <a:endParaRPr lang="en-US" sz="1400" dirty="0"/>
          </a:p>
        </p:txBody>
      </p:sp>
      <p:sp>
        <p:nvSpPr>
          <p:cNvPr id="23" name="Card Ask"/>
          <p:cNvSpPr/>
          <p:nvPr/>
        </p:nvSpPr>
        <p:spPr>
          <a:xfrm>
            <a:off x="8046720" y="3611880"/>
            <a:ext cx="3566160" cy="2240280"/>
          </a:xfrm>
          <a:prstGeom prst="roundRect">
            <a:avLst>
              <a:gd name="adj" fmla="val 3265"/>
            </a:avLst>
          </a:prstGeom>
          <a:solidFill>
            <a:srgbClr val="F2F7FC"/>
          </a:solidFill>
          <a:ln w="12700">
            <a:solidFill>
              <a:srgbClr val="F2F7FC"/>
            </a:solidFill>
            <a:prstDash val="solid"/>
          </a:ln>
        </p:spPr>
      </p:sp>
      <p:pic>
        <p:nvPicPr>
          <p:cNvPr id="24" name="Image 5" descr="preencoded.png">    </p:cNvPr>
          <p:cNvPicPr>
            <a:picLocks noChangeAspect="1"/>
          </p:cNvPicPr>
          <p:nvPr/>
        </p:nvPicPr>
        <p:blipFill>
          <a:blip r:embed="rId6"/>
          <a:stretch>
            <a:fillRect/>
          </a:stretch>
        </p:blipFill>
        <p:spPr>
          <a:xfrm>
            <a:off x="8247888" y="3794760"/>
            <a:ext cx="384048" cy="384048"/>
          </a:xfrm>
          <a:prstGeom prst="rect">
            <a:avLst/>
          </a:prstGeom>
        </p:spPr>
      </p:pic>
      <p:sp>
        <p:nvSpPr>
          <p:cNvPr id="25" name="Text 17"/>
          <p:cNvSpPr txBox="1"/>
          <p:nvPr/>
        </p:nvSpPr>
        <p:spPr>
          <a:xfrm>
            <a:off x="8759952" y="3776472"/>
            <a:ext cx="2651760" cy="411480"/>
          </a:xfrm>
          <a:prstGeom prst="rect">
            <a:avLst/>
          </a:prstGeom>
          <a:noFill/>
          <a:ln/>
        </p:spPr>
        <p:txBody>
          <a:bodyPr wrap="square" lIns="0" tIns="0" rIns="0" bIns="0" rtlCol="0" anchor="ctr"/>
          <a:lstStyle/>
          <a:p>
            <a:pPr indent="0" marL="0">
              <a:buNone/>
            </a:pPr>
            <a:r>
              <a:rPr lang="en-US" sz="1600" b="1" dirty="0">
                <a:solidFill>
                  <a:srgbClr val="003668"/>
                </a:solidFill>
              </a:rPr>
              <a:t>Ask</a:t>
            </a:r>
            <a:endParaRPr lang="en-US" sz="1600" dirty="0"/>
          </a:p>
        </p:txBody>
      </p:sp>
      <p:sp>
        <p:nvSpPr>
          <p:cNvPr id="26" name="Text 18"/>
          <p:cNvSpPr txBox="1"/>
          <p:nvPr/>
        </p:nvSpPr>
        <p:spPr>
          <a:xfrm>
            <a:off x="8275320" y="4233672"/>
            <a:ext cx="3108960" cy="1508760"/>
          </a:xfrm>
          <a:prstGeom prst="rect">
            <a:avLst/>
          </a:prstGeom>
          <a:noFill/>
          <a:ln/>
        </p:spPr>
        <p:txBody>
          <a:bodyPr wrap="square" lIns="0" tIns="0" rIns="0" bIns="0" rtlCol="0" anchor="t"/>
          <a:lstStyle/>
          <a:p>
            <a:pPr indent="0" marL="0">
              <a:buNone/>
            </a:pPr>
            <a:r>
              <a:rPr lang="en-US" sz="1400" dirty="0">
                <a:solidFill>
                  <a:srgbClr val="1E2329"/>
                </a:solidFill>
              </a:rPr>
              <a:t>The Brother next to you at the Festive Board has forgotten more than you have learned. He will be delighted to be asked. That is what the Festive Board is for.</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Number"/>
          <p:cNvSpPr txBox="1"/>
          <p:nvPr/>
        </p:nvSpPr>
        <p:spPr>
          <a:xfrm>
            <a:off x="822960" y="1463040"/>
            <a:ext cx="2011680" cy="2011680"/>
          </a:xfrm>
          <a:prstGeom prst="rect">
            <a:avLst/>
          </a:prstGeom>
          <a:noFill/>
          <a:ln/>
        </p:spPr>
        <p:txBody>
          <a:bodyPr wrap="square" lIns="0" tIns="0" rIns="0" bIns="0" rtlCol="0" anchor="ctr"/>
          <a:lstStyle/>
          <a:p>
            <a:pPr indent="0" marL="0">
              <a:buNone/>
            </a:pPr>
            <a:r>
              <a:rPr lang="en-US" sz="12000" b="1" dirty="0">
                <a:solidFill>
                  <a:srgbClr val="8FD3D1"/>
                </a:solidFill>
              </a:rPr>
              <a:t>3</a:t>
            </a:r>
            <a:endParaRPr lang="en-US" sz="12000" dirty="0"/>
          </a:p>
        </p:txBody>
      </p:sp>
      <p:sp>
        <p:nvSpPr>
          <p:cNvPr id="3" name="Section title"/>
          <p:cNvSpPr txBox="1"/>
          <p:nvPr/>
        </p:nvSpPr>
        <p:spPr>
          <a:xfrm>
            <a:off x="3108960" y="1737360"/>
            <a:ext cx="8229600" cy="1097280"/>
          </a:xfrm>
          <a:prstGeom prst="rect">
            <a:avLst/>
          </a:prstGeom>
          <a:noFill/>
          <a:ln/>
        </p:spPr>
        <p:txBody>
          <a:bodyPr wrap="square" lIns="0" tIns="0" rIns="0" bIns="0" rtlCol="0" anchor="ctr"/>
          <a:lstStyle/>
          <a:p>
            <a:pPr indent="0" marL="0">
              <a:buNone/>
            </a:pPr>
            <a:r>
              <a:rPr lang="en-US" sz="4400" b="1" dirty="0">
                <a:solidFill>
                  <a:srgbClr val="FFFFFF"/>
                </a:solidFill>
              </a:rPr>
              <a:t>Fleet House Light Blues Club</a:t>
            </a:r>
            <a:endParaRPr lang="en-US" sz="4400" dirty="0"/>
          </a:p>
        </p:txBody>
      </p:sp>
      <p:sp>
        <p:nvSpPr>
          <p:cNvPr id="4" name="Section subtitle"/>
          <p:cNvSpPr txBox="1"/>
          <p:nvPr/>
        </p:nvSpPr>
        <p:spPr>
          <a:xfrm>
            <a:off x="3108960" y="2834640"/>
            <a:ext cx="8229600" cy="731520"/>
          </a:xfrm>
          <a:prstGeom prst="rect">
            <a:avLst/>
          </a:prstGeom>
          <a:noFill/>
          <a:ln/>
        </p:spPr>
        <p:txBody>
          <a:bodyPr wrap="square" lIns="0" tIns="0" rIns="0" bIns="0" rtlCol="0" anchor="t"/>
          <a:lstStyle/>
          <a:p>
            <a:pPr indent="0" marL="0">
              <a:buNone/>
            </a:pPr>
            <a:r>
              <a:rPr lang="en-US" sz="1800" dirty="0">
                <a:solidFill>
                  <a:srgbClr val="BFD6EA"/>
                </a:solidFill>
              </a:rPr>
              <a:t>Your club: for every Brother in a white or light blue apron, from tonight</a:t>
            </a:r>
            <a:endParaRPr lang="en-US" sz="1800" dirty="0"/>
          </a:p>
        </p:txBody>
      </p:sp>
      <p:sp>
        <p:nvSpPr>
          <p:cNvPr id="5" name="Presenter"/>
          <p:cNvSpPr txBox="1"/>
          <p:nvPr/>
        </p:nvSpPr>
        <p:spPr>
          <a:xfrm>
            <a:off x="3108960" y="3931920"/>
            <a:ext cx="8229600" cy="457200"/>
          </a:xfrm>
          <a:prstGeom prst="rect">
            <a:avLst/>
          </a:prstGeom>
          <a:noFill/>
          <a:ln/>
        </p:spPr>
        <p:txBody>
          <a:bodyPr wrap="square" lIns="0" tIns="0" rIns="0" bIns="0" rtlCol="0" anchor="ctr"/>
          <a:lstStyle/>
          <a:p>
            <a:pPr indent="0" marL="0">
              <a:buNone/>
            </a:pPr>
            <a:r>
              <a:rPr lang="en-US" sz="1600" b="1" dirty="0">
                <a:solidFill>
                  <a:srgbClr val="FFFFFF"/>
                </a:solidFill>
              </a:rPr>
              <a:t>Bro Aaron Ball, FHLBC Communications Officer</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The club for the first part of your journey</a:t>
            </a:r>
            <a:endParaRPr lang="en-US" sz="3200" dirty="0"/>
          </a:p>
        </p:txBody>
      </p:sp>
      <p:sp>
        <p:nvSpPr>
          <p:cNvPr id="3" name="Lead"/>
          <p:cNvSpPr txBox="1"/>
          <p:nvPr/>
        </p:nvSpPr>
        <p:spPr>
          <a:xfrm>
            <a:off x="548640" y="1280160"/>
            <a:ext cx="11064240" cy="1005840"/>
          </a:xfrm>
          <a:prstGeom prst="rect">
            <a:avLst/>
          </a:prstGeom>
          <a:noFill/>
          <a:ln/>
        </p:spPr>
        <p:txBody>
          <a:bodyPr wrap="square" lIns="0" tIns="0" rIns="0" bIns="0" rtlCol="0" anchor="t"/>
          <a:lstStyle/>
          <a:p>
            <a:pPr indent="0" marL="0">
              <a:buNone/>
            </a:pPr>
            <a:r>
              <a:rPr lang="en-US" sz="1600" dirty="0">
                <a:solidFill>
                  <a:srgbClr val="1E2329"/>
                </a:solidFill>
              </a:rPr>
              <a:t>The Fleet House Light Blues Club exists to engage and support Brethren early in their Masonic life, through events you choose to attend. It is run by its members, for its members, and it is where most new Masons in Hertfordshire make their first friends outside their own Lodge.</a:t>
            </a:r>
            <a:endParaRPr lang="en-US" sz="1600" dirty="0"/>
          </a:p>
        </p:txBody>
      </p:sp>
      <p:sp>
        <p:nvSpPr>
          <p:cNvPr id="4" name="Card Explore"/>
          <p:cNvSpPr/>
          <p:nvPr/>
        </p:nvSpPr>
        <p:spPr>
          <a:xfrm>
            <a:off x="548640" y="2514600"/>
            <a:ext cx="3566160" cy="3337560"/>
          </a:xfrm>
          <a:prstGeom prst="roundRect">
            <a:avLst>
              <a:gd name="adj" fmla="val 2192"/>
            </a:avLst>
          </a:prstGeom>
          <a:solidFill>
            <a:srgbClr val="F2F7FC"/>
          </a:solidFill>
          <a:ln w="12700">
            <a:solidFill>
              <a:srgbClr val="F2F7FC"/>
            </a:solidFill>
            <a:prstDash val="solid"/>
          </a:ln>
        </p:spPr>
      </p:sp>
      <p:pic>
        <p:nvPicPr>
          <p:cNvPr id="5" name="Image 0" descr="preencoded.png">    </p:cNvPr>
          <p:cNvPicPr>
            <a:picLocks noChangeAspect="1"/>
          </p:cNvPicPr>
          <p:nvPr/>
        </p:nvPicPr>
        <p:blipFill>
          <a:blip r:embed="rId1"/>
          <a:stretch>
            <a:fillRect/>
          </a:stretch>
        </p:blipFill>
        <p:spPr>
          <a:xfrm>
            <a:off x="749808" y="2697480"/>
            <a:ext cx="384048" cy="384048"/>
          </a:xfrm>
          <a:prstGeom prst="rect">
            <a:avLst/>
          </a:prstGeom>
        </p:spPr>
      </p:pic>
      <p:sp>
        <p:nvSpPr>
          <p:cNvPr id="6" name="Text 3"/>
          <p:cNvSpPr txBox="1"/>
          <p:nvPr/>
        </p:nvSpPr>
        <p:spPr>
          <a:xfrm>
            <a:off x="1261872" y="2679192"/>
            <a:ext cx="2651760" cy="411480"/>
          </a:xfrm>
          <a:prstGeom prst="rect">
            <a:avLst/>
          </a:prstGeom>
          <a:noFill/>
          <a:ln/>
        </p:spPr>
        <p:txBody>
          <a:bodyPr wrap="square" lIns="0" tIns="0" rIns="0" bIns="0" rtlCol="0" anchor="ctr"/>
          <a:lstStyle/>
          <a:p>
            <a:pPr indent="0" marL="0">
              <a:buNone/>
            </a:pPr>
            <a:r>
              <a:rPr lang="en-US" sz="1600" b="1" dirty="0">
                <a:solidFill>
                  <a:srgbClr val="003668"/>
                </a:solidFill>
              </a:rPr>
              <a:t>Explore</a:t>
            </a:r>
            <a:endParaRPr lang="en-US" sz="1600" dirty="0"/>
          </a:p>
        </p:txBody>
      </p:sp>
      <p:sp>
        <p:nvSpPr>
          <p:cNvPr id="7" name="Text 4"/>
          <p:cNvSpPr txBox="1"/>
          <p:nvPr/>
        </p:nvSpPr>
        <p:spPr>
          <a:xfrm>
            <a:off x="777240" y="3136392"/>
            <a:ext cx="3108960" cy="260604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1E2329"/>
                </a:solidFill>
              </a:rPr>
              <a:t>Invitations to Lodge meetings across Hertfordshire</a:t>
            </a:r>
            <a:endParaRPr lang="en-US" sz="1500" dirty="0"/>
          </a:p>
          <a:p>
            <a:pPr marL="203200" indent="-203200">
              <a:spcAft>
                <a:spcPts val="400"/>
              </a:spcAft>
              <a:buSzPct val="100000"/>
              <a:buChar char="■"/>
            </a:pPr>
            <a:r>
              <a:rPr lang="en-US" sz="1500" dirty="0">
                <a:solidFill>
                  <a:srgbClr val="1E2329"/>
                </a:solidFill>
              </a:rPr>
              <a:t>Special ceremonies and Festive Boards, as a group of light blues with a host Lodge expecting you</a:t>
            </a:r>
            <a:endParaRPr lang="en-US" sz="1500" dirty="0"/>
          </a:p>
          <a:p>
            <a:pPr marL="203200" indent="-203200">
              <a:spcAft>
                <a:spcPts val="400"/>
              </a:spcAft>
              <a:buSzPct val="100000"/>
              <a:buChar char="■"/>
            </a:pPr>
            <a:r>
              <a:rPr lang="en-US" sz="1500" dirty="0">
                <a:solidFill>
                  <a:srgbClr val="1E2329"/>
                </a:solidFill>
              </a:rPr>
              <a:t>The easy way to start visiting</a:t>
            </a:r>
            <a:endParaRPr lang="en-US" sz="1500" dirty="0"/>
          </a:p>
        </p:txBody>
      </p:sp>
      <p:sp>
        <p:nvSpPr>
          <p:cNvPr id="8" name="Card Discover"/>
          <p:cNvSpPr/>
          <p:nvPr/>
        </p:nvSpPr>
        <p:spPr>
          <a:xfrm>
            <a:off x="4297680" y="2514600"/>
            <a:ext cx="3566160" cy="3337560"/>
          </a:xfrm>
          <a:prstGeom prst="roundRect">
            <a:avLst>
              <a:gd name="adj" fmla="val 2192"/>
            </a:avLst>
          </a:prstGeom>
          <a:solidFill>
            <a:srgbClr val="F2F7FC"/>
          </a:solidFill>
          <a:ln w="12700">
            <a:solidFill>
              <a:srgbClr val="F2F7FC"/>
            </a:solidFill>
            <a:prstDash val="solid"/>
          </a:ln>
        </p:spPr>
      </p:sp>
      <p:pic>
        <p:nvPicPr>
          <p:cNvPr id="9" name="Image 1" descr="preencoded.png">    </p:cNvPr>
          <p:cNvPicPr>
            <a:picLocks noChangeAspect="1"/>
          </p:cNvPicPr>
          <p:nvPr/>
        </p:nvPicPr>
        <p:blipFill>
          <a:blip r:embed="rId2"/>
          <a:stretch>
            <a:fillRect/>
          </a:stretch>
        </p:blipFill>
        <p:spPr>
          <a:xfrm>
            <a:off x="4498848" y="2697480"/>
            <a:ext cx="384048" cy="384048"/>
          </a:xfrm>
          <a:prstGeom prst="rect">
            <a:avLst/>
          </a:prstGeom>
        </p:spPr>
      </p:pic>
      <p:sp>
        <p:nvSpPr>
          <p:cNvPr id="10" name="Text 6"/>
          <p:cNvSpPr txBox="1"/>
          <p:nvPr/>
        </p:nvSpPr>
        <p:spPr>
          <a:xfrm>
            <a:off x="5010912" y="2679192"/>
            <a:ext cx="2651760" cy="411480"/>
          </a:xfrm>
          <a:prstGeom prst="rect">
            <a:avLst/>
          </a:prstGeom>
          <a:noFill/>
          <a:ln/>
        </p:spPr>
        <p:txBody>
          <a:bodyPr wrap="square" lIns="0" tIns="0" rIns="0" bIns="0" rtlCol="0" anchor="ctr"/>
          <a:lstStyle/>
          <a:p>
            <a:pPr indent="0" marL="0">
              <a:buNone/>
            </a:pPr>
            <a:r>
              <a:rPr lang="en-US" sz="1600" b="1" dirty="0">
                <a:solidFill>
                  <a:srgbClr val="106576"/>
                </a:solidFill>
              </a:rPr>
              <a:t>Discover</a:t>
            </a:r>
            <a:endParaRPr lang="en-US" sz="1600" dirty="0"/>
          </a:p>
        </p:txBody>
      </p:sp>
      <p:sp>
        <p:nvSpPr>
          <p:cNvPr id="11" name="Text 7"/>
          <p:cNvSpPr txBox="1"/>
          <p:nvPr/>
        </p:nvSpPr>
        <p:spPr>
          <a:xfrm>
            <a:off x="4526280" y="3136392"/>
            <a:ext cx="3108960" cy="260604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1E2329"/>
                </a:solidFill>
              </a:rPr>
              <a:t>Trips to Masonic landmarks and tours</a:t>
            </a:r>
            <a:endParaRPr lang="en-US" sz="1500" dirty="0"/>
          </a:p>
          <a:p>
            <a:pPr marL="203200" indent="-203200">
              <a:spcAft>
                <a:spcPts val="400"/>
              </a:spcAft>
              <a:buSzPct val="100000"/>
              <a:buChar char="■"/>
            </a:pPr>
            <a:r>
              <a:rPr lang="en-US" sz="1500" dirty="0">
                <a:solidFill>
                  <a:srgbClr val="1E2329"/>
                </a:solidFill>
              </a:rPr>
              <a:t>Talks by guest speakers</a:t>
            </a:r>
            <a:endParaRPr lang="en-US" sz="1500" dirty="0"/>
          </a:p>
          <a:p>
            <a:pPr marL="203200" indent="-203200">
              <a:spcAft>
                <a:spcPts val="400"/>
              </a:spcAft>
              <a:buSzPct val="100000"/>
              <a:buChar char="■"/>
            </a:pPr>
            <a:r>
              <a:rPr lang="en-US" sz="1500" dirty="0">
                <a:solidFill>
                  <a:srgbClr val="1E2329"/>
                </a:solidFill>
              </a:rPr>
              <a:t>Demonstrations, such as the Emulation Lodge of Improvement at Freemasons’ Hall</a:t>
            </a:r>
            <a:endParaRPr lang="en-US" sz="1500" dirty="0"/>
          </a:p>
        </p:txBody>
      </p:sp>
      <p:sp>
        <p:nvSpPr>
          <p:cNvPr id="12" name="Card Engage"/>
          <p:cNvSpPr/>
          <p:nvPr/>
        </p:nvSpPr>
        <p:spPr>
          <a:xfrm>
            <a:off x="8046720" y="2514600"/>
            <a:ext cx="3566160" cy="3337560"/>
          </a:xfrm>
          <a:prstGeom prst="roundRect">
            <a:avLst>
              <a:gd name="adj" fmla="val 2192"/>
            </a:avLst>
          </a:prstGeom>
          <a:solidFill>
            <a:srgbClr val="F2F7FC"/>
          </a:solidFill>
          <a:ln w="12700">
            <a:solidFill>
              <a:srgbClr val="F2F7FC"/>
            </a:solidFill>
            <a:prstDash val="solid"/>
          </a:ln>
        </p:spPr>
      </p:sp>
      <p:pic>
        <p:nvPicPr>
          <p:cNvPr id="13" name="Image 2" descr="preencoded.png">    </p:cNvPr>
          <p:cNvPicPr>
            <a:picLocks noChangeAspect="1"/>
          </p:cNvPicPr>
          <p:nvPr/>
        </p:nvPicPr>
        <p:blipFill>
          <a:blip r:embed="rId3"/>
          <a:stretch>
            <a:fillRect/>
          </a:stretch>
        </p:blipFill>
        <p:spPr>
          <a:xfrm>
            <a:off x="8247888" y="2697480"/>
            <a:ext cx="384048" cy="384048"/>
          </a:xfrm>
          <a:prstGeom prst="rect">
            <a:avLst/>
          </a:prstGeom>
        </p:spPr>
      </p:pic>
      <p:sp>
        <p:nvSpPr>
          <p:cNvPr id="14" name="Text 9"/>
          <p:cNvSpPr txBox="1"/>
          <p:nvPr/>
        </p:nvSpPr>
        <p:spPr>
          <a:xfrm>
            <a:off x="8759952" y="2679192"/>
            <a:ext cx="2651760" cy="411480"/>
          </a:xfrm>
          <a:prstGeom prst="rect">
            <a:avLst/>
          </a:prstGeom>
          <a:noFill/>
          <a:ln/>
        </p:spPr>
        <p:txBody>
          <a:bodyPr wrap="square" lIns="0" tIns="0" rIns="0" bIns="0" rtlCol="0" anchor="ctr"/>
          <a:lstStyle/>
          <a:p>
            <a:pPr indent="0" marL="0">
              <a:buNone/>
            </a:pPr>
            <a:r>
              <a:rPr lang="en-US" sz="1600" b="1" dirty="0">
                <a:solidFill>
                  <a:srgbClr val="157A7C"/>
                </a:solidFill>
              </a:rPr>
              <a:t>Engage</a:t>
            </a:r>
            <a:endParaRPr lang="en-US" sz="1600" dirty="0"/>
          </a:p>
        </p:txBody>
      </p:sp>
      <p:sp>
        <p:nvSpPr>
          <p:cNvPr id="15" name="Text 10"/>
          <p:cNvSpPr txBox="1"/>
          <p:nvPr/>
        </p:nvSpPr>
        <p:spPr>
          <a:xfrm>
            <a:off x="8275320" y="3136392"/>
            <a:ext cx="3108960" cy="260604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1E2329"/>
                </a:solidFill>
              </a:rPr>
              <a:t>Relaxed social events</a:t>
            </a:r>
            <a:endParaRPr lang="en-US" sz="1500" dirty="0"/>
          </a:p>
          <a:p>
            <a:pPr marL="203200" indent="-203200">
              <a:spcAft>
                <a:spcPts val="400"/>
              </a:spcAft>
              <a:buSzPct val="100000"/>
              <a:buChar char="■"/>
            </a:pPr>
            <a:r>
              <a:rPr lang="en-US" sz="1500" dirty="0">
                <a:solidFill>
                  <a:srgbClr val="1E2329"/>
                </a:solidFill>
              </a:rPr>
              <a:t>A members-only WhatsApp group</a:t>
            </a:r>
            <a:endParaRPr lang="en-US" sz="1500" dirty="0"/>
          </a:p>
          <a:p>
            <a:pPr marL="203200" indent="-203200">
              <a:spcAft>
                <a:spcPts val="400"/>
              </a:spcAft>
              <a:buSzPct val="100000"/>
              <a:buChar char="■"/>
            </a:pPr>
            <a:r>
              <a:rPr lang="en-US" sz="1500" dirty="0">
                <a:solidFill>
                  <a:srgbClr val="1E2329"/>
                </a:solidFill>
              </a:rPr>
              <a:t>A newsletter with reports and Masonic news</a:t>
            </a:r>
            <a:endParaRPr lang="en-US" sz="1500" dirty="0"/>
          </a:p>
          <a:p>
            <a:pPr marL="203200" indent="-203200">
              <a:spcAft>
                <a:spcPts val="400"/>
              </a:spcAft>
              <a:buSzPct val="100000"/>
              <a:buChar char="■"/>
            </a:pPr>
            <a:r>
              <a:rPr lang="en-US" sz="1500" dirty="0">
                <a:solidFill>
                  <a:srgbClr val="1E2329"/>
                </a:solidFill>
              </a:rPr>
              <a:t>A committee of Brethren who were new not long ago</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Who can join, and what it costs</a:t>
            </a:r>
            <a:endParaRPr lang="en-US" sz="3200" dirty="0"/>
          </a:p>
        </p:txBody>
      </p:sp>
      <p:sp>
        <p:nvSpPr>
          <p:cNvPr id="3" name="Card Who"/>
          <p:cNvSpPr/>
          <p:nvPr/>
        </p:nvSpPr>
        <p:spPr>
          <a:xfrm>
            <a:off x="548640" y="1280160"/>
            <a:ext cx="5486400" cy="2377440"/>
          </a:xfrm>
          <a:prstGeom prst="roundRect">
            <a:avLst>
              <a:gd name="adj" fmla="val 3077"/>
            </a:avLst>
          </a:prstGeom>
          <a:solidFill>
            <a:srgbClr val="F2F7FC"/>
          </a:solidFill>
          <a:ln w="12700">
            <a:solidFill>
              <a:srgbClr val="F2F7FC"/>
            </a:solidFill>
            <a:prstDash val="solid"/>
          </a:ln>
        </p:spPr>
      </p:sp>
      <p:pic>
        <p:nvPicPr>
          <p:cNvPr id="4" name="Image 0" descr="preencoded.png">    </p:cNvPr>
          <p:cNvPicPr>
            <a:picLocks noChangeAspect="1"/>
          </p:cNvPicPr>
          <p:nvPr/>
        </p:nvPicPr>
        <p:blipFill>
          <a:blip r:embed="rId1"/>
          <a:stretch>
            <a:fillRect/>
          </a:stretch>
        </p:blipFill>
        <p:spPr>
          <a:xfrm>
            <a:off x="749808" y="1463040"/>
            <a:ext cx="384048" cy="384048"/>
          </a:xfrm>
          <a:prstGeom prst="rect">
            <a:avLst/>
          </a:prstGeom>
        </p:spPr>
      </p:pic>
      <p:sp>
        <p:nvSpPr>
          <p:cNvPr id="5" name="Text 2"/>
          <p:cNvSpPr txBox="1"/>
          <p:nvPr/>
        </p:nvSpPr>
        <p:spPr>
          <a:xfrm>
            <a:off x="1261872" y="1444752"/>
            <a:ext cx="4572000" cy="411480"/>
          </a:xfrm>
          <a:prstGeom prst="rect">
            <a:avLst/>
          </a:prstGeom>
          <a:noFill/>
          <a:ln/>
        </p:spPr>
        <p:txBody>
          <a:bodyPr wrap="square" lIns="0" tIns="0" rIns="0" bIns="0" rtlCol="0" anchor="ctr"/>
          <a:lstStyle/>
          <a:p>
            <a:pPr indent="0" marL="0">
              <a:buNone/>
            </a:pPr>
            <a:r>
              <a:rPr lang="en-US" sz="1600" b="1" dirty="0">
                <a:solidFill>
                  <a:srgbClr val="003668"/>
                </a:solidFill>
              </a:rPr>
              <a:t>Who</a:t>
            </a:r>
            <a:endParaRPr lang="en-US" sz="1600" dirty="0"/>
          </a:p>
        </p:txBody>
      </p:sp>
      <p:sp>
        <p:nvSpPr>
          <p:cNvPr id="6" name="Text 3"/>
          <p:cNvSpPr txBox="1"/>
          <p:nvPr/>
        </p:nvSpPr>
        <p:spPr>
          <a:xfrm>
            <a:off x="777240" y="1901952"/>
            <a:ext cx="5029200" cy="1645920"/>
          </a:xfrm>
          <a:prstGeom prst="rect">
            <a:avLst/>
          </a:prstGeom>
          <a:noFill/>
          <a:ln/>
        </p:spPr>
        <p:txBody>
          <a:bodyPr wrap="square" lIns="0" tIns="0" rIns="0" bIns="0" rtlCol="0" anchor="t"/>
          <a:lstStyle/>
          <a:p>
            <a:pPr marL="203200" indent="-203200">
              <a:spcAft>
                <a:spcPts val="400"/>
              </a:spcAft>
              <a:buSzPct val="100000"/>
              <a:buChar char="■"/>
            </a:pPr>
            <a:r>
              <a:rPr lang="en-US" sz="1350" dirty="0">
                <a:solidFill>
                  <a:srgbClr val="1E2329"/>
                </a:solidFill>
              </a:rPr>
              <a:t>Any Freemason who lives, works or meets in Hertfordshire</a:t>
            </a:r>
            <a:endParaRPr lang="en-US" sz="1350" dirty="0"/>
          </a:p>
          <a:p>
            <a:pPr marL="203200" indent="-203200">
              <a:spcAft>
                <a:spcPts val="400"/>
              </a:spcAft>
              <a:buSzPct val="100000"/>
              <a:buChar char="■"/>
            </a:pPr>
            <a:r>
              <a:rPr lang="en-US" sz="1350" dirty="0">
                <a:solidFill>
                  <a:srgbClr val="1E2329"/>
                </a:solidFill>
              </a:rPr>
              <a:t>Who has not received Provincial, Grand or Metropolitan rank, past or present, anywhere</a:t>
            </a:r>
            <a:endParaRPr lang="en-US" sz="1350" dirty="0"/>
          </a:p>
          <a:p>
            <a:pPr marL="203200" indent="-203200">
              <a:spcAft>
                <a:spcPts val="400"/>
              </a:spcAft>
              <a:buSzPct val="100000"/>
              <a:buChar char="■"/>
            </a:pPr>
            <a:r>
              <a:rPr lang="en-US" sz="1350" dirty="0">
                <a:solidFill>
                  <a:srgbClr val="1E2329"/>
                </a:solidFill>
              </a:rPr>
              <a:t>Entered Apprentice, Fellow Craft, Master Mason, Master or Past Master: if you wear a white or light blue apron, you are in</a:t>
            </a:r>
            <a:endParaRPr lang="en-US" sz="1350" dirty="0"/>
          </a:p>
          <a:p>
            <a:pPr marL="203200" indent="-203200">
              <a:spcAft>
                <a:spcPts val="400"/>
              </a:spcAft>
              <a:buSzPct val="100000"/>
              <a:buChar char="■"/>
            </a:pPr>
            <a:r>
              <a:rPr lang="en-US" sz="1350" dirty="0">
                <a:solidFill>
                  <a:srgbClr val="1E2329"/>
                </a:solidFill>
              </a:rPr>
              <a:t>Yes, an Entered Apprentice can join. Tonight.</a:t>
            </a:r>
            <a:endParaRPr lang="en-US" sz="1350" dirty="0"/>
          </a:p>
        </p:txBody>
      </p:sp>
      <p:sp>
        <p:nvSpPr>
          <p:cNvPr id="7" name="Card What it costs"/>
          <p:cNvSpPr/>
          <p:nvPr/>
        </p:nvSpPr>
        <p:spPr>
          <a:xfrm>
            <a:off x="6172200" y="1280160"/>
            <a:ext cx="5486400" cy="2377440"/>
          </a:xfrm>
          <a:prstGeom prst="roundRect">
            <a:avLst>
              <a:gd name="adj" fmla="val 3077"/>
            </a:avLst>
          </a:prstGeom>
          <a:solidFill>
            <a:srgbClr val="F2F7FC"/>
          </a:solidFill>
          <a:ln w="12700">
            <a:solidFill>
              <a:srgbClr val="F2F7FC"/>
            </a:solidFill>
            <a:prstDash val="solid"/>
          </a:ln>
        </p:spPr>
      </p:sp>
      <p:pic>
        <p:nvPicPr>
          <p:cNvPr id="8" name="Image 1" descr="preencoded.png">    </p:cNvPr>
          <p:cNvPicPr>
            <a:picLocks noChangeAspect="1"/>
          </p:cNvPicPr>
          <p:nvPr/>
        </p:nvPicPr>
        <p:blipFill>
          <a:blip r:embed="rId2"/>
          <a:stretch>
            <a:fillRect/>
          </a:stretch>
        </p:blipFill>
        <p:spPr>
          <a:xfrm>
            <a:off x="6373368" y="1463040"/>
            <a:ext cx="384048" cy="384048"/>
          </a:xfrm>
          <a:prstGeom prst="rect">
            <a:avLst/>
          </a:prstGeom>
        </p:spPr>
      </p:pic>
      <p:sp>
        <p:nvSpPr>
          <p:cNvPr id="9" name="Text 5"/>
          <p:cNvSpPr txBox="1"/>
          <p:nvPr/>
        </p:nvSpPr>
        <p:spPr>
          <a:xfrm>
            <a:off x="6885432" y="1444752"/>
            <a:ext cx="4572000" cy="411480"/>
          </a:xfrm>
          <a:prstGeom prst="rect">
            <a:avLst/>
          </a:prstGeom>
          <a:noFill/>
          <a:ln/>
        </p:spPr>
        <p:txBody>
          <a:bodyPr wrap="square" lIns="0" tIns="0" rIns="0" bIns="0" rtlCol="0" anchor="ctr"/>
          <a:lstStyle/>
          <a:p>
            <a:pPr indent="0" marL="0">
              <a:buNone/>
            </a:pPr>
            <a:r>
              <a:rPr lang="en-US" sz="1600" b="1" dirty="0">
                <a:solidFill>
                  <a:srgbClr val="003668"/>
                </a:solidFill>
              </a:rPr>
              <a:t>What it costs</a:t>
            </a:r>
            <a:endParaRPr lang="en-US" sz="1600" dirty="0"/>
          </a:p>
        </p:txBody>
      </p:sp>
      <p:sp>
        <p:nvSpPr>
          <p:cNvPr id="10" name="Text 6"/>
          <p:cNvSpPr txBox="1"/>
          <p:nvPr/>
        </p:nvSpPr>
        <p:spPr>
          <a:xfrm>
            <a:off x="6400800" y="1901952"/>
            <a:ext cx="5029200" cy="1645920"/>
          </a:xfrm>
          <a:prstGeom prst="rect">
            <a:avLst/>
          </a:prstGeom>
          <a:noFill/>
          <a:ln/>
        </p:spPr>
        <p:txBody>
          <a:bodyPr wrap="square" lIns="0" tIns="0" rIns="0" bIns="0" rtlCol="0" anchor="t"/>
          <a:lstStyle/>
          <a:p>
            <a:pPr marL="203200" indent="-203200">
              <a:spcAft>
                <a:spcPts val="400"/>
              </a:spcAft>
              <a:buSzPct val="100000"/>
              <a:buChar char="■"/>
            </a:pPr>
            <a:r>
              <a:rPr lang="en-US" sz="1350" dirty="0">
                <a:solidFill>
                  <a:srgbClr val="1E2329"/>
                </a:solidFill>
              </a:rPr>
              <a:t>Membership: £25 to join, then £10 a year</a:t>
            </a:r>
            <a:endParaRPr lang="en-US" sz="1350" dirty="0"/>
          </a:p>
          <a:p>
            <a:pPr marL="203200" indent="-203200">
              <a:spcAft>
                <a:spcPts val="400"/>
              </a:spcAft>
              <a:buSzPct val="100000"/>
              <a:buChar char="■"/>
            </a:pPr>
            <a:r>
              <a:rPr lang="en-US" sz="1350" dirty="0">
                <a:solidFill>
                  <a:srgbClr val="1E2329"/>
                </a:solidFill>
              </a:rPr>
              <a:t>Entered Apprentices: £10 a year</a:t>
            </a:r>
            <a:endParaRPr lang="en-US" sz="1350" dirty="0"/>
          </a:p>
          <a:p>
            <a:pPr marL="203200" indent="-203200">
              <a:spcAft>
                <a:spcPts val="400"/>
              </a:spcAft>
              <a:buSzPct val="100000"/>
              <a:buChar char="■"/>
            </a:pPr>
            <a:r>
              <a:rPr lang="en-US" sz="1350" dirty="0">
                <a:solidFill>
                  <a:srgbClr val="1E2329"/>
                </a:solidFill>
              </a:rPr>
              <a:t>Renewal: £10 a year</a:t>
            </a:r>
            <a:endParaRPr lang="en-US" sz="1350" dirty="0"/>
          </a:p>
          <a:p>
            <a:pPr marL="203200" indent="-203200">
              <a:spcAft>
                <a:spcPts val="400"/>
              </a:spcAft>
              <a:buSzPct val="100000"/>
              <a:buChar char="■"/>
            </a:pPr>
            <a:r>
              <a:rPr lang="en-US" sz="1350" dirty="0">
                <a:solidFill>
                  <a:srgbClr val="1E2329"/>
                </a:solidFill>
              </a:rPr>
              <a:t>You receive a welcome pack and the members’ pin, and an invitation to the WhatsApp group</a:t>
            </a:r>
            <a:endParaRPr lang="en-US" sz="1350" dirty="0"/>
          </a:p>
        </p:txBody>
      </p:sp>
      <p:sp>
        <p:nvSpPr>
          <p:cNvPr id="11" name="Card How to join: two minutes on your phone"/>
          <p:cNvSpPr/>
          <p:nvPr/>
        </p:nvSpPr>
        <p:spPr>
          <a:xfrm>
            <a:off x="548640" y="3794760"/>
            <a:ext cx="11109960" cy="2057400"/>
          </a:xfrm>
          <a:prstGeom prst="roundRect">
            <a:avLst>
              <a:gd name="adj" fmla="val 3556"/>
            </a:avLst>
          </a:prstGeom>
          <a:solidFill>
            <a:srgbClr val="E6F2F2"/>
          </a:solidFill>
          <a:ln w="12700">
            <a:solidFill>
              <a:srgbClr val="E6F2F2"/>
            </a:solidFill>
            <a:prstDash val="solid"/>
          </a:ln>
        </p:spPr>
      </p:sp>
      <p:pic>
        <p:nvPicPr>
          <p:cNvPr id="12" name="Image 2" descr="preencoded.png">    </p:cNvPr>
          <p:cNvPicPr>
            <a:picLocks noChangeAspect="1"/>
          </p:cNvPicPr>
          <p:nvPr/>
        </p:nvPicPr>
        <p:blipFill>
          <a:blip r:embed="rId3"/>
          <a:stretch>
            <a:fillRect/>
          </a:stretch>
        </p:blipFill>
        <p:spPr>
          <a:xfrm>
            <a:off x="749808" y="3977640"/>
            <a:ext cx="384048" cy="384048"/>
          </a:xfrm>
          <a:prstGeom prst="rect">
            <a:avLst/>
          </a:prstGeom>
        </p:spPr>
      </p:pic>
      <p:sp>
        <p:nvSpPr>
          <p:cNvPr id="13" name="Text 8"/>
          <p:cNvSpPr txBox="1"/>
          <p:nvPr/>
        </p:nvSpPr>
        <p:spPr>
          <a:xfrm>
            <a:off x="1261872" y="3959352"/>
            <a:ext cx="10195560" cy="411480"/>
          </a:xfrm>
          <a:prstGeom prst="rect">
            <a:avLst/>
          </a:prstGeom>
          <a:noFill/>
          <a:ln/>
        </p:spPr>
        <p:txBody>
          <a:bodyPr wrap="square" lIns="0" tIns="0" rIns="0" bIns="0" rtlCol="0" anchor="ctr"/>
          <a:lstStyle/>
          <a:p>
            <a:pPr indent="0" marL="0">
              <a:buNone/>
            </a:pPr>
            <a:r>
              <a:rPr lang="en-US" sz="1600" b="1" dirty="0">
                <a:solidFill>
                  <a:srgbClr val="003668"/>
                </a:solidFill>
              </a:rPr>
              <a:t>How to join: two minutes on your phone</a:t>
            </a:r>
            <a:endParaRPr lang="en-US" sz="1600" dirty="0"/>
          </a:p>
        </p:txBody>
      </p:sp>
      <p:sp>
        <p:nvSpPr>
          <p:cNvPr id="14" name="Text 9"/>
          <p:cNvSpPr txBox="1"/>
          <p:nvPr/>
        </p:nvSpPr>
        <p:spPr>
          <a:xfrm>
            <a:off x="777240" y="4416552"/>
            <a:ext cx="10652760" cy="132588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E2329"/>
                </a:solidFill>
              </a:rPr>
              <a:t>fhlbc.co.uk/join-us, choose the membership that applies to you, follow the payment instructions</a:t>
            </a:r>
            <a:endParaRPr lang="en-US" sz="1400" dirty="0"/>
          </a:p>
          <a:p>
            <a:pPr marL="203200" indent="-203200">
              <a:spcAft>
                <a:spcPts val="400"/>
              </a:spcAft>
              <a:buSzPct val="100000"/>
              <a:buChar char="■"/>
            </a:pPr>
            <a:r>
              <a:rPr lang="en-US" sz="1400" dirty="0">
                <a:solidFill>
                  <a:srgbClr val="1E2329"/>
                </a:solidFill>
              </a:rPr>
              <a:t>The welcome pack follows, with the WhatsApp invitation</a:t>
            </a:r>
            <a:endParaRPr lang="en-US" sz="1400" dirty="0"/>
          </a:p>
          <a:p>
            <a:pPr marL="203200" indent="-203200">
              <a:spcAft>
                <a:spcPts val="400"/>
              </a:spcAft>
              <a:buSzPct val="100000"/>
              <a:buChar char="■"/>
            </a:pPr>
            <a:r>
              <a:rPr lang="en-US" sz="1400" dirty="0">
                <a:solidFill>
                  <a:srgbClr val="1E2329"/>
                </a:solidFill>
              </a:rPr>
              <a:t>Questions: Secretary@fhlbc.co.uk, or any committee member in this room</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What's coming up</a:t>
            </a:r>
            <a:endParaRPr lang="en-US" sz="3200" dirty="0"/>
          </a:p>
        </p:txBody>
      </p:sp>
      <p:sp>
        <p:nvSpPr>
          <p:cNvPr id="3" name="Event 1"/>
          <p:cNvSpPr/>
          <p:nvPr/>
        </p:nvSpPr>
        <p:spPr>
          <a:xfrm>
            <a:off x="548640" y="1280160"/>
            <a:ext cx="11064240" cy="1371600"/>
          </a:xfrm>
          <a:prstGeom prst="roundRect">
            <a:avLst>
              <a:gd name="adj" fmla="val 5333"/>
            </a:avLst>
          </a:prstGeom>
          <a:solidFill>
            <a:srgbClr val="F2F7FC"/>
          </a:solidFill>
          <a:ln w="12700">
            <a:solidFill>
              <a:srgbClr val="F2F7FC"/>
            </a:solidFill>
            <a:prstDash val="solid"/>
          </a:ln>
        </p:spPr>
      </p:sp>
      <p:sp>
        <p:nvSpPr>
          <p:cNvPr id="4" name="Event date 1"/>
          <p:cNvSpPr/>
          <p:nvPr/>
        </p:nvSpPr>
        <p:spPr>
          <a:xfrm>
            <a:off x="731520" y="1463040"/>
            <a:ext cx="2103120" cy="1005840"/>
          </a:xfrm>
          <a:prstGeom prst="roundRect">
            <a:avLst>
              <a:gd name="adj" fmla="val 7273"/>
            </a:avLst>
          </a:prstGeom>
          <a:solidFill>
            <a:srgbClr val="003668"/>
          </a:solidFill>
          <a:ln w="12700">
            <a:solidFill>
              <a:srgbClr val="003668"/>
            </a:solidFill>
            <a:prstDash val="solid"/>
          </a:ln>
        </p:spPr>
      </p:sp>
      <p:sp>
        <p:nvSpPr>
          <p:cNvPr id="5" name="Text 3"/>
          <p:cNvSpPr txBox="1"/>
          <p:nvPr/>
        </p:nvSpPr>
        <p:spPr>
          <a:xfrm>
            <a:off x="731520" y="1463040"/>
            <a:ext cx="2103120" cy="1005840"/>
          </a:xfrm>
          <a:prstGeom prst="rect">
            <a:avLst/>
          </a:prstGeom>
          <a:noFill/>
          <a:ln/>
        </p:spPr>
        <p:txBody>
          <a:bodyPr wrap="square" lIns="0" tIns="0" rIns="0" bIns="0" rtlCol="0" anchor="ctr"/>
          <a:lstStyle/>
          <a:p>
            <a:pPr algn="ctr" indent="0" marL="0">
              <a:buNone/>
            </a:pPr>
            <a:r>
              <a:rPr lang="en-US" sz="1600" b="1" dirty="0">
                <a:solidFill>
                  <a:srgbClr val="FFFFFF"/>
                </a:solidFill>
              </a:rPr>
              <a:t>Fri 16 October</a:t>
            </a:r>
            <a:endParaRPr lang="en-US" sz="1600" dirty="0"/>
          </a:p>
        </p:txBody>
      </p:sp>
      <p:sp>
        <p:nvSpPr>
          <p:cNvPr id="6" name="Text 4"/>
          <p:cNvSpPr txBox="1"/>
          <p:nvPr/>
        </p:nvSpPr>
        <p:spPr>
          <a:xfrm>
            <a:off x="3108960" y="1444752"/>
            <a:ext cx="8229600" cy="457200"/>
          </a:xfrm>
          <a:prstGeom prst="rect">
            <a:avLst/>
          </a:prstGeom>
          <a:noFill/>
          <a:ln/>
        </p:spPr>
        <p:txBody>
          <a:bodyPr wrap="square" lIns="0" tIns="0" rIns="0" bIns="0" rtlCol="0" anchor="ctr"/>
          <a:lstStyle/>
          <a:p>
            <a:pPr indent="0" marL="0">
              <a:buNone/>
            </a:pPr>
            <a:r>
              <a:rPr lang="en-US" sz="1800" b="1" dirty="0">
                <a:solidFill>
                  <a:srgbClr val="003668"/>
                </a:solidFill>
              </a:rPr>
              <a:t>Emulation Lodge of Improvement</a:t>
            </a:r>
            <a:endParaRPr lang="en-US" sz="1800" dirty="0"/>
          </a:p>
        </p:txBody>
      </p:sp>
      <p:sp>
        <p:nvSpPr>
          <p:cNvPr id="7" name="Text 5"/>
          <p:cNvSpPr txBox="1"/>
          <p:nvPr/>
        </p:nvSpPr>
        <p:spPr>
          <a:xfrm>
            <a:off x="3108960" y="1920240"/>
            <a:ext cx="8229600" cy="685800"/>
          </a:xfrm>
          <a:prstGeom prst="rect">
            <a:avLst/>
          </a:prstGeom>
          <a:noFill/>
          <a:ln/>
        </p:spPr>
        <p:txBody>
          <a:bodyPr wrap="square" lIns="0" tIns="0" rIns="0" bIns="0" rtlCol="0" anchor="t"/>
          <a:lstStyle/>
          <a:p>
            <a:pPr indent="0" marL="0">
              <a:buNone/>
            </a:pPr>
            <a:r>
              <a:rPr lang="en-US" sz="1300" dirty="0">
                <a:solidFill>
                  <a:srgbClr val="1E2329"/>
                </a:solidFill>
              </a:rPr>
              <a:t>Freemasons’ Hall, London. A Second Degree demonstration by the Emulation Lodge of Improvement, with a buffet. 6.00 to 9.00 pm.</a:t>
            </a:r>
            <a:endParaRPr lang="en-US" sz="1300" dirty="0"/>
          </a:p>
        </p:txBody>
      </p:sp>
      <p:sp>
        <p:nvSpPr>
          <p:cNvPr id="8" name="Event 2"/>
          <p:cNvSpPr/>
          <p:nvPr/>
        </p:nvSpPr>
        <p:spPr>
          <a:xfrm>
            <a:off x="548640" y="2834640"/>
            <a:ext cx="11064240" cy="1371600"/>
          </a:xfrm>
          <a:prstGeom prst="roundRect">
            <a:avLst>
              <a:gd name="adj" fmla="val 5333"/>
            </a:avLst>
          </a:prstGeom>
          <a:solidFill>
            <a:srgbClr val="F2F7FC"/>
          </a:solidFill>
          <a:ln w="12700">
            <a:solidFill>
              <a:srgbClr val="F2F7FC"/>
            </a:solidFill>
            <a:prstDash val="solid"/>
          </a:ln>
        </p:spPr>
      </p:sp>
      <p:sp>
        <p:nvSpPr>
          <p:cNvPr id="9" name="Event date 2"/>
          <p:cNvSpPr/>
          <p:nvPr/>
        </p:nvSpPr>
        <p:spPr>
          <a:xfrm>
            <a:off x="731520" y="3017520"/>
            <a:ext cx="2103120" cy="1005840"/>
          </a:xfrm>
          <a:prstGeom prst="roundRect">
            <a:avLst>
              <a:gd name="adj" fmla="val 7273"/>
            </a:avLst>
          </a:prstGeom>
          <a:solidFill>
            <a:srgbClr val="106576"/>
          </a:solidFill>
          <a:ln w="12700">
            <a:solidFill>
              <a:srgbClr val="106576"/>
            </a:solidFill>
            <a:prstDash val="solid"/>
          </a:ln>
        </p:spPr>
      </p:sp>
      <p:sp>
        <p:nvSpPr>
          <p:cNvPr id="10" name="Text 8"/>
          <p:cNvSpPr txBox="1"/>
          <p:nvPr/>
        </p:nvSpPr>
        <p:spPr>
          <a:xfrm>
            <a:off x="731520" y="3017520"/>
            <a:ext cx="2103120" cy="1005840"/>
          </a:xfrm>
          <a:prstGeom prst="rect">
            <a:avLst/>
          </a:prstGeom>
          <a:noFill/>
          <a:ln/>
        </p:spPr>
        <p:txBody>
          <a:bodyPr wrap="square" lIns="0" tIns="0" rIns="0" bIns="0" rtlCol="0" anchor="ctr"/>
          <a:lstStyle/>
          <a:p>
            <a:pPr algn="ctr" indent="0" marL="0">
              <a:buNone/>
            </a:pPr>
            <a:r>
              <a:rPr lang="en-US" sz="1600" b="1" dirty="0">
                <a:solidFill>
                  <a:srgbClr val="FFFFFF"/>
                </a:solidFill>
              </a:rPr>
              <a:t>Fri 30 October</a:t>
            </a:r>
            <a:endParaRPr lang="en-US" sz="1600" dirty="0"/>
          </a:p>
        </p:txBody>
      </p:sp>
      <p:sp>
        <p:nvSpPr>
          <p:cNvPr id="11" name="Text 9"/>
          <p:cNvSpPr txBox="1"/>
          <p:nvPr/>
        </p:nvSpPr>
        <p:spPr>
          <a:xfrm>
            <a:off x="3108960" y="2999232"/>
            <a:ext cx="8229600" cy="457200"/>
          </a:xfrm>
          <a:prstGeom prst="rect">
            <a:avLst/>
          </a:prstGeom>
          <a:noFill/>
          <a:ln/>
        </p:spPr>
        <p:txBody>
          <a:bodyPr wrap="square" lIns="0" tIns="0" rIns="0" bIns="0" rtlCol="0" anchor="ctr"/>
          <a:lstStyle/>
          <a:p>
            <a:pPr indent="0" marL="0">
              <a:buNone/>
            </a:pPr>
            <a:r>
              <a:rPr lang="en-US" sz="1800" b="1" dirty="0">
                <a:solidFill>
                  <a:srgbClr val="106576"/>
                </a:solidFill>
              </a:rPr>
              <a:t>Gladsmuir Passing Ceremony</a:t>
            </a:r>
            <a:endParaRPr lang="en-US" sz="1800" dirty="0"/>
          </a:p>
        </p:txBody>
      </p:sp>
      <p:sp>
        <p:nvSpPr>
          <p:cNvPr id="12" name="Text 10"/>
          <p:cNvSpPr txBox="1"/>
          <p:nvPr/>
        </p:nvSpPr>
        <p:spPr>
          <a:xfrm>
            <a:off x="3108960" y="3474720"/>
            <a:ext cx="8229600" cy="685800"/>
          </a:xfrm>
          <a:prstGeom prst="rect">
            <a:avLst/>
          </a:prstGeom>
          <a:noFill/>
          <a:ln/>
        </p:spPr>
        <p:txBody>
          <a:bodyPr wrap="square" lIns="0" tIns="0" rIns="0" bIns="0" rtlCol="0" anchor="t"/>
          <a:lstStyle/>
          <a:p>
            <a:pPr indent="0" marL="0">
              <a:buNone/>
            </a:pPr>
            <a:r>
              <a:rPr lang="en-US" sz="1300" dirty="0">
                <a:solidFill>
                  <a:srgbClr val="1E2329"/>
                </a:solidFill>
              </a:rPr>
              <a:t>Gladsmuir Lodge No. 1385, Radlett. A Passing, a three-course Festive Board, and Solomon Academy tie pin presentations. 6.00 to 9.30 pm.</a:t>
            </a:r>
            <a:endParaRPr lang="en-US" sz="1300" dirty="0"/>
          </a:p>
        </p:txBody>
      </p:sp>
      <p:sp>
        <p:nvSpPr>
          <p:cNvPr id="13" name="Event 3"/>
          <p:cNvSpPr/>
          <p:nvPr/>
        </p:nvSpPr>
        <p:spPr>
          <a:xfrm>
            <a:off x="548640" y="4389120"/>
            <a:ext cx="11064240" cy="1371600"/>
          </a:xfrm>
          <a:prstGeom prst="roundRect">
            <a:avLst>
              <a:gd name="adj" fmla="val 5333"/>
            </a:avLst>
          </a:prstGeom>
          <a:solidFill>
            <a:srgbClr val="F2F7FC"/>
          </a:solidFill>
          <a:ln w="12700">
            <a:solidFill>
              <a:srgbClr val="F2F7FC"/>
            </a:solidFill>
            <a:prstDash val="solid"/>
          </a:ln>
        </p:spPr>
      </p:sp>
      <p:sp>
        <p:nvSpPr>
          <p:cNvPr id="14" name="Event date 3"/>
          <p:cNvSpPr/>
          <p:nvPr/>
        </p:nvSpPr>
        <p:spPr>
          <a:xfrm>
            <a:off x="731520" y="4572000"/>
            <a:ext cx="2103120" cy="1005840"/>
          </a:xfrm>
          <a:prstGeom prst="roundRect">
            <a:avLst>
              <a:gd name="adj" fmla="val 7273"/>
            </a:avLst>
          </a:prstGeom>
          <a:solidFill>
            <a:srgbClr val="157A7C"/>
          </a:solidFill>
          <a:ln w="12700">
            <a:solidFill>
              <a:srgbClr val="157A7C"/>
            </a:solidFill>
            <a:prstDash val="solid"/>
          </a:ln>
        </p:spPr>
      </p:sp>
      <p:sp>
        <p:nvSpPr>
          <p:cNvPr id="15" name="Text 13"/>
          <p:cNvSpPr txBox="1"/>
          <p:nvPr/>
        </p:nvSpPr>
        <p:spPr>
          <a:xfrm>
            <a:off x="731520" y="4572000"/>
            <a:ext cx="2103120" cy="1005840"/>
          </a:xfrm>
          <a:prstGeom prst="rect">
            <a:avLst/>
          </a:prstGeom>
          <a:noFill/>
          <a:ln/>
        </p:spPr>
        <p:txBody>
          <a:bodyPr wrap="square" lIns="0" tIns="0" rIns="0" bIns="0" rtlCol="0" anchor="ctr"/>
          <a:lstStyle/>
          <a:p>
            <a:pPr algn="ctr" indent="0" marL="0">
              <a:buNone/>
            </a:pPr>
            <a:r>
              <a:rPr lang="en-US" sz="1600" b="1" dirty="0">
                <a:solidFill>
                  <a:srgbClr val="FFFFFF"/>
                </a:solidFill>
              </a:rPr>
              <a:t>Sun 15 November</a:t>
            </a:r>
            <a:endParaRPr lang="en-US" sz="1600" dirty="0"/>
          </a:p>
        </p:txBody>
      </p:sp>
      <p:sp>
        <p:nvSpPr>
          <p:cNvPr id="16" name="Text 14"/>
          <p:cNvSpPr txBox="1"/>
          <p:nvPr/>
        </p:nvSpPr>
        <p:spPr>
          <a:xfrm>
            <a:off x="3108960" y="4553712"/>
            <a:ext cx="8229600" cy="457200"/>
          </a:xfrm>
          <a:prstGeom prst="rect">
            <a:avLst/>
          </a:prstGeom>
          <a:noFill/>
          <a:ln/>
        </p:spPr>
        <p:txBody>
          <a:bodyPr wrap="square" lIns="0" tIns="0" rIns="0" bIns="0" rtlCol="0" anchor="ctr"/>
          <a:lstStyle/>
          <a:p>
            <a:pPr indent="0" marL="0">
              <a:buNone/>
            </a:pPr>
            <a:r>
              <a:rPr lang="en-US" sz="1800" b="1" dirty="0">
                <a:solidFill>
                  <a:srgbClr val="157A7C"/>
                </a:solidFill>
              </a:rPr>
              <a:t>FHLBC Annual General Meeting</a:t>
            </a:r>
            <a:endParaRPr lang="en-US" sz="1800" dirty="0"/>
          </a:p>
        </p:txBody>
      </p:sp>
      <p:sp>
        <p:nvSpPr>
          <p:cNvPr id="17" name="Text 15"/>
          <p:cNvSpPr txBox="1"/>
          <p:nvPr/>
        </p:nvSpPr>
        <p:spPr>
          <a:xfrm>
            <a:off x="3108960" y="5029200"/>
            <a:ext cx="8229600" cy="685800"/>
          </a:xfrm>
          <a:prstGeom prst="rect">
            <a:avLst/>
          </a:prstGeom>
          <a:noFill/>
          <a:ln/>
        </p:spPr>
        <p:txBody>
          <a:bodyPr wrap="square" lIns="0" tIns="0" rIns="0" bIns="0" rtlCol="0" anchor="t"/>
          <a:lstStyle/>
          <a:p>
            <a:pPr indent="0" marL="0">
              <a:buNone/>
            </a:pPr>
            <a:r>
              <a:rPr lang="en-US" sz="1300" dirty="0">
                <a:solidFill>
                  <a:srgbClr val="1E2329"/>
                </a:solidFill>
              </a:rPr>
              <a:t>Halsey Hall, Cheshunt. Free for members, sausage and mash afterwards. Come and have a say in what the club does next year. 6.00 to 9.00 pm.</a:t>
            </a:r>
            <a:endParaRPr lang="en-US" sz="1300" dirty="0"/>
          </a:p>
        </p:txBody>
      </p:sp>
      <p:sp>
        <p:nvSpPr>
          <p:cNvPr id="18" name="Events note"/>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100" i="1" dirty="0">
                <a:solidFill>
                  <a:srgbClr val="06345D"/>
                </a:solidFill>
              </a:rPr>
              <a:t>Full details and booking at fhlbc.co.uk/events. Events listed as at the date of this deck; confirm before the evening.</a:t>
            </a:r>
            <a:endParaRPr lang="en-US" sz="1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The Club tie and pin</a:t>
            </a:r>
            <a:endParaRPr lang="en-US" sz="3200" dirty="0"/>
          </a:p>
        </p:txBody>
      </p:sp>
      <p:sp>
        <p:nvSpPr>
          <p:cNvPr id="3" name="Card Where the Club tie is right"/>
          <p:cNvSpPr/>
          <p:nvPr/>
        </p:nvSpPr>
        <p:spPr>
          <a:xfrm>
            <a:off x="548640" y="1280160"/>
            <a:ext cx="5486400" cy="4572000"/>
          </a:xfrm>
          <a:prstGeom prst="roundRect">
            <a:avLst>
              <a:gd name="adj" fmla="val 1600"/>
            </a:avLst>
          </a:prstGeom>
          <a:solidFill>
            <a:srgbClr val="F2F7FC"/>
          </a:solidFill>
          <a:ln w="12700">
            <a:solidFill>
              <a:srgbClr val="F2F7FC"/>
            </a:solidFill>
            <a:prstDash val="solid"/>
          </a:ln>
        </p:spPr>
      </p:sp>
      <p:pic>
        <p:nvPicPr>
          <p:cNvPr id="4" name="Image 0" descr="preencoded.png">    </p:cNvPr>
          <p:cNvPicPr>
            <a:picLocks noChangeAspect="1"/>
          </p:cNvPicPr>
          <p:nvPr/>
        </p:nvPicPr>
        <p:blipFill>
          <a:blip r:embed="rId1"/>
          <a:stretch>
            <a:fillRect/>
          </a:stretch>
        </p:blipFill>
        <p:spPr>
          <a:xfrm>
            <a:off x="749808" y="1463040"/>
            <a:ext cx="384048" cy="384048"/>
          </a:xfrm>
          <a:prstGeom prst="rect">
            <a:avLst/>
          </a:prstGeom>
        </p:spPr>
      </p:pic>
      <p:sp>
        <p:nvSpPr>
          <p:cNvPr id="5" name="Text 2"/>
          <p:cNvSpPr txBox="1"/>
          <p:nvPr/>
        </p:nvSpPr>
        <p:spPr>
          <a:xfrm>
            <a:off x="1261872" y="1444752"/>
            <a:ext cx="4572000" cy="411480"/>
          </a:xfrm>
          <a:prstGeom prst="rect">
            <a:avLst/>
          </a:prstGeom>
          <a:noFill/>
          <a:ln/>
        </p:spPr>
        <p:txBody>
          <a:bodyPr wrap="square" lIns="0" tIns="0" rIns="0" bIns="0" rtlCol="0" anchor="ctr"/>
          <a:lstStyle/>
          <a:p>
            <a:pPr indent="0" marL="0">
              <a:buNone/>
            </a:pPr>
            <a:r>
              <a:rPr lang="en-US" sz="1600" b="1" dirty="0">
                <a:solidFill>
                  <a:srgbClr val="003668"/>
                </a:solidFill>
              </a:rPr>
              <a:t>Where the Club tie is right</a:t>
            </a:r>
            <a:endParaRPr lang="en-US" sz="1600" dirty="0"/>
          </a:p>
        </p:txBody>
      </p:sp>
      <p:sp>
        <p:nvSpPr>
          <p:cNvPr id="6" name="Text 3"/>
          <p:cNvSpPr txBox="1"/>
          <p:nvPr/>
        </p:nvSpPr>
        <p:spPr>
          <a:xfrm>
            <a:off x="777240" y="1901952"/>
            <a:ext cx="5029200" cy="3840480"/>
          </a:xfrm>
          <a:prstGeom prst="rect">
            <a:avLst/>
          </a:prstGeom>
          <a:noFill/>
          <a:ln/>
        </p:spPr>
        <p:txBody>
          <a:bodyPr wrap="square" lIns="0" tIns="0" rIns="0" bIns="0" rtlCol="0" anchor="t"/>
          <a:lstStyle/>
          <a:p>
            <a:pPr marL="203200" indent="-203200">
              <a:spcAft>
                <a:spcPts val="400"/>
              </a:spcAft>
              <a:buSzPct val="100000"/>
              <a:buChar char="■"/>
            </a:pPr>
            <a:r>
              <a:rPr lang="en-US" sz="1600" dirty="0">
                <a:solidFill>
                  <a:srgbClr val="1E2329"/>
                </a:solidFill>
              </a:rPr>
              <a:t>At any FHLBC visit within Hertfordshire</a:t>
            </a:r>
            <a:endParaRPr lang="en-US" sz="1600" dirty="0"/>
          </a:p>
          <a:p>
            <a:pPr marL="203200" indent="-203200">
              <a:spcAft>
                <a:spcPts val="400"/>
              </a:spcAft>
              <a:buSzPct val="100000"/>
              <a:buChar char="■"/>
            </a:pPr>
            <a:r>
              <a:rPr lang="en-US" sz="1600" dirty="0">
                <a:solidFill>
                  <a:srgbClr val="1E2329"/>
                </a:solidFill>
              </a:rPr>
              <a:t>At Gladsmuir Lodge No. 1385</a:t>
            </a:r>
            <a:endParaRPr lang="en-US" sz="1600" dirty="0"/>
          </a:p>
          <a:p>
            <a:pPr marL="203200" indent="-203200">
              <a:spcAft>
                <a:spcPts val="400"/>
              </a:spcAft>
              <a:buSzPct val="100000"/>
              <a:buChar char="■"/>
            </a:pPr>
            <a:r>
              <a:rPr lang="en-US" sz="1600" dirty="0">
                <a:solidFill>
                  <a:srgbClr val="1E2329"/>
                </a:solidFill>
              </a:rPr>
              <a:t>At Provincial Grand Lodge</a:t>
            </a:r>
            <a:endParaRPr lang="en-US" sz="1600" dirty="0"/>
          </a:p>
          <a:p>
            <a:pPr marL="203200" indent="-203200">
              <a:spcAft>
                <a:spcPts val="400"/>
              </a:spcAft>
              <a:buSzPct val="100000"/>
              <a:buChar char="■"/>
            </a:pPr>
            <a:r>
              <a:rPr lang="en-US" sz="1600" dirty="0">
                <a:solidFill>
                  <a:srgbClr val="1E2329"/>
                </a:solidFill>
              </a:rPr>
              <a:t>In your own Lodge, if your Lodge is happy with it; the Provincial tie is always permitted in a Hertfordshire Lodge</a:t>
            </a:r>
            <a:endParaRPr lang="en-US" sz="1600" dirty="0"/>
          </a:p>
          <a:p>
            <a:pPr marL="203200" indent="-203200">
              <a:spcAft>
                <a:spcPts val="400"/>
              </a:spcAft>
              <a:buSzPct val="100000"/>
              <a:buChar char="■"/>
            </a:pPr>
            <a:r>
              <a:rPr lang="en-US" sz="1600" dirty="0">
                <a:solidFill>
                  <a:srgbClr val="1E2329"/>
                </a:solidFill>
              </a:rPr>
              <a:t>Outside Hertfordshire, wear a plain Masonic tie instead</a:t>
            </a:r>
            <a:endParaRPr lang="en-US" sz="1600" dirty="0"/>
          </a:p>
        </p:txBody>
      </p:sp>
      <p:sp>
        <p:nvSpPr>
          <p:cNvPr id="7" name="Card The pin"/>
          <p:cNvSpPr/>
          <p:nvPr/>
        </p:nvSpPr>
        <p:spPr>
          <a:xfrm>
            <a:off x="6172200" y="1280160"/>
            <a:ext cx="5486400" cy="4572000"/>
          </a:xfrm>
          <a:prstGeom prst="roundRect">
            <a:avLst>
              <a:gd name="adj" fmla="val 1600"/>
            </a:avLst>
          </a:prstGeom>
          <a:solidFill>
            <a:srgbClr val="F2F7FC"/>
          </a:solidFill>
          <a:ln w="12700">
            <a:solidFill>
              <a:srgbClr val="F2F7FC"/>
            </a:solidFill>
            <a:prstDash val="solid"/>
          </a:ln>
        </p:spPr>
      </p:sp>
      <p:pic>
        <p:nvPicPr>
          <p:cNvPr id="8" name="Image 1" descr="preencoded.png">    </p:cNvPr>
          <p:cNvPicPr>
            <a:picLocks noChangeAspect="1"/>
          </p:cNvPicPr>
          <p:nvPr/>
        </p:nvPicPr>
        <p:blipFill>
          <a:blip r:embed="rId2"/>
          <a:stretch>
            <a:fillRect/>
          </a:stretch>
        </p:blipFill>
        <p:spPr>
          <a:xfrm>
            <a:off x="6373368" y="1463040"/>
            <a:ext cx="384048" cy="384048"/>
          </a:xfrm>
          <a:prstGeom prst="rect">
            <a:avLst/>
          </a:prstGeom>
        </p:spPr>
      </p:pic>
      <p:sp>
        <p:nvSpPr>
          <p:cNvPr id="9" name="Text 5"/>
          <p:cNvSpPr txBox="1"/>
          <p:nvPr/>
        </p:nvSpPr>
        <p:spPr>
          <a:xfrm>
            <a:off x="6885432" y="1444752"/>
            <a:ext cx="4572000" cy="411480"/>
          </a:xfrm>
          <a:prstGeom prst="rect">
            <a:avLst/>
          </a:prstGeom>
          <a:noFill/>
          <a:ln/>
        </p:spPr>
        <p:txBody>
          <a:bodyPr wrap="square" lIns="0" tIns="0" rIns="0" bIns="0" rtlCol="0" anchor="ctr"/>
          <a:lstStyle/>
          <a:p>
            <a:pPr indent="0" marL="0">
              <a:buNone/>
            </a:pPr>
            <a:r>
              <a:rPr lang="en-US" sz="1600" b="1" dirty="0">
                <a:solidFill>
                  <a:srgbClr val="003668"/>
                </a:solidFill>
              </a:rPr>
              <a:t>The pin</a:t>
            </a:r>
            <a:endParaRPr lang="en-US" sz="1600" dirty="0"/>
          </a:p>
        </p:txBody>
      </p:sp>
      <p:sp>
        <p:nvSpPr>
          <p:cNvPr id="10" name="Text 6"/>
          <p:cNvSpPr txBox="1"/>
          <p:nvPr/>
        </p:nvSpPr>
        <p:spPr>
          <a:xfrm>
            <a:off x="6400800" y="1901952"/>
            <a:ext cx="5029200" cy="3840480"/>
          </a:xfrm>
          <a:prstGeom prst="rect">
            <a:avLst/>
          </a:prstGeom>
          <a:noFill/>
          <a:ln/>
        </p:spPr>
        <p:txBody>
          <a:bodyPr wrap="square" lIns="0" tIns="0" rIns="0" bIns="0" rtlCol="0" anchor="t"/>
          <a:lstStyle/>
          <a:p>
            <a:pPr marL="203200" indent="-203200">
              <a:spcAft>
                <a:spcPts val="400"/>
              </a:spcAft>
              <a:buSzPct val="100000"/>
              <a:buChar char="■"/>
            </a:pPr>
            <a:r>
              <a:rPr lang="en-US" sz="1600" dirty="0">
                <a:solidFill>
                  <a:srgbClr val="1E2329"/>
                </a:solidFill>
              </a:rPr>
              <a:t>Members wear the Club pin on the lapel</a:t>
            </a:r>
            <a:endParaRPr lang="en-US" sz="1600" dirty="0"/>
          </a:p>
          <a:p>
            <a:pPr marL="203200" indent="-203200">
              <a:spcAft>
                <a:spcPts val="400"/>
              </a:spcAft>
              <a:buSzPct val="100000"/>
              <a:buChar char="■"/>
            </a:pPr>
            <a:r>
              <a:rPr lang="en-US" sz="1600" dirty="0">
                <a:solidFill>
                  <a:srgbClr val="1E2329"/>
                </a:solidFill>
              </a:rPr>
              <a:t>Up to three pins is the convention; Masonic or charitable only</a:t>
            </a:r>
            <a:endParaRPr lang="en-US" sz="1600" dirty="0"/>
          </a:p>
          <a:p>
            <a:pPr marL="203200" indent="-203200">
              <a:spcAft>
                <a:spcPts val="400"/>
              </a:spcAft>
              <a:buSzPct val="100000"/>
              <a:buChar char="■"/>
            </a:pPr>
            <a:r>
              <a:rPr lang="en-US" sz="1600" dirty="0">
                <a:solidFill>
                  <a:srgbClr val="1E2329"/>
                </a:solidFill>
              </a:rPr>
              <a:t>It is a conversation starter at any Festive Board: “You’re a light blue? Which Lodge?”</a:t>
            </a:r>
            <a:endParaRPr lang="en-US" sz="1600" dirty="0"/>
          </a:p>
          <a:p>
            <a:pPr marL="203200" indent="-203200">
              <a:spcAft>
                <a:spcPts val="400"/>
              </a:spcAft>
              <a:buSzPct val="100000"/>
              <a:buChar char="■"/>
            </a:pPr>
            <a:r>
              <a:rPr lang="en-US" sz="1600" dirty="0">
                <a:solidFill>
                  <a:srgbClr val="1E2329"/>
                </a:solidFill>
              </a:rPr>
              <a:t>Ties, pins and more at fhlbc.co.uk/fhlbc-merchandise</a:t>
            </a:r>
            <a:endParaRPr lang="en-US" sz="16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Three things to do this week</a:t>
            </a:r>
            <a:endParaRPr lang="en-US" sz="3200" dirty="0"/>
          </a:p>
        </p:txBody>
      </p:sp>
      <p:sp>
        <p:nvSpPr>
          <p:cNvPr id="3" name="Action 1"/>
          <p:cNvSpPr/>
          <p:nvPr/>
        </p:nvSpPr>
        <p:spPr>
          <a:xfrm>
            <a:off x="548640" y="1371600"/>
            <a:ext cx="3520440" cy="4206240"/>
          </a:xfrm>
          <a:prstGeom prst="roundRect">
            <a:avLst>
              <a:gd name="adj" fmla="val 2078"/>
            </a:avLst>
          </a:prstGeom>
          <a:solidFill>
            <a:srgbClr val="F2F7FC"/>
          </a:solidFill>
          <a:ln w="12700">
            <a:solidFill>
              <a:srgbClr val="F2F7FC"/>
            </a:solidFill>
            <a:prstDash val="solid"/>
          </a:ln>
        </p:spPr>
      </p:sp>
      <p:sp>
        <p:nvSpPr>
          <p:cNvPr id="4" name="Action circle 1"/>
          <p:cNvSpPr/>
          <p:nvPr/>
        </p:nvSpPr>
        <p:spPr>
          <a:xfrm>
            <a:off x="822960" y="1691640"/>
            <a:ext cx="914400" cy="914400"/>
          </a:xfrm>
          <a:prstGeom prst="ellipse">
            <a:avLst/>
          </a:prstGeom>
          <a:solidFill>
            <a:srgbClr val="003668"/>
          </a:solidFill>
          <a:ln w="12700">
            <a:solidFill>
              <a:srgbClr val="003668"/>
            </a:solidFill>
            <a:prstDash val="solid"/>
          </a:ln>
        </p:spPr>
      </p:sp>
      <p:sp>
        <p:nvSpPr>
          <p:cNvPr id="5" name="Text 3"/>
          <p:cNvSpPr txBox="1"/>
          <p:nvPr/>
        </p:nvSpPr>
        <p:spPr>
          <a:xfrm>
            <a:off x="822960" y="1691640"/>
            <a:ext cx="914400" cy="914400"/>
          </a:xfrm>
          <a:prstGeom prst="rect">
            <a:avLst/>
          </a:prstGeom>
          <a:noFill/>
          <a:ln/>
        </p:spPr>
        <p:txBody>
          <a:bodyPr wrap="square" lIns="0" tIns="0" rIns="0" bIns="0" rtlCol="0" anchor="ctr"/>
          <a:lstStyle/>
          <a:p>
            <a:pPr algn="ctr" indent="0" marL="0">
              <a:buNone/>
            </a:pPr>
            <a:r>
              <a:rPr lang="en-US" sz="3000" b="1" dirty="0">
                <a:solidFill>
                  <a:srgbClr val="FFFFFF"/>
                </a:solidFill>
              </a:rPr>
              <a:t>1</a:t>
            </a:r>
            <a:endParaRPr lang="en-US" sz="3000" dirty="0"/>
          </a:p>
        </p:txBody>
      </p:sp>
      <p:sp>
        <p:nvSpPr>
          <p:cNvPr id="6" name="Text 4"/>
          <p:cNvSpPr txBox="1"/>
          <p:nvPr/>
        </p:nvSpPr>
        <p:spPr>
          <a:xfrm>
            <a:off x="822960" y="2834640"/>
            <a:ext cx="3017520" cy="548640"/>
          </a:xfrm>
          <a:prstGeom prst="rect">
            <a:avLst/>
          </a:prstGeom>
          <a:noFill/>
          <a:ln/>
        </p:spPr>
        <p:txBody>
          <a:bodyPr wrap="square" lIns="0" tIns="0" rIns="0" bIns="0" rtlCol="0" anchor="ctr"/>
          <a:lstStyle/>
          <a:p>
            <a:pPr indent="0" marL="0">
              <a:buNone/>
            </a:pPr>
            <a:r>
              <a:rPr lang="en-US" sz="2000" b="1" dirty="0">
                <a:solidFill>
                  <a:srgbClr val="003668"/>
                </a:solidFill>
              </a:rPr>
              <a:t>Join the Club</a:t>
            </a:r>
            <a:endParaRPr lang="en-US" sz="2000" dirty="0"/>
          </a:p>
        </p:txBody>
      </p:sp>
      <p:sp>
        <p:nvSpPr>
          <p:cNvPr id="7" name="Text 5"/>
          <p:cNvSpPr txBox="1"/>
          <p:nvPr/>
        </p:nvSpPr>
        <p:spPr>
          <a:xfrm>
            <a:off x="822960" y="3474720"/>
            <a:ext cx="3017520" cy="1920240"/>
          </a:xfrm>
          <a:prstGeom prst="rect">
            <a:avLst/>
          </a:prstGeom>
          <a:noFill/>
          <a:ln/>
        </p:spPr>
        <p:txBody>
          <a:bodyPr wrap="square" lIns="0" tIns="0" rIns="0" bIns="0" rtlCol="0" anchor="t"/>
          <a:lstStyle/>
          <a:p>
            <a:pPr indent="0" marL="0">
              <a:buNone/>
            </a:pPr>
            <a:r>
              <a:rPr lang="en-US" sz="1600" dirty="0">
                <a:solidFill>
                  <a:srgbClr val="1E2329"/>
                </a:solidFill>
              </a:rPr>
              <a:t>fhlbc.co.uk/join-us. Two minutes. Then say hello on the WhatsApp group.</a:t>
            </a:r>
            <a:endParaRPr lang="en-US" sz="1600" dirty="0"/>
          </a:p>
        </p:txBody>
      </p:sp>
      <p:sp>
        <p:nvSpPr>
          <p:cNvPr id="8" name="Action 2"/>
          <p:cNvSpPr/>
          <p:nvPr/>
        </p:nvSpPr>
        <p:spPr>
          <a:xfrm>
            <a:off x="4297680" y="1371600"/>
            <a:ext cx="3520440" cy="4206240"/>
          </a:xfrm>
          <a:prstGeom prst="roundRect">
            <a:avLst>
              <a:gd name="adj" fmla="val 2078"/>
            </a:avLst>
          </a:prstGeom>
          <a:solidFill>
            <a:srgbClr val="F2F7FC"/>
          </a:solidFill>
          <a:ln w="12700">
            <a:solidFill>
              <a:srgbClr val="F2F7FC"/>
            </a:solidFill>
            <a:prstDash val="solid"/>
          </a:ln>
        </p:spPr>
      </p:sp>
      <p:sp>
        <p:nvSpPr>
          <p:cNvPr id="9" name="Action circle 2"/>
          <p:cNvSpPr/>
          <p:nvPr/>
        </p:nvSpPr>
        <p:spPr>
          <a:xfrm>
            <a:off x="4572000" y="1691640"/>
            <a:ext cx="914400" cy="914400"/>
          </a:xfrm>
          <a:prstGeom prst="ellipse">
            <a:avLst/>
          </a:prstGeom>
          <a:solidFill>
            <a:srgbClr val="106576"/>
          </a:solidFill>
          <a:ln w="12700">
            <a:solidFill>
              <a:srgbClr val="106576"/>
            </a:solidFill>
            <a:prstDash val="solid"/>
          </a:ln>
        </p:spPr>
      </p:sp>
      <p:sp>
        <p:nvSpPr>
          <p:cNvPr id="10" name="Text 8"/>
          <p:cNvSpPr txBox="1"/>
          <p:nvPr/>
        </p:nvSpPr>
        <p:spPr>
          <a:xfrm>
            <a:off x="4572000" y="1691640"/>
            <a:ext cx="914400" cy="914400"/>
          </a:xfrm>
          <a:prstGeom prst="rect">
            <a:avLst/>
          </a:prstGeom>
          <a:noFill/>
          <a:ln/>
        </p:spPr>
        <p:txBody>
          <a:bodyPr wrap="square" lIns="0" tIns="0" rIns="0" bIns="0" rtlCol="0" anchor="ctr"/>
          <a:lstStyle/>
          <a:p>
            <a:pPr algn="ctr" indent="0" marL="0">
              <a:buNone/>
            </a:pPr>
            <a:r>
              <a:rPr lang="en-US" sz="3000" b="1" dirty="0">
                <a:solidFill>
                  <a:srgbClr val="FFFFFF"/>
                </a:solidFill>
              </a:rPr>
              <a:t>2</a:t>
            </a:r>
            <a:endParaRPr lang="en-US" sz="3000" dirty="0"/>
          </a:p>
        </p:txBody>
      </p:sp>
      <p:sp>
        <p:nvSpPr>
          <p:cNvPr id="11" name="Text 9"/>
          <p:cNvSpPr txBox="1"/>
          <p:nvPr/>
        </p:nvSpPr>
        <p:spPr>
          <a:xfrm>
            <a:off x="4572000" y="2834640"/>
            <a:ext cx="3017520" cy="548640"/>
          </a:xfrm>
          <a:prstGeom prst="rect">
            <a:avLst/>
          </a:prstGeom>
          <a:noFill/>
          <a:ln/>
        </p:spPr>
        <p:txBody>
          <a:bodyPr wrap="square" lIns="0" tIns="0" rIns="0" bIns="0" rtlCol="0" anchor="ctr"/>
          <a:lstStyle/>
          <a:p>
            <a:pPr indent="0" marL="0">
              <a:buNone/>
            </a:pPr>
            <a:r>
              <a:rPr lang="en-US" sz="2000" b="1" dirty="0">
                <a:solidFill>
                  <a:srgbClr val="106576"/>
                </a:solidFill>
              </a:rPr>
              <a:t>Sign up to Solomon</a:t>
            </a:r>
            <a:endParaRPr lang="en-US" sz="2000" dirty="0"/>
          </a:p>
        </p:txBody>
      </p:sp>
      <p:sp>
        <p:nvSpPr>
          <p:cNvPr id="12" name="Text 10"/>
          <p:cNvSpPr txBox="1"/>
          <p:nvPr/>
        </p:nvSpPr>
        <p:spPr>
          <a:xfrm>
            <a:off x="4572000" y="3474720"/>
            <a:ext cx="3017520" cy="1920240"/>
          </a:xfrm>
          <a:prstGeom prst="rect">
            <a:avLst/>
          </a:prstGeom>
          <a:noFill/>
          <a:ln/>
        </p:spPr>
        <p:txBody>
          <a:bodyPr wrap="square" lIns="0" tIns="0" rIns="0" bIns="0" rtlCol="0" anchor="t"/>
          <a:lstStyle/>
          <a:p>
            <a:pPr indent="0" marL="0">
              <a:buNone/>
            </a:pPr>
            <a:r>
              <a:rPr lang="en-US" sz="1600" dirty="0">
                <a:solidFill>
                  <a:srgbClr val="1E2329"/>
                </a:solidFill>
              </a:rPr>
              <a:t>solomon.ugle.org.uk. Start Welcome Apprentice, or whichever module is yours. One certificate is one step to the Diploma.</a:t>
            </a:r>
            <a:endParaRPr lang="en-US" sz="1600" dirty="0"/>
          </a:p>
        </p:txBody>
      </p:sp>
      <p:sp>
        <p:nvSpPr>
          <p:cNvPr id="13" name="Action 3"/>
          <p:cNvSpPr/>
          <p:nvPr/>
        </p:nvSpPr>
        <p:spPr>
          <a:xfrm>
            <a:off x="8046720" y="1371600"/>
            <a:ext cx="3520440" cy="4206240"/>
          </a:xfrm>
          <a:prstGeom prst="roundRect">
            <a:avLst>
              <a:gd name="adj" fmla="val 2078"/>
            </a:avLst>
          </a:prstGeom>
          <a:solidFill>
            <a:srgbClr val="F2F7FC"/>
          </a:solidFill>
          <a:ln w="12700">
            <a:solidFill>
              <a:srgbClr val="F2F7FC"/>
            </a:solidFill>
            <a:prstDash val="solid"/>
          </a:ln>
        </p:spPr>
      </p:sp>
      <p:sp>
        <p:nvSpPr>
          <p:cNvPr id="14" name="Action circle 3"/>
          <p:cNvSpPr/>
          <p:nvPr/>
        </p:nvSpPr>
        <p:spPr>
          <a:xfrm>
            <a:off x="8321040" y="1691640"/>
            <a:ext cx="914400" cy="914400"/>
          </a:xfrm>
          <a:prstGeom prst="ellipse">
            <a:avLst/>
          </a:prstGeom>
          <a:solidFill>
            <a:srgbClr val="157A7C"/>
          </a:solidFill>
          <a:ln w="12700">
            <a:solidFill>
              <a:srgbClr val="157A7C"/>
            </a:solidFill>
            <a:prstDash val="solid"/>
          </a:ln>
        </p:spPr>
      </p:sp>
      <p:sp>
        <p:nvSpPr>
          <p:cNvPr id="15" name="Text 13"/>
          <p:cNvSpPr txBox="1"/>
          <p:nvPr/>
        </p:nvSpPr>
        <p:spPr>
          <a:xfrm>
            <a:off x="8321040" y="1691640"/>
            <a:ext cx="914400" cy="914400"/>
          </a:xfrm>
          <a:prstGeom prst="rect">
            <a:avLst/>
          </a:prstGeom>
          <a:noFill/>
          <a:ln/>
        </p:spPr>
        <p:txBody>
          <a:bodyPr wrap="square" lIns="0" tIns="0" rIns="0" bIns="0" rtlCol="0" anchor="ctr"/>
          <a:lstStyle/>
          <a:p>
            <a:pPr algn="ctr" indent="0" marL="0">
              <a:buNone/>
            </a:pPr>
            <a:r>
              <a:rPr lang="en-US" sz="3000" b="1" dirty="0">
                <a:solidFill>
                  <a:srgbClr val="FFFFFF"/>
                </a:solidFill>
              </a:rPr>
              <a:t>3</a:t>
            </a:r>
            <a:endParaRPr lang="en-US" sz="3000" dirty="0"/>
          </a:p>
        </p:txBody>
      </p:sp>
      <p:sp>
        <p:nvSpPr>
          <p:cNvPr id="16" name="Text 14"/>
          <p:cNvSpPr txBox="1"/>
          <p:nvPr/>
        </p:nvSpPr>
        <p:spPr>
          <a:xfrm>
            <a:off x="8321040" y="2834640"/>
            <a:ext cx="3017520" cy="548640"/>
          </a:xfrm>
          <a:prstGeom prst="rect">
            <a:avLst/>
          </a:prstGeom>
          <a:noFill/>
          <a:ln/>
        </p:spPr>
        <p:txBody>
          <a:bodyPr wrap="square" lIns="0" tIns="0" rIns="0" bIns="0" rtlCol="0" anchor="ctr"/>
          <a:lstStyle/>
          <a:p>
            <a:pPr indent="0" marL="0">
              <a:buNone/>
            </a:pPr>
            <a:r>
              <a:rPr lang="en-US" sz="2000" b="1" dirty="0">
                <a:solidFill>
                  <a:srgbClr val="157A7C"/>
                </a:solidFill>
              </a:rPr>
              <a:t>Message your mentor</a:t>
            </a:r>
            <a:endParaRPr lang="en-US" sz="2000" dirty="0"/>
          </a:p>
        </p:txBody>
      </p:sp>
      <p:sp>
        <p:nvSpPr>
          <p:cNvPr id="17" name="Text 15"/>
          <p:cNvSpPr txBox="1"/>
          <p:nvPr/>
        </p:nvSpPr>
        <p:spPr>
          <a:xfrm>
            <a:off x="8321040" y="3474720"/>
            <a:ext cx="3017520" cy="1920240"/>
          </a:xfrm>
          <a:prstGeom prst="rect">
            <a:avLst/>
          </a:prstGeom>
          <a:noFill/>
          <a:ln/>
        </p:spPr>
        <p:txBody>
          <a:bodyPr wrap="square" lIns="0" tIns="0" rIns="0" bIns="0" rtlCol="0" anchor="t"/>
          <a:lstStyle/>
          <a:p>
            <a:pPr indent="0" marL="0">
              <a:buNone/>
            </a:pPr>
            <a:r>
              <a:rPr lang="en-US" sz="1600" dirty="0">
                <a:solidFill>
                  <a:srgbClr val="1E2329"/>
                </a:solidFill>
              </a:rPr>
              <a:t>Tell him one thing from tonight you want to talk about. If you are not sure who your Personal Mentor is, that is the message.</a:t>
            </a:r>
            <a:endParaRPr lang="en-US" sz="16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Questions title"/>
          <p:cNvSpPr txBox="1"/>
          <p:nvPr/>
        </p:nvSpPr>
        <p:spPr>
          <a:xfrm>
            <a:off x="822960" y="2103120"/>
            <a:ext cx="10515600" cy="1188720"/>
          </a:xfrm>
          <a:prstGeom prst="rect">
            <a:avLst/>
          </a:prstGeom>
          <a:noFill/>
          <a:ln/>
        </p:spPr>
        <p:txBody>
          <a:bodyPr wrap="square" lIns="0" tIns="0" rIns="0" bIns="0" rtlCol="0" anchor="ctr"/>
          <a:lstStyle/>
          <a:p>
            <a:pPr indent="0" marL="0">
              <a:buNone/>
            </a:pPr>
            <a:r>
              <a:rPr lang="en-US" sz="5400" b="1" dirty="0">
                <a:solidFill>
                  <a:srgbClr val="FFFFFF"/>
                </a:solidFill>
              </a:rPr>
              <a:t>Your questions</a:t>
            </a:r>
            <a:endParaRPr lang="en-US" sz="5400" dirty="0"/>
          </a:p>
        </p:txBody>
      </p:sp>
      <p:sp>
        <p:nvSpPr>
          <p:cNvPr id="3" name="Questions sub"/>
          <p:cNvSpPr txBox="1"/>
          <p:nvPr/>
        </p:nvSpPr>
        <p:spPr>
          <a:xfrm>
            <a:off x="822960" y="3383280"/>
            <a:ext cx="10058400" cy="914400"/>
          </a:xfrm>
          <a:prstGeom prst="rect">
            <a:avLst/>
          </a:prstGeom>
          <a:noFill/>
          <a:ln/>
        </p:spPr>
        <p:txBody>
          <a:bodyPr wrap="square" lIns="0" tIns="0" rIns="0" bIns="0" rtlCol="0" anchor="ctr"/>
          <a:lstStyle/>
          <a:p>
            <a:pPr indent="0" marL="0">
              <a:buNone/>
            </a:pPr>
            <a:r>
              <a:rPr lang="en-US" sz="2000" dirty="0">
                <a:solidFill>
                  <a:srgbClr val="BFD6EA"/>
                </a:solidFill>
              </a:rPr>
              <a:t>From the cards, and from the floor. If we do not know, we will say so and come back to you through your Lodge Mentor.</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Thank you. Stay in touch</a:t>
            </a:r>
            <a:endParaRPr lang="en-US" sz="3200" dirty="0"/>
          </a:p>
        </p:txBody>
      </p:sp>
      <p:sp>
        <p:nvSpPr>
          <p:cNvPr id="3" name="Card Provincial Mentoring Team"/>
          <p:cNvSpPr/>
          <p:nvPr/>
        </p:nvSpPr>
        <p:spPr>
          <a:xfrm>
            <a:off x="548640" y="1280160"/>
            <a:ext cx="3566160" cy="2743200"/>
          </a:xfrm>
          <a:prstGeom prst="roundRect">
            <a:avLst>
              <a:gd name="adj" fmla="val 2667"/>
            </a:avLst>
          </a:prstGeom>
          <a:solidFill>
            <a:srgbClr val="F2F7FC"/>
          </a:solidFill>
          <a:ln w="12700">
            <a:solidFill>
              <a:srgbClr val="F2F7FC"/>
            </a:solidFill>
            <a:prstDash val="solid"/>
          </a:ln>
        </p:spPr>
      </p:sp>
      <p:pic>
        <p:nvPicPr>
          <p:cNvPr id="4" name="Image 0" descr="preencoded.png">    </p:cNvPr>
          <p:cNvPicPr>
            <a:picLocks noChangeAspect="1"/>
          </p:cNvPicPr>
          <p:nvPr/>
        </p:nvPicPr>
        <p:blipFill>
          <a:blip r:embed="rId1"/>
          <a:stretch>
            <a:fillRect/>
          </a:stretch>
        </p:blipFill>
        <p:spPr>
          <a:xfrm>
            <a:off x="749808" y="1463040"/>
            <a:ext cx="384048" cy="384048"/>
          </a:xfrm>
          <a:prstGeom prst="rect">
            <a:avLst/>
          </a:prstGeom>
        </p:spPr>
      </p:pic>
      <p:sp>
        <p:nvSpPr>
          <p:cNvPr id="5" name="Text 2"/>
          <p:cNvSpPr txBox="1"/>
          <p:nvPr/>
        </p:nvSpPr>
        <p:spPr>
          <a:xfrm>
            <a:off x="1261872" y="1444752"/>
            <a:ext cx="2651760" cy="411480"/>
          </a:xfrm>
          <a:prstGeom prst="rect">
            <a:avLst/>
          </a:prstGeom>
          <a:noFill/>
          <a:ln/>
        </p:spPr>
        <p:txBody>
          <a:bodyPr wrap="square" lIns="0" tIns="0" rIns="0" bIns="0" rtlCol="0" anchor="ctr"/>
          <a:lstStyle/>
          <a:p>
            <a:pPr indent="0" marL="0">
              <a:buNone/>
            </a:pPr>
            <a:r>
              <a:rPr lang="en-US" sz="1600" b="1" dirty="0">
                <a:solidFill>
                  <a:srgbClr val="003668"/>
                </a:solidFill>
              </a:rPr>
              <a:t>Provincial Mentoring Team</a:t>
            </a:r>
            <a:endParaRPr lang="en-US" sz="1600" dirty="0"/>
          </a:p>
        </p:txBody>
      </p:sp>
      <p:sp>
        <p:nvSpPr>
          <p:cNvPr id="6" name="Text 3"/>
          <p:cNvSpPr txBox="1"/>
          <p:nvPr/>
        </p:nvSpPr>
        <p:spPr>
          <a:xfrm>
            <a:off x="777240" y="1901952"/>
            <a:ext cx="3108960" cy="201168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E2329"/>
                </a:solidFill>
              </a:rPr>
              <a:t>mentor@hertfordshirefreemasons.org.uk</a:t>
            </a:r>
            <a:endParaRPr lang="en-US" sz="1400" dirty="0"/>
          </a:p>
          <a:p>
            <a:pPr marL="203200" indent="-203200">
              <a:spcAft>
                <a:spcPts val="400"/>
              </a:spcAft>
              <a:buSzPct val="100000"/>
              <a:buChar char="■"/>
            </a:pPr>
            <a:r>
              <a:rPr lang="en-US" sz="1400" dirty="0">
                <a:solidFill>
                  <a:srgbClr val="1E2329"/>
                </a:solidFill>
              </a:rPr>
              <a:t>Provincial Office, Fleet House, 10 Parkway, St Albans AL3 6PA</a:t>
            </a:r>
            <a:endParaRPr lang="en-US" sz="1400" dirty="0"/>
          </a:p>
          <a:p>
            <a:pPr marL="203200" indent="-203200">
              <a:spcAft>
                <a:spcPts val="400"/>
              </a:spcAft>
              <a:buSzPct val="100000"/>
              <a:buChar char="■"/>
            </a:pPr>
            <a:r>
              <a:rPr lang="en-US" sz="1400" dirty="0">
                <a:solidFill>
                  <a:srgbClr val="1E2329"/>
                </a:solidFill>
              </a:rPr>
              <a:t>01727 833061</a:t>
            </a:r>
            <a:endParaRPr lang="en-US" sz="1400" dirty="0"/>
          </a:p>
        </p:txBody>
      </p:sp>
      <p:sp>
        <p:nvSpPr>
          <p:cNvPr id="7" name="Card Learning and Development"/>
          <p:cNvSpPr/>
          <p:nvPr/>
        </p:nvSpPr>
        <p:spPr>
          <a:xfrm>
            <a:off x="4297680" y="1280160"/>
            <a:ext cx="3566160" cy="2743200"/>
          </a:xfrm>
          <a:prstGeom prst="roundRect">
            <a:avLst>
              <a:gd name="adj" fmla="val 2667"/>
            </a:avLst>
          </a:prstGeom>
          <a:solidFill>
            <a:srgbClr val="F2F7FC"/>
          </a:solidFill>
          <a:ln w="12700">
            <a:solidFill>
              <a:srgbClr val="F2F7FC"/>
            </a:solidFill>
            <a:prstDash val="solid"/>
          </a:ln>
        </p:spPr>
      </p:sp>
      <p:pic>
        <p:nvPicPr>
          <p:cNvPr id="8" name="Image 1" descr="preencoded.png">    </p:cNvPr>
          <p:cNvPicPr>
            <a:picLocks noChangeAspect="1"/>
          </p:cNvPicPr>
          <p:nvPr/>
        </p:nvPicPr>
        <p:blipFill>
          <a:blip r:embed="rId2"/>
          <a:stretch>
            <a:fillRect/>
          </a:stretch>
        </p:blipFill>
        <p:spPr>
          <a:xfrm>
            <a:off x="4498848" y="1463040"/>
            <a:ext cx="384048" cy="384048"/>
          </a:xfrm>
          <a:prstGeom prst="rect">
            <a:avLst/>
          </a:prstGeom>
        </p:spPr>
      </p:pic>
      <p:sp>
        <p:nvSpPr>
          <p:cNvPr id="9" name="Text 5"/>
          <p:cNvSpPr txBox="1"/>
          <p:nvPr/>
        </p:nvSpPr>
        <p:spPr>
          <a:xfrm>
            <a:off x="5010912" y="1444752"/>
            <a:ext cx="2651760" cy="411480"/>
          </a:xfrm>
          <a:prstGeom prst="rect">
            <a:avLst/>
          </a:prstGeom>
          <a:noFill/>
          <a:ln/>
        </p:spPr>
        <p:txBody>
          <a:bodyPr wrap="square" lIns="0" tIns="0" rIns="0" bIns="0" rtlCol="0" anchor="ctr"/>
          <a:lstStyle/>
          <a:p>
            <a:pPr indent="0" marL="0">
              <a:buNone/>
            </a:pPr>
            <a:r>
              <a:rPr lang="en-US" sz="1600" b="1" dirty="0">
                <a:solidFill>
                  <a:srgbClr val="003668"/>
                </a:solidFill>
              </a:rPr>
              <a:t>Learning and Development</a:t>
            </a:r>
            <a:endParaRPr lang="en-US" sz="1600" dirty="0"/>
          </a:p>
        </p:txBody>
      </p:sp>
      <p:sp>
        <p:nvSpPr>
          <p:cNvPr id="10" name="Text 6"/>
          <p:cNvSpPr txBox="1"/>
          <p:nvPr/>
        </p:nvSpPr>
        <p:spPr>
          <a:xfrm>
            <a:off x="4526280" y="1901952"/>
            <a:ext cx="3108960" cy="201168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E2329"/>
                </a:solidFill>
              </a:rPr>
              <a:t>solomon.ugle.org.uk</a:t>
            </a:r>
            <a:endParaRPr lang="en-US" sz="1400" dirty="0"/>
          </a:p>
          <a:p>
            <a:pPr marL="203200" indent="-203200">
              <a:spcAft>
                <a:spcPts val="400"/>
              </a:spcAft>
              <a:buSzPct val="100000"/>
              <a:buChar char="■"/>
            </a:pPr>
            <a:r>
              <a:rPr lang="en-US" sz="1400" dirty="0">
                <a:solidFill>
                  <a:srgbClr val="1E2329"/>
                </a:solidFill>
              </a:rPr>
              <a:t>Your Lodge Mentor for the Lodge of Instruction and the Visitors’ Festival</a:t>
            </a:r>
            <a:endParaRPr lang="en-US" sz="1400" dirty="0"/>
          </a:p>
          <a:p>
            <a:pPr marL="203200" indent="-203200">
              <a:spcAft>
                <a:spcPts val="400"/>
              </a:spcAft>
              <a:buSzPct val="100000"/>
              <a:buChar char="■"/>
            </a:pPr>
            <a:r>
              <a:rPr lang="en-US" sz="1400" dirty="0">
                <a:solidFill>
                  <a:srgbClr val="1E2329"/>
                </a:solidFill>
              </a:rPr>
              <a:t>DAWG: ask to be added tonight</a:t>
            </a:r>
            <a:endParaRPr lang="en-US" sz="1400" dirty="0"/>
          </a:p>
        </p:txBody>
      </p:sp>
      <p:sp>
        <p:nvSpPr>
          <p:cNvPr id="11" name="Card Fleet House Light Blues Club"/>
          <p:cNvSpPr/>
          <p:nvPr/>
        </p:nvSpPr>
        <p:spPr>
          <a:xfrm>
            <a:off x="8046720" y="1280160"/>
            <a:ext cx="3566160" cy="2743200"/>
          </a:xfrm>
          <a:prstGeom prst="roundRect">
            <a:avLst>
              <a:gd name="adj" fmla="val 2667"/>
            </a:avLst>
          </a:prstGeom>
          <a:solidFill>
            <a:srgbClr val="F2F7FC"/>
          </a:solidFill>
          <a:ln w="12700">
            <a:solidFill>
              <a:srgbClr val="F2F7FC"/>
            </a:solidFill>
            <a:prstDash val="solid"/>
          </a:ln>
        </p:spPr>
      </p:sp>
      <p:pic>
        <p:nvPicPr>
          <p:cNvPr id="12" name="Image 2" descr="preencoded.png">    </p:cNvPr>
          <p:cNvPicPr>
            <a:picLocks noChangeAspect="1"/>
          </p:cNvPicPr>
          <p:nvPr/>
        </p:nvPicPr>
        <p:blipFill>
          <a:blip r:embed="rId3"/>
          <a:stretch>
            <a:fillRect/>
          </a:stretch>
        </p:blipFill>
        <p:spPr>
          <a:xfrm>
            <a:off x="8247888" y="1463040"/>
            <a:ext cx="384048" cy="384048"/>
          </a:xfrm>
          <a:prstGeom prst="rect">
            <a:avLst/>
          </a:prstGeom>
        </p:spPr>
      </p:pic>
      <p:sp>
        <p:nvSpPr>
          <p:cNvPr id="13" name="Text 8"/>
          <p:cNvSpPr txBox="1"/>
          <p:nvPr/>
        </p:nvSpPr>
        <p:spPr>
          <a:xfrm>
            <a:off x="8759952" y="1444752"/>
            <a:ext cx="2651760" cy="411480"/>
          </a:xfrm>
          <a:prstGeom prst="rect">
            <a:avLst/>
          </a:prstGeom>
          <a:noFill/>
          <a:ln/>
        </p:spPr>
        <p:txBody>
          <a:bodyPr wrap="square" lIns="0" tIns="0" rIns="0" bIns="0" rtlCol="0" anchor="ctr"/>
          <a:lstStyle/>
          <a:p>
            <a:pPr indent="0" marL="0">
              <a:buNone/>
            </a:pPr>
            <a:r>
              <a:rPr lang="en-US" sz="1600" b="1" dirty="0">
                <a:solidFill>
                  <a:srgbClr val="003668"/>
                </a:solidFill>
              </a:rPr>
              <a:t>Fleet House Light Blues Club</a:t>
            </a:r>
            <a:endParaRPr lang="en-US" sz="1600" dirty="0"/>
          </a:p>
        </p:txBody>
      </p:sp>
      <p:sp>
        <p:nvSpPr>
          <p:cNvPr id="14" name="Text 9"/>
          <p:cNvSpPr txBox="1"/>
          <p:nvPr/>
        </p:nvSpPr>
        <p:spPr>
          <a:xfrm>
            <a:off x="8275320" y="1901952"/>
            <a:ext cx="3108960" cy="201168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E2329"/>
                </a:solidFill>
              </a:rPr>
              <a:t>fhlbc.co.uk</a:t>
            </a:r>
            <a:endParaRPr lang="en-US" sz="1400" dirty="0"/>
          </a:p>
          <a:p>
            <a:pPr marL="203200" indent="-203200">
              <a:spcAft>
                <a:spcPts val="400"/>
              </a:spcAft>
              <a:buSzPct val="100000"/>
              <a:buChar char="■"/>
            </a:pPr>
            <a:r>
              <a:rPr lang="en-US" sz="1400" dirty="0">
                <a:solidFill>
                  <a:srgbClr val="1E2329"/>
                </a:solidFill>
              </a:rPr>
              <a:t>Secretary@fhlbc.co.uk</a:t>
            </a:r>
            <a:endParaRPr lang="en-US" sz="1400" dirty="0"/>
          </a:p>
          <a:p>
            <a:pPr marL="203200" indent="-203200">
              <a:spcAft>
                <a:spcPts val="400"/>
              </a:spcAft>
              <a:buSzPct val="100000"/>
              <a:buChar char="■"/>
            </a:pPr>
            <a:r>
              <a:rPr lang="en-US" sz="1400" dirty="0">
                <a:solidFill>
                  <a:srgbClr val="1E2329"/>
                </a:solidFill>
              </a:rPr>
              <a:t>Join at fhlbc.co.uk/join-us</a:t>
            </a:r>
            <a:endParaRPr lang="en-US" sz="1400" dirty="0"/>
          </a:p>
        </p:txBody>
      </p:sp>
      <p:sp>
        <p:nvSpPr>
          <p:cNvPr id="15" name="Closing band"/>
          <p:cNvSpPr/>
          <p:nvPr/>
        </p:nvSpPr>
        <p:spPr>
          <a:xfrm>
            <a:off x="548640" y="4206240"/>
            <a:ext cx="11064240" cy="1645920"/>
          </a:xfrm>
          <a:prstGeom prst="roundRect">
            <a:avLst>
              <a:gd name="adj" fmla="val 4444"/>
            </a:avLst>
          </a:prstGeom>
          <a:solidFill>
            <a:srgbClr val="003668"/>
          </a:solidFill>
          <a:ln w="12700">
            <a:solidFill>
              <a:srgbClr val="003668"/>
            </a:solidFill>
            <a:prstDash val="solid"/>
          </a:ln>
        </p:spPr>
      </p:sp>
      <p:sp>
        <p:nvSpPr>
          <p:cNvPr id="16" name="Closing text"/>
          <p:cNvSpPr txBox="1"/>
          <p:nvPr/>
        </p:nvSpPr>
        <p:spPr>
          <a:xfrm>
            <a:off x="822960" y="4343400"/>
            <a:ext cx="10515600" cy="1371600"/>
          </a:xfrm>
          <a:prstGeom prst="rect">
            <a:avLst/>
          </a:prstGeom>
          <a:noFill/>
          <a:ln/>
        </p:spPr>
        <p:txBody>
          <a:bodyPr wrap="square" lIns="0" tIns="0" rIns="0" bIns="0" rtlCol="0" anchor="ctr"/>
          <a:lstStyle/>
          <a:p>
            <a:pPr indent="0" marL="0">
              <a:buNone/>
            </a:pPr>
            <a:r>
              <a:rPr lang="en-US" sz="1700" b="1" dirty="0">
                <a:solidFill>
                  <a:srgbClr val="8FD3D1"/>
                </a:solidFill>
              </a:rPr>
              <a:t>Freemasonry must be fun. </a:t>
            </a:r>
            <a:pPr indent="0" marL="0">
              <a:buNone/>
            </a:pPr>
            <a:r>
              <a:rPr lang="en-US" sz="1700" dirty="0">
                <a:solidFill>
                  <a:srgbClr val="FFFFFF"/>
                </a:solidFill>
              </a:rPr>
              <a:t>A man who is enjoying himself attends; a man who attends participates; a man who participates belongs; and a man who belongs does not resign. Thank you for coming. Now, the bar.</a:t>
            </a:r>
            <a:endParaRPr lang="en-US" sz="17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Hertfordshire Provincial Mentoring">
  <a:themeElements>
    <a:clrScheme name="Hertfordshire Provincial Mentoring">
      <a:dk1>
        <a:srgbClr val="1E2329"/>
      </a:dk1>
      <a:lt1>
        <a:srgbClr val="FFFFFF"/>
      </a:lt1>
      <a:dk2>
        <a:srgbClr val="003668"/>
      </a:dk2>
      <a:lt2>
        <a:srgbClr val="F2F7FC"/>
      </a:lt2>
      <a:accent1>
        <a:srgbClr val="003668"/>
      </a:accent1>
      <a:accent2>
        <a:srgbClr val="0A4F72"/>
      </a:accent2>
      <a:accent3>
        <a:srgbClr val="106576"/>
      </a:accent3>
      <a:accent4>
        <a:srgbClr val="157A7C"/>
      </a:accent4>
      <a:accent5>
        <a:srgbClr val="06345D"/>
      </a:accent5>
      <a:accent6>
        <a:srgbClr val="BFD6EA"/>
      </a:accent6>
      <a:hlink>
        <a:srgbClr val="157A7C"/>
      </a:hlink>
      <a:folHlink>
        <a:srgbClr val="0A4F72"/>
      </a:folHlink>
    </a:clrScheme>
    <a:fontScheme name="Hertfordshire Provincial Mentoring">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Masons Evening</dc:title>
  <dc:subject>PptxGenJS Presentation</dc:subject>
  <dc:creator>Hertfordshire Provincial Mentoring Team</dc:creator>
  <cp:lastModifiedBy>Hertfordshire Provincial Mentoring Team</cp:lastModifiedBy>
  <cp:revision>1</cp:revision>
  <dcterms:created xsi:type="dcterms:W3CDTF">2026-10-10T02:08:49Z</dcterms:created>
  <dcterms:modified xsi:type="dcterms:W3CDTF">2026-10-10T02:08:49Z</dcterms:modified>
</cp:coreProperties>
</file>