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elcome" id="{E1CF2B02-DC86-135C-F83E-41B27D2AED09}">
          <p14:sldIdLst>
            <p14:sldId id="256"/>
            <p14:sldId id="257"/>
            <p14:sldId id="258"/>
          </p14:sldIdLst>
        </p14:section>
        <p14:section name="1 Mentoring" id="{EB1642CA-0EF2-FB40-B61E-45E95016280F}">
          <p14:sldIdLst>
            <p14:sldId id="259"/>
            <p14:sldId id="260"/>
            <p14:sldId id="261"/>
            <p14:sldId id="262"/>
            <p14:sldId id="263"/>
            <p14:sldId id="264"/>
            <p14:sldId id="265"/>
            <p14:sldId id="266"/>
            <p14:sldId id="267"/>
            <p14:sldId id="268"/>
            <p14:sldId id="269"/>
            <p14:sldId id="270"/>
            <p14:sldId id="271"/>
            <p14:sldId id="272"/>
          </p14:sldIdLst>
        </p14:section>
        <p14:section name="2 Learning and Development" id="{4EB2C8A7-180B-043D-EBDB-C7E4B37B70CE}">
          <p14:sldIdLst>
            <p14:sldId id="273"/>
            <p14:sldId id="274"/>
            <p14:sldId id="275"/>
            <p14:sldId id="276"/>
            <p14:sldId id="277"/>
            <p14:sldId id="278"/>
            <p14:sldId id="279"/>
          </p14:sldIdLst>
        </p14:section>
        <p14:section name="3 Fleet House Light Blues Club" id="{C70F5B00-9C0E-55AC-483B-D5780577B8C3}">
          <p14:sldIdLst>
            <p14:sldId id="280"/>
            <p14:sldId id="281"/>
            <p14:sldId id="282"/>
          </p14:sldIdLst>
        </p14:section>
        <p14:section name="Close" id="{4B4BE832-B4A6-D8A8-7A8B-F49C0E7535A3}">
          <p14:sldIdLst>
            <p14:sldId id="283"/>
            <p14:sldId id="284"/>
            <p14:sldId id="28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2" d="100"/>
          <a:sy n="122" d="100"/>
        </p:scale>
        <p:origin x="328"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734281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Housekeeping before you start: toilets, fire exits and assembly point, phones on silent. Then open warmly: this evening exists because new Masons, and the members of the Light Blues Club, told us what they wished someone had explained. No question is too small.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question cards. Point out the handout on every seat: the front is the basics, the back is the jargon buster. Aim to finish the talks by about 8.10pm.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presenter: one sentence on when you were initiated and what you remember feeling. It tells the room that everyone up here started exactly where they are.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Personal Mentor accompanies, Lodge Mentor co-ordinates, the Province supports. If anyone does not know who their Personal Mentor is, that is the first thing to fix, and we will help tonight.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not stages. Land the priorities line slowly. Nobody should ever feel guilty for putting family, work or friends first.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aprons answer the question 'what do all the different aprons mean?' from the FHLBC members' list. After you have been Master, the rosettes become levels; dark blue aprons mean Provincial or Grand rank. Keep it to what they will see; meanings are for their mentor and Solomon. Royal Arch: information, not recruitment.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FHLBC members' list: 'the simple matter of a dark suit is sometimes not even explained'. Say it plainly. The shirt question came up too: white collar and cuffs is a tradition some use, not a rule; plain white is never wrong.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Ties were 'a major trigger point' in the members' list. The best advice they had: keep a plain black tie in your case and you are right anywhere. One member turned up as a Fellow Craft in a long coat: morning dress means a black jacket, not tails.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 of jewels from the Province's Lodge Director of Ceremonies Handbook. Have a Club tie and pin, and a Festival jewel, to hold up.</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members' list: 'what to expect at them'. Keep it practical; nothing here touches the ceremony. One member noted the sign of reverence is often wrong: point them to the Lodge of Instruction, never demonstrate it here.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member discovered the two workings as Inner Guard, mid-ceremony, when the Tyler asked 'Are you Taylor's or Emulation?'. Tell that story; it lands.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blocks from the Province's Secretaries' Handbook, which lists every Provincial abbreviation. A member said it took him three or four years to work out his Lodge's ranks: this slide saves them that. Nobody minds being asked what theirs means.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Toast guidance follows the Province's Lodge Director of Ceremonies Handbook: a reply thanks the proposer and Brethren and is not about the work; the Visitors' reply is where the work is praised. The formal toast list is on pglherts.org under Members' Resources.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Raised by the FHLBC committee: many who leave before they are Master Masons never knew about the Club, visiting, the other Masonic centres, the charity work or the Province itself. Some only ever saw a small Lodge. Say plainly: if your Lodge feels quiet, that is a reason to visit, not to leave. Please confirm any figures before quoting them aloud.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questions from the FHLBC members' FAQ and our research. The last one matters most: one resignation in three is recovered by a single honest conversation.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snapshot only. The handout carries the full list, as the FHLBC committee suggested: a jargon dictionary people can keep.</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Tom: open with your own journey in a minute or two (joining, the Chair, the Province, UGLE and Supreme Grand Chapter), then this slide. From last year's talk.</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VARK, from last year's talk. Ask for a show of hands: who learns by watching, listening, reading, doing? Most of us are a mix.</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wifi allows, ask people to sign up there and then.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Tom: mention the pins being presented at Gladsmuir on Friday 30 October, and that you will arrange others around Brethren's own meetings between now and January.</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ever use a Brother to hold the book for anything that touches the ritual itself.</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Tom's close: learning never ends in Freemasonry. Use mentors, Solomon and the Provincial resources. Most important: enjoy the journey, and share what you learn with others.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Prices as published on fhlbc.co.uk; check them before the night. Have someone on hand to help people join on their phones.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Events as listed on fhlbc.co.uk on 25 October 2026. Close with last year's three guiding thoughts: patience with the journey, participation beyond the ceremonies, and brotherhood: no Mason walks alone.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it concrete. If people do one thing, make it the third.</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cards first; they hold the questions people will not ask aloud. Write down anything you cannot answer and follow it up.</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venue and the Club. Invite everyone to stay, eat, and find the presenters.</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548640"/>
          </a:xfrm>
          <a:prstGeom prst="rect">
            <a:avLst/>
          </a:prstGeom>
          <a:noFill/>
          <a:ln/>
        </p:spPr>
        <p:txBody>
          <a:bodyPr wrap="square" lIns="0" tIns="0" rIns="0" bIns="0" rtlCol="0" anchor="ctr"/>
          <a:lstStyle/>
          <a:p>
            <a:pPr marL="0" indent="0">
              <a:buNone/>
            </a:pPr>
            <a:r>
              <a:rPr lang="en-US" sz="2400" b="1" dirty="0">
                <a:solidFill>
                  <a:srgbClr val="003668"/>
                </a:solidFill>
              </a:rPr>
              <a:t>Provincial Mentoring</a:t>
            </a:r>
            <a:endParaRPr lang="en-US" sz="2400" dirty="0"/>
          </a:p>
        </p:txBody>
      </p:sp>
      <p:sp>
        <p:nvSpPr>
          <p:cNvPr id="3" name="Text 1"/>
          <p:cNvSpPr/>
          <p:nvPr/>
        </p:nvSpPr>
        <p:spPr>
          <a:xfrm>
            <a:off x="548640" y="914400"/>
            <a:ext cx="7315200" cy="320040"/>
          </a:xfrm>
          <a:prstGeom prst="rect">
            <a:avLst/>
          </a:prstGeom>
          <a:noFill/>
          <a:ln/>
        </p:spPr>
        <p:txBody>
          <a:bodyPr wrap="square" lIns="0" tIns="0" rIns="0" bIns="0" rtlCol="0" anchor="ctr"/>
          <a:lstStyle/>
          <a:p>
            <a:pPr marL="0" indent="0">
              <a:buNone/>
            </a:pPr>
            <a:r>
              <a:rPr lang="en-US" sz="1300" dirty="0">
                <a:solidFill>
                  <a:srgbClr val="06345D"/>
                </a:solidFill>
              </a:rPr>
              <a:t>Provincial Grand Lodge of Hertfordshire</a:t>
            </a:r>
            <a:endParaRPr lang="en-US" sz="1300" dirty="0"/>
          </a:p>
        </p:txBody>
      </p:sp>
      <p:sp>
        <p:nvSpPr>
          <p:cNvPr id="4" name="Text 2"/>
          <p:cNvSpPr/>
          <p:nvPr/>
        </p:nvSpPr>
        <p:spPr>
          <a:xfrm>
            <a:off x="548640" y="1188720"/>
            <a:ext cx="7315200" cy="320040"/>
          </a:xfrm>
          <a:prstGeom prst="rect">
            <a:avLst/>
          </a:prstGeom>
          <a:noFill/>
          <a:ln/>
        </p:spPr>
        <p:txBody>
          <a:bodyPr wrap="square" lIns="0" tIns="0" rIns="0" bIns="0" rtlCol="0" anchor="ctr"/>
          <a:lstStyle/>
          <a:p>
            <a:pPr marL="0" indent="0">
              <a:buNone/>
            </a:pPr>
            <a:r>
              <a:rPr lang="en-US" sz="1300" b="1" dirty="0">
                <a:solidFill>
                  <a:srgbClr val="157A7C"/>
                </a:solidFill>
              </a:rPr>
              <a:t>Prepare • Guide • Support • Enlighten</a:t>
            </a:r>
            <a:endParaRPr lang="en-US" sz="1300" dirty="0"/>
          </a:p>
        </p:txBody>
      </p:sp>
      <p:pic>
        <p:nvPicPr>
          <p:cNvPr id="5" name="Image 0" descr="shield.png"/>
          <p:cNvPicPr>
            <a:picLocks noChangeAspect="1"/>
          </p:cNvPicPr>
          <p:nvPr/>
        </p:nvPicPr>
        <p:blipFill>
          <a:blip r:embed="rId2"/>
          <a:stretch>
            <a:fillRect/>
          </a:stretch>
        </p:blipFill>
        <p:spPr>
          <a:xfrm>
            <a:off x="10314432" y="365760"/>
            <a:ext cx="1325880" cy="1527048"/>
          </a:xfrm>
          <a:prstGeom prst="rect">
            <a:avLst/>
          </a:prstGeom>
        </p:spPr>
      </p:pic>
      <p:sp>
        <p:nvSpPr>
          <p:cNvPr id="6" name="Shape 3"/>
          <p:cNvSpPr/>
          <p:nvPr/>
        </p:nvSpPr>
        <p:spPr>
          <a:xfrm>
            <a:off x="0" y="2057400"/>
            <a:ext cx="3047238" cy="237744"/>
          </a:xfrm>
          <a:prstGeom prst="rect">
            <a:avLst/>
          </a:prstGeom>
          <a:solidFill>
            <a:srgbClr val="003668"/>
          </a:solidFill>
          <a:ln/>
        </p:spPr>
        <p:txBody>
          <a:bodyPr/>
          <a:lstStyle/>
          <a:p>
            <a:endParaRPr lang="en-GB"/>
          </a:p>
        </p:txBody>
      </p:sp>
      <p:sp>
        <p:nvSpPr>
          <p:cNvPr id="7" name="Shape 4"/>
          <p:cNvSpPr/>
          <p:nvPr/>
        </p:nvSpPr>
        <p:spPr>
          <a:xfrm>
            <a:off x="3047238" y="2057400"/>
            <a:ext cx="3047238" cy="237744"/>
          </a:xfrm>
          <a:prstGeom prst="rect">
            <a:avLst/>
          </a:prstGeom>
          <a:solidFill>
            <a:srgbClr val="0A4F72"/>
          </a:solidFill>
          <a:ln/>
        </p:spPr>
        <p:txBody>
          <a:bodyPr/>
          <a:lstStyle/>
          <a:p>
            <a:endParaRPr lang="en-GB"/>
          </a:p>
        </p:txBody>
      </p:sp>
      <p:sp>
        <p:nvSpPr>
          <p:cNvPr id="8" name="Shape 5"/>
          <p:cNvSpPr/>
          <p:nvPr/>
        </p:nvSpPr>
        <p:spPr>
          <a:xfrm>
            <a:off x="6094476" y="2057400"/>
            <a:ext cx="3047238" cy="237744"/>
          </a:xfrm>
          <a:prstGeom prst="rect">
            <a:avLst/>
          </a:prstGeom>
          <a:solidFill>
            <a:srgbClr val="106576"/>
          </a:solidFill>
          <a:ln/>
        </p:spPr>
        <p:txBody>
          <a:bodyPr/>
          <a:lstStyle/>
          <a:p>
            <a:endParaRPr lang="en-GB"/>
          </a:p>
        </p:txBody>
      </p:sp>
      <p:sp>
        <p:nvSpPr>
          <p:cNvPr id="9" name="Shape 6"/>
          <p:cNvSpPr/>
          <p:nvPr/>
        </p:nvSpPr>
        <p:spPr>
          <a:xfrm>
            <a:off x="9141714" y="2057400"/>
            <a:ext cx="3047238" cy="237744"/>
          </a:xfrm>
          <a:prstGeom prst="rect">
            <a:avLst/>
          </a:prstGeom>
          <a:solidFill>
            <a:srgbClr val="157A7C"/>
          </a:solidFill>
          <a:ln/>
        </p:spPr>
        <p:txBody>
          <a:bodyPr/>
          <a:lstStyle/>
          <a:p>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003668"/>
        </a:solidFill>
        <a:effectLst/>
      </p:bgPr>
    </p:bg>
    <p:spTree>
      <p:nvGrpSpPr>
        <p:cNvPr id="1" name=""/>
        <p:cNvGrpSpPr/>
        <p:nvPr/>
      </p:nvGrpSpPr>
      <p:grpSpPr>
        <a:xfrm>
          <a:off x="0" y="0"/>
          <a:ext cx="0" cy="0"/>
          <a:chOff x="0" y="0"/>
          <a:chExt cx="0" cy="0"/>
        </a:xfrm>
      </p:grpSpPr>
      <p:sp>
        <p:nvSpPr>
          <p:cNvPr id="2" name="Shape 0"/>
          <p:cNvSpPr/>
          <p:nvPr/>
        </p:nvSpPr>
        <p:spPr>
          <a:xfrm>
            <a:off x="0" y="6620256"/>
            <a:ext cx="3047238" cy="237744"/>
          </a:xfrm>
          <a:prstGeom prst="rect">
            <a:avLst/>
          </a:prstGeom>
          <a:solidFill>
            <a:srgbClr val="003668"/>
          </a:solidFill>
          <a:ln/>
        </p:spPr>
        <p:txBody>
          <a:bodyPr/>
          <a:lstStyle/>
          <a:p>
            <a:endParaRPr lang="en-GB"/>
          </a:p>
        </p:txBody>
      </p:sp>
      <p:sp>
        <p:nvSpPr>
          <p:cNvPr id="3" name="Shape 1"/>
          <p:cNvSpPr/>
          <p:nvPr/>
        </p:nvSpPr>
        <p:spPr>
          <a:xfrm>
            <a:off x="3047238" y="6620256"/>
            <a:ext cx="3047238" cy="237744"/>
          </a:xfrm>
          <a:prstGeom prst="rect">
            <a:avLst/>
          </a:prstGeom>
          <a:solidFill>
            <a:srgbClr val="0A4F72"/>
          </a:solidFill>
          <a:ln/>
        </p:spPr>
        <p:txBody>
          <a:bodyPr/>
          <a:lstStyle/>
          <a:p>
            <a:endParaRPr lang="en-GB"/>
          </a:p>
        </p:txBody>
      </p:sp>
      <p:sp>
        <p:nvSpPr>
          <p:cNvPr id="4" name="Shape 2"/>
          <p:cNvSpPr/>
          <p:nvPr/>
        </p:nvSpPr>
        <p:spPr>
          <a:xfrm>
            <a:off x="6094476" y="6620256"/>
            <a:ext cx="3047238" cy="237744"/>
          </a:xfrm>
          <a:prstGeom prst="rect">
            <a:avLst/>
          </a:prstGeom>
          <a:solidFill>
            <a:srgbClr val="106576"/>
          </a:solidFill>
          <a:ln/>
        </p:spPr>
        <p:txBody>
          <a:bodyPr/>
          <a:lstStyle/>
          <a:p>
            <a:endParaRPr lang="en-GB"/>
          </a:p>
        </p:txBody>
      </p:sp>
      <p:sp>
        <p:nvSpPr>
          <p:cNvPr id="5" name="Shape 3"/>
          <p:cNvSpPr/>
          <p:nvPr/>
        </p:nvSpPr>
        <p:spPr>
          <a:xfrm>
            <a:off x="9141714" y="6620256"/>
            <a:ext cx="3047238" cy="237744"/>
          </a:xfrm>
          <a:prstGeom prst="rect">
            <a:avLst/>
          </a:prstGeom>
          <a:solidFill>
            <a:srgbClr val="157A7C"/>
          </a:solidFill>
          <a:ln/>
        </p:spPr>
        <p:txBody>
          <a:bodyPr/>
          <a:lstStyle/>
          <a:p>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748272"/>
            <a:ext cx="3047238" cy="109728"/>
          </a:xfrm>
          <a:prstGeom prst="rect">
            <a:avLst/>
          </a:prstGeom>
          <a:solidFill>
            <a:srgbClr val="003668"/>
          </a:solidFill>
          <a:ln/>
        </p:spPr>
        <p:txBody>
          <a:bodyPr/>
          <a:lstStyle/>
          <a:p>
            <a:endParaRPr lang="en-GB"/>
          </a:p>
        </p:txBody>
      </p:sp>
      <p:sp>
        <p:nvSpPr>
          <p:cNvPr id="3" name="Shape 1"/>
          <p:cNvSpPr/>
          <p:nvPr/>
        </p:nvSpPr>
        <p:spPr>
          <a:xfrm>
            <a:off x="3047238" y="6748272"/>
            <a:ext cx="3047238" cy="109728"/>
          </a:xfrm>
          <a:prstGeom prst="rect">
            <a:avLst/>
          </a:prstGeom>
          <a:solidFill>
            <a:srgbClr val="0A4F72"/>
          </a:solidFill>
          <a:ln/>
        </p:spPr>
        <p:txBody>
          <a:bodyPr/>
          <a:lstStyle/>
          <a:p>
            <a:endParaRPr lang="en-GB"/>
          </a:p>
        </p:txBody>
      </p:sp>
      <p:sp>
        <p:nvSpPr>
          <p:cNvPr id="4" name="Shape 2"/>
          <p:cNvSpPr/>
          <p:nvPr/>
        </p:nvSpPr>
        <p:spPr>
          <a:xfrm>
            <a:off x="6094476" y="6748272"/>
            <a:ext cx="3047238" cy="109728"/>
          </a:xfrm>
          <a:prstGeom prst="rect">
            <a:avLst/>
          </a:prstGeom>
          <a:solidFill>
            <a:srgbClr val="106576"/>
          </a:solidFill>
          <a:ln/>
        </p:spPr>
        <p:txBody>
          <a:bodyPr/>
          <a:lstStyle/>
          <a:p>
            <a:endParaRPr lang="en-GB"/>
          </a:p>
        </p:txBody>
      </p:sp>
      <p:sp>
        <p:nvSpPr>
          <p:cNvPr id="5" name="Shape 3"/>
          <p:cNvSpPr/>
          <p:nvPr/>
        </p:nvSpPr>
        <p:spPr>
          <a:xfrm>
            <a:off x="9141714" y="6748272"/>
            <a:ext cx="3047238" cy="109728"/>
          </a:xfrm>
          <a:prstGeom prst="rect">
            <a:avLst/>
          </a:prstGeom>
          <a:solidFill>
            <a:srgbClr val="157A7C"/>
          </a:solidFill>
          <a:ln/>
        </p:spPr>
        <p:txBody>
          <a:bodyPr/>
          <a:lstStyle/>
          <a:p>
            <a:endParaRPr lang="en-GB"/>
          </a:p>
        </p:txBody>
      </p:sp>
      <p:sp>
        <p:nvSpPr>
          <p:cNvPr id="6" name="Text 4"/>
          <p:cNvSpPr/>
          <p:nvPr/>
        </p:nvSpPr>
        <p:spPr>
          <a:xfrm>
            <a:off x="548640" y="6382512"/>
            <a:ext cx="7315200" cy="274320"/>
          </a:xfrm>
          <a:prstGeom prst="rect">
            <a:avLst/>
          </a:prstGeom>
          <a:noFill/>
          <a:ln/>
        </p:spPr>
        <p:txBody>
          <a:bodyPr wrap="square" lIns="0" tIns="0" rIns="0" bIns="0" rtlCol="0" anchor="ctr"/>
          <a:lstStyle/>
          <a:p>
            <a:pPr marL="0" indent="0">
              <a:buNone/>
            </a:pPr>
            <a:r>
              <a:rPr lang="en-US" sz="900" dirty="0">
                <a:solidFill>
                  <a:srgbClr val="06345D"/>
                </a:solidFill>
              </a:rPr>
              <a:t>Hertfordshire Provincial Mentoring  ·  New Masons Evening</a:t>
            </a:r>
            <a:endParaRPr lang="en-US" sz="9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06345D"/>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06345D"/>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4.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4.xml"/><Relationship Id="rId5" Type="http://schemas.openxmlformats.org/officeDocument/2006/relationships/image" Target="../media/image9.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4.xml"/><Relationship Id="rId5" Type="http://schemas.openxmlformats.org/officeDocument/2006/relationships/image" Target="../media/image12.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4.xml"/><Relationship Id="rId6" Type="http://schemas.openxmlformats.org/officeDocument/2006/relationships/image" Target="../media/image7.png"/><Relationship Id="rId5" Type="http://schemas.openxmlformats.org/officeDocument/2006/relationships/image" Target="../media/image14.png"/><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4.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4.xml"/><Relationship Id="rId4" Type="http://schemas.openxmlformats.org/officeDocument/2006/relationships/image" Target="../media/image20.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4.xml"/><Relationship Id="rId1" Type="http://schemas.openxmlformats.org/officeDocument/2006/relationships/slideLayout" Target="../slideLayouts/slideLayout4.xml"/><Relationship Id="rId4" Type="http://schemas.openxmlformats.org/officeDocument/2006/relationships/image" Target="../media/image22.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13.png"/><Relationship Id="rId7" Type="http://schemas.openxmlformats.org/officeDocument/2006/relationships/image" Target="../media/image25.png"/><Relationship Id="rId2" Type="http://schemas.openxmlformats.org/officeDocument/2006/relationships/notesSlide" Target="../notesSlides/notesSlide26.xml"/><Relationship Id="rId1" Type="http://schemas.openxmlformats.org/officeDocument/2006/relationships/slideLayout" Target="../slideLayouts/slideLayout4.xml"/><Relationship Id="rId6" Type="http://schemas.openxmlformats.org/officeDocument/2006/relationships/image" Target="../media/image5.png"/><Relationship Id="rId5" Type="http://schemas.openxmlformats.org/officeDocument/2006/relationships/image" Target="../media/image24.png"/><Relationship Id="rId4" Type="http://schemas.openxmlformats.org/officeDocument/2006/relationships/image" Target="../media/image23.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8.xml"/><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0.xml"/><Relationship Id="rId1" Type="http://schemas.openxmlformats.org/officeDocument/2006/relationships/slideLayout" Target="../slideLayouts/slideLayout4.xml"/><Relationship Id="rId5" Type="http://schemas.openxmlformats.org/officeDocument/2006/relationships/image" Target="../media/image5.png"/><Relationship Id="rId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le"/>
          <p:cNvSpPr txBox="1"/>
          <p:nvPr/>
        </p:nvSpPr>
        <p:spPr>
          <a:xfrm>
            <a:off x="548640" y="2651760"/>
            <a:ext cx="10058400" cy="1188720"/>
          </a:xfrm>
          <a:prstGeom prst="rect">
            <a:avLst/>
          </a:prstGeom>
          <a:noFill/>
          <a:ln/>
        </p:spPr>
        <p:txBody>
          <a:bodyPr wrap="square" lIns="0" tIns="0" rIns="0" bIns="0" rtlCol="0" anchor="ctr"/>
          <a:lstStyle/>
          <a:p>
            <a:pPr marL="0" indent="0">
              <a:buNone/>
            </a:pPr>
            <a:r>
              <a:rPr lang="en-US" sz="5400" b="1" dirty="0">
                <a:solidFill>
                  <a:srgbClr val="003668"/>
                </a:solidFill>
              </a:rPr>
              <a:t>New Masons Evening</a:t>
            </a:r>
            <a:endParaRPr lang="en-US" sz="5400" dirty="0"/>
          </a:p>
        </p:txBody>
      </p:sp>
      <p:sp>
        <p:nvSpPr>
          <p:cNvPr id="3" name="Subtitle"/>
          <p:cNvSpPr txBox="1"/>
          <p:nvPr/>
        </p:nvSpPr>
        <p:spPr>
          <a:xfrm>
            <a:off x="548640" y="3840480"/>
            <a:ext cx="9601200" cy="822960"/>
          </a:xfrm>
          <a:prstGeom prst="rect">
            <a:avLst/>
          </a:prstGeom>
          <a:noFill/>
          <a:ln/>
        </p:spPr>
        <p:txBody>
          <a:bodyPr wrap="square" lIns="0" tIns="0" rIns="0" bIns="0" rtlCol="0" anchor="ctr"/>
          <a:lstStyle/>
          <a:p>
            <a:pPr marL="0" indent="0">
              <a:buNone/>
            </a:pPr>
            <a:r>
              <a:rPr lang="en-US" sz="2000" dirty="0">
                <a:solidFill>
                  <a:srgbClr val="06345D"/>
                </a:solidFill>
              </a:rPr>
              <a:t>First steps into the Craft: the questions you wanted answered, and the people here to help</a:t>
            </a:r>
            <a:endParaRPr lang="en-US" sz="2000" dirty="0"/>
          </a:p>
        </p:txBody>
      </p:sp>
      <p:sp>
        <p:nvSpPr>
          <p:cNvPr id="4" name="Date and venue"/>
          <p:cNvSpPr txBox="1"/>
          <p:nvPr/>
        </p:nvSpPr>
        <p:spPr>
          <a:xfrm>
            <a:off x="548640" y="4937760"/>
            <a:ext cx="10972800" cy="457200"/>
          </a:xfrm>
          <a:prstGeom prst="rect">
            <a:avLst/>
          </a:prstGeom>
          <a:noFill/>
          <a:ln/>
        </p:spPr>
        <p:txBody>
          <a:bodyPr wrap="square" lIns="0" tIns="0" rIns="0" bIns="0" rtlCol="0" anchor="ctr"/>
          <a:lstStyle/>
          <a:p>
            <a:pPr marL="0" indent="0">
              <a:buNone/>
            </a:pPr>
            <a:r>
              <a:rPr lang="en-US" sz="1600" b="1" dirty="0">
                <a:solidFill>
                  <a:srgbClr val="157A7C"/>
                </a:solidFill>
              </a:rPr>
              <a:t>Thursday 29 October 2026  ·  Halsey Hall, Cheshunt  ·  Hertfordshire Provincial Mentoring Team</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p:cNvSpPr txBox="1"/>
          <p:nvPr/>
        </p:nvSpPr>
        <p:spPr>
          <a:xfrm>
            <a:off x="548640" y="411480"/>
            <a:ext cx="11091672" cy="731520"/>
          </a:xfrm>
          <a:prstGeom prst="rect">
            <a:avLst/>
          </a:prstGeom>
          <a:noFill/>
          <a:ln/>
        </p:spPr>
        <p:txBody>
          <a:bodyPr wrap="square" lIns="0" tIns="0" rIns="0" bIns="0" rtlCol="0" anchor="ctr"/>
          <a:lstStyle/>
          <a:p>
            <a:pPr marL="0" indent="0">
              <a:buNone/>
            </a:pPr>
            <a:r>
              <a:rPr lang="en-US" sz="3200" b="1" dirty="0">
                <a:solidFill>
                  <a:srgbClr val="003668"/>
                </a:solidFill>
              </a:rPr>
              <a:t>What tonight is for</a:t>
            </a:r>
            <a:endParaRPr lang="en-US" sz="3200" dirty="0"/>
          </a:p>
        </p:txBody>
      </p:sp>
      <p:sp>
        <p:nvSpPr>
          <p:cNvPr id="3" name="Intro"/>
          <p:cNvSpPr txBox="1"/>
          <p:nvPr/>
        </p:nvSpPr>
        <p:spPr>
          <a:xfrm>
            <a:off x="548640" y="1371600"/>
            <a:ext cx="6583680" cy="2194560"/>
          </a:xfrm>
          <a:prstGeom prst="rect">
            <a:avLst/>
          </a:prstGeom>
          <a:noFill/>
          <a:ln/>
        </p:spPr>
        <p:txBody>
          <a:bodyPr wrap="square" lIns="0" tIns="0" rIns="0" bIns="0" rtlCol="0" anchor="t"/>
          <a:lstStyle/>
          <a:p>
            <a:pPr marL="0" indent="0">
              <a:buNone/>
            </a:pPr>
            <a:r>
              <a:rPr lang="en-US" sz="1600" dirty="0">
                <a:solidFill>
                  <a:srgbClr val="1E2329"/>
                </a:solidFill>
              </a:rPr>
              <a:t>You asked. We listened. Brethren across the Province, and members of the Fleet House Light Blues Club, told us what they wished someone had explained in their first two years. Tonight is the answer: three short sessions, plenty of time for questions, and the chance to meet the people whose job is to help you enjoy Freemasonry.</a:t>
            </a:r>
            <a:endParaRPr lang="en-US" sz="1600" dirty="0"/>
          </a:p>
        </p:txBody>
      </p:sp>
      <p:sp>
        <p:nvSpPr>
          <p:cNvPr id="4" name="Card Ask anything"/>
          <p:cNvSpPr/>
          <p:nvPr/>
        </p:nvSpPr>
        <p:spPr>
          <a:xfrm>
            <a:off x="548640" y="3749040"/>
            <a:ext cx="3291840" cy="2103120"/>
          </a:xfrm>
          <a:prstGeom prst="roundRect">
            <a:avLst>
              <a:gd name="adj" fmla="val 3478"/>
            </a:avLst>
          </a:prstGeom>
          <a:solidFill>
            <a:srgbClr val="F2F7FC"/>
          </a:solidFill>
          <a:ln w="12700">
            <a:solidFill>
              <a:srgbClr val="F2F7FC"/>
            </a:solidFill>
            <a:prstDash val="solid"/>
          </a:ln>
        </p:spPr>
        <p:txBody>
          <a:bodyPr/>
          <a:lstStyle/>
          <a:p>
            <a:endParaRPr lang="en-GB"/>
          </a:p>
        </p:txBody>
      </p:sp>
      <p:pic>
        <p:nvPicPr>
          <p:cNvPr id="5" name="Image 0" descr="preencoded.png"/>
          <p:cNvPicPr>
            <a:picLocks noChangeAspect="1"/>
          </p:cNvPicPr>
          <p:nvPr/>
        </p:nvPicPr>
        <p:blipFill>
          <a:blip r:embed="rId3"/>
          <a:stretch>
            <a:fillRect/>
          </a:stretch>
        </p:blipFill>
        <p:spPr>
          <a:xfrm>
            <a:off x="749808" y="3931920"/>
            <a:ext cx="384048" cy="384048"/>
          </a:xfrm>
          <a:prstGeom prst="rect">
            <a:avLst/>
          </a:prstGeom>
        </p:spPr>
      </p:pic>
      <p:sp>
        <p:nvSpPr>
          <p:cNvPr id="6" name="Text 3"/>
          <p:cNvSpPr txBox="1"/>
          <p:nvPr/>
        </p:nvSpPr>
        <p:spPr>
          <a:xfrm>
            <a:off x="1261872" y="3913632"/>
            <a:ext cx="2377440" cy="411480"/>
          </a:xfrm>
          <a:prstGeom prst="rect">
            <a:avLst/>
          </a:prstGeom>
          <a:noFill/>
          <a:ln/>
        </p:spPr>
        <p:txBody>
          <a:bodyPr wrap="square" lIns="0" tIns="0" rIns="0" bIns="0" rtlCol="0" anchor="ctr"/>
          <a:lstStyle/>
          <a:p>
            <a:pPr marL="0" indent="0">
              <a:buNone/>
            </a:pPr>
            <a:r>
              <a:rPr lang="en-US" sz="1600" b="1" dirty="0">
                <a:solidFill>
                  <a:srgbClr val="003668"/>
                </a:solidFill>
              </a:rPr>
              <a:t>Ask anything</a:t>
            </a:r>
            <a:endParaRPr lang="en-US" sz="1600" dirty="0"/>
          </a:p>
        </p:txBody>
      </p:sp>
      <p:sp>
        <p:nvSpPr>
          <p:cNvPr id="7" name="Text 4"/>
          <p:cNvSpPr txBox="1"/>
          <p:nvPr/>
        </p:nvSpPr>
        <p:spPr>
          <a:xfrm>
            <a:off x="777240" y="4370832"/>
            <a:ext cx="2834640" cy="1371600"/>
          </a:xfrm>
          <a:prstGeom prst="rect">
            <a:avLst/>
          </a:prstGeom>
          <a:noFill/>
          <a:ln/>
        </p:spPr>
        <p:txBody>
          <a:bodyPr wrap="square" lIns="0" tIns="0" rIns="0" bIns="0" rtlCol="0" anchor="t"/>
          <a:lstStyle/>
          <a:p>
            <a:pPr marL="0" indent="0">
              <a:buNone/>
            </a:pPr>
            <a:r>
              <a:rPr lang="en-US" sz="1400" dirty="0">
                <a:solidFill>
                  <a:srgbClr val="1E2329"/>
                </a:solidFill>
              </a:rPr>
              <a:t>Cards and pens are on the tables. Write a question at any point and hand it in. We answer them all at the end.</a:t>
            </a:r>
            <a:endParaRPr lang="en-US" sz="1400" dirty="0"/>
          </a:p>
        </p:txBody>
      </p:sp>
      <p:sp>
        <p:nvSpPr>
          <p:cNvPr id="8" name="Card Not a Lodge meeting"/>
          <p:cNvSpPr/>
          <p:nvPr/>
        </p:nvSpPr>
        <p:spPr>
          <a:xfrm>
            <a:off x="4023360" y="3749040"/>
            <a:ext cx="3108960" cy="2103120"/>
          </a:xfrm>
          <a:prstGeom prst="roundRect">
            <a:avLst>
              <a:gd name="adj" fmla="val 3478"/>
            </a:avLst>
          </a:prstGeom>
          <a:solidFill>
            <a:srgbClr val="F2F7FC"/>
          </a:solidFill>
          <a:ln w="12700">
            <a:solidFill>
              <a:srgbClr val="F2F7FC"/>
            </a:solidFill>
            <a:prstDash val="solid"/>
          </a:ln>
        </p:spPr>
        <p:txBody>
          <a:bodyPr/>
          <a:lstStyle/>
          <a:p>
            <a:endParaRPr lang="en-GB"/>
          </a:p>
        </p:txBody>
      </p:sp>
      <p:pic>
        <p:nvPicPr>
          <p:cNvPr id="9" name="Image 1" descr="preencoded.png"/>
          <p:cNvPicPr>
            <a:picLocks noChangeAspect="1"/>
          </p:cNvPicPr>
          <p:nvPr/>
        </p:nvPicPr>
        <p:blipFill>
          <a:blip r:embed="rId4"/>
          <a:stretch>
            <a:fillRect/>
          </a:stretch>
        </p:blipFill>
        <p:spPr>
          <a:xfrm>
            <a:off x="4224528" y="3931920"/>
            <a:ext cx="384048" cy="384048"/>
          </a:xfrm>
          <a:prstGeom prst="rect">
            <a:avLst/>
          </a:prstGeom>
        </p:spPr>
      </p:pic>
      <p:sp>
        <p:nvSpPr>
          <p:cNvPr id="10" name="Text 6"/>
          <p:cNvSpPr txBox="1"/>
          <p:nvPr/>
        </p:nvSpPr>
        <p:spPr>
          <a:xfrm>
            <a:off x="4736592" y="3913632"/>
            <a:ext cx="2194560" cy="411480"/>
          </a:xfrm>
          <a:prstGeom prst="rect">
            <a:avLst/>
          </a:prstGeom>
          <a:noFill/>
          <a:ln/>
        </p:spPr>
        <p:txBody>
          <a:bodyPr wrap="square" lIns="0" tIns="0" rIns="0" bIns="0" rtlCol="0" anchor="ctr"/>
          <a:lstStyle/>
          <a:p>
            <a:pPr marL="0" indent="0">
              <a:buNone/>
            </a:pPr>
            <a:r>
              <a:rPr lang="en-US" sz="1600" b="1" dirty="0">
                <a:solidFill>
                  <a:srgbClr val="003668"/>
                </a:solidFill>
              </a:rPr>
              <a:t>Not a Lodge meeting</a:t>
            </a:r>
            <a:endParaRPr lang="en-US" sz="1600" dirty="0"/>
          </a:p>
        </p:txBody>
      </p:sp>
      <p:sp>
        <p:nvSpPr>
          <p:cNvPr id="11" name="Text 7"/>
          <p:cNvSpPr txBox="1"/>
          <p:nvPr/>
        </p:nvSpPr>
        <p:spPr>
          <a:xfrm>
            <a:off x="4251960" y="4370832"/>
            <a:ext cx="2651760" cy="1371600"/>
          </a:xfrm>
          <a:prstGeom prst="rect">
            <a:avLst/>
          </a:prstGeom>
          <a:noFill/>
          <a:ln/>
        </p:spPr>
        <p:txBody>
          <a:bodyPr wrap="square" lIns="0" tIns="0" rIns="0" bIns="0" rtlCol="0" anchor="t"/>
          <a:lstStyle/>
          <a:p>
            <a:pPr marL="0" indent="0">
              <a:buNone/>
            </a:pPr>
            <a:r>
              <a:rPr lang="en-US" sz="1400" dirty="0">
                <a:solidFill>
                  <a:srgbClr val="1E2329"/>
                </a:solidFill>
              </a:rPr>
              <a:t>No dress code, no ritual, no regalia. Everything tonight is about how Freemasonry works day to day.</a:t>
            </a:r>
            <a:endParaRPr lang="en-US" sz="1400" dirty="0"/>
          </a:p>
        </p:txBody>
      </p:sp>
      <p:sp>
        <p:nvSpPr>
          <p:cNvPr id="12" name="Card Tonight"/>
          <p:cNvSpPr/>
          <p:nvPr/>
        </p:nvSpPr>
        <p:spPr>
          <a:xfrm>
            <a:off x="7589520" y="1371600"/>
            <a:ext cx="4023360" cy="4480560"/>
          </a:xfrm>
          <a:prstGeom prst="roundRect">
            <a:avLst>
              <a:gd name="adj" fmla="val 1818"/>
            </a:avLst>
          </a:prstGeom>
          <a:solidFill>
            <a:srgbClr val="E6F2F2"/>
          </a:solidFill>
          <a:ln w="12700">
            <a:solidFill>
              <a:srgbClr val="E6F2F2"/>
            </a:solidFill>
            <a:prstDash val="solid"/>
          </a:ln>
        </p:spPr>
        <p:txBody>
          <a:bodyPr/>
          <a:lstStyle/>
          <a:p>
            <a:endParaRPr lang="en-GB"/>
          </a:p>
        </p:txBody>
      </p:sp>
      <p:sp>
        <p:nvSpPr>
          <p:cNvPr id="13" name="Text 9"/>
          <p:cNvSpPr txBox="1"/>
          <p:nvPr/>
        </p:nvSpPr>
        <p:spPr>
          <a:xfrm>
            <a:off x="7818120" y="1536192"/>
            <a:ext cx="3566160" cy="411480"/>
          </a:xfrm>
          <a:prstGeom prst="rect">
            <a:avLst/>
          </a:prstGeom>
          <a:noFill/>
          <a:ln/>
        </p:spPr>
        <p:txBody>
          <a:bodyPr wrap="square" lIns="0" tIns="0" rIns="0" bIns="0" rtlCol="0" anchor="ctr"/>
          <a:lstStyle/>
          <a:p>
            <a:pPr marL="0" indent="0">
              <a:buNone/>
            </a:pPr>
            <a:r>
              <a:rPr lang="en-US" sz="1600" b="1" dirty="0">
                <a:solidFill>
                  <a:srgbClr val="003668"/>
                </a:solidFill>
              </a:rPr>
              <a:t>Tonight</a:t>
            </a:r>
            <a:endParaRPr lang="en-US" sz="1600" dirty="0"/>
          </a:p>
        </p:txBody>
      </p:sp>
      <p:sp>
        <p:nvSpPr>
          <p:cNvPr id="14" name="Text 10"/>
          <p:cNvSpPr txBox="1"/>
          <p:nvPr/>
        </p:nvSpPr>
        <p:spPr>
          <a:xfrm>
            <a:off x="7818120" y="1993392"/>
            <a:ext cx="3566160" cy="3749040"/>
          </a:xfrm>
          <a:prstGeom prst="rect">
            <a:avLst/>
          </a:prstGeom>
          <a:noFill/>
          <a:ln/>
        </p:spPr>
        <p:txBody>
          <a:bodyPr wrap="square" lIns="0" tIns="0" rIns="0" bIns="0" rtlCol="0" anchor="t"/>
          <a:lstStyle/>
          <a:p>
            <a:pPr marL="203200" indent="-203200">
              <a:spcAft>
                <a:spcPts val="400"/>
              </a:spcAft>
              <a:buSzPct val="100000"/>
              <a:buChar char="■"/>
            </a:pPr>
            <a:r>
              <a:rPr lang="en-US" sz="1400" dirty="0">
                <a:solidFill>
                  <a:srgbClr val="1E2329"/>
                </a:solidFill>
              </a:rPr>
              <a:t>1  Mentoring: the people, the basics and the questions you asked</a:t>
            </a:r>
            <a:endParaRPr lang="en-US" sz="1400" dirty="0"/>
          </a:p>
          <a:p>
            <a:pPr marL="203200" indent="-203200">
              <a:spcAft>
                <a:spcPts val="400"/>
              </a:spcAft>
              <a:buSzPct val="100000"/>
              <a:buChar char="■"/>
            </a:pPr>
            <a:r>
              <a:rPr lang="en-US" sz="1400" dirty="0">
                <a:solidFill>
                  <a:srgbClr val="1E2329"/>
                </a:solidFill>
              </a:rPr>
              <a:t>2  Learning and Development: why it matters, Solomon, learning ritual</a:t>
            </a:r>
            <a:endParaRPr lang="en-US" sz="1400" dirty="0"/>
          </a:p>
          <a:p>
            <a:pPr marL="203200" indent="-203200">
              <a:spcAft>
                <a:spcPts val="400"/>
              </a:spcAft>
              <a:buSzPct val="100000"/>
              <a:buChar char="■"/>
            </a:pPr>
            <a:r>
              <a:rPr lang="en-US" sz="1400" dirty="0">
                <a:solidFill>
                  <a:srgbClr val="1E2329"/>
                </a:solidFill>
              </a:rPr>
              <a:t>3  Fleet House Light Blues Club: your club and what is coming up</a:t>
            </a:r>
            <a:endParaRPr lang="en-US" sz="1400" dirty="0"/>
          </a:p>
          <a:p>
            <a:pPr marL="203200" indent="-203200">
              <a:spcAft>
                <a:spcPts val="400"/>
              </a:spcAft>
              <a:buSzPct val="100000"/>
              <a:buChar char="■"/>
            </a:pPr>
            <a:r>
              <a:rPr lang="en-US" sz="1400" dirty="0">
                <a:solidFill>
                  <a:srgbClr val="1E2329"/>
                </a:solidFill>
              </a:rPr>
              <a:t>Your questions, then the bar</a:t>
            </a:r>
            <a:endParaRPr lang="en-US" sz="1400" dirty="0"/>
          </a:p>
          <a:p>
            <a:pPr marL="203200" indent="-203200">
              <a:spcAft>
                <a:spcPts val="400"/>
              </a:spcAft>
              <a:buSzPct val="100000"/>
              <a:buChar char="■"/>
            </a:pPr>
            <a:r>
              <a:rPr lang="en-US" sz="1400" dirty="0">
                <a:solidFill>
                  <a:srgbClr val="1E2329"/>
                </a:solidFill>
              </a:rPr>
              <a:t>Take the handout home: it is everything tonight, on one sheet</a:t>
            </a:r>
            <a:endParaRPr lang="en-US" sz="14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06345D"/>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p:cNvSpPr txBox="1"/>
          <p:nvPr/>
        </p:nvSpPr>
        <p:spPr>
          <a:xfrm>
            <a:off x="548640" y="411480"/>
            <a:ext cx="11091672" cy="731520"/>
          </a:xfrm>
          <a:prstGeom prst="rect">
            <a:avLst/>
          </a:prstGeom>
          <a:noFill/>
          <a:ln/>
        </p:spPr>
        <p:txBody>
          <a:bodyPr wrap="square" lIns="0" tIns="0" rIns="0" bIns="0" rtlCol="0" anchor="ctr"/>
          <a:lstStyle/>
          <a:p>
            <a:pPr marL="0" indent="0">
              <a:buNone/>
            </a:pPr>
            <a:r>
              <a:rPr lang="en-US" sz="3200" b="1" dirty="0">
                <a:solidFill>
                  <a:srgbClr val="003668"/>
                </a:solidFill>
              </a:rPr>
              <a:t>Who you'll hear from</a:t>
            </a:r>
            <a:endParaRPr lang="en-US" sz="3200" dirty="0"/>
          </a:p>
        </p:txBody>
      </p:sp>
      <p:sp>
        <p:nvSpPr>
          <p:cNvPr id="3" name="Presenter card 1"/>
          <p:cNvSpPr/>
          <p:nvPr/>
        </p:nvSpPr>
        <p:spPr>
          <a:xfrm>
            <a:off x="548640" y="1463040"/>
            <a:ext cx="3474720" cy="4206240"/>
          </a:xfrm>
          <a:prstGeom prst="roundRect">
            <a:avLst>
              <a:gd name="adj" fmla="val 2105"/>
            </a:avLst>
          </a:prstGeom>
          <a:solidFill>
            <a:srgbClr val="F2F7FC"/>
          </a:solidFill>
          <a:ln w="12700">
            <a:solidFill>
              <a:srgbClr val="F2F7FC"/>
            </a:solidFill>
            <a:prstDash val="solid"/>
          </a:ln>
        </p:spPr>
        <p:txBody>
          <a:bodyPr/>
          <a:lstStyle/>
          <a:p>
            <a:endParaRPr lang="en-GB"/>
          </a:p>
        </p:txBody>
      </p:sp>
      <p:sp>
        <p:nvSpPr>
          <p:cNvPr id="4" name="Number circle 1"/>
          <p:cNvSpPr/>
          <p:nvPr/>
        </p:nvSpPr>
        <p:spPr>
          <a:xfrm>
            <a:off x="822960" y="1737360"/>
            <a:ext cx="822960" cy="822960"/>
          </a:xfrm>
          <a:prstGeom prst="ellipse">
            <a:avLst/>
          </a:prstGeom>
          <a:solidFill>
            <a:srgbClr val="003668"/>
          </a:solidFill>
          <a:ln w="12700">
            <a:solidFill>
              <a:srgbClr val="003668"/>
            </a:solidFill>
            <a:prstDash val="solid"/>
          </a:ln>
        </p:spPr>
        <p:txBody>
          <a:bodyPr/>
          <a:lstStyle/>
          <a:p>
            <a:endParaRPr lang="en-GB"/>
          </a:p>
        </p:txBody>
      </p:sp>
      <p:sp>
        <p:nvSpPr>
          <p:cNvPr id="5" name="Text 3"/>
          <p:cNvSpPr txBox="1"/>
          <p:nvPr/>
        </p:nvSpPr>
        <p:spPr>
          <a:xfrm>
            <a:off x="822960" y="1737360"/>
            <a:ext cx="822960" cy="822960"/>
          </a:xfrm>
          <a:prstGeom prst="rect">
            <a:avLst/>
          </a:prstGeom>
          <a:noFill/>
          <a:ln/>
        </p:spPr>
        <p:txBody>
          <a:bodyPr wrap="square" lIns="0" tIns="0" rIns="0" bIns="0" rtlCol="0" anchor="ctr"/>
          <a:lstStyle/>
          <a:p>
            <a:pPr marL="0" indent="0" algn="ctr">
              <a:buNone/>
            </a:pPr>
            <a:r>
              <a:rPr lang="en-US" sz="2800" b="1" dirty="0">
                <a:solidFill>
                  <a:srgbClr val="FFFFFF"/>
                </a:solidFill>
              </a:rPr>
              <a:t>1</a:t>
            </a:r>
            <a:endParaRPr lang="en-US" sz="2800" dirty="0"/>
          </a:p>
        </p:txBody>
      </p:sp>
      <p:sp>
        <p:nvSpPr>
          <p:cNvPr id="6" name="Text 4"/>
          <p:cNvSpPr txBox="1"/>
          <p:nvPr/>
        </p:nvSpPr>
        <p:spPr>
          <a:xfrm>
            <a:off x="822960" y="2743200"/>
            <a:ext cx="2926080" cy="822960"/>
          </a:xfrm>
          <a:prstGeom prst="rect">
            <a:avLst/>
          </a:prstGeom>
          <a:noFill/>
          <a:ln/>
        </p:spPr>
        <p:txBody>
          <a:bodyPr wrap="square" lIns="0" tIns="0" rIns="0" bIns="0" rtlCol="0" anchor="t"/>
          <a:lstStyle/>
          <a:p>
            <a:pPr marL="0" indent="0">
              <a:buNone/>
            </a:pPr>
            <a:r>
              <a:rPr lang="en-US" sz="2000" b="1" dirty="0">
                <a:solidFill>
                  <a:srgbClr val="003668"/>
                </a:solidFill>
              </a:rPr>
              <a:t>Mentoring</a:t>
            </a:r>
            <a:endParaRPr lang="en-US" sz="2000" dirty="0"/>
          </a:p>
        </p:txBody>
      </p:sp>
      <p:sp>
        <p:nvSpPr>
          <p:cNvPr id="7" name="Text 5"/>
          <p:cNvSpPr txBox="1"/>
          <p:nvPr/>
        </p:nvSpPr>
        <p:spPr>
          <a:xfrm>
            <a:off x="822960" y="3657600"/>
            <a:ext cx="2926080" cy="731520"/>
          </a:xfrm>
          <a:prstGeom prst="rect">
            <a:avLst/>
          </a:prstGeom>
          <a:noFill/>
          <a:ln/>
        </p:spPr>
        <p:txBody>
          <a:bodyPr wrap="square" lIns="0" tIns="0" rIns="0" bIns="0" rtlCol="0" anchor="t"/>
          <a:lstStyle/>
          <a:p>
            <a:pPr marL="0" indent="0">
              <a:buNone/>
            </a:pPr>
            <a:r>
              <a:rPr lang="en-US" sz="1600" b="1" dirty="0">
                <a:solidFill>
                  <a:srgbClr val="1E2329"/>
                </a:solidFill>
              </a:rPr>
              <a:t>W Bro Mark Butcher and </a:t>
            </a:r>
          </a:p>
          <a:p>
            <a:pPr marL="0" indent="0">
              <a:buNone/>
            </a:pPr>
            <a:r>
              <a:rPr lang="en-US" sz="1600" b="1" dirty="0">
                <a:solidFill>
                  <a:srgbClr val="1E2329"/>
                </a:solidFill>
              </a:rPr>
              <a:t>W Bro Wes Pierce</a:t>
            </a:r>
            <a:endParaRPr lang="en-US" sz="1600" dirty="0"/>
          </a:p>
        </p:txBody>
      </p:sp>
      <p:sp>
        <p:nvSpPr>
          <p:cNvPr id="8" name="Text 6"/>
          <p:cNvSpPr txBox="1"/>
          <p:nvPr/>
        </p:nvSpPr>
        <p:spPr>
          <a:xfrm>
            <a:off x="822960" y="4434840"/>
            <a:ext cx="2926080" cy="1005840"/>
          </a:xfrm>
          <a:prstGeom prst="rect">
            <a:avLst/>
          </a:prstGeom>
          <a:noFill/>
          <a:ln/>
        </p:spPr>
        <p:txBody>
          <a:bodyPr wrap="square" lIns="0" tIns="0" rIns="0" bIns="0" rtlCol="0" anchor="t"/>
          <a:lstStyle/>
          <a:p>
            <a:pPr marL="0" indent="0">
              <a:buNone/>
            </a:pPr>
            <a:r>
              <a:rPr lang="en-US" sz="1400" dirty="0">
                <a:solidFill>
                  <a:srgbClr val="06345D"/>
                </a:solidFill>
              </a:rPr>
              <a:t>Provincial Grand Mentor and Deputy Provincial Grand Mentor</a:t>
            </a:r>
            <a:endParaRPr lang="en-US" sz="1400" dirty="0"/>
          </a:p>
        </p:txBody>
      </p:sp>
      <p:sp>
        <p:nvSpPr>
          <p:cNvPr id="9" name="Presenter card 2"/>
          <p:cNvSpPr/>
          <p:nvPr/>
        </p:nvSpPr>
        <p:spPr>
          <a:xfrm>
            <a:off x="4297680" y="1463040"/>
            <a:ext cx="3474720" cy="4206240"/>
          </a:xfrm>
          <a:prstGeom prst="roundRect">
            <a:avLst>
              <a:gd name="adj" fmla="val 2105"/>
            </a:avLst>
          </a:prstGeom>
          <a:solidFill>
            <a:srgbClr val="F2F7FC"/>
          </a:solidFill>
          <a:ln w="12700">
            <a:solidFill>
              <a:srgbClr val="F2F7FC"/>
            </a:solidFill>
            <a:prstDash val="solid"/>
          </a:ln>
        </p:spPr>
        <p:txBody>
          <a:bodyPr/>
          <a:lstStyle/>
          <a:p>
            <a:endParaRPr lang="en-GB"/>
          </a:p>
        </p:txBody>
      </p:sp>
      <p:sp>
        <p:nvSpPr>
          <p:cNvPr id="10" name="Number circle 2"/>
          <p:cNvSpPr/>
          <p:nvPr/>
        </p:nvSpPr>
        <p:spPr>
          <a:xfrm>
            <a:off x="4572000" y="1737360"/>
            <a:ext cx="822960" cy="822960"/>
          </a:xfrm>
          <a:prstGeom prst="ellipse">
            <a:avLst/>
          </a:prstGeom>
          <a:solidFill>
            <a:srgbClr val="106576"/>
          </a:solidFill>
          <a:ln w="12700">
            <a:solidFill>
              <a:srgbClr val="106576"/>
            </a:solidFill>
            <a:prstDash val="solid"/>
          </a:ln>
        </p:spPr>
        <p:txBody>
          <a:bodyPr/>
          <a:lstStyle/>
          <a:p>
            <a:endParaRPr lang="en-GB"/>
          </a:p>
        </p:txBody>
      </p:sp>
      <p:sp>
        <p:nvSpPr>
          <p:cNvPr id="11" name="Text 9"/>
          <p:cNvSpPr txBox="1"/>
          <p:nvPr/>
        </p:nvSpPr>
        <p:spPr>
          <a:xfrm>
            <a:off x="4572000" y="1737360"/>
            <a:ext cx="822960" cy="822960"/>
          </a:xfrm>
          <a:prstGeom prst="rect">
            <a:avLst/>
          </a:prstGeom>
          <a:noFill/>
          <a:ln/>
        </p:spPr>
        <p:txBody>
          <a:bodyPr wrap="square" lIns="0" tIns="0" rIns="0" bIns="0" rtlCol="0" anchor="ctr"/>
          <a:lstStyle/>
          <a:p>
            <a:pPr marL="0" indent="0" algn="ctr">
              <a:buNone/>
            </a:pPr>
            <a:r>
              <a:rPr lang="en-US" sz="2800" b="1" dirty="0">
                <a:solidFill>
                  <a:srgbClr val="FFFFFF"/>
                </a:solidFill>
              </a:rPr>
              <a:t>2</a:t>
            </a:r>
            <a:endParaRPr lang="en-US" sz="2800" dirty="0"/>
          </a:p>
        </p:txBody>
      </p:sp>
      <p:sp>
        <p:nvSpPr>
          <p:cNvPr id="12" name="Text 10"/>
          <p:cNvSpPr txBox="1"/>
          <p:nvPr/>
        </p:nvSpPr>
        <p:spPr>
          <a:xfrm>
            <a:off x="4572000" y="2743200"/>
            <a:ext cx="2926080" cy="822960"/>
          </a:xfrm>
          <a:prstGeom prst="rect">
            <a:avLst/>
          </a:prstGeom>
          <a:noFill/>
          <a:ln/>
        </p:spPr>
        <p:txBody>
          <a:bodyPr wrap="square" lIns="0" tIns="0" rIns="0" bIns="0" rtlCol="0" anchor="t"/>
          <a:lstStyle/>
          <a:p>
            <a:pPr marL="0" indent="0">
              <a:buNone/>
            </a:pPr>
            <a:r>
              <a:rPr lang="en-US" sz="2000" b="1" dirty="0">
                <a:solidFill>
                  <a:srgbClr val="106576"/>
                </a:solidFill>
              </a:rPr>
              <a:t>Learning and Development</a:t>
            </a:r>
            <a:endParaRPr lang="en-US" sz="2000" dirty="0"/>
          </a:p>
        </p:txBody>
      </p:sp>
      <p:sp>
        <p:nvSpPr>
          <p:cNvPr id="13" name="Text 11"/>
          <p:cNvSpPr txBox="1"/>
          <p:nvPr/>
        </p:nvSpPr>
        <p:spPr>
          <a:xfrm>
            <a:off x="4572000" y="3657600"/>
            <a:ext cx="2926080" cy="731520"/>
          </a:xfrm>
          <a:prstGeom prst="rect">
            <a:avLst/>
          </a:prstGeom>
          <a:noFill/>
          <a:ln/>
        </p:spPr>
        <p:txBody>
          <a:bodyPr wrap="square" lIns="0" tIns="0" rIns="0" bIns="0" rtlCol="0" anchor="t"/>
          <a:lstStyle/>
          <a:p>
            <a:pPr marL="0" indent="0">
              <a:buNone/>
            </a:pPr>
            <a:r>
              <a:rPr lang="en-US" sz="1600" b="1" dirty="0">
                <a:solidFill>
                  <a:srgbClr val="1E2329"/>
                </a:solidFill>
              </a:rPr>
              <a:t>W Bro Tom Golds</a:t>
            </a:r>
            <a:endParaRPr lang="en-US" sz="1600" dirty="0"/>
          </a:p>
        </p:txBody>
      </p:sp>
      <p:sp>
        <p:nvSpPr>
          <p:cNvPr id="14" name="Text 12"/>
          <p:cNvSpPr txBox="1"/>
          <p:nvPr/>
        </p:nvSpPr>
        <p:spPr>
          <a:xfrm>
            <a:off x="4572000" y="4434840"/>
            <a:ext cx="2926080" cy="1005840"/>
          </a:xfrm>
          <a:prstGeom prst="rect">
            <a:avLst/>
          </a:prstGeom>
          <a:noFill/>
          <a:ln/>
        </p:spPr>
        <p:txBody>
          <a:bodyPr wrap="square" lIns="0" tIns="0" rIns="0" bIns="0" rtlCol="0" anchor="t"/>
          <a:lstStyle/>
          <a:p>
            <a:pPr marL="0" indent="0">
              <a:buNone/>
            </a:pPr>
            <a:r>
              <a:rPr lang="en-US" sz="1400" dirty="0">
                <a:solidFill>
                  <a:srgbClr val="06345D"/>
                </a:solidFill>
              </a:rPr>
              <a:t>Provincial Learning and Development Officer</a:t>
            </a:r>
            <a:endParaRPr lang="en-US" sz="1400" dirty="0"/>
          </a:p>
        </p:txBody>
      </p:sp>
      <p:sp>
        <p:nvSpPr>
          <p:cNvPr id="15" name="Presenter card 3"/>
          <p:cNvSpPr/>
          <p:nvPr/>
        </p:nvSpPr>
        <p:spPr>
          <a:xfrm>
            <a:off x="8046720" y="1463040"/>
            <a:ext cx="3474720" cy="4206240"/>
          </a:xfrm>
          <a:prstGeom prst="roundRect">
            <a:avLst>
              <a:gd name="adj" fmla="val 2105"/>
            </a:avLst>
          </a:prstGeom>
          <a:solidFill>
            <a:srgbClr val="F2F7FC"/>
          </a:solidFill>
          <a:ln w="12700">
            <a:solidFill>
              <a:srgbClr val="F2F7FC"/>
            </a:solidFill>
            <a:prstDash val="solid"/>
          </a:ln>
        </p:spPr>
        <p:txBody>
          <a:bodyPr/>
          <a:lstStyle/>
          <a:p>
            <a:endParaRPr lang="en-GB"/>
          </a:p>
        </p:txBody>
      </p:sp>
      <p:sp>
        <p:nvSpPr>
          <p:cNvPr id="16" name="Number circle 3"/>
          <p:cNvSpPr/>
          <p:nvPr/>
        </p:nvSpPr>
        <p:spPr>
          <a:xfrm>
            <a:off x="8321040" y="1737360"/>
            <a:ext cx="822960" cy="822960"/>
          </a:xfrm>
          <a:prstGeom prst="ellipse">
            <a:avLst/>
          </a:prstGeom>
          <a:solidFill>
            <a:srgbClr val="157A7C"/>
          </a:solidFill>
          <a:ln w="12700">
            <a:solidFill>
              <a:srgbClr val="157A7C"/>
            </a:solidFill>
            <a:prstDash val="solid"/>
          </a:ln>
        </p:spPr>
        <p:txBody>
          <a:bodyPr/>
          <a:lstStyle/>
          <a:p>
            <a:endParaRPr lang="en-GB"/>
          </a:p>
        </p:txBody>
      </p:sp>
      <p:sp>
        <p:nvSpPr>
          <p:cNvPr id="17" name="Text 15"/>
          <p:cNvSpPr txBox="1"/>
          <p:nvPr/>
        </p:nvSpPr>
        <p:spPr>
          <a:xfrm>
            <a:off x="8321040" y="1737360"/>
            <a:ext cx="822960" cy="822960"/>
          </a:xfrm>
          <a:prstGeom prst="rect">
            <a:avLst/>
          </a:prstGeom>
          <a:noFill/>
          <a:ln/>
        </p:spPr>
        <p:txBody>
          <a:bodyPr wrap="square" lIns="0" tIns="0" rIns="0" bIns="0" rtlCol="0" anchor="ctr"/>
          <a:lstStyle/>
          <a:p>
            <a:pPr marL="0" indent="0" algn="ctr">
              <a:buNone/>
            </a:pPr>
            <a:r>
              <a:rPr lang="en-US" sz="2800" b="1" dirty="0">
                <a:solidFill>
                  <a:srgbClr val="FFFFFF"/>
                </a:solidFill>
              </a:rPr>
              <a:t>3</a:t>
            </a:r>
            <a:endParaRPr lang="en-US" sz="2800" dirty="0"/>
          </a:p>
        </p:txBody>
      </p:sp>
      <p:sp>
        <p:nvSpPr>
          <p:cNvPr id="18" name="Text 16"/>
          <p:cNvSpPr txBox="1"/>
          <p:nvPr/>
        </p:nvSpPr>
        <p:spPr>
          <a:xfrm>
            <a:off x="8321040" y="2743200"/>
            <a:ext cx="2926080" cy="822960"/>
          </a:xfrm>
          <a:prstGeom prst="rect">
            <a:avLst/>
          </a:prstGeom>
          <a:noFill/>
          <a:ln/>
        </p:spPr>
        <p:txBody>
          <a:bodyPr wrap="square" lIns="0" tIns="0" rIns="0" bIns="0" rtlCol="0" anchor="t"/>
          <a:lstStyle/>
          <a:p>
            <a:pPr marL="0" indent="0">
              <a:buNone/>
            </a:pPr>
            <a:r>
              <a:rPr lang="en-US" sz="2000" b="1" dirty="0">
                <a:solidFill>
                  <a:srgbClr val="157A7C"/>
                </a:solidFill>
              </a:rPr>
              <a:t>Fleet House Light Blues Club</a:t>
            </a:r>
            <a:endParaRPr lang="en-US" sz="2000" dirty="0"/>
          </a:p>
        </p:txBody>
      </p:sp>
      <p:sp>
        <p:nvSpPr>
          <p:cNvPr id="19" name="Text 17"/>
          <p:cNvSpPr txBox="1"/>
          <p:nvPr/>
        </p:nvSpPr>
        <p:spPr>
          <a:xfrm>
            <a:off x="8321040" y="3657600"/>
            <a:ext cx="2926080" cy="731520"/>
          </a:xfrm>
          <a:prstGeom prst="rect">
            <a:avLst/>
          </a:prstGeom>
          <a:noFill/>
          <a:ln/>
        </p:spPr>
        <p:txBody>
          <a:bodyPr wrap="square" lIns="0" tIns="0" rIns="0" bIns="0" rtlCol="0" anchor="t"/>
          <a:lstStyle/>
          <a:p>
            <a:pPr marL="0" indent="0">
              <a:buNone/>
            </a:pPr>
            <a:r>
              <a:rPr lang="en-US" sz="1600" b="1" dirty="0">
                <a:solidFill>
                  <a:srgbClr val="1E2329"/>
                </a:solidFill>
              </a:rPr>
              <a:t>Bro Aaron Ball</a:t>
            </a:r>
            <a:endParaRPr lang="en-US" sz="1600" dirty="0"/>
          </a:p>
        </p:txBody>
      </p:sp>
      <p:sp>
        <p:nvSpPr>
          <p:cNvPr id="20" name="Text 18"/>
          <p:cNvSpPr txBox="1"/>
          <p:nvPr/>
        </p:nvSpPr>
        <p:spPr>
          <a:xfrm>
            <a:off x="8321040" y="4434840"/>
            <a:ext cx="2926080" cy="1005840"/>
          </a:xfrm>
          <a:prstGeom prst="rect">
            <a:avLst/>
          </a:prstGeom>
          <a:noFill/>
          <a:ln/>
        </p:spPr>
        <p:txBody>
          <a:bodyPr wrap="square" lIns="0" tIns="0" rIns="0" bIns="0" rtlCol="0" anchor="t"/>
          <a:lstStyle/>
          <a:p>
            <a:pPr marL="0" indent="0">
              <a:buNone/>
            </a:pPr>
            <a:r>
              <a:rPr lang="en-US" sz="1400" dirty="0">
                <a:solidFill>
                  <a:srgbClr val="06345D"/>
                </a:solidFill>
              </a:rPr>
              <a:t>FHLBC Communications Officer</a:t>
            </a:r>
            <a:endParaRPr lang="en-US" sz="14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06345D"/>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Number"/>
          <p:cNvSpPr txBox="1"/>
          <p:nvPr/>
        </p:nvSpPr>
        <p:spPr>
          <a:xfrm>
            <a:off x="822960" y="1463040"/>
            <a:ext cx="2011680" cy="2011680"/>
          </a:xfrm>
          <a:prstGeom prst="rect">
            <a:avLst/>
          </a:prstGeom>
          <a:noFill/>
          <a:ln/>
        </p:spPr>
        <p:txBody>
          <a:bodyPr wrap="square" lIns="0" tIns="0" rIns="0" bIns="0" rtlCol="0" anchor="ctr"/>
          <a:lstStyle/>
          <a:p>
            <a:pPr marL="0" indent="0">
              <a:buNone/>
            </a:pPr>
            <a:r>
              <a:rPr lang="en-US" sz="12000" b="1" dirty="0">
                <a:solidFill>
                  <a:srgbClr val="8FD3D1"/>
                </a:solidFill>
              </a:rPr>
              <a:t>1</a:t>
            </a:r>
            <a:endParaRPr lang="en-US" sz="12000" dirty="0"/>
          </a:p>
        </p:txBody>
      </p:sp>
      <p:sp>
        <p:nvSpPr>
          <p:cNvPr id="3" name="Section title"/>
          <p:cNvSpPr txBox="1"/>
          <p:nvPr/>
        </p:nvSpPr>
        <p:spPr>
          <a:xfrm>
            <a:off x="3108960" y="1737360"/>
            <a:ext cx="8229600" cy="1097280"/>
          </a:xfrm>
          <a:prstGeom prst="rect">
            <a:avLst/>
          </a:prstGeom>
          <a:noFill/>
          <a:ln/>
        </p:spPr>
        <p:txBody>
          <a:bodyPr wrap="square" lIns="0" tIns="0" rIns="0" bIns="0" rtlCol="0" anchor="ctr"/>
          <a:lstStyle/>
          <a:p>
            <a:pPr marL="0" indent="0">
              <a:buNone/>
            </a:pPr>
            <a:r>
              <a:rPr lang="en-US" sz="4400" b="1" dirty="0">
                <a:solidFill>
                  <a:srgbClr val="FFFFFF"/>
                </a:solidFill>
              </a:rPr>
              <a:t>Mentoring</a:t>
            </a:r>
            <a:endParaRPr lang="en-US" sz="4400" dirty="0"/>
          </a:p>
        </p:txBody>
      </p:sp>
      <p:sp>
        <p:nvSpPr>
          <p:cNvPr id="4" name="Section subtitle"/>
          <p:cNvSpPr txBox="1"/>
          <p:nvPr/>
        </p:nvSpPr>
        <p:spPr>
          <a:xfrm>
            <a:off x="3108960" y="2834640"/>
            <a:ext cx="8229600" cy="731520"/>
          </a:xfrm>
          <a:prstGeom prst="rect">
            <a:avLst/>
          </a:prstGeom>
          <a:noFill/>
          <a:ln/>
        </p:spPr>
        <p:txBody>
          <a:bodyPr wrap="square" lIns="0" tIns="0" rIns="0" bIns="0" rtlCol="0" anchor="t"/>
          <a:lstStyle/>
          <a:p>
            <a:pPr marL="0" indent="0">
              <a:buNone/>
            </a:pPr>
            <a:r>
              <a:rPr lang="en-US" sz="1800" dirty="0">
                <a:solidFill>
                  <a:srgbClr val="BFD6EA"/>
                </a:solidFill>
              </a:rPr>
              <a:t>The people here to help you, the basics nobody explains, and the questions you asked</a:t>
            </a:r>
            <a:endParaRPr lang="en-US" sz="1800" dirty="0"/>
          </a:p>
        </p:txBody>
      </p:sp>
      <p:sp>
        <p:nvSpPr>
          <p:cNvPr id="5" name="Presenter"/>
          <p:cNvSpPr txBox="1"/>
          <p:nvPr/>
        </p:nvSpPr>
        <p:spPr>
          <a:xfrm>
            <a:off x="3108960" y="3931920"/>
            <a:ext cx="8229600" cy="457200"/>
          </a:xfrm>
          <a:prstGeom prst="rect">
            <a:avLst/>
          </a:prstGeom>
          <a:noFill/>
          <a:ln/>
        </p:spPr>
        <p:txBody>
          <a:bodyPr wrap="square" lIns="0" tIns="0" rIns="0" bIns="0" rtlCol="0" anchor="ctr"/>
          <a:lstStyle/>
          <a:p>
            <a:pPr marL="0" indent="0">
              <a:buNone/>
            </a:pPr>
            <a:r>
              <a:rPr lang="en-US" sz="1600" b="1" dirty="0">
                <a:solidFill>
                  <a:srgbClr val="FFFFFF"/>
                </a:solidFill>
              </a:rPr>
              <a:t>W Bro Mark Butcher, Provincial Grand Mentor  ·  </a:t>
            </a:r>
          </a:p>
          <a:p>
            <a:pPr marL="0" indent="0">
              <a:buNone/>
            </a:pPr>
            <a:r>
              <a:rPr lang="en-US" sz="1600" b="1" dirty="0">
                <a:solidFill>
                  <a:srgbClr val="FFFFFF"/>
                </a:solidFill>
              </a:rPr>
              <a:t>W Bro Wes Pierce, Deputy Provincial Grand Mentor</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itle"/>
          <p:cNvSpPr txBox="1"/>
          <p:nvPr/>
        </p:nvSpPr>
        <p:spPr>
          <a:xfrm>
            <a:off x="548640" y="411480"/>
            <a:ext cx="11091672" cy="731520"/>
          </a:xfrm>
          <a:prstGeom prst="rect">
            <a:avLst/>
          </a:prstGeom>
          <a:noFill/>
          <a:ln/>
        </p:spPr>
        <p:txBody>
          <a:bodyPr wrap="square" lIns="0" tIns="0" rIns="0" bIns="0" rtlCol="0" anchor="ctr"/>
          <a:lstStyle/>
          <a:p>
            <a:pPr marL="0" indent="0">
              <a:buNone/>
            </a:pPr>
            <a:r>
              <a:rPr lang="en-US" sz="3200" b="1" dirty="0">
                <a:solidFill>
                  <a:srgbClr val="003668"/>
                </a:solidFill>
              </a:rPr>
              <a:t>Who's who in your corner</a:t>
            </a:r>
            <a:endParaRPr lang="en-US" sz="3200" dirty="0"/>
          </a:p>
        </p:txBody>
      </p:sp>
      <p:sp>
        <p:nvSpPr>
          <p:cNvPr id="3" name="Card Your Personal Mentor"/>
          <p:cNvSpPr/>
          <p:nvPr/>
        </p:nvSpPr>
        <p:spPr>
          <a:xfrm>
            <a:off x="548640" y="1280160"/>
            <a:ext cx="3657600" cy="4480560"/>
          </a:xfrm>
          <a:prstGeom prst="roundRect">
            <a:avLst>
              <a:gd name="adj" fmla="val 2000"/>
            </a:avLst>
          </a:prstGeom>
          <a:solidFill>
            <a:srgbClr val="F2F7FC"/>
          </a:solidFill>
          <a:ln w="12700">
            <a:solidFill>
              <a:srgbClr val="F2F7FC"/>
            </a:solidFill>
            <a:prstDash val="solid"/>
          </a:ln>
        </p:spPr>
        <p:txBody>
          <a:bodyPr/>
          <a:lstStyle/>
          <a:p>
            <a:endParaRPr lang="en-GB"/>
          </a:p>
        </p:txBody>
      </p:sp>
      <p:pic>
        <p:nvPicPr>
          <p:cNvPr id="4" name="Image 0" descr="preencoded.png"/>
          <p:cNvPicPr>
            <a:picLocks noChangeAspect="1"/>
          </p:cNvPicPr>
          <p:nvPr/>
        </p:nvPicPr>
        <p:blipFill>
          <a:blip r:embed="rId3"/>
          <a:stretch>
            <a:fillRect/>
          </a:stretch>
        </p:blipFill>
        <p:spPr>
          <a:xfrm>
            <a:off x="749808" y="1463040"/>
            <a:ext cx="384048" cy="384048"/>
          </a:xfrm>
          <a:prstGeom prst="rect">
            <a:avLst/>
          </a:prstGeom>
        </p:spPr>
      </p:pic>
      <p:sp>
        <p:nvSpPr>
          <p:cNvPr id="5" name="Text 2"/>
          <p:cNvSpPr txBox="1"/>
          <p:nvPr/>
        </p:nvSpPr>
        <p:spPr>
          <a:xfrm>
            <a:off x="1261872" y="1444752"/>
            <a:ext cx="2743200" cy="411480"/>
          </a:xfrm>
          <a:prstGeom prst="rect">
            <a:avLst/>
          </a:prstGeom>
          <a:noFill/>
          <a:ln/>
        </p:spPr>
        <p:txBody>
          <a:bodyPr wrap="square" lIns="0" tIns="0" rIns="0" bIns="0" rtlCol="0" anchor="ctr"/>
          <a:lstStyle/>
          <a:p>
            <a:pPr marL="0" indent="0">
              <a:buNone/>
            </a:pPr>
            <a:r>
              <a:rPr lang="en-US" sz="1600" b="1" dirty="0">
                <a:solidFill>
                  <a:srgbClr val="003668"/>
                </a:solidFill>
              </a:rPr>
              <a:t>Your Personal Mentor</a:t>
            </a:r>
            <a:endParaRPr lang="en-US" sz="1600" dirty="0"/>
          </a:p>
        </p:txBody>
      </p:sp>
      <p:sp>
        <p:nvSpPr>
          <p:cNvPr id="6" name="Text 3"/>
          <p:cNvSpPr txBox="1"/>
          <p:nvPr/>
        </p:nvSpPr>
        <p:spPr>
          <a:xfrm>
            <a:off x="777240" y="1901952"/>
            <a:ext cx="3200400" cy="3749040"/>
          </a:xfrm>
          <a:prstGeom prst="rect">
            <a:avLst/>
          </a:prstGeom>
          <a:noFill/>
          <a:ln/>
        </p:spPr>
        <p:txBody>
          <a:bodyPr wrap="square" lIns="0" tIns="0" rIns="0" bIns="0" rtlCol="0" anchor="t"/>
          <a:lstStyle/>
          <a:p>
            <a:pPr marL="203200" indent="-203200">
              <a:spcAft>
                <a:spcPts val="400"/>
              </a:spcAft>
              <a:buSzPct val="100000"/>
              <a:buChar char="■"/>
            </a:pPr>
            <a:r>
              <a:rPr lang="en-US" sz="1400" dirty="0">
                <a:solidFill>
                  <a:srgbClr val="1E2329"/>
                </a:solidFill>
              </a:rPr>
              <a:t>One Brother, there for you</a:t>
            </a:r>
            <a:endParaRPr lang="en-US" sz="1400" dirty="0"/>
          </a:p>
          <a:p>
            <a:pPr marL="203200" indent="-203200">
              <a:spcAft>
                <a:spcPts val="400"/>
              </a:spcAft>
              <a:buSzPct val="100000"/>
              <a:buChar char="■"/>
            </a:pPr>
            <a:r>
              <a:rPr lang="en-US" sz="1400" dirty="0">
                <a:solidFill>
                  <a:srgbClr val="1E2329"/>
                </a:solidFill>
              </a:rPr>
              <a:t>A friend first: the person you ring, message or sit next to without feeling you are bothering anyone</a:t>
            </a:r>
            <a:endParaRPr lang="en-US" sz="1400" dirty="0"/>
          </a:p>
          <a:p>
            <a:pPr marL="203200" indent="-203200">
              <a:spcAft>
                <a:spcPts val="400"/>
              </a:spcAft>
              <a:buSzPct val="100000"/>
              <a:buChar char="■"/>
            </a:pPr>
            <a:r>
              <a:rPr lang="en-US" sz="1400" dirty="0">
                <a:solidFill>
                  <a:srgbClr val="1E2329"/>
                </a:solidFill>
              </a:rPr>
              <a:t>Your first call for any question</a:t>
            </a:r>
            <a:endParaRPr lang="en-US" sz="1400" dirty="0"/>
          </a:p>
        </p:txBody>
      </p:sp>
      <p:sp>
        <p:nvSpPr>
          <p:cNvPr id="7" name="Card Your Lodge Mentor"/>
          <p:cNvSpPr/>
          <p:nvPr/>
        </p:nvSpPr>
        <p:spPr>
          <a:xfrm>
            <a:off x="4389120" y="1280160"/>
            <a:ext cx="3657600" cy="4480560"/>
          </a:xfrm>
          <a:prstGeom prst="roundRect">
            <a:avLst>
              <a:gd name="adj" fmla="val 2000"/>
            </a:avLst>
          </a:prstGeom>
          <a:solidFill>
            <a:srgbClr val="F2F7FC"/>
          </a:solidFill>
          <a:ln w="12700">
            <a:solidFill>
              <a:srgbClr val="F2F7FC"/>
            </a:solidFill>
            <a:prstDash val="solid"/>
          </a:ln>
        </p:spPr>
        <p:txBody>
          <a:bodyPr/>
          <a:lstStyle/>
          <a:p>
            <a:endParaRPr lang="en-GB"/>
          </a:p>
        </p:txBody>
      </p:sp>
      <p:pic>
        <p:nvPicPr>
          <p:cNvPr id="8" name="Image 1" descr="preencoded.png"/>
          <p:cNvPicPr>
            <a:picLocks noChangeAspect="1"/>
          </p:cNvPicPr>
          <p:nvPr/>
        </p:nvPicPr>
        <p:blipFill>
          <a:blip r:embed="rId4"/>
          <a:stretch>
            <a:fillRect/>
          </a:stretch>
        </p:blipFill>
        <p:spPr>
          <a:xfrm>
            <a:off x="4590288" y="1463040"/>
            <a:ext cx="384048" cy="384048"/>
          </a:xfrm>
          <a:prstGeom prst="rect">
            <a:avLst/>
          </a:prstGeom>
        </p:spPr>
      </p:pic>
      <p:sp>
        <p:nvSpPr>
          <p:cNvPr id="9" name="Text 5"/>
          <p:cNvSpPr txBox="1"/>
          <p:nvPr/>
        </p:nvSpPr>
        <p:spPr>
          <a:xfrm>
            <a:off x="5102352" y="1444752"/>
            <a:ext cx="2743200" cy="411480"/>
          </a:xfrm>
          <a:prstGeom prst="rect">
            <a:avLst/>
          </a:prstGeom>
          <a:noFill/>
          <a:ln/>
        </p:spPr>
        <p:txBody>
          <a:bodyPr wrap="square" lIns="0" tIns="0" rIns="0" bIns="0" rtlCol="0" anchor="ctr"/>
          <a:lstStyle/>
          <a:p>
            <a:pPr marL="0" indent="0">
              <a:buNone/>
            </a:pPr>
            <a:r>
              <a:rPr lang="en-US" sz="1600" b="1" dirty="0">
                <a:solidFill>
                  <a:srgbClr val="003668"/>
                </a:solidFill>
              </a:rPr>
              <a:t>Your Lodge Mentor</a:t>
            </a:r>
            <a:endParaRPr lang="en-US" sz="1600" dirty="0"/>
          </a:p>
        </p:txBody>
      </p:sp>
      <p:sp>
        <p:nvSpPr>
          <p:cNvPr id="10" name="Text 6"/>
          <p:cNvSpPr txBox="1"/>
          <p:nvPr/>
        </p:nvSpPr>
        <p:spPr>
          <a:xfrm>
            <a:off x="4617720" y="1901952"/>
            <a:ext cx="3200400" cy="3749040"/>
          </a:xfrm>
          <a:prstGeom prst="rect">
            <a:avLst/>
          </a:prstGeom>
          <a:noFill/>
          <a:ln/>
        </p:spPr>
        <p:txBody>
          <a:bodyPr wrap="square" lIns="0" tIns="0" rIns="0" bIns="0" rtlCol="0" anchor="t"/>
          <a:lstStyle/>
          <a:p>
            <a:pPr marL="203200" indent="-203200">
              <a:spcAft>
                <a:spcPts val="400"/>
              </a:spcAft>
              <a:buSzPct val="100000"/>
              <a:buChar char="■"/>
            </a:pPr>
            <a:r>
              <a:rPr lang="en-US" sz="1400" dirty="0">
                <a:solidFill>
                  <a:srgbClr val="1E2329"/>
                </a:solidFill>
              </a:rPr>
              <a:t>Co-ordinates mentoring across the Lodge</a:t>
            </a:r>
            <a:endParaRPr lang="en-US" sz="1400" dirty="0"/>
          </a:p>
          <a:p>
            <a:pPr marL="203200" indent="-203200">
              <a:spcAft>
                <a:spcPts val="400"/>
              </a:spcAft>
              <a:buSzPct val="100000"/>
              <a:buChar char="■"/>
            </a:pPr>
            <a:r>
              <a:rPr lang="en-US" sz="1400" dirty="0">
                <a:solidFill>
                  <a:srgbClr val="1E2329"/>
                </a:solidFill>
              </a:rPr>
              <a:t>Makes sure every new member has a Personal Mentor and nobody drifts</a:t>
            </a:r>
            <a:endParaRPr lang="en-US" sz="1400" dirty="0"/>
          </a:p>
          <a:p>
            <a:pPr marL="203200" indent="-203200">
              <a:spcAft>
                <a:spcPts val="400"/>
              </a:spcAft>
              <a:buSzPct val="100000"/>
              <a:buChar char="■"/>
            </a:pPr>
            <a:r>
              <a:rPr lang="en-US" sz="1400" dirty="0">
                <a:solidFill>
                  <a:srgbClr val="1E2329"/>
                </a:solidFill>
              </a:rPr>
              <a:t>Ask him if your Personal Mentor cannot help</a:t>
            </a:r>
            <a:endParaRPr lang="en-US" sz="1400" dirty="0"/>
          </a:p>
        </p:txBody>
      </p:sp>
      <p:sp>
        <p:nvSpPr>
          <p:cNvPr id="11" name="Card The Provincial team"/>
          <p:cNvSpPr/>
          <p:nvPr/>
        </p:nvSpPr>
        <p:spPr>
          <a:xfrm>
            <a:off x="8229600" y="1280160"/>
            <a:ext cx="3383280" cy="4480560"/>
          </a:xfrm>
          <a:prstGeom prst="roundRect">
            <a:avLst>
              <a:gd name="adj" fmla="val 2162"/>
            </a:avLst>
          </a:prstGeom>
          <a:solidFill>
            <a:srgbClr val="F2F7FC"/>
          </a:solidFill>
          <a:ln w="12700">
            <a:solidFill>
              <a:srgbClr val="F2F7FC"/>
            </a:solidFill>
            <a:prstDash val="solid"/>
          </a:ln>
        </p:spPr>
        <p:txBody>
          <a:bodyPr/>
          <a:lstStyle/>
          <a:p>
            <a:endParaRPr lang="en-GB"/>
          </a:p>
        </p:txBody>
      </p:sp>
      <p:pic>
        <p:nvPicPr>
          <p:cNvPr id="12" name="Image 2" descr="preencoded.png"/>
          <p:cNvPicPr>
            <a:picLocks noChangeAspect="1"/>
          </p:cNvPicPr>
          <p:nvPr/>
        </p:nvPicPr>
        <p:blipFill>
          <a:blip r:embed="rId5"/>
          <a:stretch>
            <a:fillRect/>
          </a:stretch>
        </p:blipFill>
        <p:spPr>
          <a:xfrm>
            <a:off x="8430768" y="1463040"/>
            <a:ext cx="384048" cy="384048"/>
          </a:xfrm>
          <a:prstGeom prst="rect">
            <a:avLst/>
          </a:prstGeom>
        </p:spPr>
      </p:pic>
      <p:sp>
        <p:nvSpPr>
          <p:cNvPr id="13" name="Text 8"/>
          <p:cNvSpPr txBox="1"/>
          <p:nvPr/>
        </p:nvSpPr>
        <p:spPr>
          <a:xfrm>
            <a:off x="8942832" y="1444752"/>
            <a:ext cx="2468880" cy="411480"/>
          </a:xfrm>
          <a:prstGeom prst="rect">
            <a:avLst/>
          </a:prstGeom>
          <a:noFill/>
          <a:ln/>
        </p:spPr>
        <p:txBody>
          <a:bodyPr wrap="square" lIns="0" tIns="0" rIns="0" bIns="0" rtlCol="0" anchor="ctr"/>
          <a:lstStyle/>
          <a:p>
            <a:pPr marL="0" indent="0">
              <a:buNone/>
            </a:pPr>
            <a:r>
              <a:rPr lang="en-US" sz="1600" b="1" dirty="0">
                <a:solidFill>
                  <a:srgbClr val="003668"/>
                </a:solidFill>
              </a:rPr>
              <a:t>The Provincial team</a:t>
            </a:r>
            <a:endParaRPr lang="en-US" sz="1600" dirty="0"/>
          </a:p>
        </p:txBody>
      </p:sp>
      <p:sp>
        <p:nvSpPr>
          <p:cNvPr id="14" name="Text 9"/>
          <p:cNvSpPr txBox="1"/>
          <p:nvPr/>
        </p:nvSpPr>
        <p:spPr>
          <a:xfrm>
            <a:off x="8458200" y="1901952"/>
            <a:ext cx="2926080" cy="3749040"/>
          </a:xfrm>
          <a:prstGeom prst="rect">
            <a:avLst/>
          </a:prstGeom>
          <a:noFill/>
          <a:ln/>
        </p:spPr>
        <p:txBody>
          <a:bodyPr wrap="square" lIns="0" tIns="0" rIns="0" bIns="0" rtlCol="0" anchor="t"/>
          <a:lstStyle/>
          <a:p>
            <a:pPr marL="203200" indent="-203200">
              <a:spcAft>
                <a:spcPts val="400"/>
              </a:spcAft>
              <a:buSzPct val="100000"/>
              <a:buChar char="■"/>
            </a:pPr>
            <a:r>
              <a:rPr lang="en-US" sz="1400" dirty="0">
                <a:solidFill>
                  <a:srgbClr val="1E2329"/>
                </a:solidFill>
              </a:rPr>
              <a:t>The Provincial Grand Mentor, his Deputy and the Provincial Mentoring Team</a:t>
            </a:r>
            <a:endParaRPr lang="en-US" sz="1400" dirty="0"/>
          </a:p>
          <a:p>
            <a:pPr marL="203200" indent="-203200">
              <a:spcAft>
                <a:spcPts val="400"/>
              </a:spcAft>
              <a:buSzPct val="100000"/>
              <a:buChar char="■"/>
            </a:pPr>
            <a:r>
              <a:rPr lang="en-US" sz="1400" dirty="0">
                <a:solidFill>
                  <a:srgbClr val="1E2329"/>
                </a:solidFill>
              </a:rPr>
              <a:t>Here to help, never to inspect</a:t>
            </a:r>
            <a:endParaRPr lang="en-US" sz="1400" dirty="0"/>
          </a:p>
          <a:p>
            <a:pPr marL="203200" indent="-203200">
              <a:spcAft>
                <a:spcPts val="400"/>
              </a:spcAft>
              <a:buSzPct val="100000"/>
              <a:buChar char="■"/>
            </a:pPr>
            <a:r>
              <a:rPr lang="en-US" sz="1400" dirty="0">
                <a:solidFill>
                  <a:srgbClr val="1E2329"/>
                </a:solidFill>
              </a:rPr>
              <a:t>Your Lodge Mentor knows how to reach us</a:t>
            </a:r>
            <a:endParaRPr lang="en-US" sz="1400" dirty="0"/>
          </a:p>
        </p:txBody>
      </p:sp>
      <p:sp>
        <p:nvSpPr>
          <p:cNvPr id="15" name="Contact"/>
          <p:cNvSpPr txBox="1"/>
          <p:nvPr/>
        </p:nvSpPr>
        <p:spPr>
          <a:xfrm>
            <a:off x="548640" y="5943600"/>
            <a:ext cx="10972800" cy="365760"/>
          </a:xfrm>
          <a:prstGeom prst="rect">
            <a:avLst/>
          </a:prstGeom>
          <a:noFill/>
          <a:ln/>
        </p:spPr>
        <p:txBody>
          <a:bodyPr wrap="square" lIns="0" tIns="0" rIns="0" bIns="0" rtlCol="0" anchor="ctr"/>
          <a:lstStyle/>
          <a:p>
            <a:pPr marL="0" indent="0">
              <a:buNone/>
            </a:pPr>
            <a:r>
              <a:rPr lang="en-US" sz="1500" b="1" dirty="0">
                <a:solidFill>
                  <a:srgbClr val="157A7C"/>
                </a:solidFill>
              </a:rPr>
              <a:t>Any question, any time: mentor@hertfordshirefreemasons.org.uk</a:t>
            </a:r>
            <a:endParaRPr lang="en-US" sz="15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06345D"/>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le"/>
          <p:cNvSpPr txBox="1"/>
          <p:nvPr/>
        </p:nvSpPr>
        <p:spPr>
          <a:xfrm>
            <a:off x="548640" y="411480"/>
            <a:ext cx="11091672" cy="731520"/>
          </a:xfrm>
          <a:prstGeom prst="rect">
            <a:avLst/>
          </a:prstGeom>
          <a:noFill/>
          <a:ln/>
        </p:spPr>
        <p:txBody>
          <a:bodyPr wrap="square" lIns="0" tIns="0" rIns="0" bIns="0" rtlCol="0" anchor="ctr"/>
          <a:lstStyle/>
          <a:p>
            <a:pPr marL="0" indent="0">
              <a:buNone/>
            </a:pPr>
            <a:r>
              <a:rPr lang="en-US" sz="3200" b="1" dirty="0">
                <a:solidFill>
                  <a:srgbClr val="003668"/>
                </a:solidFill>
              </a:rPr>
              <a:t>What we mean by mentoring</a:t>
            </a:r>
            <a:endParaRPr lang="en-US" sz="3200" dirty="0"/>
          </a:p>
        </p:txBody>
      </p:sp>
      <p:sp>
        <p:nvSpPr>
          <p:cNvPr id="3" name="Lead"/>
          <p:cNvSpPr txBox="1"/>
          <p:nvPr/>
        </p:nvSpPr>
        <p:spPr>
          <a:xfrm>
            <a:off x="548640" y="1280160"/>
            <a:ext cx="10972800" cy="731520"/>
          </a:xfrm>
          <a:prstGeom prst="rect">
            <a:avLst/>
          </a:prstGeom>
          <a:noFill/>
          <a:ln/>
        </p:spPr>
        <p:txBody>
          <a:bodyPr wrap="square" lIns="0" tIns="0" rIns="0" bIns="0" rtlCol="0" anchor="ctr"/>
          <a:lstStyle/>
          <a:p>
            <a:pPr marL="0" indent="0">
              <a:buNone/>
            </a:pPr>
            <a:r>
              <a:rPr lang="en-US" sz="1600" dirty="0">
                <a:solidFill>
                  <a:srgbClr val="1E2329"/>
                </a:solidFill>
              </a:rPr>
              <a:t>Mentoring in Hertfordshire is a culture, not a programme. It rests on four principles that run together, all the time. They are not stages.</a:t>
            </a:r>
            <a:endParaRPr lang="en-US" sz="1600" dirty="0"/>
          </a:p>
        </p:txBody>
      </p:sp>
      <p:sp>
        <p:nvSpPr>
          <p:cNvPr id="4" name="Principle Prepare"/>
          <p:cNvSpPr/>
          <p:nvPr/>
        </p:nvSpPr>
        <p:spPr>
          <a:xfrm>
            <a:off x="548640" y="2286000"/>
            <a:ext cx="2651760" cy="1005840"/>
          </a:xfrm>
          <a:prstGeom prst="rect">
            <a:avLst/>
          </a:prstGeom>
          <a:solidFill>
            <a:srgbClr val="003668"/>
          </a:solidFill>
          <a:ln w="12700">
            <a:solidFill>
              <a:srgbClr val="003668"/>
            </a:solidFill>
            <a:prstDash val="solid"/>
          </a:ln>
        </p:spPr>
        <p:txBody>
          <a:bodyPr/>
          <a:lstStyle/>
          <a:p>
            <a:endParaRPr lang="en-GB"/>
          </a:p>
        </p:txBody>
      </p:sp>
      <p:sp>
        <p:nvSpPr>
          <p:cNvPr id="5" name="Text 3"/>
          <p:cNvSpPr txBox="1"/>
          <p:nvPr/>
        </p:nvSpPr>
        <p:spPr>
          <a:xfrm>
            <a:off x="777240" y="2286000"/>
            <a:ext cx="2377440" cy="1005840"/>
          </a:xfrm>
          <a:prstGeom prst="rect">
            <a:avLst/>
          </a:prstGeom>
          <a:noFill/>
          <a:ln/>
        </p:spPr>
        <p:txBody>
          <a:bodyPr wrap="square" lIns="0" tIns="0" rIns="0" bIns="0" rtlCol="0" anchor="ctr"/>
          <a:lstStyle/>
          <a:p>
            <a:pPr marL="0" indent="0">
              <a:buNone/>
            </a:pPr>
            <a:r>
              <a:rPr lang="en-US" sz="1800" b="1" dirty="0">
                <a:solidFill>
                  <a:srgbClr val="8FD3D1"/>
                </a:solidFill>
              </a:rPr>
              <a:t>1  </a:t>
            </a:r>
            <a:r>
              <a:rPr lang="en-US" sz="2000" b="1" dirty="0">
                <a:solidFill>
                  <a:srgbClr val="FFFFFF"/>
                </a:solidFill>
              </a:rPr>
              <a:t>PREPARE</a:t>
            </a:r>
            <a:endParaRPr lang="en-US" sz="1800" dirty="0"/>
          </a:p>
        </p:txBody>
      </p:sp>
      <p:sp>
        <p:nvSpPr>
          <p:cNvPr id="6" name="Principle text Prepare"/>
          <p:cNvSpPr/>
          <p:nvPr/>
        </p:nvSpPr>
        <p:spPr>
          <a:xfrm>
            <a:off x="548640" y="3291840"/>
            <a:ext cx="2651760" cy="2103120"/>
          </a:xfrm>
          <a:prstGeom prst="rect">
            <a:avLst/>
          </a:prstGeom>
          <a:solidFill>
            <a:srgbClr val="F2F7FC"/>
          </a:solidFill>
          <a:ln w="12700">
            <a:solidFill>
              <a:srgbClr val="F2F7FC"/>
            </a:solidFill>
            <a:prstDash val="solid"/>
          </a:ln>
        </p:spPr>
        <p:txBody>
          <a:bodyPr/>
          <a:lstStyle/>
          <a:p>
            <a:endParaRPr lang="en-GB"/>
          </a:p>
        </p:txBody>
      </p:sp>
      <p:sp>
        <p:nvSpPr>
          <p:cNvPr id="7" name="Text 5"/>
          <p:cNvSpPr txBox="1"/>
          <p:nvPr/>
        </p:nvSpPr>
        <p:spPr>
          <a:xfrm>
            <a:off x="777240" y="3429000"/>
            <a:ext cx="2194560" cy="1828800"/>
          </a:xfrm>
          <a:prstGeom prst="rect">
            <a:avLst/>
          </a:prstGeom>
          <a:noFill/>
          <a:ln/>
        </p:spPr>
        <p:txBody>
          <a:bodyPr wrap="square" lIns="0" tIns="0" rIns="0" bIns="0" rtlCol="0" anchor="t"/>
          <a:lstStyle/>
          <a:p>
            <a:pPr marL="0" indent="0">
              <a:buNone/>
            </a:pPr>
            <a:r>
              <a:rPr lang="en-US" sz="1400" dirty="0">
                <a:solidFill>
                  <a:srgbClr val="06345D"/>
                </a:solidFill>
              </a:rPr>
              <a:t>Ready for each stage before it happens. Reduce the surprises.</a:t>
            </a:r>
            <a:endParaRPr lang="en-US" sz="1400" dirty="0"/>
          </a:p>
        </p:txBody>
      </p:sp>
      <p:sp>
        <p:nvSpPr>
          <p:cNvPr id="8" name="Principle Guide"/>
          <p:cNvSpPr/>
          <p:nvPr/>
        </p:nvSpPr>
        <p:spPr>
          <a:xfrm>
            <a:off x="3383280" y="2286000"/>
            <a:ext cx="2651760" cy="1005840"/>
          </a:xfrm>
          <a:prstGeom prst="rect">
            <a:avLst/>
          </a:prstGeom>
          <a:solidFill>
            <a:srgbClr val="0A4F72"/>
          </a:solidFill>
          <a:ln w="12700">
            <a:solidFill>
              <a:srgbClr val="0A4F72"/>
            </a:solidFill>
            <a:prstDash val="solid"/>
          </a:ln>
        </p:spPr>
        <p:txBody>
          <a:bodyPr/>
          <a:lstStyle/>
          <a:p>
            <a:endParaRPr lang="en-GB"/>
          </a:p>
        </p:txBody>
      </p:sp>
      <p:sp>
        <p:nvSpPr>
          <p:cNvPr id="9" name="Text 7"/>
          <p:cNvSpPr txBox="1"/>
          <p:nvPr/>
        </p:nvSpPr>
        <p:spPr>
          <a:xfrm>
            <a:off x="3611880" y="2286000"/>
            <a:ext cx="2377440" cy="1005840"/>
          </a:xfrm>
          <a:prstGeom prst="rect">
            <a:avLst/>
          </a:prstGeom>
          <a:noFill/>
          <a:ln/>
        </p:spPr>
        <p:txBody>
          <a:bodyPr wrap="square" lIns="0" tIns="0" rIns="0" bIns="0" rtlCol="0" anchor="ctr"/>
          <a:lstStyle/>
          <a:p>
            <a:pPr marL="0" indent="0">
              <a:buNone/>
            </a:pPr>
            <a:r>
              <a:rPr lang="en-US" sz="1800" b="1" dirty="0">
                <a:solidFill>
                  <a:srgbClr val="8FD3D1"/>
                </a:solidFill>
              </a:rPr>
              <a:t>2  </a:t>
            </a:r>
            <a:r>
              <a:rPr lang="en-US" sz="2000" b="1" dirty="0">
                <a:solidFill>
                  <a:srgbClr val="FFFFFF"/>
                </a:solidFill>
              </a:rPr>
              <a:t>GUIDE</a:t>
            </a:r>
            <a:endParaRPr lang="en-US" sz="1800" dirty="0"/>
          </a:p>
        </p:txBody>
      </p:sp>
      <p:sp>
        <p:nvSpPr>
          <p:cNvPr id="10" name="Principle text Guide"/>
          <p:cNvSpPr/>
          <p:nvPr/>
        </p:nvSpPr>
        <p:spPr>
          <a:xfrm>
            <a:off x="3383280" y="3291840"/>
            <a:ext cx="2651760" cy="2103120"/>
          </a:xfrm>
          <a:prstGeom prst="rect">
            <a:avLst/>
          </a:prstGeom>
          <a:solidFill>
            <a:srgbClr val="F2F7FC"/>
          </a:solidFill>
          <a:ln w="12700">
            <a:solidFill>
              <a:srgbClr val="F2F7FC"/>
            </a:solidFill>
            <a:prstDash val="solid"/>
          </a:ln>
        </p:spPr>
        <p:txBody>
          <a:bodyPr/>
          <a:lstStyle/>
          <a:p>
            <a:endParaRPr lang="en-GB"/>
          </a:p>
        </p:txBody>
      </p:sp>
      <p:sp>
        <p:nvSpPr>
          <p:cNvPr id="11" name="Text 9"/>
          <p:cNvSpPr txBox="1"/>
          <p:nvPr/>
        </p:nvSpPr>
        <p:spPr>
          <a:xfrm>
            <a:off x="3611880" y="3429000"/>
            <a:ext cx="2194560" cy="1828800"/>
          </a:xfrm>
          <a:prstGeom prst="rect">
            <a:avLst/>
          </a:prstGeom>
          <a:noFill/>
          <a:ln/>
        </p:spPr>
        <p:txBody>
          <a:bodyPr wrap="square" lIns="0" tIns="0" rIns="0" bIns="0" rtlCol="0" anchor="t"/>
          <a:lstStyle/>
          <a:p>
            <a:pPr marL="0" indent="0">
              <a:buNone/>
            </a:pPr>
            <a:r>
              <a:rPr lang="en-US" sz="1400" dirty="0">
                <a:solidFill>
                  <a:srgbClr val="06345D"/>
                </a:solidFill>
              </a:rPr>
              <a:t>Accurate, honest, timely information. Never dependency.</a:t>
            </a:r>
            <a:endParaRPr lang="en-US" sz="1400" dirty="0"/>
          </a:p>
        </p:txBody>
      </p:sp>
      <p:sp>
        <p:nvSpPr>
          <p:cNvPr id="12" name="Principle Support"/>
          <p:cNvSpPr/>
          <p:nvPr/>
        </p:nvSpPr>
        <p:spPr>
          <a:xfrm>
            <a:off x="6217920" y="2286000"/>
            <a:ext cx="2651760" cy="1005840"/>
          </a:xfrm>
          <a:prstGeom prst="rect">
            <a:avLst/>
          </a:prstGeom>
          <a:solidFill>
            <a:srgbClr val="106576"/>
          </a:solidFill>
          <a:ln w="12700">
            <a:solidFill>
              <a:srgbClr val="106576"/>
            </a:solidFill>
            <a:prstDash val="solid"/>
          </a:ln>
        </p:spPr>
        <p:txBody>
          <a:bodyPr/>
          <a:lstStyle/>
          <a:p>
            <a:endParaRPr lang="en-GB"/>
          </a:p>
        </p:txBody>
      </p:sp>
      <p:sp>
        <p:nvSpPr>
          <p:cNvPr id="13" name="Text 11"/>
          <p:cNvSpPr txBox="1"/>
          <p:nvPr/>
        </p:nvSpPr>
        <p:spPr>
          <a:xfrm>
            <a:off x="6446520" y="2286000"/>
            <a:ext cx="2377440" cy="1005840"/>
          </a:xfrm>
          <a:prstGeom prst="rect">
            <a:avLst/>
          </a:prstGeom>
          <a:noFill/>
          <a:ln/>
        </p:spPr>
        <p:txBody>
          <a:bodyPr wrap="square" lIns="0" tIns="0" rIns="0" bIns="0" rtlCol="0" anchor="ctr"/>
          <a:lstStyle/>
          <a:p>
            <a:pPr marL="0" indent="0">
              <a:buNone/>
            </a:pPr>
            <a:r>
              <a:rPr lang="en-US" sz="1800" b="1" dirty="0">
                <a:solidFill>
                  <a:srgbClr val="8FD3D1"/>
                </a:solidFill>
              </a:rPr>
              <a:t>3  </a:t>
            </a:r>
            <a:r>
              <a:rPr lang="en-US" sz="2000" b="1" dirty="0">
                <a:solidFill>
                  <a:srgbClr val="FFFFFF"/>
                </a:solidFill>
              </a:rPr>
              <a:t>SUPPORT</a:t>
            </a:r>
            <a:endParaRPr lang="en-US" sz="1800" dirty="0"/>
          </a:p>
        </p:txBody>
      </p:sp>
      <p:sp>
        <p:nvSpPr>
          <p:cNvPr id="14" name="Principle text Support"/>
          <p:cNvSpPr/>
          <p:nvPr/>
        </p:nvSpPr>
        <p:spPr>
          <a:xfrm>
            <a:off x="6217920" y="3291840"/>
            <a:ext cx="2651760" cy="2103120"/>
          </a:xfrm>
          <a:prstGeom prst="rect">
            <a:avLst/>
          </a:prstGeom>
          <a:solidFill>
            <a:srgbClr val="F2F7FC"/>
          </a:solidFill>
          <a:ln w="12700">
            <a:solidFill>
              <a:srgbClr val="F2F7FC"/>
            </a:solidFill>
            <a:prstDash val="solid"/>
          </a:ln>
        </p:spPr>
        <p:txBody>
          <a:bodyPr/>
          <a:lstStyle/>
          <a:p>
            <a:endParaRPr lang="en-GB"/>
          </a:p>
        </p:txBody>
      </p:sp>
      <p:sp>
        <p:nvSpPr>
          <p:cNvPr id="15" name="Text 13"/>
          <p:cNvSpPr txBox="1"/>
          <p:nvPr/>
        </p:nvSpPr>
        <p:spPr>
          <a:xfrm>
            <a:off x="6446520" y="3429000"/>
            <a:ext cx="2194560" cy="1828800"/>
          </a:xfrm>
          <a:prstGeom prst="rect">
            <a:avLst/>
          </a:prstGeom>
          <a:noFill/>
          <a:ln/>
        </p:spPr>
        <p:txBody>
          <a:bodyPr wrap="square" lIns="0" tIns="0" rIns="0" bIns="0" rtlCol="0" anchor="t"/>
          <a:lstStyle/>
          <a:p>
            <a:pPr marL="0" indent="0">
              <a:buNone/>
            </a:pPr>
            <a:r>
              <a:rPr lang="en-US" sz="1400" dirty="0">
                <a:solidFill>
                  <a:srgbClr val="06345D"/>
                </a:solidFill>
              </a:rPr>
              <a:t>Present, responsive, compassionate. “How can we help?”, never “Why aren’t you attending?”</a:t>
            </a:r>
            <a:endParaRPr lang="en-US" sz="1400" dirty="0"/>
          </a:p>
        </p:txBody>
      </p:sp>
      <p:sp>
        <p:nvSpPr>
          <p:cNvPr id="16" name="Principle Enlighten"/>
          <p:cNvSpPr/>
          <p:nvPr/>
        </p:nvSpPr>
        <p:spPr>
          <a:xfrm>
            <a:off x="9052560" y="2286000"/>
            <a:ext cx="2651760" cy="1005840"/>
          </a:xfrm>
          <a:prstGeom prst="rect">
            <a:avLst/>
          </a:prstGeom>
          <a:solidFill>
            <a:srgbClr val="157A7C"/>
          </a:solidFill>
          <a:ln w="12700">
            <a:solidFill>
              <a:srgbClr val="157A7C"/>
            </a:solidFill>
            <a:prstDash val="solid"/>
          </a:ln>
        </p:spPr>
        <p:txBody>
          <a:bodyPr/>
          <a:lstStyle/>
          <a:p>
            <a:endParaRPr lang="en-GB"/>
          </a:p>
        </p:txBody>
      </p:sp>
      <p:sp>
        <p:nvSpPr>
          <p:cNvPr id="17" name="Text 15"/>
          <p:cNvSpPr txBox="1"/>
          <p:nvPr/>
        </p:nvSpPr>
        <p:spPr>
          <a:xfrm>
            <a:off x="9281160" y="2286000"/>
            <a:ext cx="2377440" cy="1005840"/>
          </a:xfrm>
          <a:prstGeom prst="rect">
            <a:avLst/>
          </a:prstGeom>
          <a:noFill/>
          <a:ln/>
        </p:spPr>
        <p:txBody>
          <a:bodyPr wrap="square" lIns="0" tIns="0" rIns="0" bIns="0" rtlCol="0" anchor="ctr"/>
          <a:lstStyle/>
          <a:p>
            <a:pPr marL="0" indent="0">
              <a:buNone/>
            </a:pPr>
            <a:r>
              <a:rPr lang="en-US" sz="1800" b="1" dirty="0">
                <a:solidFill>
                  <a:srgbClr val="8FD3D1"/>
                </a:solidFill>
              </a:rPr>
              <a:t>4  </a:t>
            </a:r>
            <a:r>
              <a:rPr lang="en-US" sz="2000" b="1" dirty="0">
                <a:solidFill>
                  <a:srgbClr val="FFFFFF"/>
                </a:solidFill>
              </a:rPr>
              <a:t>ENLIGHTEN</a:t>
            </a:r>
            <a:endParaRPr lang="en-US" sz="1800" dirty="0"/>
          </a:p>
        </p:txBody>
      </p:sp>
      <p:sp>
        <p:nvSpPr>
          <p:cNvPr id="18" name="Principle text Enlighten"/>
          <p:cNvSpPr/>
          <p:nvPr/>
        </p:nvSpPr>
        <p:spPr>
          <a:xfrm>
            <a:off x="9052560" y="3291840"/>
            <a:ext cx="2651760" cy="2103120"/>
          </a:xfrm>
          <a:prstGeom prst="rect">
            <a:avLst/>
          </a:prstGeom>
          <a:solidFill>
            <a:srgbClr val="F2F7FC"/>
          </a:solidFill>
          <a:ln w="12700">
            <a:solidFill>
              <a:srgbClr val="F2F7FC"/>
            </a:solidFill>
            <a:prstDash val="solid"/>
          </a:ln>
        </p:spPr>
        <p:txBody>
          <a:bodyPr/>
          <a:lstStyle/>
          <a:p>
            <a:endParaRPr lang="en-GB"/>
          </a:p>
        </p:txBody>
      </p:sp>
      <p:sp>
        <p:nvSpPr>
          <p:cNvPr id="19" name="Text 17"/>
          <p:cNvSpPr txBox="1"/>
          <p:nvPr/>
        </p:nvSpPr>
        <p:spPr>
          <a:xfrm>
            <a:off x="9281160" y="3429000"/>
            <a:ext cx="2194560" cy="1828800"/>
          </a:xfrm>
          <a:prstGeom prst="rect">
            <a:avLst/>
          </a:prstGeom>
          <a:noFill/>
          <a:ln/>
        </p:spPr>
        <p:txBody>
          <a:bodyPr wrap="square" lIns="0" tIns="0" rIns="0" bIns="0" rtlCol="0" anchor="t"/>
          <a:lstStyle/>
          <a:p>
            <a:pPr marL="0" indent="0">
              <a:buNone/>
            </a:pPr>
            <a:r>
              <a:rPr lang="en-US" sz="1400" dirty="0">
                <a:solidFill>
                  <a:srgbClr val="06345D"/>
                </a:solidFill>
              </a:rPr>
              <a:t>Understanding, curiosity and enjoyment of Freemasonry, for life.</a:t>
            </a:r>
            <a:endParaRPr lang="en-US" sz="1400" dirty="0"/>
          </a:p>
        </p:txBody>
      </p:sp>
      <p:sp>
        <p:nvSpPr>
          <p:cNvPr id="20" name="Tagline"/>
          <p:cNvSpPr txBox="1"/>
          <p:nvPr/>
        </p:nvSpPr>
        <p:spPr>
          <a:xfrm>
            <a:off x="548640" y="5623560"/>
            <a:ext cx="10972800" cy="457200"/>
          </a:xfrm>
          <a:prstGeom prst="rect">
            <a:avLst/>
          </a:prstGeom>
          <a:noFill/>
          <a:ln/>
        </p:spPr>
        <p:txBody>
          <a:bodyPr wrap="square" lIns="0" tIns="0" rIns="0" bIns="0" rtlCol="0" anchor="ctr"/>
          <a:lstStyle/>
          <a:p>
            <a:pPr marL="0" indent="0">
              <a:buNone/>
            </a:pPr>
            <a:r>
              <a:rPr lang="en-US" sz="1600" b="1" i="1" dirty="0">
                <a:solidFill>
                  <a:srgbClr val="157A7C"/>
                </a:solidFill>
              </a:rPr>
              <a:t>Family &amp; Connections first, then Masonry. In that order. And Freemasonry must be fun.</a:t>
            </a:r>
            <a:endParaRPr lang="en-US" sz="16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06345D"/>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tle"/>
          <p:cNvSpPr txBox="1"/>
          <p:nvPr/>
        </p:nvSpPr>
        <p:spPr>
          <a:xfrm>
            <a:off x="548640" y="411480"/>
            <a:ext cx="11091672" cy="731520"/>
          </a:xfrm>
          <a:prstGeom prst="rect">
            <a:avLst/>
          </a:prstGeom>
          <a:noFill/>
          <a:ln/>
        </p:spPr>
        <p:txBody>
          <a:bodyPr wrap="square" lIns="0" tIns="0" rIns="0" bIns="0" rtlCol="0" anchor="ctr"/>
          <a:lstStyle/>
          <a:p>
            <a:pPr marL="0" indent="0">
              <a:buNone/>
            </a:pPr>
            <a:r>
              <a:rPr lang="en-US" sz="3200" b="1" dirty="0">
                <a:solidFill>
                  <a:srgbClr val="003668"/>
                </a:solidFill>
              </a:rPr>
              <a:t>The journey ahead</a:t>
            </a:r>
            <a:endParaRPr lang="en-US" sz="3200" dirty="0"/>
          </a:p>
        </p:txBody>
      </p:sp>
      <p:sp>
        <p:nvSpPr>
          <p:cNvPr id="3" name="Step Initiation"/>
          <p:cNvSpPr/>
          <p:nvPr/>
        </p:nvSpPr>
        <p:spPr>
          <a:xfrm>
            <a:off x="1234440" y="1371600"/>
            <a:ext cx="731520" cy="731520"/>
          </a:xfrm>
          <a:prstGeom prst="ellipse">
            <a:avLst/>
          </a:prstGeom>
          <a:solidFill>
            <a:srgbClr val="003668"/>
          </a:solidFill>
          <a:ln w="12700">
            <a:solidFill>
              <a:srgbClr val="003668"/>
            </a:solidFill>
            <a:prstDash val="solid"/>
          </a:ln>
        </p:spPr>
        <p:txBody>
          <a:bodyPr/>
          <a:lstStyle/>
          <a:p>
            <a:endParaRPr lang="en-GB"/>
          </a:p>
        </p:txBody>
      </p:sp>
      <p:sp>
        <p:nvSpPr>
          <p:cNvPr id="4" name="Text 2"/>
          <p:cNvSpPr txBox="1"/>
          <p:nvPr/>
        </p:nvSpPr>
        <p:spPr>
          <a:xfrm>
            <a:off x="1234440" y="1371600"/>
            <a:ext cx="731520" cy="731520"/>
          </a:xfrm>
          <a:prstGeom prst="rect">
            <a:avLst/>
          </a:prstGeom>
          <a:noFill/>
          <a:ln/>
        </p:spPr>
        <p:txBody>
          <a:bodyPr wrap="square" lIns="0" tIns="0" rIns="0" bIns="0" rtlCol="0" anchor="ctr"/>
          <a:lstStyle/>
          <a:p>
            <a:pPr marL="0" indent="0" algn="ctr">
              <a:buNone/>
            </a:pPr>
            <a:r>
              <a:rPr lang="en-US" sz="2200" b="1" dirty="0">
                <a:solidFill>
                  <a:srgbClr val="FFFFFF"/>
                </a:solidFill>
              </a:rPr>
              <a:t>1</a:t>
            </a:r>
            <a:endParaRPr lang="en-US" sz="2200" dirty="0"/>
          </a:p>
        </p:txBody>
      </p:sp>
      <p:sp>
        <p:nvSpPr>
          <p:cNvPr id="5" name="Connector 0"/>
          <p:cNvSpPr/>
          <p:nvPr/>
        </p:nvSpPr>
        <p:spPr>
          <a:xfrm>
            <a:off x="2011680" y="1737360"/>
            <a:ext cx="777240" cy="0"/>
          </a:xfrm>
          <a:prstGeom prst="line">
            <a:avLst/>
          </a:prstGeom>
          <a:noFill/>
          <a:ln w="25400">
            <a:solidFill>
              <a:srgbClr val="BFD6EA"/>
            </a:solidFill>
            <a:prstDash val="solid"/>
          </a:ln>
        </p:spPr>
        <p:txBody>
          <a:bodyPr/>
          <a:lstStyle/>
          <a:p>
            <a:endParaRPr lang="en-GB"/>
          </a:p>
        </p:txBody>
      </p:sp>
      <p:sp>
        <p:nvSpPr>
          <p:cNvPr id="6" name="Text 4"/>
          <p:cNvSpPr txBox="1"/>
          <p:nvPr/>
        </p:nvSpPr>
        <p:spPr>
          <a:xfrm>
            <a:off x="548640" y="2240280"/>
            <a:ext cx="2103120" cy="457200"/>
          </a:xfrm>
          <a:prstGeom prst="rect">
            <a:avLst/>
          </a:prstGeom>
          <a:noFill/>
          <a:ln/>
        </p:spPr>
        <p:txBody>
          <a:bodyPr wrap="square" lIns="0" tIns="0" rIns="0" bIns="0" rtlCol="0" anchor="ctr"/>
          <a:lstStyle/>
          <a:p>
            <a:pPr marL="0" indent="0" algn="ctr">
              <a:buNone/>
            </a:pPr>
            <a:r>
              <a:rPr lang="en-US" sz="1800" b="1" dirty="0">
                <a:solidFill>
                  <a:srgbClr val="003668"/>
                </a:solidFill>
              </a:rPr>
              <a:t>Initiation</a:t>
            </a:r>
            <a:endParaRPr lang="en-US" sz="1800" dirty="0"/>
          </a:p>
        </p:txBody>
      </p:sp>
      <p:sp>
        <p:nvSpPr>
          <p:cNvPr id="7" name="Text 5"/>
          <p:cNvSpPr txBox="1"/>
          <p:nvPr/>
        </p:nvSpPr>
        <p:spPr>
          <a:xfrm>
            <a:off x="548640" y="2697480"/>
            <a:ext cx="2103120" cy="1463040"/>
          </a:xfrm>
          <a:prstGeom prst="rect">
            <a:avLst/>
          </a:prstGeom>
          <a:noFill/>
          <a:ln/>
        </p:spPr>
        <p:txBody>
          <a:bodyPr wrap="square" lIns="0" tIns="0" rIns="0" bIns="0" rtlCol="0" anchor="t"/>
          <a:lstStyle/>
          <a:p>
            <a:pPr marL="0" indent="0" algn="ctr">
              <a:buNone/>
            </a:pPr>
            <a:r>
              <a:rPr lang="en-US" sz="1350" dirty="0">
                <a:solidFill>
                  <a:srgbClr val="1E2329"/>
                </a:solidFill>
              </a:rPr>
              <a:t>Entered Apprentice. A plain white apron. Your first night, your mentor beside you</a:t>
            </a:r>
            <a:endParaRPr lang="en-US" sz="1350" dirty="0"/>
          </a:p>
        </p:txBody>
      </p:sp>
      <p:sp>
        <p:nvSpPr>
          <p:cNvPr id="8" name="Step Passing"/>
          <p:cNvSpPr/>
          <p:nvPr/>
        </p:nvSpPr>
        <p:spPr>
          <a:xfrm>
            <a:off x="3493008" y="1371600"/>
            <a:ext cx="731520" cy="731520"/>
          </a:xfrm>
          <a:prstGeom prst="ellipse">
            <a:avLst/>
          </a:prstGeom>
          <a:solidFill>
            <a:srgbClr val="0A4F72"/>
          </a:solidFill>
          <a:ln w="12700">
            <a:solidFill>
              <a:srgbClr val="0A4F72"/>
            </a:solidFill>
            <a:prstDash val="solid"/>
          </a:ln>
        </p:spPr>
        <p:txBody>
          <a:bodyPr/>
          <a:lstStyle/>
          <a:p>
            <a:endParaRPr lang="en-GB"/>
          </a:p>
        </p:txBody>
      </p:sp>
      <p:sp>
        <p:nvSpPr>
          <p:cNvPr id="9" name="Text 7"/>
          <p:cNvSpPr txBox="1"/>
          <p:nvPr/>
        </p:nvSpPr>
        <p:spPr>
          <a:xfrm>
            <a:off x="3493008" y="1371600"/>
            <a:ext cx="731520" cy="731520"/>
          </a:xfrm>
          <a:prstGeom prst="rect">
            <a:avLst/>
          </a:prstGeom>
          <a:noFill/>
          <a:ln/>
        </p:spPr>
        <p:txBody>
          <a:bodyPr wrap="square" lIns="0" tIns="0" rIns="0" bIns="0" rtlCol="0" anchor="ctr"/>
          <a:lstStyle/>
          <a:p>
            <a:pPr marL="0" indent="0" algn="ctr">
              <a:buNone/>
            </a:pPr>
            <a:r>
              <a:rPr lang="en-US" sz="2200" b="1" dirty="0">
                <a:solidFill>
                  <a:srgbClr val="FFFFFF"/>
                </a:solidFill>
              </a:rPr>
              <a:t>2</a:t>
            </a:r>
            <a:endParaRPr lang="en-US" sz="2200" dirty="0"/>
          </a:p>
        </p:txBody>
      </p:sp>
      <p:sp>
        <p:nvSpPr>
          <p:cNvPr id="10" name="Connector 1"/>
          <p:cNvSpPr/>
          <p:nvPr/>
        </p:nvSpPr>
        <p:spPr>
          <a:xfrm>
            <a:off x="4270248" y="1737360"/>
            <a:ext cx="777240" cy="0"/>
          </a:xfrm>
          <a:prstGeom prst="line">
            <a:avLst/>
          </a:prstGeom>
          <a:noFill/>
          <a:ln w="25400">
            <a:solidFill>
              <a:srgbClr val="BFD6EA"/>
            </a:solidFill>
            <a:prstDash val="solid"/>
          </a:ln>
        </p:spPr>
        <p:txBody>
          <a:bodyPr/>
          <a:lstStyle/>
          <a:p>
            <a:endParaRPr lang="en-GB"/>
          </a:p>
        </p:txBody>
      </p:sp>
      <p:sp>
        <p:nvSpPr>
          <p:cNvPr id="11" name="Text 9"/>
          <p:cNvSpPr txBox="1"/>
          <p:nvPr/>
        </p:nvSpPr>
        <p:spPr>
          <a:xfrm>
            <a:off x="2807208" y="2240280"/>
            <a:ext cx="2103120" cy="457200"/>
          </a:xfrm>
          <a:prstGeom prst="rect">
            <a:avLst/>
          </a:prstGeom>
          <a:noFill/>
          <a:ln/>
        </p:spPr>
        <p:txBody>
          <a:bodyPr wrap="square" lIns="0" tIns="0" rIns="0" bIns="0" rtlCol="0" anchor="ctr"/>
          <a:lstStyle/>
          <a:p>
            <a:pPr marL="0" indent="0" algn="ctr">
              <a:buNone/>
            </a:pPr>
            <a:r>
              <a:rPr lang="en-US" sz="1800" b="1" dirty="0">
                <a:solidFill>
                  <a:srgbClr val="0A4F72"/>
                </a:solidFill>
              </a:rPr>
              <a:t>Passing</a:t>
            </a:r>
            <a:endParaRPr lang="en-US" sz="1800" dirty="0"/>
          </a:p>
        </p:txBody>
      </p:sp>
      <p:sp>
        <p:nvSpPr>
          <p:cNvPr id="12" name="Text 10"/>
          <p:cNvSpPr txBox="1"/>
          <p:nvPr/>
        </p:nvSpPr>
        <p:spPr>
          <a:xfrm>
            <a:off x="2807208" y="2697480"/>
            <a:ext cx="2103120" cy="1463040"/>
          </a:xfrm>
          <a:prstGeom prst="rect">
            <a:avLst/>
          </a:prstGeom>
          <a:noFill/>
          <a:ln/>
        </p:spPr>
        <p:txBody>
          <a:bodyPr wrap="square" lIns="0" tIns="0" rIns="0" bIns="0" rtlCol="0" anchor="t"/>
          <a:lstStyle/>
          <a:p>
            <a:pPr marL="0" indent="0" algn="ctr">
              <a:buNone/>
            </a:pPr>
            <a:r>
              <a:rPr lang="en-US" sz="1350" dirty="0">
                <a:solidFill>
                  <a:srgbClr val="1E2329"/>
                </a:solidFill>
              </a:rPr>
              <a:t>Fellow Craft. Two light blue rosettes. You answer questions in open Lodge</a:t>
            </a:r>
            <a:endParaRPr lang="en-US" sz="1350" dirty="0"/>
          </a:p>
        </p:txBody>
      </p:sp>
      <p:sp>
        <p:nvSpPr>
          <p:cNvPr id="13" name="Step Raising"/>
          <p:cNvSpPr/>
          <p:nvPr/>
        </p:nvSpPr>
        <p:spPr>
          <a:xfrm>
            <a:off x="5751576" y="1371600"/>
            <a:ext cx="731520" cy="731520"/>
          </a:xfrm>
          <a:prstGeom prst="ellipse">
            <a:avLst/>
          </a:prstGeom>
          <a:solidFill>
            <a:srgbClr val="106576"/>
          </a:solidFill>
          <a:ln w="12700">
            <a:solidFill>
              <a:srgbClr val="106576"/>
            </a:solidFill>
            <a:prstDash val="solid"/>
          </a:ln>
        </p:spPr>
        <p:txBody>
          <a:bodyPr/>
          <a:lstStyle/>
          <a:p>
            <a:endParaRPr lang="en-GB"/>
          </a:p>
        </p:txBody>
      </p:sp>
      <p:sp>
        <p:nvSpPr>
          <p:cNvPr id="14" name="Text 12"/>
          <p:cNvSpPr txBox="1"/>
          <p:nvPr/>
        </p:nvSpPr>
        <p:spPr>
          <a:xfrm>
            <a:off x="5751576" y="1371600"/>
            <a:ext cx="731520" cy="731520"/>
          </a:xfrm>
          <a:prstGeom prst="rect">
            <a:avLst/>
          </a:prstGeom>
          <a:noFill/>
          <a:ln/>
        </p:spPr>
        <p:txBody>
          <a:bodyPr wrap="square" lIns="0" tIns="0" rIns="0" bIns="0" rtlCol="0" anchor="ctr"/>
          <a:lstStyle/>
          <a:p>
            <a:pPr marL="0" indent="0" algn="ctr">
              <a:buNone/>
            </a:pPr>
            <a:r>
              <a:rPr lang="en-US" sz="2200" b="1" dirty="0">
                <a:solidFill>
                  <a:srgbClr val="FFFFFF"/>
                </a:solidFill>
              </a:rPr>
              <a:t>3</a:t>
            </a:r>
            <a:endParaRPr lang="en-US" sz="2200" dirty="0"/>
          </a:p>
        </p:txBody>
      </p:sp>
      <p:sp>
        <p:nvSpPr>
          <p:cNvPr id="15" name="Connector 2"/>
          <p:cNvSpPr/>
          <p:nvPr/>
        </p:nvSpPr>
        <p:spPr>
          <a:xfrm>
            <a:off x="6528816" y="1737360"/>
            <a:ext cx="777240" cy="0"/>
          </a:xfrm>
          <a:prstGeom prst="line">
            <a:avLst/>
          </a:prstGeom>
          <a:noFill/>
          <a:ln w="25400">
            <a:solidFill>
              <a:srgbClr val="BFD6EA"/>
            </a:solidFill>
            <a:prstDash val="solid"/>
          </a:ln>
        </p:spPr>
        <p:txBody>
          <a:bodyPr/>
          <a:lstStyle/>
          <a:p>
            <a:endParaRPr lang="en-GB"/>
          </a:p>
        </p:txBody>
      </p:sp>
      <p:sp>
        <p:nvSpPr>
          <p:cNvPr id="16" name="Text 14"/>
          <p:cNvSpPr txBox="1"/>
          <p:nvPr/>
        </p:nvSpPr>
        <p:spPr>
          <a:xfrm>
            <a:off x="5065776" y="2240280"/>
            <a:ext cx="2103120" cy="457200"/>
          </a:xfrm>
          <a:prstGeom prst="rect">
            <a:avLst/>
          </a:prstGeom>
          <a:noFill/>
          <a:ln/>
        </p:spPr>
        <p:txBody>
          <a:bodyPr wrap="square" lIns="0" tIns="0" rIns="0" bIns="0" rtlCol="0" anchor="ctr"/>
          <a:lstStyle/>
          <a:p>
            <a:pPr marL="0" indent="0" algn="ctr">
              <a:buNone/>
            </a:pPr>
            <a:r>
              <a:rPr lang="en-US" sz="1800" b="1" dirty="0">
                <a:solidFill>
                  <a:srgbClr val="106576"/>
                </a:solidFill>
              </a:rPr>
              <a:t>Raising</a:t>
            </a:r>
            <a:endParaRPr lang="en-US" sz="1800" dirty="0"/>
          </a:p>
        </p:txBody>
      </p:sp>
      <p:sp>
        <p:nvSpPr>
          <p:cNvPr id="17" name="Text 15"/>
          <p:cNvSpPr txBox="1"/>
          <p:nvPr/>
        </p:nvSpPr>
        <p:spPr>
          <a:xfrm>
            <a:off x="5065776" y="2697480"/>
            <a:ext cx="2103120" cy="1463040"/>
          </a:xfrm>
          <a:prstGeom prst="rect">
            <a:avLst/>
          </a:prstGeom>
          <a:noFill/>
          <a:ln/>
        </p:spPr>
        <p:txBody>
          <a:bodyPr wrap="square" lIns="0" tIns="0" rIns="0" bIns="0" rtlCol="0" anchor="t"/>
          <a:lstStyle/>
          <a:p>
            <a:pPr marL="0" indent="0" algn="ctr">
              <a:buNone/>
            </a:pPr>
            <a:r>
              <a:rPr lang="en-US" sz="1350" dirty="0">
                <a:solidFill>
                  <a:srgbClr val="1E2329"/>
                </a:solidFill>
              </a:rPr>
              <a:t>Master Mason. Light blue edging and three rosettes. Visiting opens up fully</a:t>
            </a:r>
            <a:endParaRPr lang="en-US" sz="1350" dirty="0"/>
          </a:p>
        </p:txBody>
      </p:sp>
      <p:sp>
        <p:nvSpPr>
          <p:cNvPr id="18" name="Step Royal Arch"/>
          <p:cNvSpPr/>
          <p:nvPr/>
        </p:nvSpPr>
        <p:spPr>
          <a:xfrm>
            <a:off x="8010144" y="1371600"/>
            <a:ext cx="731520" cy="731520"/>
          </a:xfrm>
          <a:prstGeom prst="ellipse">
            <a:avLst/>
          </a:prstGeom>
          <a:solidFill>
            <a:srgbClr val="157A7C"/>
          </a:solidFill>
          <a:ln w="12700">
            <a:solidFill>
              <a:srgbClr val="157A7C"/>
            </a:solidFill>
            <a:prstDash val="solid"/>
          </a:ln>
        </p:spPr>
        <p:txBody>
          <a:bodyPr/>
          <a:lstStyle/>
          <a:p>
            <a:endParaRPr lang="en-GB"/>
          </a:p>
        </p:txBody>
      </p:sp>
      <p:sp>
        <p:nvSpPr>
          <p:cNvPr id="19" name="Text 17"/>
          <p:cNvSpPr txBox="1"/>
          <p:nvPr/>
        </p:nvSpPr>
        <p:spPr>
          <a:xfrm>
            <a:off x="8010144" y="1371600"/>
            <a:ext cx="731520" cy="731520"/>
          </a:xfrm>
          <a:prstGeom prst="rect">
            <a:avLst/>
          </a:prstGeom>
          <a:noFill/>
          <a:ln/>
        </p:spPr>
        <p:txBody>
          <a:bodyPr wrap="square" lIns="0" tIns="0" rIns="0" bIns="0" rtlCol="0" anchor="ctr"/>
          <a:lstStyle/>
          <a:p>
            <a:pPr marL="0" indent="0" algn="ctr">
              <a:buNone/>
            </a:pPr>
            <a:r>
              <a:rPr lang="en-US" sz="2200" b="1" dirty="0">
                <a:solidFill>
                  <a:srgbClr val="FFFFFF"/>
                </a:solidFill>
              </a:rPr>
              <a:t>4</a:t>
            </a:r>
            <a:endParaRPr lang="en-US" sz="2200" dirty="0"/>
          </a:p>
        </p:txBody>
      </p:sp>
      <p:sp>
        <p:nvSpPr>
          <p:cNvPr id="20" name="Connector 3"/>
          <p:cNvSpPr/>
          <p:nvPr/>
        </p:nvSpPr>
        <p:spPr>
          <a:xfrm>
            <a:off x="8787384" y="1737360"/>
            <a:ext cx="777240" cy="0"/>
          </a:xfrm>
          <a:prstGeom prst="line">
            <a:avLst/>
          </a:prstGeom>
          <a:noFill/>
          <a:ln w="25400">
            <a:solidFill>
              <a:srgbClr val="BFD6EA"/>
            </a:solidFill>
            <a:prstDash val="solid"/>
          </a:ln>
        </p:spPr>
        <p:txBody>
          <a:bodyPr/>
          <a:lstStyle/>
          <a:p>
            <a:endParaRPr lang="en-GB"/>
          </a:p>
        </p:txBody>
      </p:sp>
      <p:sp>
        <p:nvSpPr>
          <p:cNvPr id="21" name="Text 19"/>
          <p:cNvSpPr txBox="1"/>
          <p:nvPr/>
        </p:nvSpPr>
        <p:spPr>
          <a:xfrm>
            <a:off x="7324344" y="2240280"/>
            <a:ext cx="2103120" cy="457200"/>
          </a:xfrm>
          <a:prstGeom prst="rect">
            <a:avLst/>
          </a:prstGeom>
          <a:noFill/>
          <a:ln/>
        </p:spPr>
        <p:txBody>
          <a:bodyPr wrap="square" lIns="0" tIns="0" rIns="0" bIns="0" rtlCol="0" anchor="ctr"/>
          <a:lstStyle/>
          <a:p>
            <a:pPr marL="0" indent="0" algn="ctr">
              <a:buNone/>
            </a:pPr>
            <a:r>
              <a:rPr lang="en-US" sz="1800" b="1" dirty="0">
                <a:solidFill>
                  <a:srgbClr val="157A7C"/>
                </a:solidFill>
              </a:rPr>
              <a:t>Royal Arch</a:t>
            </a:r>
            <a:endParaRPr lang="en-US" sz="1800" dirty="0"/>
          </a:p>
        </p:txBody>
      </p:sp>
      <p:sp>
        <p:nvSpPr>
          <p:cNvPr id="22" name="Text 20"/>
          <p:cNvSpPr txBox="1"/>
          <p:nvPr/>
        </p:nvSpPr>
        <p:spPr>
          <a:xfrm>
            <a:off x="7324344" y="2697480"/>
            <a:ext cx="2103120" cy="1463040"/>
          </a:xfrm>
          <a:prstGeom prst="rect">
            <a:avLst/>
          </a:prstGeom>
          <a:noFill/>
          <a:ln/>
        </p:spPr>
        <p:txBody>
          <a:bodyPr wrap="square" lIns="0" tIns="0" rIns="0" bIns="0" rtlCol="0" anchor="t"/>
          <a:lstStyle/>
          <a:p>
            <a:pPr marL="0" indent="0" algn="ctr">
              <a:buNone/>
            </a:pPr>
            <a:r>
              <a:rPr lang="en-US" sz="1350" dirty="0">
                <a:solidFill>
                  <a:srgbClr val="1E2329"/>
                </a:solidFill>
              </a:rPr>
              <a:t>The fourth ceremony, in a separate Chapter, which may include members of different Lodges</a:t>
            </a:r>
            <a:endParaRPr lang="en-US" sz="1350" dirty="0"/>
          </a:p>
        </p:txBody>
      </p:sp>
      <p:sp>
        <p:nvSpPr>
          <p:cNvPr id="23" name="Step Rank"/>
          <p:cNvSpPr/>
          <p:nvPr/>
        </p:nvSpPr>
        <p:spPr>
          <a:xfrm>
            <a:off x="10268712" y="1371600"/>
            <a:ext cx="731520" cy="731520"/>
          </a:xfrm>
          <a:prstGeom prst="ellipse">
            <a:avLst/>
          </a:prstGeom>
          <a:solidFill>
            <a:srgbClr val="06345D"/>
          </a:solidFill>
          <a:ln w="12700">
            <a:solidFill>
              <a:srgbClr val="06345D"/>
            </a:solidFill>
            <a:prstDash val="solid"/>
          </a:ln>
        </p:spPr>
        <p:txBody>
          <a:bodyPr/>
          <a:lstStyle/>
          <a:p>
            <a:endParaRPr lang="en-GB"/>
          </a:p>
        </p:txBody>
      </p:sp>
      <p:sp>
        <p:nvSpPr>
          <p:cNvPr id="24" name="Text 22"/>
          <p:cNvSpPr txBox="1"/>
          <p:nvPr/>
        </p:nvSpPr>
        <p:spPr>
          <a:xfrm>
            <a:off x="10268712" y="1371600"/>
            <a:ext cx="731520" cy="731520"/>
          </a:xfrm>
          <a:prstGeom prst="rect">
            <a:avLst/>
          </a:prstGeom>
          <a:noFill/>
          <a:ln/>
        </p:spPr>
        <p:txBody>
          <a:bodyPr wrap="square" lIns="0" tIns="0" rIns="0" bIns="0" rtlCol="0" anchor="ctr"/>
          <a:lstStyle/>
          <a:p>
            <a:pPr marL="0" indent="0" algn="ctr">
              <a:buNone/>
            </a:pPr>
            <a:r>
              <a:rPr lang="en-US" sz="2200" b="1" dirty="0">
                <a:solidFill>
                  <a:srgbClr val="FFFFFF"/>
                </a:solidFill>
              </a:rPr>
              <a:t>5</a:t>
            </a:r>
            <a:endParaRPr lang="en-US" sz="2200" dirty="0"/>
          </a:p>
        </p:txBody>
      </p:sp>
      <p:sp>
        <p:nvSpPr>
          <p:cNvPr id="25" name="Text 23"/>
          <p:cNvSpPr txBox="1"/>
          <p:nvPr/>
        </p:nvSpPr>
        <p:spPr>
          <a:xfrm>
            <a:off x="9582912" y="2240280"/>
            <a:ext cx="2103120" cy="457200"/>
          </a:xfrm>
          <a:prstGeom prst="rect">
            <a:avLst/>
          </a:prstGeom>
          <a:noFill/>
          <a:ln/>
        </p:spPr>
        <p:txBody>
          <a:bodyPr wrap="square" lIns="0" tIns="0" rIns="0" bIns="0" rtlCol="0" anchor="ctr"/>
          <a:lstStyle/>
          <a:p>
            <a:pPr marL="0" indent="0" algn="ctr">
              <a:buNone/>
            </a:pPr>
            <a:r>
              <a:rPr lang="en-US" sz="1800" b="1" dirty="0">
                <a:solidFill>
                  <a:srgbClr val="06345D"/>
                </a:solidFill>
              </a:rPr>
              <a:t>Rank</a:t>
            </a:r>
            <a:endParaRPr lang="en-US" sz="1800" dirty="0"/>
          </a:p>
        </p:txBody>
      </p:sp>
      <p:sp>
        <p:nvSpPr>
          <p:cNvPr id="26" name="Text 24"/>
          <p:cNvSpPr txBox="1"/>
          <p:nvPr/>
        </p:nvSpPr>
        <p:spPr>
          <a:xfrm>
            <a:off x="9582912" y="2697480"/>
            <a:ext cx="2103120" cy="1463040"/>
          </a:xfrm>
          <a:prstGeom prst="rect">
            <a:avLst/>
          </a:prstGeom>
          <a:noFill/>
          <a:ln/>
        </p:spPr>
        <p:txBody>
          <a:bodyPr wrap="square" lIns="0" tIns="0" rIns="0" bIns="0" rtlCol="0" anchor="t"/>
          <a:lstStyle/>
          <a:p>
            <a:pPr marL="0" indent="0" algn="ctr">
              <a:buNone/>
            </a:pPr>
            <a:r>
              <a:rPr lang="en-US" sz="1350" dirty="0">
                <a:solidFill>
                  <a:srgbClr val="1E2329"/>
                </a:solidFill>
              </a:rPr>
              <a:t>Provincial, Past Provincial and Grand Rank: dark blue aprons, for those appointed or promoted</a:t>
            </a:r>
            <a:endParaRPr lang="en-US" sz="1350" dirty="0"/>
          </a:p>
        </p:txBody>
      </p:sp>
      <p:sp>
        <p:nvSpPr>
          <p:cNvPr id="27" name="Card Am I a Freemason before my Third?"/>
          <p:cNvSpPr/>
          <p:nvPr/>
        </p:nvSpPr>
        <p:spPr>
          <a:xfrm>
            <a:off x="548640" y="4206240"/>
            <a:ext cx="5440680" cy="1645920"/>
          </a:xfrm>
          <a:prstGeom prst="roundRect">
            <a:avLst>
              <a:gd name="adj" fmla="val 4444"/>
            </a:avLst>
          </a:prstGeom>
          <a:solidFill>
            <a:srgbClr val="F2F7FC"/>
          </a:solidFill>
          <a:ln w="12700">
            <a:solidFill>
              <a:srgbClr val="F2F7FC"/>
            </a:solidFill>
            <a:prstDash val="solid"/>
          </a:ln>
        </p:spPr>
        <p:txBody>
          <a:bodyPr/>
          <a:lstStyle/>
          <a:p>
            <a:endParaRPr lang="en-GB"/>
          </a:p>
        </p:txBody>
      </p:sp>
      <p:pic>
        <p:nvPicPr>
          <p:cNvPr id="28" name="Image 0" descr="preencoded.png"/>
          <p:cNvPicPr>
            <a:picLocks noChangeAspect="1"/>
          </p:cNvPicPr>
          <p:nvPr/>
        </p:nvPicPr>
        <p:blipFill>
          <a:blip r:embed="rId3"/>
          <a:stretch>
            <a:fillRect/>
          </a:stretch>
        </p:blipFill>
        <p:spPr>
          <a:xfrm>
            <a:off x="749808" y="4389120"/>
            <a:ext cx="384048" cy="384048"/>
          </a:xfrm>
          <a:prstGeom prst="rect">
            <a:avLst/>
          </a:prstGeom>
        </p:spPr>
      </p:pic>
      <p:sp>
        <p:nvSpPr>
          <p:cNvPr id="29" name="Text 26"/>
          <p:cNvSpPr txBox="1"/>
          <p:nvPr/>
        </p:nvSpPr>
        <p:spPr>
          <a:xfrm>
            <a:off x="1261872" y="4370832"/>
            <a:ext cx="4526280" cy="411480"/>
          </a:xfrm>
          <a:prstGeom prst="rect">
            <a:avLst/>
          </a:prstGeom>
          <a:noFill/>
          <a:ln/>
        </p:spPr>
        <p:txBody>
          <a:bodyPr wrap="square" lIns="0" tIns="0" rIns="0" bIns="0" rtlCol="0" anchor="ctr"/>
          <a:lstStyle/>
          <a:p>
            <a:pPr marL="0" indent="0">
              <a:buNone/>
            </a:pPr>
            <a:r>
              <a:rPr lang="en-US" sz="1600" b="1" dirty="0">
                <a:solidFill>
                  <a:srgbClr val="003668"/>
                </a:solidFill>
              </a:rPr>
              <a:t>Am I a Freemason before my Third?</a:t>
            </a:r>
            <a:endParaRPr lang="en-US" sz="1600" dirty="0"/>
          </a:p>
        </p:txBody>
      </p:sp>
      <p:sp>
        <p:nvSpPr>
          <p:cNvPr id="30" name="Text 27"/>
          <p:cNvSpPr txBox="1"/>
          <p:nvPr/>
        </p:nvSpPr>
        <p:spPr>
          <a:xfrm>
            <a:off x="777240" y="4828032"/>
            <a:ext cx="4983480" cy="914400"/>
          </a:xfrm>
          <a:prstGeom prst="rect">
            <a:avLst/>
          </a:prstGeom>
          <a:noFill/>
          <a:ln/>
        </p:spPr>
        <p:txBody>
          <a:bodyPr wrap="square" lIns="0" tIns="0" rIns="0" bIns="0" rtlCol="0" anchor="t"/>
          <a:lstStyle/>
          <a:p>
            <a:pPr marL="0" indent="0">
              <a:buNone/>
            </a:pPr>
            <a:r>
              <a:rPr lang="en-US" sz="1400" dirty="0">
                <a:solidFill>
                  <a:srgbClr val="1E2329"/>
                </a:solidFill>
              </a:rPr>
              <a:t>Yes, from the night you were Initiated. You are a Master Mason once you have taken your Third Degree.</a:t>
            </a:r>
            <a:endParaRPr lang="en-US" sz="1400" dirty="0"/>
          </a:p>
        </p:txBody>
      </p:sp>
      <p:sp>
        <p:nvSpPr>
          <p:cNvPr id="31" name="Card One Journey, One Organisation"/>
          <p:cNvSpPr/>
          <p:nvPr/>
        </p:nvSpPr>
        <p:spPr>
          <a:xfrm>
            <a:off x="6172200" y="4206240"/>
            <a:ext cx="5440680" cy="1645920"/>
          </a:xfrm>
          <a:prstGeom prst="roundRect">
            <a:avLst>
              <a:gd name="adj" fmla="val 4444"/>
            </a:avLst>
          </a:prstGeom>
          <a:solidFill>
            <a:srgbClr val="E6F2F2"/>
          </a:solidFill>
          <a:ln w="12700">
            <a:solidFill>
              <a:srgbClr val="E6F2F2"/>
            </a:solidFill>
            <a:prstDash val="solid"/>
          </a:ln>
        </p:spPr>
        <p:txBody>
          <a:bodyPr/>
          <a:lstStyle/>
          <a:p>
            <a:endParaRPr lang="en-GB"/>
          </a:p>
        </p:txBody>
      </p:sp>
      <p:pic>
        <p:nvPicPr>
          <p:cNvPr id="32" name="Image 1" descr="preencoded.png"/>
          <p:cNvPicPr>
            <a:picLocks noChangeAspect="1"/>
          </p:cNvPicPr>
          <p:nvPr/>
        </p:nvPicPr>
        <p:blipFill>
          <a:blip r:embed="rId4"/>
          <a:stretch>
            <a:fillRect/>
          </a:stretch>
        </p:blipFill>
        <p:spPr>
          <a:xfrm>
            <a:off x="6373368" y="4389120"/>
            <a:ext cx="384048" cy="384048"/>
          </a:xfrm>
          <a:prstGeom prst="rect">
            <a:avLst/>
          </a:prstGeom>
        </p:spPr>
      </p:pic>
      <p:sp>
        <p:nvSpPr>
          <p:cNvPr id="33" name="Text 29"/>
          <p:cNvSpPr txBox="1"/>
          <p:nvPr/>
        </p:nvSpPr>
        <p:spPr>
          <a:xfrm>
            <a:off x="6885432" y="4370832"/>
            <a:ext cx="4526280" cy="411480"/>
          </a:xfrm>
          <a:prstGeom prst="rect">
            <a:avLst/>
          </a:prstGeom>
          <a:noFill/>
          <a:ln/>
        </p:spPr>
        <p:txBody>
          <a:bodyPr wrap="square" lIns="0" tIns="0" rIns="0" bIns="0" rtlCol="0" anchor="ctr"/>
          <a:lstStyle/>
          <a:p>
            <a:pPr marL="0" indent="0">
              <a:buNone/>
            </a:pPr>
            <a:r>
              <a:rPr lang="en-US" sz="1600" b="1" dirty="0">
                <a:solidFill>
                  <a:srgbClr val="003668"/>
                </a:solidFill>
              </a:rPr>
              <a:t>One Journey, One Organisation</a:t>
            </a:r>
            <a:endParaRPr lang="en-US" sz="1600" dirty="0"/>
          </a:p>
        </p:txBody>
      </p:sp>
      <p:sp>
        <p:nvSpPr>
          <p:cNvPr id="34" name="Text 30"/>
          <p:cNvSpPr txBox="1"/>
          <p:nvPr/>
        </p:nvSpPr>
        <p:spPr>
          <a:xfrm>
            <a:off x="6400800" y="4828032"/>
            <a:ext cx="4983480" cy="914400"/>
          </a:xfrm>
          <a:prstGeom prst="rect">
            <a:avLst/>
          </a:prstGeom>
          <a:noFill/>
          <a:ln/>
        </p:spPr>
        <p:txBody>
          <a:bodyPr wrap="square" lIns="0" tIns="0" rIns="0" bIns="0" rtlCol="0" anchor="t"/>
          <a:lstStyle/>
          <a:p>
            <a:pPr marL="0" indent="0">
              <a:buNone/>
            </a:pPr>
            <a:r>
              <a:rPr lang="en-US" sz="1400" dirty="0">
                <a:solidFill>
                  <a:srgbClr val="1E2329"/>
                </a:solidFill>
              </a:rPr>
              <a:t>Fewer surprises: you will know what is coming next. You set the pace, never the calendar.</a:t>
            </a:r>
            <a:endParaRPr lang="en-US" sz="1400" dirty="0"/>
          </a:p>
        </p:txBody>
      </p:sp>
      <p:sp>
        <p:nvSpPr>
          <p:cNvPr id="3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06345D"/>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le"/>
          <p:cNvSpPr txBox="1"/>
          <p:nvPr/>
        </p:nvSpPr>
        <p:spPr>
          <a:xfrm>
            <a:off x="548640" y="411480"/>
            <a:ext cx="11091672" cy="731520"/>
          </a:xfrm>
          <a:prstGeom prst="rect">
            <a:avLst/>
          </a:prstGeom>
          <a:noFill/>
          <a:ln/>
        </p:spPr>
        <p:txBody>
          <a:bodyPr wrap="square" lIns="0" tIns="0" rIns="0" bIns="0" rtlCol="0" anchor="ctr"/>
          <a:lstStyle/>
          <a:p>
            <a:pPr marL="0" indent="0">
              <a:buNone/>
            </a:pPr>
            <a:r>
              <a:rPr lang="en-US" sz="3200" b="1" dirty="0">
                <a:solidFill>
                  <a:srgbClr val="003668"/>
                </a:solidFill>
              </a:rPr>
              <a:t>The basics: what to wear</a:t>
            </a:r>
            <a:endParaRPr lang="en-US" sz="3200" dirty="0"/>
          </a:p>
        </p:txBody>
      </p:sp>
      <p:sp>
        <p:nvSpPr>
          <p:cNvPr id="3" name="Lead"/>
          <p:cNvSpPr txBox="1"/>
          <p:nvPr/>
        </p:nvSpPr>
        <p:spPr>
          <a:xfrm>
            <a:off x="548640" y="1234440"/>
            <a:ext cx="10972800" cy="411480"/>
          </a:xfrm>
          <a:prstGeom prst="rect">
            <a:avLst/>
          </a:prstGeom>
          <a:noFill/>
          <a:ln/>
        </p:spPr>
        <p:txBody>
          <a:bodyPr wrap="square" lIns="0" tIns="0" rIns="0" bIns="0" rtlCol="0" anchor="ctr"/>
          <a:lstStyle/>
          <a:p>
            <a:pPr marL="0" indent="0">
              <a:buNone/>
            </a:pPr>
            <a:r>
              <a:rPr lang="en-US" sz="1500" dirty="0">
                <a:solidFill>
                  <a:srgbClr val="06345D"/>
                </a:solidFill>
              </a:rPr>
              <a:t>Always check the Summons first. If it says nothing different, this is the standard. Keep it simple and you cannot go wrong.</a:t>
            </a:r>
            <a:endParaRPr lang="en-US" sz="1500" dirty="0"/>
          </a:p>
        </p:txBody>
      </p:sp>
      <p:sp>
        <p:nvSpPr>
          <p:cNvPr id="4" name="Card Suit"/>
          <p:cNvSpPr/>
          <p:nvPr/>
        </p:nvSpPr>
        <p:spPr>
          <a:xfrm>
            <a:off x="548640" y="1783080"/>
            <a:ext cx="3566160" cy="4069080"/>
          </a:xfrm>
          <a:prstGeom prst="roundRect">
            <a:avLst>
              <a:gd name="adj" fmla="val 2051"/>
            </a:avLst>
          </a:prstGeom>
          <a:solidFill>
            <a:srgbClr val="F2F7FC"/>
          </a:solidFill>
          <a:ln w="12700">
            <a:solidFill>
              <a:srgbClr val="F2F7FC"/>
            </a:solidFill>
            <a:prstDash val="solid"/>
          </a:ln>
        </p:spPr>
        <p:txBody>
          <a:bodyPr/>
          <a:lstStyle/>
          <a:p>
            <a:endParaRPr lang="en-GB"/>
          </a:p>
        </p:txBody>
      </p:sp>
      <p:pic>
        <p:nvPicPr>
          <p:cNvPr id="5" name="Image 0" descr="preencoded.png"/>
          <p:cNvPicPr>
            <a:picLocks noChangeAspect="1"/>
          </p:cNvPicPr>
          <p:nvPr/>
        </p:nvPicPr>
        <p:blipFill>
          <a:blip r:embed="rId3"/>
          <a:stretch>
            <a:fillRect/>
          </a:stretch>
        </p:blipFill>
        <p:spPr>
          <a:xfrm>
            <a:off x="749808" y="1965960"/>
            <a:ext cx="384048" cy="384048"/>
          </a:xfrm>
          <a:prstGeom prst="rect">
            <a:avLst/>
          </a:prstGeom>
        </p:spPr>
      </p:pic>
      <p:sp>
        <p:nvSpPr>
          <p:cNvPr id="6" name="Text 3"/>
          <p:cNvSpPr txBox="1"/>
          <p:nvPr/>
        </p:nvSpPr>
        <p:spPr>
          <a:xfrm>
            <a:off x="1261872" y="1947672"/>
            <a:ext cx="2651760" cy="411480"/>
          </a:xfrm>
          <a:prstGeom prst="rect">
            <a:avLst/>
          </a:prstGeom>
          <a:noFill/>
          <a:ln/>
        </p:spPr>
        <p:txBody>
          <a:bodyPr wrap="square" lIns="0" tIns="0" rIns="0" bIns="0" rtlCol="0" anchor="ctr"/>
          <a:lstStyle/>
          <a:p>
            <a:pPr marL="0" indent="0">
              <a:buNone/>
            </a:pPr>
            <a:r>
              <a:rPr lang="en-US" sz="1600" b="1" dirty="0">
                <a:solidFill>
                  <a:srgbClr val="003668"/>
                </a:solidFill>
              </a:rPr>
              <a:t>Suit</a:t>
            </a:r>
            <a:endParaRPr lang="en-US" sz="1600" dirty="0"/>
          </a:p>
        </p:txBody>
      </p:sp>
      <p:sp>
        <p:nvSpPr>
          <p:cNvPr id="7" name="Text 4"/>
          <p:cNvSpPr txBox="1"/>
          <p:nvPr/>
        </p:nvSpPr>
        <p:spPr>
          <a:xfrm>
            <a:off x="777240" y="2404872"/>
            <a:ext cx="3108960" cy="3337560"/>
          </a:xfrm>
          <a:prstGeom prst="rect">
            <a:avLst/>
          </a:prstGeom>
          <a:noFill/>
          <a:ln/>
        </p:spPr>
        <p:txBody>
          <a:bodyPr wrap="square" lIns="0" tIns="0" rIns="0" bIns="0" rtlCol="0" anchor="t"/>
          <a:lstStyle/>
          <a:p>
            <a:pPr marL="203200" indent="-203200">
              <a:spcAft>
                <a:spcPts val="400"/>
              </a:spcAft>
              <a:buSzPct val="100000"/>
              <a:buChar char="■"/>
            </a:pPr>
            <a:r>
              <a:rPr lang="en-US" sz="1400" dirty="0">
                <a:solidFill>
                  <a:srgbClr val="1E2329"/>
                </a:solidFill>
              </a:rPr>
              <a:t>Dark lounge suit, preferably black; navy or grey is fine</a:t>
            </a:r>
            <a:endParaRPr lang="en-US" sz="1400" dirty="0"/>
          </a:p>
          <a:p>
            <a:pPr marL="203200" indent="-203200">
              <a:spcAft>
                <a:spcPts val="400"/>
              </a:spcAft>
              <a:buSzPct val="100000"/>
              <a:buChar char="■"/>
            </a:pPr>
            <a:r>
              <a:rPr lang="en-US" sz="1400" dirty="0">
                <a:solidFill>
                  <a:srgbClr val="1E2329"/>
                </a:solidFill>
              </a:rPr>
              <a:t>Black and grey striped morning trousers with a black jacket are acceptable, and are worn by Provincial Officers</a:t>
            </a:r>
            <a:endParaRPr lang="en-US" sz="1400" dirty="0"/>
          </a:p>
          <a:p>
            <a:pPr marL="203200" indent="-203200">
              <a:spcAft>
                <a:spcPts val="400"/>
              </a:spcAft>
              <a:buSzPct val="100000"/>
              <a:buChar char="■"/>
            </a:pPr>
            <a:r>
              <a:rPr lang="en-US" sz="1400" dirty="0">
                <a:solidFill>
                  <a:srgbClr val="1E2329"/>
                </a:solidFill>
              </a:rPr>
              <a:t>Apron, gloves and any collar go on over the suit</a:t>
            </a:r>
            <a:endParaRPr lang="en-US" sz="1400" dirty="0"/>
          </a:p>
        </p:txBody>
      </p:sp>
      <p:sp>
        <p:nvSpPr>
          <p:cNvPr id="8" name="Card Shirt"/>
          <p:cNvSpPr/>
          <p:nvPr/>
        </p:nvSpPr>
        <p:spPr>
          <a:xfrm>
            <a:off x="4297680" y="1783080"/>
            <a:ext cx="3566160" cy="4069080"/>
          </a:xfrm>
          <a:prstGeom prst="roundRect">
            <a:avLst>
              <a:gd name="adj" fmla="val 2051"/>
            </a:avLst>
          </a:prstGeom>
          <a:solidFill>
            <a:srgbClr val="F2F7FC"/>
          </a:solidFill>
          <a:ln w="12700">
            <a:solidFill>
              <a:srgbClr val="F2F7FC"/>
            </a:solidFill>
            <a:prstDash val="solid"/>
          </a:ln>
        </p:spPr>
        <p:txBody>
          <a:bodyPr/>
          <a:lstStyle/>
          <a:p>
            <a:endParaRPr lang="en-GB"/>
          </a:p>
        </p:txBody>
      </p:sp>
      <p:pic>
        <p:nvPicPr>
          <p:cNvPr id="9" name="Image 1" descr="preencoded.png"/>
          <p:cNvPicPr>
            <a:picLocks noChangeAspect="1"/>
          </p:cNvPicPr>
          <p:nvPr/>
        </p:nvPicPr>
        <p:blipFill>
          <a:blip r:embed="rId4"/>
          <a:stretch>
            <a:fillRect/>
          </a:stretch>
        </p:blipFill>
        <p:spPr>
          <a:xfrm>
            <a:off x="4498848" y="1965960"/>
            <a:ext cx="384048" cy="384048"/>
          </a:xfrm>
          <a:prstGeom prst="rect">
            <a:avLst/>
          </a:prstGeom>
        </p:spPr>
      </p:pic>
      <p:sp>
        <p:nvSpPr>
          <p:cNvPr id="10" name="Text 6"/>
          <p:cNvSpPr txBox="1"/>
          <p:nvPr/>
        </p:nvSpPr>
        <p:spPr>
          <a:xfrm>
            <a:off x="5010912" y="1947672"/>
            <a:ext cx="2651760" cy="411480"/>
          </a:xfrm>
          <a:prstGeom prst="rect">
            <a:avLst/>
          </a:prstGeom>
          <a:noFill/>
          <a:ln/>
        </p:spPr>
        <p:txBody>
          <a:bodyPr wrap="square" lIns="0" tIns="0" rIns="0" bIns="0" rtlCol="0" anchor="ctr"/>
          <a:lstStyle/>
          <a:p>
            <a:pPr marL="0" indent="0">
              <a:buNone/>
            </a:pPr>
            <a:r>
              <a:rPr lang="en-US" sz="1600" b="1" dirty="0">
                <a:solidFill>
                  <a:srgbClr val="003668"/>
                </a:solidFill>
              </a:rPr>
              <a:t>Shirt</a:t>
            </a:r>
            <a:endParaRPr lang="en-US" sz="1600" dirty="0"/>
          </a:p>
        </p:txBody>
      </p:sp>
      <p:sp>
        <p:nvSpPr>
          <p:cNvPr id="11" name="Text 7"/>
          <p:cNvSpPr txBox="1"/>
          <p:nvPr/>
        </p:nvSpPr>
        <p:spPr>
          <a:xfrm>
            <a:off x="4526280" y="2404872"/>
            <a:ext cx="3108960" cy="3337560"/>
          </a:xfrm>
          <a:prstGeom prst="rect">
            <a:avLst/>
          </a:prstGeom>
          <a:noFill/>
          <a:ln/>
        </p:spPr>
        <p:txBody>
          <a:bodyPr wrap="square" lIns="0" tIns="0" rIns="0" bIns="0" rtlCol="0" anchor="t"/>
          <a:lstStyle/>
          <a:p>
            <a:pPr marL="203200" indent="-203200">
              <a:spcAft>
                <a:spcPts val="400"/>
              </a:spcAft>
              <a:buSzPct val="100000"/>
              <a:buChar char="■"/>
            </a:pPr>
            <a:r>
              <a:rPr lang="en-US" sz="1400" dirty="0">
                <a:solidFill>
                  <a:srgbClr val="1E2329"/>
                </a:solidFill>
              </a:rPr>
              <a:t>Plain white formal shirt, single or double cuff. Always right</a:t>
            </a:r>
            <a:endParaRPr lang="en-US" sz="1400" dirty="0"/>
          </a:p>
          <a:p>
            <a:pPr marL="203200" indent="-203200">
              <a:spcAft>
                <a:spcPts val="400"/>
              </a:spcAft>
              <a:buSzPct val="100000"/>
              <a:buChar char="■"/>
            </a:pPr>
            <a:r>
              <a:rPr lang="en-US" sz="1400" dirty="0">
                <a:solidFill>
                  <a:srgbClr val="1E2329"/>
                </a:solidFill>
              </a:rPr>
              <a:t>“White collar and cuffs” on a Summons: some read this as allowing a striped body with a white collar and cuffs</a:t>
            </a:r>
            <a:endParaRPr lang="en-US" sz="1400" dirty="0"/>
          </a:p>
          <a:p>
            <a:pPr marL="203200" indent="-203200">
              <a:spcAft>
                <a:spcPts val="400"/>
              </a:spcAft>
              <a:buSzPct val="100000"/>
              <a:buChar char="■"/>
            </a:pPr>
            <a:r>
              <a:rPr lang="en-US" sz="1400" dirty="0">
                <a:solidFill>
                  <a:srgbClr val="1E2329"/>
                </a:solidFill>
              </a:rPr>
              <a:t>Traditions vary. If in doubt, plain white</a:t>
            </a:r>
            <a:endParaRPr lang="en-US" sz="1400" dirty="0"/>
          </a:p>
        </p:txBody>
      </p:sp>
      <p:sp>
        <p:nvSpPr>
          <p:cNvPr id="12" name="Card Socks and shoes"/>
          <p:cNvSpPr/>
          <p:nvPr/>
        </p:nvSpPr>
        <p:spPr>
          <a:xfrm>
            <a:off x="8046720" y="1783080"/>
            <a:ext cx="3566160" cy="4069080"/>
          </a:xfrm>
          <a:prstGeom prst="roundRect">
            <a:avLst>
              <a:gd name="adj" fmla="val 2051"/>
            </a:avLst>
          </a:prstGeom>
          <a:solidFill>
            <a:srgbClr val="F2F7FC"/>
          </a:solidFill>
          <a:ln w="12700">
            <a:solidFill>
              <a:srgbClr val="F2F7FC"/>
            </a:solidFill>
            <a:prstDash val="solid"/>
          </a:ln>
        </p:spPr>
        <p:txBody>
          <a:bodyPr/>
          <a:lstStyle/>
          <a:p>
            <a:endParaRPr lang="en-GB"/>
          </a:p>
        </p:txBody>
      </p:sp>
      <p:pic>
        <p:nvPicPr>
          <p:cNvPr id="13" name="Image 2" descr="preencoded.png"/>
          <p:cNvPicPr>
            <a:picLocks noChangeAspect="1"/>
          </p:cNvPicPr>
          <p:nvPr/>
        </p:nvPicPr>
        <p:blipFill>
          <a:blip r:embed="rId5"/>
          <a:stretch>
            <a:fillRect/>
          </a:stretch>
        </p:blipFill>
        <p:spPr>
          <a:xfrm>
            <a:off x="8247888" y="1965960"/>
            <a:ext cx="384048" cy="384048"/>
          </a:xfrm>
          <a:prstGeom prst="rect">
            <a:avLst/>
          </a:prstGeom>
        </p:spPr>
      </p:pic>
      <p:sp>
        <p:nvSpPr>
          <p:cNvPr id="14" name="Text 9"/>
          <p:cNvSpPr txBox="1"/>
          <p:nvPr/>
        </p:nvSpPr>
        <p:spPr>
          <a:xfrm>
            <a:off x="8759952" y="1947672"/>
            <a:ext cx="2651760" cy="411480"/>
          </a:xfrm>
          <a:prstGeom prst="rect">
            <a:avLst/>
          </a:prstGeom>
          <a:noFill/>
          <a:ln/>
        </p:spPr>
        <p:txBody>
          <a:bodyPr wrap="square" lIns="0" tIns="0" rIns="0" bIns="0" rtlCol="0" anchor="ctr"/>
          <a:lstStyle/>
          <a:p>
            <a:pPr marL="0" indent="0">
              <a:buNone/>
            </a:pPr>
            <a:r>
              <a:rPr lang="en-US" sz="1600" b="1" dirty="0">
                <a:solidFill>
                  <a:srgbClr val="003668"/>
                </a:solidFill>
              </a:rPr>
              <a:t>Socks and shoes</a:t>
            </a:r>
            <a:endParaRPr lang="en-US" sz="1600" dirty="0"/>
          </a:p>
        </p:txBody>
      </p:sp>
      <p:sp>
        <p:nvSpPr>
          <p:cNvPr id="15" name="Text 10"/>
          <p:cNvSpPr txBox="1"/>
          <p:nvPr/>
        </p:nvSpPr>
        <p:spPr>
          <a:xfrm>
            <a:off x="8275320" y="2404872"/>
            <a:ext cx="3108960" cy="3337560"/>
          </a:xfrm>
          <a:prstGeom prst="rect">
            <a:avLst/>
          </a:prstGeom>
          <a:noFill/>
          <a:ln/>
        </p:spPr>
        <p:txBody>
          <a:bodyPr wrap="square" lIns="0" tIns="0" rIns="0" bIns="0" rtlCol="0" anchor="t"/>
          <a:lstStyle/>
          <a:p>
            <a:pPr marL="203200" indent="-203200">
              <a:spcAft>
                <a:spcPts val="400"/>
              </a:spcAft>
              <a:buSzPct val="100000"/>
              <a:buChar char="■"/>
            </a:pPr>
            <a:r>
              <a:rPr lang="en-US" sz="1400" dirty="0">
                <a:solidFill>
                  <a:srgbClr val="1E2329"/>
                </a:solidFill>
              </a:rPr>
              <a:t>Plain black socks</a:t>
            </a:r>
            <a:endParaRPr lang="en-US" sz="1400" dirty="0"/>
          </a:p>
          <a:p>
            <a:pPr marL="203200" indent="-203200">
              <a:spcAft>
                <a:spcPts val="400"/>
              </a:spcAft>
              <a:buSzPct val="100000"/>
              <a:buChar char="■"/>
            </a:pPr>
            <a:r>
              <a:rPr lang="en-US" sz="1400" dirty="0">
                <a:solidFill>
                  <a:srgbClr val="1E2329"/>
                </a:solidFill>
              </a:rPr>
              <a:t>Black shoes, polished</a:t>
            </a:r>
            <a:endParaRPr lang="en-US" sz="1400" dirty="0"/>
          </a:p>
          <a:p>
            <a:pPr marL="203200" indent="-203200">
              <a:spcAft>
                <a:spcPts val="400"/>
              </a:spcAft>
              <a:buSzPct val="100000"/>
              <a:buChar char="■"/>
            </a:pPr>
            <a:r>
              <a:rPr lang="en-US" sz="1400" dirty="0">
                <a:solidFill>
                  <a:srgbClr val="1E2329"/>
                </a:solidFill>
              </a:rPr>
              <a:t>Not trainers, not boots, and definitely not Crocs</a:t>
            </a:r>
            <a:endParaRPr lang="en-US" sz="1400" dirty="0"/>
          </a:p>
          <a:p>
            <a:pPr marL="203200" indent="-203200">
              <a:spcAft>
                <a:spcPts val="400"/>
              </a:spcAft>
              <a:buSzPct val="100000"/>
              <a:buChar char="■"/>
            </a:pPr>
            <a:r>
              <a:rPr lang="en-US" sz="1400" dirty="0">
                <a:solidFill>
                  <a:srgbClr val="1E2329"/>
                </a:solidFill>
              </a:rPr>
              <a:t>White gloves where your Lodge wears them; ask your mentor</a:t>
            </a:r>
            <a:endParaRPr lang="en-US" sz="14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06345D"/>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itle"/>
          <p:cNvSpPr txBox="1"/>
          <p:nvPr/>
        </p:nvSpPr>
        <p:spPr>
          <a:xfrm>
            <a:off x="548640" y="411480"/>
            <a:ext cx="11091672" cy="731520"/>
          </a:xfrm>
          <a:prstGeom prst="rect">
            <a:avLst/>
          </a:prstGeom>
          <a:noFill/>
          <a:ln/>
        </p:spPr>
        <p:txBody>
          <a:bodyPr wrap="square" lIns="0" tIns="0" rIns="0" bIns="0" rtlCol="0" anchor="ctr"/>
          <a:lstStyle/>
          <a:p>
            <a:pPr marL="0" indent="0">
              <a:buNone/>
            </a:pPr>
            <a:r>
              <a:rPr lang="en-US" sz="3200" b="1" dirty="0">
                <a:solidFill>
                  <a:srgbClr val="003668"/>
                </a:solidFill>
              </a:rPr>
              <a:t>Ties, morning dress and black tie</a:t>
            </a:r>
            <a:endParaRPr lang="en-US" sz="3200" dirty="0"/>
          </a:p>
        </p:txBody>
      </p:sp>
      <p:sp>
        <p:nvSpPr>
          <p:cNvPr id="3" name="FAQ What tie should I we"/>
          <p:cNvSpPr/>
          <p:nvPr/>
        </p:nvSpPr>
        <p:spPr>
          <a:xfrm>
            <a:off x="548640" y="1280160"/>
            <a:ext cx="5486400" cy="2194560"/>
          </a:xfrm>
          <a:prstGeom prst="roundRect">
            <a:avLst>
              <a:gd name="adj" fmla="val 3333"/>
            </a:avLst>
          </a:prstGeom>
          <a:solidFill>
            <a:srgbClr val="F2F7FC"/>
          </a:solidFill>
          <a:ln w="12700">
            <a:solidFill>
              <a:srgbClr val="F2F7FC"/>
            </a:solidFill>
            <a:prstDash val="solid"/>
          </a:ln>
        </p:spPr>
        <p:txBody>
          <a:bodyPr/>
          <a:lstStyle/>
          <a:p>
            <a:endParaRPr lang="en-GB"/>
          </a:p>
        </p:txBody>
      </p:sp>
      <p:sp>
        <p:nvSpPr>
          <p:cNvPr id="4" name="Text 2"/>
          <p:cNvSpPr txBox="1"/>
          <p:nvPr/>
        </p:nvSpPr>
        <p:spPr>
          <a:xfrm>
            <a:off x="777240" y="1417320"/>
            <a:ext cx="5029200" cy="457200"/>
          </a:xfrm>
          <a:prstGeom prst="rect">
            <a:avLst/>
          </a:prstGeom>
          <a:noFill/>
          <a:ln/>
        </p:spPr>
        <p:txBody>
          <a:bodyPr wrap="square" lIns="0" tIns="0" rIns="0" bIns="0" rtlCol="0" anchor="t"/>
          <a:lstStyle/>
          <a:p>
            <a:pPr marL="0" indent="0">
              <a:buNone/>
            </a:pPr>
            <a:r>
              <a:rPr lang="en-US" sz="1500" b="1" dirty="0">
                <a:solidFill>
                  <a:srgbClr val="003668"/>
                </a:solidFill>
              </a:rPr>
              <a:t>What tie should I wear?</a:t>
            </a:r>
            <a:endParaRPr lang="en-US" sz="1500" dirty="0"/>
          </a:p>
        </p:txBody>
      </p:sp>
      <p:sp>
        <p:nvSpPr>
          <p:cNvPr id="5" name="Text 3"/>
          <p:cNvSpPr txBox="1"/>
          <p:nvPr/>
        </p:nvSpPr>
        <p:spPr>
          <a:xfrm>
            <a:off x="777240" y="1847088"/>
            <a:ext cx="5029200" cy="1508760"/>
          </a:xfrm>
          <a:prstGeom prst="rect">
            <a:avLst/>
          </a:prstGeom>
          <a:noFill/>
          <a:ln/>
        </p:spPr>
        <p:txBody>
          <a:bodyPr wrap="square" lIns="0" tIns="0" rIns="0" bIns="0" rtlCol="0" anchor="t"/>
          <a:lstStyle/>
          <a:p>
            <a:pPr marL="0" indent="0">
              <a:buNone/>
            </a:pPr>
            <a:r>
              <a:rPr lang="en-US" sz="1250" dirty="0">
                <a:solidFill>
                  <a:srgbClr val="1E2329"/>
                </a:solidFill>
              </a:rPr>
              <a:t>In any Lodge under the Provincial Grand Lodge of Hertfordshire, the Provincial tie and the FHLBC Club tie are both permitted, and the Club tie at other official light blue events. Outside Hertfordshire, a plain black Masonic tie. Keep one in your case: it is right anywhere. Some Lodges (old boys’ Lodges, say) have their own: ask at the bar.</a:t>
            </a:r>
            <a:endParaRPr lang="en-US" sz="1250" dirty="0"/>
          </a:p>
        </p:txBody>
      </p:sp>
      <p:sp>
        <p:nvSpPr>
          <p:cNvPr id="6" name="FAQ What is Masonic morn"/>
          <p:cNvSpPr/>
          <p:nvPr/>
        </p:nvSpPr>
        <p:spPr>
          <a:xfrm>
            <a:off x="6172200" y="1280160"/>
            <a:ext cx="5486400" cy="2194560"/>
          </a:xfrm>
          <a:prstGeom prst="roundRect">
            <a:avLst>
              <a:gd name="adj" fmla="val 3333"/>
            </a:avLst>
          </a:prstGeom>
          <a:solidFill>
            <a:srgbClr val="F2F7FC"/>
          </a:solidFill>
          <a:ln w="12700">
            <a:solidFill>
              <a:srgbClr val="F2F7FC"/>
            </a:solidFill>
            <a:prstDash val="solid"/>
          </a:ln>
        </p:spPr>
        <p:txBody>
          <a:bodyPr/>
          <a:lstStyle/>
          <a:p>
            <a:endParaRPr lang="en-GB"/>
          </a:p>
        </p:txBody>
      </p:sp>
      <p:sp>
        <p:nvSpPr>
          <p:cNvPr id="7" name="Text 5"/>
          <p:cNvSpPr txBox="1"/>
          <p:nvPr/>
        </p:nvSpPr>
        <p:spPr>
          <a:xfrm>
            <a:off x="6400800" y="1417320"/>
            <a:ext cx="5029200" cy="457200"/>
          </a:xfrm>
          <a:prstGeom prst="rect">
            <a:avLst/>
          </a:prstGeom>
          <a:noFill/>
          <a:ln/>
        </p:spPr>
        <p:txBody>
          <a:bodyPr wrap="square" lIns="0" tIns="0" rIns="0" bIns="0" rtlCol="0" anchor="t"/>
          <a:lstStyle/>
          <a:p>
            <a:pPr marL="0" indent="0">
              <a:buNone/>
            </a:pPr>
            <a:r>
              <a:rPr lang="en-US" sz="1500" b="1" dirty="0">
                <a:solidFill>
                  <a:srgbClr val="0A4F72"/>
                </a:solidFill>
              </a:rPr>
              <a:t>What is Masonic morning dress?</a:t>
            </a:r>
            <a:endParaRPr lang="en-US" sz="1500" dirty="0"/>
          </a:p>
        </p:txBody>
      </p:sp>
      <p:sp>
        <p:nvSpPr>
          <p:cNvPr id="8" name="Text 6"/>
          <p:cNvSpPr txBox="1"/>
          <p:nvPr/>
        </p:nvSpPr>
        <p:spPr>
          <a:xfrm>
            <a:off x="6400800" y="1847088"/>
            <a:ext cx="5029200" cy="1508760"/>
          </a:xfrm>
          <a:prstGeom prst="rect">
            <a:avLst/>
          </a:prstGeom>
          <a:noFill/>
          <a:ln/>
        </p:spPr>
        <p:txBody>
          <a:bodyPr wrap="square" lIns="0" tIns="0" rIns="0" bIns="0" rtlCol="0" anchor="t"/>
          <a:lstStyle/>
          <a:p>
            <a:pPr marL="0" indent="0">
              <a:buNone/>
            </a:pPr>
            <a:r>
              <a:rPr lang="en-US" sz="1250" dirty="0">
                <a:solidFill>
                  <a:srgbClr val="1E2329"/>
                </a:solidFill>
              </a:rPr>
              <a:t>A black jacket (not a tailcoat or long coat) with black and grey striped trousers. Some Lodges keep it for Past Masters, others allow it whenever you like. Ask your Lodge before you buy. Tails are only for Active Provincial Officers at Provincial Grand Lodge.</a:t>
            </a:r>
            <a:endParaRPr lang="en-US" sz="1250" dirty="0"/>
          </a:p>
        </p:txBody>
      </p:sp>
      <p:sp>
        <p:nvSpPr>
          <p:cNvPr id="9" name="FAQ Black tie nights?"/>
          <p:cNvSpPr/>
          <p:nvPr/>
        </p:nvSpPr>
        <p:spPr>
          <a:xfrm>
            <a:off x="548640" y="3611880"/>
            <a:ext cx="5486400" cy="2286000"/>
          </a:xfrm>
          <a:prstGeom prst="roundRect">
            <a:avLst>
              <a:gd name="adj" fmla="val 3200"/>
            </a:avLst>
          </a:prstGeom>
          <a:solidFill>
            <a:srgbClr val="F2F7FC"/>
          </a:solidFill>
          <a:ln w="12700">
            <a:solidFill>
              <a:srgbClr val="F2F7FC"/>
            </a:solidFill>
            <a:prstDash val="solid"/>
          </a:ln>
        </p:spPr>
        <p:txBody>
          <a:bodyPr/>
          <a:lstStyle/>
          <a:p>
            <a:endParaRPr lang="en-GB"/>
          </a:p>
        </p:txBody>
      </p:sp>
      <p:sp>
        <p:nvSpPr>
          <p:cNvPr id="10" name="Text 8"/>
          <p:cNvSpPr txBox="1"/>
          <p:nvPr/>
        </p:nvSpPr>
        <p:spPr>
          <a:xfrm>
            <a:off x="777240" y="3749040"/>
            <a:ext cx="5029200" cy="457200"/>
          </a:xfrm>
          <a:prstGeom prst="rect">
            <a:avLst/>
          </a:prstGeom>
          <a:noFill/>
          <a:ln/>
        </p:spPr>
        <p:txBody>
          <a:bodyPr wrap="square" lIns="0" tIns="0" rIns="0" bIns="0" rtlCol="0" anchor="t"/>
          <a:lstStyle/>
          <a:p>
            <a:pPr marL="0" indent="0">
              <a:buNone/>
            </a:pPr>
            <a:r>
              <a:rPr lang="en-US" sz="1500" b="1" dirty="0">
                <a:solidFill>
                  <a:srgbClr val="106576"/>
                </a:solidFill>
              </a:rPr>
              <a:t>Black tie nights?</a:t>
            </a:r>
            <a:endParaRPr lang="en-US" sz="1500" dirty="0"/>
          </a:p>
        </p:txBody>
      </p:sp>
      <p:sp>
        <p:nvSpPr>
          <p:cNvPr id="11" name="Text 9"/>
          <p:cNvSpPr txBox="1"/>
          <p:nvPr/>
        </p:nvSpPr>
        <p:spPr>
          <a:xfrm>
            <a:off x="777240" y="4178808"/>
            <a:ext cx="5029200" cy="1600200"/>
          </a:xfrm>
          <a:prstGeom prst="rect">
            <a:avLst/>
          </a:prstGeom>
          <a:noFill/>
          <a:ln/>
        </p:spPr>
        <p:txBody>
          <a:bodyPr wrap="square" lIns="0" tIns="0" rIns="0" bIns="0" rtlCol="0" anchor="t"/>
          <a:lstStyle/>
          <a:p>
            <a:pPr marL="0" indent="0">
              <a:buNone/>
            </a:pPr>
            <a:r>
              <a:rPr lang="en-US" sz="1250" dirty="0">
                <a:solidFill>
                  <a:srgbClr val="1E2329"/>
                </a:solidFill>
              </a:rPr>
              <a:t>Dinner jacket, smart dress shirt, black bow tie. Some Lodges dine black tie always, others only at Installation, some only at Ladies Nights, some never! The Summons will say.</a:t>
            </a:r>
            <a:endParaRPr lang="en-US" sz="1250" dirty="0"/>
          </a:p>
        </p:txBody>
      </p:sp>
      <p:sp>
        <p:nvSpPr>
          <p:cNvPr id="12" name="FAQ Full Dress or Undres"/>
          <p:cNvSpPr/>
          <p:nvPr/>
        </p:nvSpPr>
        <p:spPr>
          <a:xfrm>
            <a:off x="6172200" y="3611880"/>
            <a:ext cx="5486400" cy="2286000"/>
          </a:xfrm>
          <a:prstGeom prst="roundRect">
            <a:avLst>
              <a:gd name="adj" fmla="val 3200"/>
            </a:avLst>
          </a:prstGeom>
          <a:solidFill>
            <a:srgbClr val="F2F7FC"/>
          </a:solidFill>
          <a:ln w="12700">
            <a:solidFill>
              <a:srgbClr val="F2F7FC"/>
            </a:solidFill>
            <a:prstDash val="solid"/>
          </a:ln>
        </p:spPr>
        <p:txBody>
          <a:bodyPr/>
          <a:lstStyle/>
          <a:p>
            <a:endParaRPr lang="en-GB"/>
          </a:p>
        </p:txBody>
      </p:sp>
      <p:sp>
        <p:nvSpPr>
          <p:cNvPr id="13" name="Text 11"/>
          <p:cNvSpPr txBox="1"/>
          <p:nvPr/>
        </p:nvSpPr>
        <p:spPr>
          <a:xfrm>
            <a:off x="6400800" y="3749040"/>
            <a:ext cx="5029200" cy="457200"/>
          </a:xfrm>
          <a:prstGeom prst="rect">
            <a:avLst/>
          </a:prstGeom>
          <a:noFill/>
          <a:ln/>
        </p:spPr>
        <p:txBody>
          <a:bodyPr wrap="square" lIns="0" tIns="0" rIns="0" bIns="0" rtlCol="0" anchor="t"/>
          <a:lstStyle/>
          <a:p>
            <a:pPr marL="0" indent="0">
              <a:buNone/>
            </a:pPr>
            <a:r>
              <a:rPr lang="en-US" sz="1500" b="1" dirty="0">
                <a:solidFill>
                  <a:srgbClr val="157A7C"/>
                </a:solidFill>
              </a:rPr>
              <a:t>Full Dress or Undress on the Summons?</a:t>
            </a:r>
            <a:endParaRPr lang="en-US" sz="1500" dirty="0"/>
          </a:p>
        </p:txBody>
      </p:sp>
      <p:sp>
        <p:nvSpPr>
          <p:cNvPr id="14" name="Text 12"/>
          <p:cNvSpPr txBox="1"/>
          <p:nvPr/>
        </p:nvSpPr>
        <p:spPr>
          <a:xfrm>
            <a:off x="6400800" y="4178808"/>
            <a:ext cx="5029200" cy="1600200"/>
          </a:xfrm>
          <a:prstGeom prst="rect">
            <a:avLst/>
          </a:prstGeom>
          <a:noFill/>
          <a:ln/>
        </p:spPr>
        <p:txBody>
          <a:bodyPr wrap="square" lIns="0" tIns="0" rIns="0" bIns="0" rtlCol="0" anchor="t"/>
          <a:lstStyle/>
          <a:p>
            <a:pPr marL="0" indent="0">
              <a:buNone/>
            </a:pPr>
            <a:r>
              <a:rPr lang="en-US" sz="1250" dirty="0">
                <a:solidFill>
                  <a:srgbClr val="1E2329"/>
                </a:solidFill>
              </a:rPr>
              <a:t>For Provincial and Grand Officers only. Undress: plain dark blue collar and apron. Full Dress: collar edged in gold, apron with gold fringe. It does not change what you wear: lounge suit (not your birthday suit).</a:t>
            </a:r>
            <a:endParaRPr lang="en-US" sz="125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06345D"/>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itle"/>
          <p:cNvSpPr txBox="1"/>
          <p:nvPr/>
        </p:nvSpPr>
        <p:spPr>
          <a:xfrm>
            <a:off x="548640" y="411480"/>
            <a:ext cx="11091672" cy="731520"/>
          </a:xfrm>
          <a:prstGeom prst="rect">
            <a:avLst/>
          </a:prstGeom>
          <a:noFill/>
          <a:ln/>
        </p:spPr>
        <p:txBody>
          <a:bodyPr wrap="square" lIns="0" tIns="0" rIns="0" bIns="0" rtlCol="0" anchor="ctr"/>
          <a:lstStyle/>
          <a:p>
            <a:pPr marL="0" indent="0">
              <a:buNone/>
            </a:pPr>
            <a:r>
              <a:rPr lang="en-US" sz="3200" b="1" dirty="0">
                <a:solidFill>
                  <a:srgbClr val="003668"/>
                </a:solidFill>
              </a:rPr>
              <a:t>Pins, rings, gloves and jewels</a:t>
            </a:r>
            <a:endParaRPr lang="en-US" sz="3200" dirty="0"/>
          </a:p>
        </p:txBody>
      </p:sp>
      <p:sp>
        <p:nvSpPr>
          <p:cNvPr id="3" name="FAQ Can I wear lapel pin"/>
          <p:cNvSpPr/>
          <p:nvPr/>
        </p:nvSpPr>
        <p:spPr>
          <a:xfrm>
            <a:off x="548640" y="1280160"/>
            <a:ext cx="5486400" cy="2011680"/>
          </a:xfrm>
          <a:prstGeom prst="roundRect">
            <a:avLst>
              <a:gd name="adj" fmla="val 3636"/>
            </a:avLst>
          </a:prstGeom>
          <a:solidFill>
            <a:srgbClr val="F2F7FC"/>
          </a:solidFill>
          <a:ln w="12700">
            <a:solidFill>
              <a:srgbClr val="F2F7FC"/>
            </a:solidFill>
            <a:prstDash val="solid"/>
          </a:ln>
        </p:spPr>
        <p:txBody>
          <a:bodyPr/>
          <a:lstStyle/>
          <a:p>
            <a:endParaRPr lang="en-GB"/>
          </a:p>
        </p:txBody>
      </p:sp>
      <p:sp>
        <p:nvSpPr>
          <p:cNvPr id="4" name="Text 2"/>
          <p:cNvSpPr txBox="1"/>
          <p:nvPr/>
        </p:nvSpPr>
        <p:spPr>
          <a:xfrm>
            <a:off x="777240" y="1417320"/>
            <a:ext cx="5029200" cy="457200"/>
          </a:xfrm>
          <a:prstGeom prst="rect">
            <a:avLst/>
          </a:prstGeom>
          <a:noFill/>
          <a:ln/>
        </p:spPr>
        <p:txBody>
          <a:bodyPr wrap="square" lIns="0" tIns="0" rIns="0" bIns="0" rtlCol="0" anchor="t"/>
          <a:lstStyle/>
          <a:p>
            <a:pPr marL="0" indent="0">
              <a:buNone/>
            </a:pPr>
            <a:r>
              <a:rPr lang="en-US" sz="1500" b="1" dirty="0">
                <a:solidFill>
                  <a:srgbClr val="003668"/>
                </a:solidFill>
              </a:rPr>
              <a:t>Can I wear lapel pins?</a:t>
            </a:r>
            <a:endParaRPr lang="en-US" sz="1500" dirty="0"/>
          </a:p>
        </p:txBody>
      </p:sp>
      <p:sp>
        <p:nvSpPr>
          <p:cNvPr id="5" name="Text 3"/>
          <p:cNvSpPr txBox="1"/>
          <p:nvPr/>
        </p:nvSpPr>
        <p:spPr>
          <a:xfrm>
            <a:off x="777240" y="1847088"/>
            <a:ext cx="5029200" cy="1325880"/>
          </a:xfrm>
          <a:prstGeom prst="rect">
            <a:avLst/>
          </a:prstGeom>
          <a:noFill/>
          <a:ln/>
        </p:spPr>
        <p:txBody>
          <a:bodyPr wrap="square" lIns="0" tIns="0" rIns="0" bIns="0" rtlCol="0" anchor="t"/>
          <a:lstStyle/>
          <a:p>
            <a:pPr marL="0" indent="0">
              <a:buNone/>
            </a:pPr>
            <a:r>
              <a:rPr lang="en-US" sz="1250" dirty="0">
                <a:solidFill>
                  <a:srgbClr val="1E2329"/>
                </a:solidFill>
              </a:rPr>
              <a:t>Yes. FHLBC members wear the Club pin; some wear pins of other orders. Typically three. Always Masonic or charitable, never political: Lodges are apolitical. A good talking point at the Festive Board.</a:t>
            </a:r>
            <a:endParaRPr lang="en-US" sz="1250" dirty="0"/>
          </a:p>
        </p:txBody>
      </p:sp>
      <p:sp>
        <p:nvSpPr>
          <p:cNvPr id="6" name="FAQ Rings and gloves?"/>
          <p:cNvSpPr/>
          <p:nvPr/>
        </p:nvSpPr>
        <p:spPr>
          <a:xfrm>
            <a:off x="6172200" y="1280160"/>
            <a:ext cx="5486400" cy="2011680"/>
          </a:xfrm>
          <a:prstGeom prst="roundRect">
            <a:avLst>
              <a:gd name="adj" fmla="val 3636"/>
            </a:avLst>
          </a:prstGeom>
          <a:solidFill>
            <a:srgbClr val="F2F7FC"/>
          </a:solidFill>
          <a:ln w="12700">
            <a:solidFill>
              <a:srgbClr val="F2F7FC"/>
            </a:solidFill>
            <a:prstDash val="solid"/>
          </a:ln>
        </p:spPr>
        <p:txBody>
          <a:bodyPr/>
          <a:lstStyle/>
          <a:p>
            <a:endParaRPr lang="en-GB"/>
          </a:p>
        </p:txBody>
      </p:sp>
      <p:sp>
        <p:nvSpPr>
          <p:cNvPr id="7" name="Text 5"/>
          <p:cNvSpPr txBox="1"/>
          <p:nvPr/>
        </p:nvSpPr>
        <p:spPr>
          <a:xfrm>
            <a:off x="6400800" y="1417320"/>
            <a:ext cx="5029200" cy="457200"/>
          </a:xfrm>
          <a:prstGeom prst="rect">
            <a:avLst/>
          </a:prstGeom>
          <a:noFill/>
          <a:ln/>
        </p:spPr>
        <p:txBody>
          <a:bodyPr wrap="square" lIns="0" tIns="0" rIns="0" bIns="0" rtlCol="0" anchor="t"/>
          <a:lstStyle/>
          <a:p>
            <a:pPr marL="0" indent="0">
              <a:buNone/>
            </a:pPr>
            <a:r>
              <a:rPr lang="en-US" sz="1500" b="1" dirty="0">
                <a:solidFill>
                  <a:srgbClr val="0A4F72"/>
                </a:solidFill>
              </a:rPr>
              <a:t>Rings and gloves?</a:t>
            </a:r>
            <a:endParaRPr lang="en-US" sz="1500" dirty="0"/>
          </a:p>
        </p:txBody>
      </p:sp>
      <p:sp>
        <p:nvSpPr>
          <p:cNvPr id="8" name="Text 6"/>
          <p:cNvSpPr txBox="1"/>
          <p:nvPr/>
        </p:nvSpPr>
        <p:spPr>
          <a:xfrm>
            <a:off x="6400800" y="1847088"/>
            <a:ext cx="5029200" cy="1325880"/>
          </a:xfrm>
          <a:prstGeom prst="rect">
            <a:avLst/>
          </a:prstGeom>
          <a:noFill/>
          <a:ln/>
        </p:spPr>
        <p:txBody>
          <a:bodyPr wrap="square" lIns="0" tIns="0" rIns="0" bIns="0" rtlCol="0" anchor="t"/>
          <a:lstStyle/>
          <a:p>
            <a:pPr marL="0" indent="0">
              <a:buNone/>
            </a:pPr>
            <a:r>
              <a:rPr lang="en-US" sz="1250" dirty="0">
                <a:solidFill>
                  <a:srgbClr val="1E2329"/>
                </a:solidFill>
              </a:rPr>
              <a:t>A ring divides opinion: some say Past Masters only, some anyone, some that the points face you until you have been Master. Personal preference. Gloves: worn for Lodge meetings, unless it is hot and the DC or Worshipful Master advises otherwise.</a:t>
            </a:r>
            <a:endParaRPr lang="en-US" sz="1250" dirty="0"/>
          </a:p>
        </p:txBody>
      </p:sp>
      <p:sp>
        <p:nvSpPr>
          <p:cNvPr id="9" name="FAQ Jewels: what they me"/>
          <p:cNvSpPr/>
          <p:nvPr/>
        </p:nvSpPr>
        <p:spPr>
          <a:xfrm>
            <a:off x="548640" y="3429000"/>
            <a:ext cx="11109960" cy="2468880"/>
          </a:xfrm>
          <a:prstGeom prst="roundRect">
            <a:avLst>
              <a:gd name="adj" fmla="val 2963"/>
            </a:avLst>
          </a:prstGeom>
          <a:solidFill>
            <a:srgbClr val="F2F7FC"/>
          </a:solidFill>
          <a:ln w="12700">
            <a:solidFill>
              <a:srgbClr val="F2F7FC"/>
            </a:solidFill>
            <a:prstDash val="solid"/>
          </a:ln>
        </p:spPr>
        <p:txBody>
          <a:bodyPr/>
          <a:lstStyle/>
          <a:p>
            <a:endParaRPr lang="en-GB"/>
          </a:p>
        </p:txBody>
      </p:sp>
      <p:sp>
        <p:nvSpPr>
          <p:cNvPr id="10" name="Text 8"/>
          <p:cNvSpPr txBox="1"/>
          <p:nvPr/>
        </p:nvSpPr>
        <p:spPr>
          <a:xfrm>
            <a:off x="777240" y="3566160"/>
            <a:ext cx="10652760" cy="457200"/>
          </a:xfrm>
          <a:prstGeom prst="rect">
            <a:avLst/>
          </a:prstGeom>
          <a:noFill/>
          <a:ln/>
        </p:spPr>
        <p:txBody>
          <a:bodyPr wrap="square" lIns="0" tIns="0" rIns="0" bIns="0" rtlCol="0" anchor="t"/>
          <a:lstStyle/>
          <a:p>
            <a:pPr marL="0" indent="0">
              <a:buNone/>
            </a:pPr>
            <a:r>
              <a:rPr lang="en-US" sz="1500" b="1" dirty="0">
                <a:solidFill>
                  <a:srgbClr val="106576"/>
                </a:solidFill>
              </a:rPr>
              <a:t>Jewels: what they mean, what you can wear, and in what order</a:t>
            </a:r>
            <a:endParaRPr lang="en-US" sz="1500" dirty="0"/>
          </a:p>
        </p:txBody>
      </p:sp>
      <p:sp>
        <p:nvSpPr>
          <p:cNvPr id="11" name="Text 9"/>
          <p:cNvSpPr txBox="1"/>
          <p:nvPr/>
        </p:nvSpPr>
        <p:spPr>
          <a:xfrm>
            <a:off x="777240" y="3995928"/>
            <a:ext cx="10652760" cy="1783080"/>
          </a:xfrm>
          <a:prstGeom prst="rect">
            <a:avLst/>
          </a:prstGeom>
          <a:noFill/>
          <a:ln/>
        </p:spPr>
        <p:txBody>
          <a:bodyPr wrap="square" lIns="0" tIns="0" rIns="0" bIns="0" rtlCol="0" anchor="t"/>
          <a:lstStyle/>
          <a:p>
            <a:pPr marL="0" indent="0">
              <a:buNone/>
            </a:pPr>
            <a:r>
              <a:rPr lang="en-US" sz="1250" dirty="0">
                <a:solidFill>
                  <a:srgbClr val="1E2329"/>
                </a:solidFill>
              </a:rPr>
              <a:t>Master Masons only, and typically no more than three at a time. A jewel marks something: the Royal Arch, a charity Festival you supported, an office you held. Wear only those you are entitled to (a Lodge Centenary jewel only if you were a member that year). Order from your centre: Royal Arch, Tercentenary, Festival, then Lodge jewels. No other orders’ jewels in a Craft Lodge except the Royal Arch. Less is more.</a:t>
            </a:r>
            <a:endParaRPr lang="en-US" sz="125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06345D"/>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itle"/>
          <p:cNvSpPr txBox="1"/>
          <p:nvPr/>
        </p:nvSpPr>
        <p:spPr>
          <a:xfrm>
            <a:off x="548640" y="411480"/>
            <a:ext cx="11091672" cy="731520"/>
          </a:xfrm>
          <a:prstGeom prst="rect">
            <a:avLst/>
          </a:prstGeom>
          <a:noFill/>
          <a:ln/>
        </p:spPr>
        <p:txBody>
          <a:bodyPr wrap="square" lIns="0" tIns="0" rIns="0" bIns="0" rtlCol="0" anchor="ctr"/>
          <a:lstStyle/>
          <a:p>
            <a:pPr marL="0" indent="0">
              <a:buNone/>
            </a:pPr>
            <a:r>
              <a:rPr lang="en-US" sz="3200" b="1" dirty="0">
                <a:solidFill>
                  <a:srgbClr val="003668"/>
                </a:solidFill>
              </a:rPr>
              <a:t>A meeting night, start to finish</a:t>
            </a:r>
            <a:endParaRPr lang="en-US" sz="3200" dirty="0"/>
          </a:p>
        </p:txBody>
      </p:sp>
      <p:sp>
        <p:nvSpPr>
          <p:cNvPr id="3" name="Night Arrive"/>
          <p:cNvSpPr/>
          <p:nvPr/>
        </p:nvSpPr>
        <p:spPr>
          <a:xfrm>
            <a:off x="1234440" y="1371600"/>
            <a:ext cx="731520" cy="731520"/>
          </a:xfrm>
          <a:prstGeom prst="ellipse">
            <a:avLst/>
          </a:prstGeom>
          <a:solidFill>
            <a:srgbClr val="003668"/>
          </a:solidFill>
          <a:ln w="12700">
            <a:solidFill>
              <a:srgbClr val="003668"/>
            </a:solidFill>
            <a:prstDash val="solid"/>
          </a:ln>
        </p:spPr>
        <p:txBody>
          <a:bodyPr/>
          <a:lstStyle/>
          <a:p>
            <a:endParaRPr lang="en-GB"/>
          </a:p>
        </p:txBody>
      </p:sp>
      <p:sp>
        <p:nvSpPr>
          <p:cNvPr id="4" name="Text 2"/>
          <p:cNvSpPr txBox="1"/>
          <p:nvPr/>
        </p:nvSpPr>
        <p:spPr>
          <a:xfrm>
            <a:off x="1234440" y="1371600"/>
            <a:ext cx="731520" cy="731520"/>
          </a:xfrm>
          <a:prstGeom prst="rect">
            <a:avLst/>
          </a:prstGeom>
          <a:noFill/>
          <a:ln/>
        </p:spPr>
        <p:txBody>
          <a:bodyPr wrap="square" lIns="0" tIns="0" rIns="0" bIns="0" rtlCol="0" anchor="ctr"/>
          <a:lstStyle/>
          <a:p>
            <a:pPr marL="0" indent="0" algn="ctr">
              <a:buNone/>
            </a:pPr>
            <a:r>
              <a:rPr lang="en-US" sz="2200" b="1" dirty="0">
                <a:solidFill>
                  <a:srgbClr val="FFFFFF"/>
                </a:solidFill>
              </a:rPr>
              <a:t>1</a:t>
            </a:r>
            <a:endParaRPr lang="en-US" sz="2200" dirty="0"/>
          </a:p>
        </p:txBody>
      </p:sp>
      <p:sp>
        <p:nvSpPr>
          <p:cNvPr id="5" name="Night connector 0"/>
          <p:cNvSpPr/>
          <p:nvPr/>
        </p:nvSpPr>
        <p:spPr>
          <a:xfrm>
            <a:off x="2011680" y="1737360"/>
            <a:ext cx="777240" cy="0"/>
          </a:xfrm>
          <a:prstGeom prst="line">
            <a:avLst/>
          </a:prstGeom>
          <a:noFill/>
          <a:ln w="25400">
            <a:solidFill>
              <a:srgbClr val="BFD6EA"/>
            </a:solidFill>
            <a:prstDash val="solid"/>
          </a:ln>
        </p:spPr>
        <p:txBody>
          <a:bodyPr/>
          <a:lstStyle/>
          <a:p>
            <a:endParaRPr lang="en-GB"/>
          </a:p>
        </p:txBody>
      </p:sp>
      <p:sp>
        <p:nvSpPr>
          <p:cNvPr id="6" name="Text 4"/>
          <p:cNvSpPr txBox="1"/>
          <p:nvPr/>
        </p:nvSpPr>
        <p:spPr>
          <a:xfrm>
            <a:off x="548640" y="2240280"/>
            <a:ext cx="2103120" cy="457200"/>
          </a:xfrm>
          <a:prstGeom prst="rect">
            <a:avLst/>
          </a:prstGeom>
          <a:noFill/>
          <a:ln/>
        </p:spPr>
        <p:txBody>
          <a:bodyPr wrap="square" lIns="0" tIns="0" rIns="0" bIns="0" rtlCol="0" anchor="ctr"/>
          <a:lstStyle/>
          <a:p>
            <a:pPr marL="0" indent="0" algn="ctr">
              <a:buNone/>
            </a:pPr>
            <a:r>
              <a:rPr lang="en-US" sz="1800" b="1" dirty="0">
                <a:solidFill>
                  <a:srgbClr val="003668"/>
                </a:solidFill>
              </a:rPr>
              <a:t>Arrive</a:t>
            </a:r>
            <a:endParaRPr lang="en-US" sz="1800" dirty="0"/>
          </a:p>
        </p:txBody>
      </p:sp>
      <p:sp>
        <p:nvSpPr>
          <p:cNvPr id="7" name="Text 5"/>
          <p:cNvSpPr txBox="1"/>
          <p:nvPr/>
        </p:nvSpPr>
        <p:spPr>
          <a:xfrm>
            <a:off x="548640" y="2697480"/>
            <a:ext cx="2103120" cy="1371600"/>
          </a:xfrm>
          <a:prstGeom prst="rect">
            <a:avLst/>
          </a:prstGeom>
          <a:noFill/>
          <a:ln/>
        </p:spPr>
        <p:txBody>
          <a:bodyPr wrap="square" lIns="0" tIns="0" rIns="0" bIns="0" rtlCol="0" anchor="t"/>
          <a:lstStyle/>
          <a:p>
            <a:pPr marL="0" indent="0" algn="ctr">
              <a:buNone/>
            </a:pPr>
            <a:r>
              <a:rPr lang="en-US" sz="1350" dirty="0">
                <a:solidFill>
                  <a:srgbClr val="1E2329"/>
                </a:solidFill>
              </a:rPr>
              <a:t>Early. Sign the attendance book; visitors sign too. Say hello to the Tyler</a:t>
            </a:r>
            <a:endParaRPr lang="en-US" sz="1350" dirty="0"/>
          </a:p>
        </p:txBody>
      </p:sp>
      <p:sp>
        <p:nvSpPr>
          <p:cNvPr id="8" name="Night Get ready"/>
          <p:cNvSpPr/>
          <p:nvPr/>
        </p:nvSpPr>
        <p:spPr>
          <a:xfrm>
            <a:off x="3493008" y="1371600"/>
            <a:ext cx="731520" cy="731520"/>
          </a:xfrm>
          <a:prstGeom prst="ellipse">
            <a:avLst/>
          </a:prstGeom>
          <a:solidFill>
            <a:srgbClr val="0A4F72"/>
          </a:solidFill>
          <a:ln w="12700">
            <a:solidFill>
              <a:srgbClr val="0A4F72"/>
            </a:solidFill>
            <a:prstDash val="solid"/>
          </a:ln>
        </p:spPr>
        <p:txBody>
          <a:bodyPr/>
          <a:lstStyle/>
          <a:p>
            <a:endParaRPr lang="en-GB"/>
          </a:p>
        </p:txBody>
      </p:sp>
      <p:sp>
        <p:nvSpPr>
          <p:cNvPr id="9" name="Text 7"/>
          <p:cNvSpPr txBox="1"/>
          <p:nvPr/>
        </p:nvSpPr>
        <p:spPr>
          <a:xfrm>
            <a:off x="3493008" y="1371600"/>
            <a:ext cx="731520" cy="731520"/>
          </a:xfrm>
          <a:prstGeom prst="rect">
            <a:avLst/>
          </a:prstGeom>
          <a:noFill/>
          <a:ln/>
        </p:spPr>
        <p:txBody>
          <a:bodyPr wrap="square" lIns="0" tIns="0" rIns="0" bIns="0" rtlCol="0" anchor="ctr"/>
          <a:lstStyle/>
          <a:p>
            <a:pPr marL="0" indent="0" algn="ctr">
              <a:buNone/>
            </a:pPr>
            <a:r>
              <a:rPr lang="en-US" sz="2200" b="1" dirty="0">
                <a:solidFill>
                  <a:srgbClr val="FFFFFF"/>
                </a:solidFill>
              </a:rPr>
              <a:t>2</a:t>
            </a:r>
            <a:endParaRPr lang="en-US" sz="2200" dirty="0"/>
          </a:p>
        </p:txBody>
      </p:sp>
      <p:sp>
        <p:nvSpPr>
          <p:cNvPr id="10" name="Night connector 1"/>
          <p:cNvSpPr/>
          <p:nvPr/>
        </p:nvSpPr>
        <p:spPr>
          <a:xfrm>
            <a:off x="4270248" y="1737360"/>
            <a:ext cx="777240" cy="0"/>
          </a:xfrm>
          <a:prstGeom prst="line">
            <a:avLst/>
          </a:prstGeom>
          <a:noFill/>
          <a:ln w="25400">
            <a:solidFill>
              <a:srgbClr val="BFD6EA"/>
            </a:solidFill>
            <a:prstDash val="solid"/>
          </a:ln>
        </p:spPr>
        <p:txBody>
          <a:bodyPr/>
          <a:lstStyle/>
          <a:p>
            <a:endParaRPr lang="en-GB"/>
          </a:p>
        </p:txBody>
      </p:sp>
      <p:sp>
        <p:nvSpPr>
          <p:cNvPr id="11" name="Text 9"/>
          <p:cNvSpPr txBox="1"/>
          <p:nvPr/>
        </p:nvSpPr>
        <p:spPr>
          <a:xfrm>
            <a:off x="2807208" y="2240280"/>
            <a:ext cx="2103120" cy="457200"/>
          </a:xfrm>
          <a:prstGeom prst="rect">
            <a:avLst/>
          </a:prstGeom>
          <a:noFill/>
          <a:ln/>
        </p:spPr>
        <p:txBody>
          <a:bodyPr wrap="square" lIns="0" tIns="0" rIns="0" bIns="0" rtlCol="0" anchor="ctr"/>
          <a:lstStyle/>
          <a:p>
            <a:pPr marL="0" indent="0" algn="ctr">
              <a:buNone/>
            </a:pPr>
            <a:r>
              <a:rPr lang="en-US" sz="1800" b="1" dirty="0">
                <a:solidFill>
                  <a:srgbClr val="0A4F72"/>
                </a:solidFill>
              </a:rPr>
              <a:t>Get ready</a:t>
            </a:r>
            <a:endParaRPr lang="en-US" sz="1800" dirty="0"/>
          </a:p>
        </p:txBody>
      </p:sp>
      <p:sp>
        <p:nvSpPr>
          <p:cNvPr id="12" name="Text 10"/>
          <p:cNvSpPr txBox="1"/>
          <p:nvPr/>
        </p:nvSpPr>
        <p:spPr>
          <a:xfrm>
            <a:off x="2807208" y="2697480"/>
            <a:ext cx="2103120" cy="1371600"/>
          </a:xfrm>
          <a:prstGeom prst="rect">
            <a:avLst/>
          </a:prstGeom>
          <a:noFill/>
          <a:ln/>
        </p:spPr>
        <p:txBody>
          <a:bodyPr wrap="square" lIns="0" tIns="0" rIns="0" bIns="0" rtlCol="0" anchor="t"/>
          <a:lstStyle/>
          <a:p>
            <a:pPr marL="0" indent="0" algn="ctr">
              <a:buNone/>
            </a:pPr>
            <a:r>
              <a:rPr lang="en-US" sz="1350" dirty="0">
                <a:solidFill>
                  <a:srgbClr val="1E2329"/>
                </a:solidFill>
              </a:rPr>
              <a:t>Apron and gloves on in the robing room. Your mentor will check you are right</a:t>
            </a:r>
            <a:endParaRPr lang="en-US" sz="1350" dirty="0"/>
          </a:p>
        </p:txBody>
      </p:sp>
      <p:sp>
        <p:nvSpPr>
          <p:cNvPr id="13" name="Night The meeting"/>
          <p:cNvSpPr/>
          <p:nvPr/>
        </p:nvSpPr>
        <p:spPr>
          <a:xfrm>
            <a:off x="5751576" y="1371600"/>
            <a:ext cx="731520" cy="731520"/>
          </a:xfrm>
          <a:prstGeom prst="ellipse">
            <a:avLst/>
          </a:prstGeom>
          <a:solidFill>
            <a:srgbClr val="106576"/>
          </a:solidFill>
          <a:ln w="12700">
            <a:solidFill>
              <a:srgbClr val="106576"/>
            </a:solidFill>
            <a:prstDash val="solid"/>
          </a:ln>
        </p:spPr>
        <p:txBody>
          <a:bodyPr/>
          <a:lstStyle/>
          <a:p>
            <a:endParaRPr lang="en-GB"/>
          </a:p>
        </p:txBody>
      </p:sp>
      <p:sp>
        <p:nvSpPr>
          <p:cNvPr id="14" name="Text 12"/>
          <p:cNvSpPr txBox="1"/>
          <p:nvPr/>
        </p:nvSpPr>
        <p:spPr>
          <a:xfrm>
            <a:off x="5751576" y="1371600"/>
            <a:ext cx="731520" cy="731520"/>
          </a:xfrm>
          <a:prstGeom prst="rect">
            <a:avLst/>
          </a:prstGeom>
          <a:noFill/>
          <a:ln/>
        </p:spPr>
        <p:txBody>
          <a:bodyPr wrap="square" lIns="0" tIns="0" rIns="0" bIns="0" rtlCol="0" anchor="ctr"/>
          <a:lstStyle/>
          <a:p>
            <a:pPr marL="0" indent="0" algn="ctr">
              <a:buNone/>
            </a:pPr>
            <a:r>
              <a:rPr lang="en-US" sz="2200" b="1" dirty="0">
                <a:solidFill>
                  <a:srgbClr val="FFFFFF"/>
                </a:solidFill>
              </a:rPr>
              <a:t>3</a:t>
            </a:r>
            <a:endParaRPr lang="en-US" sz="2200" dirty="0"/>
          </a:p>
        </p:txBody>
      </p:sp>
      <p:sp>
        <p:nvSpPr>
          <p:cNvPr id="15" name="Night connector 2"/>
          <p:cNvSpPr/>
          <p:nvPr/>
        </p:nvSpPr>
        <p:spPr>
          <a:xfrm>
            <a:off x="6528816" y="1737360"/>
            <a:ext cx="777240" cy="0"/>
          </a:xfrm>
          <a:prstGeom prst="line">
            <a:avLst/>
          </a:prstGeom>
          <a:noFill/>
          <a:ln w="25400">
            <a:solidFill>
              <a:srgbClr val="BFD6EA"/>
            </a:solidFill>
            <a:prstDash val="solid"/>
          </a:ln>
        </p:spPr>
        <p:txBody>
          <a:bodyPr/>
          <a:lstStyle/>
          <a:p>
            <a:endParaRPr lang="en-GB"/>
          </a:p>
        </p:txBody>
      </p:sp>
      <p:sp>
        <p:nvSpPr>
          <p:cNvPr id="16" name="Text 14"/>
          <p:cNvSpPr txBox="1"/>
          <p:nvPr/>
        </p:nvSpPr>
        <p:spPr>
          <a:xfrm>
            <a:off x="5065776" y="2240280"/>
            <a:ext cx="2103120" cy="457200"/>
          </a:xfrm>
          <a:prstGeom prst="rect">
            <a:avLst/>
          </a:prstGeom>
          <a:noFill/>
          <a:ln/>
        </p:spPr>
        <p:txBody>
          <a:bodyPr wrap="square" lIns="0" tIns="0" rIns="0" bIns="0" rtlCol="0" anchor="ctr"/>
          <a:lstStyle/>
          <a:p>
            <a:pPr marL="0" indent="0" algn="ctr">
              <a:buNone/>
            </a:pPr>
            <a:r>
              <a:rPr lang="en-US" sz="1800" b="1" dirty="0">
                <a:solidFill>
                  <a:srgbClr val="106576"/>
                </a:solidFill>
              </a:rPr>
              <a:t>The meeting</a:t>
            </a:r>
            <a:endParaRPr lang="en-US" sz="1800" dirty="0"/>
          </a:p>
        </p:txBody>
      </p:sp>
      <p:sp>
        <p:nvSpPr>
          <p:cNvPr id="17" name="Text 15"/>
          <p:cNvSpPr txBox="1"/>
          <p:nvPr/>
        </p:nvSpPr>
        <p:spPr>
          <a:xfrm>
            <a:off x="5065776" y="2697480"/>
            <a:ext cx="2103120" cy="1371600"/>
          </a:xfrm>
          <a:prstGeom prst="rect">
            <a:avLst/>
          </a:prstGeom>
          <a:noFill/>
          <a:ln/>
        </p:spPr>
        <p:txBody>
          <a:bodyPr wrap="square" lIns="0" tIns="0" rIns="0" bIns="0" rtlCol="0" anchor="t"/>
          <a:lstStyle/>
          <a:p>
            <a:pPr marL="0" indent="0" algn="ctr">
              <a:buNone/>
            </a:pPr>
            <a:r>
              <a:rPr lang="en-US" sz="1350" dirty="0">
                <a:solidFill>
                  <a:srgbClr val="1E2329"/>
                </a:solidFill>
              </a:rPr>
              <a:t>The Director of Ceremonies guides everyone. Follow, do not worry</a:t>
            </a:r>
            <a:endParaRPr lang="en-US" sz="1350" dirty="0"/>
          </a:p>
        </p:txBody>
      </p:sp>
      <p:sp>
        <p:nvSpPr>
          <p:cNvPr id="18" name="Night Festive Board"/>
          <p:cNvSpPr/>
          <p:nvPr/>
        </p:nvSpPr>
        <p:spPr>
          <a:xfrm>
            <a:off x="8010144" y="1371600"/>
            <a:ext cx="731520" cy="731520"/>
          </a:xfrm>
          <a:prstGeom prst="ellipse">
            <a:avLst/>
          </a:prstGeom>
          <a:solidFill>
            <a:srgbClr val="157A7C"/>
          </a:solidFill>
          <a:ln w="12700">
            <a:solidFill>
              <a:srgbClr val="157A7C"/>
            </a:solidFill>
            <a:prstDash val="solid"/>
          </a:ln>
        </p:spPr>
        <p:txBody>
          <a:bodyPr/>
          <a:lstStyle/>
          <a:p>
            <a:endParaRPr lang="en-GB"/>
          </a:p>
        </p:txBody>
      </p:sp>
      <p:sp>
        <p:nvSpPr>
          <p:cNvPr id="19" name="Text 17"/>
          <p:cNvSpPr txBox="1"/>
          <p:nvPr/>
        </p:nvSpPr>
        <p:spPr>
          <a:xfrm>
            <a:off x="8010144" y="1371600"/>
            <a:ext cx="731520" cy="731520"/>
          </a:xfrm>
          <a:prstGeom prst="rect">
            <a:avLst/>
          </a:prstGeom>
          <a:noFill/>
          <a:ln/>
        </p:spPr>
        <p:txBody>
          <a:bodyPr wrap="square" lIns="0" tIns="0" rIns="0" bIns="0" rtlCol="0" anchor="ctr"/>
          <a:lstStyle/>
          <a:p>
            <a:pPr marL="0" indent="0" algn="ctr">
              <a:buNone/>
            </a:pPr>
            <a:r>
              <a:rPr lang="en-US" sz="2200" b="1" dirty="0">
                <a:solidFill>
                  <a:srgbClr val="FFFFFF"/>
                </a:solidFill>
              </a:rPr>
              <a:t>4</a:t>
            </a:r>
            <a:endParaRPr lang="en-US" sz="2200" dirty="0"/>
          </a:p>
        </p:txBody>
      </p:sp>
      <p:sp>
        <p:nvSpPr>
          <p:cNvPr id="20" name="Night connector 3"/>
          <p:cNvSpPr/>
          <p:nvPr/>
        </p:nvSpPr>
        <p:spPr>
          <a:xfrm>
            <a:off x="8787384" y="1737360"/>
            <a:ext cx="777240" cy="0"/>
          </a:xfrm>
          <a:prstGeom prst="line">
            <a:avLst/>
          </a:prstGeom>
          <a:noFill/>
          <a:ln w="25400">
            <a:solidFill>
              <a:srgbClr val="BFD6EA"/>
            </a:solidFill>
            <a:prstDash val="solid"/>
          </a:ln>
        </p:spPr>
        <p:txBody>
          <a:bodyPr/>
          <a:lstStyle/>
          <a:p>
            <a:endParaRPr lang="en-GB"/>
          </a:p>
        </p:txBody>
      </p:sp>
      <p:sp>
        <p:nvSpPr>
          <p:cNvPr id="21" name="Text 19"/>
          <p:cNvSpPr txBox="1"/>
          <p:nvPr/>
        </p:nvSpPr>
        <p:spPr>
          <a:xfrm>
            <a:off x="7324344" y="2240280"/>
            <a:ext cx="2103120" cy="457200"/>
          </a:xfrm>
          <a:prstGeom prst="rect">
            <a:avLst/>
          </a:prstGeom>
          <a:noFill/>
          <a:ln/>
        </p:spPr>
        <p:txBody>
          <a:bodyPr wrap="square" lIns="0" tIns="0" rIns="0" bIns="0" rtlCol="0" anchor="ctr"/>
          <a:lstStyle/>
          <a:p>
            <a:pPr marL="0" indent="0" algn="ctr">
              <a:buNone/>
            </a:pPr>
            <a:r>
              <a:rPr lang="en-US" sz="1800" b="1" dirty="0">
                <a:solidFill>
                  <a:srgbClr val="157A7C"/>
                </a:solidFill>
              </a:rPr>
              <a:t>Festive Board</a:t>
            </a:r>
            <a:endParaRPr lang="en-US" sz="1800" dirty="0"/>
          </a:p>
        </p:txBody>
      </p:sp>
      <p:sp>
        <p:nvSpPr>
          <p:cNvPr id="22" name="Text 20"/>
          <p:cNvSpPr txBox="1"/>
          <p:nvPr/>
        </p:nvSpPr>
        <p:spPr>
          <a:xfrm>
            <a:off x="7324344" y="2697480"/>
            <a:ext cx="2103120" cy="1371600"/>
          </a:xfrm>
          <a:prstGeom prst="rect">
            <a:avLst/>
          </a:prstGeom>
          <a:noFill/>
          <a:ln/>
        </p:spPr>
        <p:txBody>
          <a:bodyPr wrap="square" lIns="0" tIns="0" rIns="0" bIns="0" rtlCol="0" anchor="t"/>
          <a:lstStyle/>
          <a:p>
            <a:pPr marL="0" indent="0" algn="ctr">
              <a:buNone/>
            </a:pPr>
            <a:r>
              <a:rPr lang="en-US" sz="1350" dirty="0">
                <a:solidFill>
                  <a:srgbClr val="1E2329"/>
                </a:solidFill>
              </a:rPr>
              <a:t>Grace, dinner, toasts and Fire, the raffle for charity</a:t>
            </a:r>
            <a:endParaRPr lang="en-US" sz="1350" dirty="0"/>
          </a:p>
        </p:txBody>
      </p:sp>
      <p:sp>
        <p:nvSpPr>
          <p:cNvPr id="23" name="Night Home"/>
          <p:cNvSpPr/>
          <p:nvPr/>
        </p:nvSpPr>
        <p:spPr>
          <a:xfrm>
            <a:off x="10268712" y="1371600"/>
            <a:ext cx="731520" cy="731520"/>
          </a:xfrm>
          <a:prstGeom prst="ellipse">
            <a:avLst/>
          </a:prstGeom>
          <a:solidFill>
            <a:srgbClr val="06345D"/>
          </a:solidFill>
          <a:ln w="12700">
            <a:solidFill>
              <a:srgbClr val="06345D"/>
            </a:solidFill>
            <a:prstDash val="solid"/>
          </a:ln>
        </p:spPr>
        <p:txBody>
          <a:bodyPr/>
          <a:lstStyle/>
          <a:p>
            <a:endParaRPr lang="en-GB"/>
          </a:p>
        </p:txBody>
      </p:sp>
      <p:sp>
        <p:nvSpPr>
          <p:cNvPr id="24" name="Text 22"/>
          <p:cNvSpPr txBox="1"/>
          <p:nvPr/>
        </p:nvSpPr>
        <p:spPr>
          <a:xfrm>
            <a:off x="10268712" y="1371600"/>
            <a:ext cx="731520" cy="731520"/>
          </a:xfrm>
          <a:prstGeom prst="rect">
            <a:avLst/>
          </a:prstGeom>
          <a:noFill/>
          <a:ln/>
        </p:spPr>
        <p:txBody>
          <a:bodyPr wrap="square" lIns="0" tIns="0" rIns="0" bIns="0" rtlCol="0" anchor="ctr"/>
          <a:lstStyle/>
          <a:p>
            <a:pPr marL="0" indent="0" algn="ctr">
              <a:buNone/>
            </a:pPr>
            <a:r>
              <a:rPr lang="en-US" sz="2200" b="1" dirty="0">
                <a:solidFill>
                  <a:srgbClr val="FFFFFF"/>
                </a:solidFill>
              </a:rPr>
              <a:t>5</a:t>
            </a:r>
            <a:endParaRPr lang="en-US" sz="2200" dirty="0"/>
          </a:p>
        </p:txBody>
      </p:sp>
      <p:sp>
        <p:nvSpPr>
          <p:cNvPr id="25" name="Text 23"/>
          <p:cNvSpPr txBox="1"/>
          <p:nvPr/>
        </p:nvSpPr>
        <p:spPr>
          <a:xfrm>
            <a:off x="9582912" y="2240280"/>
            <a:ext cx="2103120" cy="457200"/>
          </a:xfrm>
          <a:prstGeom prst="rect">
            <a:avLst/>
          </a:prstGeom>
          <a:noFill/>
          <a:ln/>
        </p:spPr>
        <p:txBody>
          <a:bodyPr wrap="square" lIns="0" tIns="0" rIns="0" bIns="0" rtlCol="0" anchor="ctr"/>
          <a:lstStyle/>
          <a:p>
            <a:pPr marL="0" indent="0" algn="ctr">
              <a:buNone/>
            </a:pPr>
            <a:r>
              <a:rPr lang="en-US" sz="1800" b="1" dirty="0">
                <a:solidFill>
                  <a:srgbClr val="06345D"/>
                </a:solidFill>
              </a:rPr>
              <a:t>Home</a:t>
            </a:r>
            <a:endParaRPr lang="en-US" sz="1800" dirty="0"/>
          </a:p>
        </p:txBody>
      </p:sp>
      <p:sp>
        <p:nvSpPr>
          <p:cNvPr id="26" name="Text 24"/>
          <p:cNvSpPr txBox="1"/>
          <p:nvPr/>
        </p:nvSpPr>
        <p:spPr>
          <a:xfrm>
            <a:off x="9582912" y="2697480"/>
            <a:ext cx="2103120" cy="1371600"/>
          </a:xfrm>
          <a:prstGeom prst="rect">
            <a:avLst/>
          </a:prstGeom>
          <a:noFill/>
          <a:ln/>
        </p:spPr>
        <p:txBody>
          <a:bodyPr wrap="square" lIns="0" tIns="0" rIns="0" bIns="0" rtlCol="0" anchor="t"/>
          <a:lstStyle/>
          <a:p>
            <a:pPr marL="0" indent="0" algn="ctr">
              <a:buNone/>
            </a:pPr>
            <a:r>
              <a:rPr lang="en-US" sz="1350" dirty="0">
                <a:solidFill>
                  <a:srgbClr val="1E2329"/>
                </a:solidFill>
              </a:rPr>
              <a:t>After the Tyler’s Toast</a:t>
            </a:r>
            <a:endParaRPr lang="en-US" sz="1350" dirty="0"/>
          </a:p>
        </p:txBody>
      </p:sp>
      <p:sp>
        <p:nvSpPr>
          <p:cNvPr id="27" name="Card Opening and closing odes"/>
          <p:cNvSpPr/>
          <p:nvPr/>
        </p:nvSpPr>
        <p:spPr>
          <a:xfrm>
            <a:off x="548640" y="4114800"/>
            <a:ext cx="3611880" cy="1737360"/>
          </a:xfrm>
          <a:prstGeom prst="roundRect">
            <a:avLst>
              <a:gd name="adj" fmla="val 4211"/>
            </a:avLst>
          </a:prstGeom>
          <a:solidFill>
            <a:srgbClr val="F2F7FC"/>
          </a:solidFill>
          <a:ln w="12700">
            <a:solidFill>
              <a:srgbClr val="F2F7FC"/>
            </a:solidFill>
            <a:prstDash val="solid"/>
          </a:ln>
        </p:spPr>
        <p:txBody>
          <a:bodyPr/>
          <a:lstStyle/>
          <a:p>
            <a:endParaRPr lang="en-GB"/>
          </a:p>
        </p:txBody>
      </p:sp>
      <p:sp>
        <p:nvSpPr>
          <p:cNvPr id="28" name="Text 26"/>
          <p:cNvSpPr txBox="1"/>
          <p:nvPr/>
        </p:nvSpPr>
        <p:spPr>
          <a:xfrm>
            <a:off x="777240" y="4279392"/>
            <a:ext cx="3154680" cy="411480"/>
          </a:xfrm>
          <a:prstGeom prst="rect">
            <a:avLst/>
          </a:prstGeom>
          <a:noFill/>
          <a:ln/>
        </p:spPr>
        <p:txBody>
          <a:bodyPr wrap="square" lIns="0" tIns="0" rIns="0" bIns="0" rtlCol="0" anchor="ctr"/>
          <a:lstStyle/>
          <a:p>
            <a:pPr marL="0" indent="0">
              <a:buNone/>
            </a:pPr>
            <a:r>
              <a:rPr lang="en-US" sz="1600" b="1" dirty="0">
                <a:solidFill>
                  <a:srgbClr val="003668"/>
                </a:solidFill>
              </a:rPr>
              <a:t>Opening and closing odes</a:t>
            </a:r>
            <a:endParaRPr lang="en-US" sz="1600" dirty="0"/>
          </a:p>
        </p:txBody>
      </p:sp>
      <p:sp>
        <p:nvSpPr>
          <p:cNvPr id="29" name="Text 27"/>
          <p:cNvSpPr txBox="1"/>
          <p:nvPr/>
        </p:nvSpPr>
        <p:spPr>
          <a:xfrm>
            <a:off x="777240" y="4736592"/>
            <a:ext cx="3154680" cy="1005840"/>
          </a:xfrm>
          <a:prstGeom prst="rect">
            <a:avLst/>
          </a:prstGeom>
          <a:noFill/>
          <a:ln/>
        </p:spPr>
        <p:txBody>
          <a:bodyPr wrap="square" lIns="0" tIns="0" rIns="0" bIns="0" rtlCol="0" anchor="t"/>
          <a:lstStyle/>
          <a:p>
            <a:pPr marL="0" indent="0">
              <a:buNone/>
            </a:pPr>
            <a:r>
              <a:rPr lang="en-US" sz="1350" dirty="0">
                <a:solidFill>
                  <a:srgbClr val="1E2329"/>
                </a:solidFill>
              </a:rPr>
              <a:t>Short hymns sung in Lodge. Words vary from Lodge to Lodge, so ask your Secretary or DC for your Lodge’s sheet.</a:t>
            </a:r>
            <a:endParaRPr lang="en-US" sz="1350" dirty="0"/>
          </a:p>
        </p:txBody>
      </p:sp>
      <p:sp>
        <p:nvSpPr>
          <p:cNvPr id="30" name="Card Signs and the like"/>
          <p:cNvSpPr/>
          <p:nvPr/>
        </p:nvSpPr>
        <p:spPr>
          <a:xfrm>
            <a:off x="4297680" y="4114800"/>
            <a:ext cx="3611880" cy="1737360"/>
          </a:xfrm>
          <a:prstGeom prst="roundRect">
            <a:avLst>
              <a:gd name="adj" fmla="val 4211"/>
            </a:avLst>
          </a:prstGeom>
          <a:solidFill>
            <a:srgbClr val="F2F7FC"/>
          </a:solidFill>
          <a:ln w="12700">
            <a:solidFill>
              <a:srgbClr val="F2F7FC"/>
            </a:solidFill>
            <a:prstDash val="solid"/>
          </a:ln>
        </p:spPr>
        <p:txBody>
          <a:bodyPr/>
          <a:lstStyle/>
          <a:p>
            <a:endParaRPr lang="en-GB"/>
          </a:p>
        </p:txBody>
      </p:sp>
      <p:sp>
        <p:nvSpPr>
          <p:cNvPr id="31" name="Text 29"/>
          <p:cNvSpPr txBox="1"/>
          <p:nvPr/>
        </p:nvSpPr>
        <p:spPr>
          <a:xfrm>
            <a:off x="4526280" y="4279392"/>
            <a:ext cx="3154680" cy="411480"/>
          </a:xfrm>
          <a:prstGeom prst="rect">
            <a:avLst/>
          </a:prstGeom>
          <a:noFill/>
          <a:ln/>
        </p:spPr>
        <p:txBody>
          <a:bodyPr wrap="square" lIns="0" tIns="0" rIns="0" bIns="0" rtlCol="0" anchor="ctr"/>
          <a:lstStyle/>
          <a:p>
            <a:pPr marL="0" indent="0">
              <a:buNone/>
            </a:pPr>
            <a:r>
              <a:rPr lang="en-US" sz="1600" b="1" dirty="0">
                <a:solidFill>
                  <a:srgbClr val="003668"/>
                </a:solidFill>
              </a:rPr>
              <a:t>Signs and the like</a:t>
            </a:r>
            <a:endParaRPr lang="en-US" sz="1600" dirty="0"/>
          </a:p>
        </p:txBody>
      </p:sp>
      <p:sp>
        <p:nvSpPr>
          <p:cNvPr id="32" name="Text 30"/>
          <p:cNvSpPr txBox="1"/>
          <p:nvPr/>
        </p:nvSpPr>
        <p:spPr>
          <a:xfrm>
            <a:off x="4526280" y="4736592"/>
            <a:ext cx="3154680" cy="1005840"/>
          </a:xfrm>
          <a:prstGeom prst="rect">
            <a:avLst/>
          </a:prstGeom>
          <a:noFill/>
          <a:ln/>
        </p:spPr>
        <p:txBody>
          <a:bodyPr wrap="square" lIns="0" tIns="0" rIns="0" bIns="0" rtlCol="0" anchor="t"/>
          <a:lstStyle/>
          <a:p>
            <a:pPr marL="0" indent="0">
              <a:buNone/>
            </a:pPr>
            <a:r>
              <a:rPr lang="en-US" sz="1350" dirty="0">
                <a:solidFill>
                  <a:srgbClr val="1E2329"/>
                </a:solidFill>
              </a:rPr>
              <a:t>Everyone gets these wrong at first. Not for tonight: practise them at the Lodge of Instruction.</a:t>
            </a:r>
            <a:endParaRPr lang="en-US" sz="1350" dirty="0"/>
          </a:p>
        </p:txBody>
      </p:sp>
      <p:sp>
        <p:nvSpPr>
          <p:cNvPr id="33" name="Card Bring"/>
          <p:cNvSpPr/>
          <p:nvPr/>
        </p:nvSpPr>
        <p:spPr>
          <a:xfrm>
            <a:off x="8046720" y="4114800"/>
            <a:ext cx="3566160" cy="1737360"/>
          </a:xfrm>
          <a:prstGeom prst="roundRect">
            <a:avLst>
              <a:gd name="adj" fmla="val 4211"/>
            </a:avLst>
          </a:prstGeom>
          <a:solidFill>
            <a:srgbClr val="E6F2F2"/>
          </a:solidFill>
          <a:ln w="12700">
            <a:solidFill>
              <a:srgbClr val="E6F2F2"/>
            </a:solidFill>
            <a:prstDash val="solid"/>
          </a:ln>
        </p:spPr>
        <p:txBody>
          <a:bodyPr/>
          <a:lstStyle/>
          <a:p>
            <a:endParaRPr lang="en-GB"/>
          </a:p>
        </p:txBody>
      </p:sp>
      <p:sp>
        <p:nvSpPr>
          <p:cNvPr id="34" name="Text 32"/>
          <p:cNvSpPr txBox="1"/>
          <p:nvPr/>
        </p:nvSpPr>
        <p:spPr>
          <a:xfrm>
            <a:off x="8275320" y="4279392"/>
            <a:ext cx="3108960" cy="411480"/>
          </a:xfrm>
          <a:prstGeom prst="rect">
            <a:avLst/>
          </a:prstGeom>
          <a:noFill/>
          <a:ln/>
        </p:spPr>
        <p:txBody>
          <a:bodyPr wrap="square" lIns="0" tIns="0" rIns="0" bIns="0" rtlCol="0" anchor="ctr"/>
          <a:lstStyle/>
          <a:p>
            <a:pPr marL="0" indent="0">
              <a:buNone/>
            </a:pPr>
            <a:r>
              <a:rPr lang="en-US" sz="1600" b="1" dirty="0">
                <a:solidFill>
                  <a:srgbClr val="003668"/>
                </a:solidFill>
              </a:rPr>
              <a:t>Bring</a:t>
            </a:r>
            <a:endParaRPr lang="en-US" sz="1600" dirty="0"/>
          </a:p>
        </p:txBody>
      </p:sp>
      <p:sp>
        <p:nvSpPr>
          <p:cNvPr id="35" name="Text 33"/>
          <p:cNvSpPr txBox="1"/>
          <p:nvPr/>
        </p:nvSpPr>
        <p:spPr>
          <a:xfrm>
            <a:off x="8275320" y="4736592"/>
            <a:ext cx="3108960" cy="1005840"/>
          </a:xfrm>
          <a:prstGeom prst="rect">
            <a:avLst/>
          </a:prstGeom>
          <a:noFill/>
          <a:ln/>
        </p:spPr>
        <p:txBody>
          <a:bodyPr wrap="square" lIns="0" tIns="0" rIns="0" bIns="0" rtlCol="0" anchor="t"/>
          <a:lstStyle/>
          <a:p>
            <a:pPr marL="0" indent="0">
              <a:buNone/>
            </a:pPr>
            <a:r>
              <a:rPr lang="en-US" sz="1350" dirty="0">
                <a:solidFill>
                  <a:srgbClr val="1E2329"/>
                </a:solidFill>
              </a:rPr>
              <a:t>Your regalia case, a plain black tie, cash or card for the raffle and charity, and your Summons.</a:t>
            </a:r>
            <a:endParaRPr lang="en-US" sz="1350" dirty="0"/>
          </a:p>
        </p:txBody>
      </p:sp>
      <p:sp>
        <p:nvSpPr>
          <p:cNvPr id="36"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06345D"/>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itle"/>
          <p:cNvSpPr txBox="1"/>
          <p:nvPr/>
        </p:nvSpPr>
        <p:spPr>
          <a:xfrm>
            <a:off x="548640" y="411480"/>
            <a:ext cx="11091672" cy="731520"/>
          </a:xfrm>
          <a:prstGeom prst="rect">
            <a:avLst/>
          </a:prstGeom>
          <a:noFill/>
          <a:ln/>
        </p:spPr>
        <p:txBody>
          <a:bodyPr wrap="square" lIns="0" tIns="0" rIns="0" bIns="0" rtlCol="0" anchor="ctr"/>
          <a:lstStyle/>
          <a:p>
            <a:pPr marL="0" indent="0">
              <a:buNone/>
            </a:pPr>
            <a:r>
              <a:rPr lang="en-US" sz="3200" b="1" dirty="0">
                <a:solidFill>
                  <a:srgbClr val="003668"/>
                </a:solidFill>
              </a:rPr>
              <a:t>Meetings: the questions everyone asks</a:t>
            </a:r>
            <a:endParaRPr lang="en-US" sz="3200" dirty="0"/>
          </a:p>
        </p:txBody>
      </p:sp>
      <p:sp>
        <p:nvSpPr>
          <p:cNvPr id="3" name="FAQ Do I have to attend?"/>
          <p:cNvSpPr/>
          <p:nvPr/>
        </p:nvSpPr>
        <p:spPr>
          <a:xfrm>
            <a:off x="548640" y="1280160"/>
            <a:ext cx="5486400" cy="1463040"/>
          </a:xfrm>
          <a:prstGeom prst="roundRect">
            <a:avLst>
              <a:gd name="adj" fmla="val 5000"/>
            </a:avLst>
          </a:prstGeom>
          <a:solidFill>
            <a:srgbClr val="F2F7FC"/>
          </a:solidFill>
          <a:ln w="12700">
            <a:solidFill>
              <a:srgbClr val="F2F7FC"/>
            </a:solidFill>
            <a:prstDash val="solid"/>
          </a:ln>
        </p:spPr>
        <p:txBody>
          <a:bodyPr/>
          <a:lstStyle/>
          <a:p>
            <a:endParaRPr lang="en-GB"/>
          </a:p>
        </p:txBody>
      </p:sp>
      <p:sp>
        <p:nvSpPr>
          <p:cNvPr id="4" name="Text 2"/>
          <p:cNvSpPr txBox="1"/>
          <p:nvPr/>
        </p:nvSpPr>
        <p:spPr>
          <a:xfrm>
            <a:off x="777240" y="1417320"/>
            <a:ext cx="5029200" cy="457200"/>
          </a:xfrm>
          <a:prstGeom prst="rect">
            <a:avLst/>
          </a:prstGeom>
          <a:noFill/>
          <a:ln/>
        </p:spPr>
        <p:txBody>
          <a:bodyPr wrap="square" lIns="0" tIns="0" rIns="0" bIns="0" rtlCol="0" anchor="t"/>
          <a:lstStyle/>
          <a:p>
            <a:pPr marL="0" indent="0">
              <a:buNone/>
            </a:pPr>
            <a:r>
              <a:rPr lang="en-US" sz="1500" b="1" dirty="0">
                <a:solidFill>
                  <a:srgbClr val="003668"/>
                </a:solidFill>
              </a:rPr>
              <a:t>Do I have to attend?</a:t>
            </a:r>
            <a:endParaRPr lang="en-US" sz="1500" dirty="0"/>
          </a:p>
        </p:txBody>
      </p:sp>
      <p:sp>
        <p:nvSpPr>
          <p:cNvPr id="5" name="Text 3"/>
          <p:cNvSpPr txBox="1"/>
          <p:nvPr/>
        </p:nvSpPr>
        <p:spPr>
          <a:xfrm>
            <a:off x="777240" y="1847088"/>
            <a:ext cx="5029200" cy="777240"/>
          </a:xfrm>
          <a:prstGeom prst="rect">
            <a:avLst/>
          </a:prstGeom>
          <a:noFill/>
          <a:ln/>
        </p:spPr>
        <p:txBody>
          <a:bodyPr wrap="square" lIns="0" tIns="0" rIns="0" bIns="0" rtlCol="0" anchor="t"/>
          <a:lstStyle/>
          <a:p>
            <a:pPr marL="0" indent="0">
              <a:buNone/>
            </a:pPr>
            <a:r>
              <a:rPr lang="en-US" sz="1250" dirty="0">
                <a:solidFill>
                  <a:srgbClr val="1E2329"/>
                </a:solidFill>
              </a:rPr>
              <a:t>You should, but it must be fun, never pressure. If you cannot, send apologies to the Secretary. Any concerns? Talk to your mentor, a Brother or the Club.</a:t>
            </a:r>
            <a:endParaRPr lang="en-US" sz="1250" dirty="0"/>
          </a:p>
        </p:txBody>
      </p:sp>
      <p:sp>
        <p:nvSpPr>
          <p:cNvPr id="6" name="FAQ What is a Lodge of I"/>
          <p:cNvSpPr/>
          <p:nvPr/>
        </p:nvSpPr>
        <p:spPr>
          <a:xfrm>
            <a:off x="6172200" y="1280160"/>
            <a:ext cx="5486400" cy="1463040"/>
          </a:xfrm>
          <a:prstGeom prst="roundRect">
            <a:avLst>
              <a:gd name="adj" fmla="val 5000"/>
            </a:avLst>
          </a:prstGeom>
          <a:solidFill>
            <a:srgbClr val="F2F7FC"/>
          </a:solidFill>
          <a:ln w="12700">
            <a:solidFill>
              <a:srgbClr val="F2F7FC"/>
            </a:solidFill>
            <a:prstDash val="solid"/>
          </a:ln>
        </p:spPr>
        <p:txBody>
          <a:bodyPr/>
          <a:lstStyle/>
          <a:p>
            <a:endParaRPr lang="en-GB"/>
          </a:p>
        </p:txBody>
      </p:sp>
      <p:sp>
        <p:nvSpPr>
          <p:cNvPr id="7" name="Text 5"/>
          <p:cNvSpPr txBox="1"/>
          <p:nvPr/>
        </p:nvSpPr>
        <p:spPr>
          <a:xfrm>
            <a:off x="6400800" y="1417320"/>
            <a:ext cx="5029200" cy="457200"/>
          </a:xfrm>
          <a:prstGeom prst="rect">
            <a:avLst/>
          </a:prstGeom>
          <a:noFill/>
          <a:ln/>
        </p:spPr>
        <p:txBody>
          <a:bodyPr wrap="square" lIns="0" tIns="0" rIns="0" bIns="0" rtlCol="0" anchor="t"/>
          <a:lstStyle/>
          <a:p>
            <a:pPr marL="0" indent="0">
              <a:buNone/>
            </a:pPr>
            <a:r>
              <a:rPr lang="en-US" sz="1500" b="1" dirty="0">
                <a:solidFill>
                  <a:srgbClr val="0A4F72"/>
                </a:solidFill>
              </a:rPr>
              <a:t>What is a Lodge of Instruction?</a:t>
            </a:r>
            <a:endParaRPr lang="en-US" sz="1500" dirty="0"/>
          </a:p>
        </p:txBody>
      </p:sp>
      <p:sp>
        <p:nvSpPr>
          <p:cNvPr id="8" name="Text 6"/>
          <p:cNvSpPr txBox="1"/>
          <p:nvPr/>
        </p:nvSpPr>
        <p:spPr>
          <a:xfrm>
            <a:off x="6400800" y="1847088"/>
            <a:ext cx="5029200" cy="777240"/>
          </a:xfrm>
          <a:prstGeom prst="rect">
            <a:avLst/>
          </a:prstGeom>
          <a:noFill/>
          <a:ln/>
        </p:spPr>
        <p:txBody>
          <a:bodyPr wrap="square" lIns="0" tIns="0" rIns="0" bIns="0" rtlCol="0" anchor="t"/>
          <a:lstStyle/>
          <a:p>
            <a:pPr marL="0" indent="0">
              <a:buNone/>
            </a:pPr>
            <a:r>
              <a:rPr lang="en-US" sz="1250" dirty="0">
                <a:solidFill>
                  <a:srgbClr val="1E2329"/>
                </a:solidFill>
              </a:rPr>
              <a:t>An informal run-through of the next meeting, usually no suit needed. Go even with no office: it is how you learn and get to know the Brethren. The Royal Arch has Chapters of Instruction.</a:t>
            </a:r>
            <a:endParaRPr lang="en-US" sz="1250" dirty="0"/>
          </a:p>
        </p:txBody>
      </p:sp>
      <p:sp>
        <p:nvSpPr>
          <p:cNvPr id="9" name="FAQ Can I attend Provinc"/>
          <p:cNvSpPr/>
          <p:nvPr/>
        </p:nvSpPr>
        <p:spPr>
          <a:xfrm>
            <a:off x="548640" y="2880360"/>
            <a:ext cx="5486400" cy="1463040"/>
          </a:xfrm>
          <a:prstGeom prst="roundRect">
            <a:avLst>
              <a:gd name="adj" fmla="val 5000"/>
            </a:avLst>
          </a:prstGeom>
          <a:solidFill>
            <a:srgbClr val="F2F7FC"/>
          </a:solidFill>
          <a:ln w="12700">
            <a:solidFill>
              <a:srgbClr val="F2F7FC"/>
            </a:solidFill>
            <a:prstDash val="solid"/>
          </a:ln>
        </p:spPr>
        <p:txBody>
          <a:bodyPr/>
          <a:lstStyle/>
          <a:p>
            <a:endParaRPr lang="en-GB"/>
          </a:p>
        </p:txBody>
      </p:sp>
      <p:sp>
        <p:nvSpPr>
          <p:cNvPr id="10" name="Text 8"/>
          <p:cNvSpPr txBox="1"/>
          <p:nvPr/>
        </p:nvSpPr>
        <p:spPr>
          <a:xfrm>
            <a:off x="777240" y="3017520"/>
            <a:ext cx="5029200" cy="457200"/>
          </a:xfrm>
          <a:prstGeom prst="rect">
            <a:avLst/>
          </a:prstGeom>
          <a:noFill/>
          <a:ln/>
        </p:spPr>
        <p:txBody>
          <a:bodyPr wrap="square" lIns="0" tIns="0" rIns="0" bIns="0" rtlCol="0" anchor="t"/>
          <a:lstStyle/>
          <a:p>
            <a:pPr marL="0" indent="0">
              <a:buNone/>
            </a:pPr>
            <a:r>
              <a:rPr lang="en-US" sz="1500" b="1" dirty="0">
                <a:solidFill>
                  <a:srgbClr val="106576"/>
                </a:solidFill>
              </a:rPr>
              <a:t>Can I attend Provincial Grand Lodge?</a:t>
            </a:r>
            <a:endParaRPr lang="en-US" sz="1500" dirty="0"/>
          </a:p>
        </p:txBody>
      </p:sp>
      <p:sp>
        <p:nvSpPr>
          <p:cNvPr id="11" name="Text 9"/>
          <p:cNvSpPr txBox="1"/>
          <p:nvPr/>
        </p:nvSpPr>
        <p:spPr>
          <a:xfrm>
            <a:off x="777240" y="3447288"/>
            <a:ext cx="5029200" cy="777240"/>
          </a:xfrm>
          <a:prstGeom prst="rect">
            <a:avLst/>
          </a:prstGeom>
          <a:noFill/>
          <a:ln/>
        </p:spPr>
        <p:txBody>
          <a:bodyPr wrap="square" lIns="0" tIns="0" rIns="0" bIns="0" rtlCol="0" anchor="t"/>
          <a:lstStyle/>
          <a:p>
            <a:pPr marL="0" indent="0">
              <a:buNone/>
            </a:pPr>
            <a:r>
              <a:rPr lang="en-US" sz="1250" dirty="0">
                <a:solidFill>
                  <a:srgbClr val="1E2329"/>
                </a:solidFill>
              </a:rPr>
              <a:t>Once you are a Master Mason. Until then, it is one to look forward to.</a:t>
            </a:r>
            <a:endParaRPr lang="en-US" sz="1250" dirty="0"/>
          </a:p>
        </p:txBody>
      </p:sp>
      <p:sp>
        <p:nvSpPr>
          <p:cNvPr id="12" name="FAQ Can I visit other Lo"/>
          <p:cNvSpPr/>
          <p:nvPr/>
        </p:nvSpPr>
        <p:spPr>
          <a:xfrm>
            <a:off x="6172200" y="2880360"/>
            <a:ext cx="5486400" cy="1463040"/>
          </a:xfrm>
          <a:prstGeom prst="roundRect">
            <a:avLst>
              <a:gd name="adj" fmla="val 5000"/>
            </a:avLst>
          </a:prstGeom>
          <a:solidFill>
            <a:srgbClr val="F2F7FC"/>
          </a:solidFill>
          <a:ln w="12700">
            <a:solidFill>
              <a:srgbClr val="F2F7FC"/>
            </a:solidFill>
            <a:prstDash val="solid"/>
          </a:ln>
        </p:spPr>
        <p:txBody>
          <a:bodyPr/>
          <a:lstStyle/>
          <a:p>
            <a:endParaRPr lang="en-GB"/>
          </a:p>
        </p:txBody>
      </p:sp>
      <p:sp>
        <p:nvSpPr>
          <p:cNvPr id="13" name="Text 11"/>
          <p:cNvSpPr txBox="1"/>
          <p:nvPr/>
        </p:nvSpPr>
        <p:spPr>
          <a:xfrm>
            <a:off x="6400800" y="3017520"/>
            <a:ext cx="5029200" cy="457200"/>
          </a:xfrm>
          <a:prstGeom prst="rect">
            <a:avLst/>
          </a:prstGeom>
          <a:noFill/>
          <a:ln/>
        </p:spPr>
        <p:txBody>
          <a:bodyPr wrap="square" lIns="0" tIns="0" rIns="0" bIns="0" rtlCol="0" anchor="t"/>
          <a:lstStyle/>
          <a:p>
            <a:pPr marL="0" indent="0">
              <a:buNone/>
            </a:pPr>
            <a:r>
              <a:rPr lang="en-US" sz="1500" b="1" dirty="0">
                <a:solidFill>
                  <a:srgbClr val="157A7C"/>
                </a:solidFill>
              </a:rPr>
              <a:t>Can I visit other Lodges?</a:t>
            </a:r>
            <a:endParaRPr lang="en-US" sz="1500" dirty="0"/>
          </a:p>
        </p:txBody>
      </p:sp>
      <p:sp>
        <p:nvSpPr>
          <p:cNvPr id="14" name="Text 12"/>
          <p:cNvSpPr txBox="1"/>
          <p:nvPr/>
        </p:nvSpPr>
        <p:spPr>
          <a:xfrm>
            <a:off x="6400800" y="3447288"/>
            <a:ext cx="5029200" cy="777240"/>
          </a:xfrm>
          <a:prstGeom prst="rect">
            <a:avLst/>
          </a:prstGeom>
          <a:noFill/>
          <a:ln/>
        </p:spPr>
        <p:txBody>
          <a:bodyPr wrap="square" lIns="0" tIns="0" rIns="0" bIns="0" rtlCol="0" anchor="t"/>
          <a:lstStyle/>
          <a:p>
            <a:pPr marL="0" indent="0">
              <a:buNone/>
            </a:pPr>
            <a:r>
              <a:rPr lang="en-US" sz="1250" dirty="0">
                <a:solidFill>
                  <a:srgbClr val="1E2329"/>
                </a:solidFill>
              </a:rPr>
              <a:t>Yes, any Lodge under UGLE. Contact the Lodge Secretary; you may be asked for proof of membership. Going abroad? Ask the Provincial Secretary first.</a:t>
            </a:r>
            <a:endParaRPr lang="en-US" sz="1250" dirty="0"/>
          </a:p>
        </p:txBody>
      </p:sp>
      <p:sp>
        <p:nvSpPr>
          <p:cNvPr id="15" name="FAQ Taylor’s or Emulatio"/>
          <p:cNvSpPr/>
          <p:nvPr/>
        </p:nvSpPr>
        <p:spPr>
          <a:xfrm>
            <a:off x="548640" y="4480560"/>
            <a:ext cx="11109960" cy="1371600"/>
          </a:xfrm>
          <a:prstGeom prst="roundRect">
            <a:avLst>
              <a:gd name="adj" fmla="val 5333"/>
            </a:avLst>
          </a:prstGeom>
          <a:solidFill>
            <a:srgbClr val="F2F7FC"/>
          </a:solidFill>
          <a:ln w="12700">
            <a:solidFill>
              <a:srgbClr val="F2F7FC"/>
            </a:solidFill>
            <a:prstDash val="solid"/>
          </a:ln>
        </p:spPr>
        <p:txBody>
          <a:bodyPr/>
          <a:lstStyle/>
          <a:p>
            <a:endParaRPr lang="en-GB"/>
          </a:p>
        </p:txBody>
      </p:sp>
      <p:sp>
        <p:nvSpPr>
          <p:cNvPr id="16" name="Text 14"/>
          <p:cNvSpPr txBox="1"/>
          <p:nvPr/>
        </p:nvSpPr>
        <p:spPr>
          <a:xfrm>
            <a:off x="777240" y="4617720"/>
            <a:ext cx="10652760" cy="457200"/>
          </a:xfrm>
          <a:prstGeom prst="rect">
            <a:avLst/>
          </a:prstGeom>
          <a:noFill/>
          <a:ln/>
        </p:spPr>
        <p:txBody>
          <a:bodyPr wrap="square" lIns="0" tIns="0" rIns="0" bIns="0" rtlCol="0" anchor="t"/>
          <a:lstStyle/>
          <a:p>
            <a:pPr marL="0" indent="0">
              <a:buNone/>
            </a:pPr>
            <a:r>
              <a:rPr lang="en-US" sz="1500" b="1" dirty="0">
                <a:solidFill>
                  <a:srgbClr val="06345D"/>
                </a:solidFill>
              </a:rPr>
              <a:t>Taylor’s or Emulation?</a:t>
            </a:r>
            <a:endParaRPr lang="en-US" sz="1500" dirty="0"/>
          </a:p>
        </p:txBody>
      </p:sp>
      <p:sp>
        <p:nvSpPr>
          <p:cNvPr id="17" name="Text 15"/>
          <p:cNvSpPr txBox="1"/>
          <p:nvPr/>
        </p:nvSpPr>
        <p:spPr>
          <a:xfrm>
            <a:off x="777240" y="5047488"/>
            <a:ext cx="10652760" cy="685800"/>
          </a:xfrm>
          <a:prstGeom prst="rect">
            <a:avLst/>
          </a:prstGeom>
          <a:noFill/>
          <a:ln/>
        </p:spPr>
        <p:txBody>
          <a:bodyPr wrap="square" lIns="0" tIns="0" rIns="0" bIns="0" rtlCol="0" anchor="t"/>
          <a:lstStyle/>
          <a:p>
            <a:pPr marL="0" indent="0">
              <a:buNone/>
            </a:pPr>
            <a:r>
              <a:rPr lang="en-US" sz="1250" dirty="0">
                <a:solidFill>
                  <a:srgbClr val="1E2329"/>
                </a:solidFill>
              </a:rPr>
              <a:t>The two main workings in Hertfordshire. Emulation is the more relaxed; Taylor’s has more intricate floorwork, such as squaring the Lodge. Using Taylor’s words in an Emulation Lodge is fine; Emulation floorwork in a Taylor’s Lodge may be frowned on. If in doubt, ask, ideally before the Tyler does.</a:t>
            </a:r>
            <a:endParaRPr lang="en-US" sz="125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06345D"/>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itle"/>
          <p:cNvSpPr txBox="1"/>
          <p:nvPr/>
        </p:nvSpPr>
        <p:spPr>
          <a:xfrm>
            <a:off x="548640" y="411480"/>
            <a:ext cx="11091672" cy="731520"/>
          </a:xfrm>
          <a:prstGeom prst="rect">
            <a:avLst/>
          </a:prstGeom>
          <a:noFill/>
          <a:ln/>
        </p:spPr>
        <p:txBody>
          <a:bodyPr wrap="square" lIns="0" tIns="0" rIns="0" bIns="0" rtlCol="0" anchor="ctr"/>
          <a:lstStyle/>
          <a:p>
            <a:pPr marL="0" indent="0">
              <a:buNone/>
            </a:pPr>
            <a:r>
              <a:rPr lang="en-US" sz="3200" b="1" dirty="0">
                <a:solidFill>
                  <a:srgbClr val="003668"/>
                </a:solidFill>
              </a:rPr>
              <a:t>Decoding the Summons</a:t>
            </a:r>
            <a:endParaRPr lang="en-US" sz="3200" dirty="0"/>
          </a:p>
        </p:txBody>
      </p:sp>
      <p:sp>
        <p:nvSpPr>
          <p:cNvPr id="3" name="Lead"/>
          <p:cNvSpPr txBox="1"/>
          <p:nvPr/>
        </p:nvSpPr>
        <p:spPr>
          <a:xfrm>
            <a:off x="548640" y="1234440"/>
            <a:ext cx="10972800" cy="411480"/>
          </a:xfrm>
          <a:prstGeom prst="rect">
            <a:avLst/>
          </a:prstGeom>
          <a:noFill/>
          <a:ln/>
        </p:spPr>
        <p:txBody>
          <a:bodyPr wrap="square" lIns="0" tIns="0" rIns="0" bIns="0" rtlCol="0" anchor="ctr"/>
          <a:lstStyle/>
          <a:p>
            <a:pPr marL="0" indent="0">
              <a:buNone/>
            </a:pPr>
            <a:r>
              <a:rPr lang="en-US" sz="1600" dirty="0">
                <a:solidFill>
                  <a:srgbClr val="06345D"/>
                </a:solidFill>
              </a:rPr>
              <a:t>“PPJGW, PAGDC” looks like alphabet soup. It is a code with a few building blocks.</a:t>
            </a:r>
            <a:endParaRPr lang="en-US" sz="1600" dirty="0"/>
          </a:p>
        </p:txBody>
      </p:sp>
      <p:sp>
        <p:nvSpPr>
          <p:cNvPr id="4" name="Term P"/>
          <p:cNvSpPr/>
          <p:nvPr/>
        </p:nvSpPr>
        <p:spPr>
          <a:xfrm>
            <a:off x="548640" y="1783080"/>
            <a:ext cx="2679192" cy="1645920"/>
          </a:xfrm>
          <a:prstGeom prst="roundRect">
            <a:avLst>
              <a:gd name="adj" fmla="val 4444"/>
            </a:avLst>
          </a:prstGeom>
          <a:solidFill>
            <a:srgbClr val="F2F7FC"/>
          </a:solidFill>
          <a:ln w="12700">
            <a:solidFill>
              <a:srgbClr val="F2F7FC"/>
            </a:solidFill>
            <a:prstDash val="solid"/>
          </a:ln>
        </p:spPr>
        <p:txBody>
          <a:bodyPr/>
          <a:lstStyle/>
          <a:p>
            <a:endParaRPr lang="en-GB"/>
          </a:p>
        </p:txBody>
      </p:sp>
      <p:sp>
        <p:nvSpPr>
          <p:cNvPr id="5" name="Text 3"/>
          <p:cNvSpPr txBox="1"/>
          <p:nvPr/>
        </p:nvSpPr>
        <p:spPr>
          <a:xfrm>
            <a:off x="731520" y="1892808"/>
            <a:ext cx="2313432" cy="365760"/>
          </a:xfrm>
          <a:prstGeom prst="rect">
            <a:avLst/>
          </a:prstGeom>
          <a:noFill/>
          <a:ln/>
        </p:spPr>
        <p:txBody>
          <a:bodyPr wrap="square" lIns="0" tIns="0" rIns="0" bIns="0" rtlCol="0" anchor="t"/>
          <a:lstStyle/>
          <a:p>
            <a:pPr marL="0" indent="0">
              <a:buNone/>
            </a:pPr>
            <a:r>
              <a:rPr lang="en-US" sz="1500" b="1" dirty="0">
                <a:solidFill>
                  <a:srgbClr val="003668"/>
                </a:solidFill>
              </a:rPr>
              <a:t>P</a:t>
            </a:r>
            <a:endParaRPr lang="en-US" sz="1500" dirty="0"/>
          </a:p>
        </p:txBody>
      </p:sp>
      <p:sp>
        <p:nvSpPr>
          <p:cNvPr id="6" name="Text 4"/>
          <p:cNvSpPr txBox="1"/>
          <p:nvPr/>
        </p:nvSpPr>
        <p:spPr>
          <a:xfrm>
            <a:off x="731520" y="2258568"/>
            <a:ext cx="2313432" cy="1097280"/>
          </a:xfrm>
          <a:prstGeom prst="rect">
            <a:avLst/>
          </a:prstGeom>
          <a:noFill/>
          <a:ln/>
        </p:spPr>
        <p:txBody>
          <a:bodyPr wrap="square" lIns="0" tIns="0" rIns="0" bIns="0" rtlCol="0" anchor="t"/>
          <a:lstStyle/>
          <a:p>
            <a:pPr marL="0" indent="0">
              <a:buNone/>
            </a:pPr>
            <a:r>
              <a:rPr lang="en-US" sz="1250" dirty="0">
                <a:solidFill>
                  <a:srgbClr val="1E2329"/>
                </a:solidFill>
              </a:rPr>
              <a:t>Past. The rank was held, or awarded as a past rank.</a:t>
            </a:r>
            <a:endParaRPr lang="en-US" sz="1250" dirty="0"/>
          </a:p>
        </p:txBody>
      </p:sp>
      <p:sp>
        <p:nvSpPr>
          <p:cNvPr id="7" name="Term Prov"/>
          <p:cNvSpPr/>
          <p:nvPr/>
        </p:nvSpPr>
        <p:spPr>
          <a:xfrm>
            <a:off x="3346704" y="1783080"/>
            <a:ext cx="2679192" cy="1645920"/>
          </a:xfrm>
          <a:prstGeom prst="roundRect">
            <a:avLst>
              <a:gd name="adj" fmla="val 4444"/>
            </a:avLst>
          </a:prstGeom>
          <a:solidFill>
            <a:srgbClr val="F2F7FC"/>
          </a:solidFill>
          <a:ln w="12700">
            <a:solidFill>
              <a:srgbClr val="F2F7FC"/>
            </a:solidFill>
            <a:prstDash val="solid"/>
          </a:ln>
        </p:spPr>
        <p:txBody>
          <a:bodyPr/>
          <a:lstStyle/>
          <a:p>
            <a:endParaRPr lang="en-GB"/>
          </a:p>
        </p:txBody>
      </p:sp>
      <p:sp>
        <p:nvSpPr>
          <p:cNvPr id="8" name="Text 6"/>
          <p:cNvSpPr txBox="1"/>
          <p:nvPr/>
        </p:nvSpPr>
        <p:spPr>
          <a:xfrm>
            <a:off x="3529584" y="1892808"/>
            <a:ext cx="2313432" cy="365760"/>
          </a:xfrm>
          <a:prstGeom prst="rect">
            <a:avLst/>
          </a:prstGeom>
          <a:noFill/>
          <a:ln/>
        </p:spPr>
        <p:txBody>
          <a:bodyPr wrap="square" lIns="0" tIns="0" rIns="0" bIns="0" rtlCol="0" anchor="t"/>
          <a:lstStyle/>
          <a:p>
            <a:pPr marL="0" indent="0">
              <a:buNone/>
            </a:pPr>
            <a:r>
              <a:rPr lang="en-US" sz="1500" b="1" dirty="0">
                <a:solidFill>
                  <a:srgbClr val="0A4F72"/>
                </a:solidFill>
              </a:rPr>
              <a:t>Prov</a:t>
            </a:r>
            <a:endParaRPr lang="en-US" sz="1500" dirty="0"/>
          </a:p>
        </p:txBody>
      </p:sp>
      <p:sp>
        <p:nvSpPr>
          <p:cNvPr id="9" name="Text 7"/>
          <p:cNvSpPr txBox="1"/>
          <p:nvPr/>
        </p:nvSpPr>
        <p:spPr>
          <a:xfrm>
            <a:off x="3529584" y="2258568"/>
            <a:ext cx="2313432" cy="1097280"/>
          </a:xfrm>
          <a:prstGeom prst="rect">
            <a:avLst/>
          </a:prstGeom>
          <a:noFill/>
          <a:ln/>
        </p:spPr>
        <p:txBody>
          <a:bodyPr wrap="square" lIns="0" tIns="0" rIns="0" bIns="0" rtlCol="0" anchor="t"/>
          <a:lstStyle/>
          <a:p>
            <a:pPr marL="0" indent="0">
              <a:buNone/>
            </a:pPr>
            <a:r>
              <a:rPr lang="en-US" sz="1250" dirty="0">
                <a:solidFill>
                  <a:srgbClr val="1E2329"/>
                </a:solidFill>
              </a:rPr>
              <a:t>Provincial: active now in Hertfordshire. PProv is past active.</a:t>
            </a:r>
            <a:endParaRPr lang="en-US" sz="1250" dirty="0"/>
          </a:p>
        </p:txBody>
      </p:sp>
      <p:sp>
        <p:nvSpPr>
          <p:cNvPr id="10" name="Term PP"/>
          <p:cNvSpPr/>
          <p:nvPr/>
        </p:nvSpPr>
        <p:spPr>
          <a:xfrm>
            <a:off x="6144768" y="1783080"/>
            <a:ext cx="2679192" cy="1645920"/>
          </a:xfrm>
          <a:prstGeom prst="roundRect">
            <a:avLst>
              <a:gd name="adj" fmla="val 4444"/>
            </a:avLst>
          </a:prstGeom>
          <a:solidFill>
            <a:srgbClr val="F2F7FC"/>
          </a:solidFill>
          <a:ln w="12700">
            <a:solidFill>
              <a:srgbClr val="F2F7FC"/>
            </a:solidFill>
            <a:prstDash val="solid"/>
          </a:ln>
        </p:spPr>
        <p:txBody>
          <a:bodyPr/>
          <a:lstStyle/>
          <a:p>
            <a:endParaRPr lang="en-GB"/>
          </a:p>
        </p:txBody>
      </p:sp>
      <p:sp>
        <p:nvSpPr>
          <p:cNvPr id="11" name="Text 9"/>
          <p:cNvSpPr txBox="1"/>
          <p:nvPr/>
        </p:nvSpPr>
        <p:spPr>
          <a:xfrm>
            <a:off x="6327648" y="1892808"/>
            <a:ext cx="2313432" cy="365760"/>
          </a:xfrm>
          <a:prstGeom prst="rect">
            <a:avLst/>
          </a:prstGeom>
          <a:noFill/>
          <a:ln/>
        </p:spPr>
        <p:txBody>
          <a:bodyPr wrap="square" lIns="0" tIns="0" rIns="0" bIns="0" rtlCol="0" anchor="t"/>
          <a:lstStyle/>
          <a:p>
            <a:pPr marL="0" indent="0">
              <a:buNone/>
            </a:pPr>
            <a:r>
              <a:rPr lang="en-US" sz="1500" b="1" dirty="0">
                <a:solidFill>
                  <a:srgbClr val="106576"/>
                </a:solidFill>
              </a:rPr>
              <a:t>PP</a:t>
            </a:r>
            <a:endParaRPr lang="en-US" sz="1500" dirty="0"/>
          </a:p>
        </p:txBody>
      </p:sp>
      <p:sp>
        <p:nvSpPr>
          <p:cNvPr id="12" name="Text 10"/>
          <p:cNvSpPr txBox="1"/>
          <p:nvPr/>
        </p:nvSpPr>
        <p:spPr>
          <a:xfrm>
            <a:off x="6327648" y="2258568"/>
            <a:ext cx="2313432" cy="1097280"/>
          </a:xfrm>
          <a:prstGeom prst="rect">
            <a:avLst/>
          </a:prstGeom>
          <a:noFill/>
          <a:ln/>
        </p:spPr>
        <p:txBody>
          <a:bodyPr wrap="square" lIns="0" tIns="0" rIns="0" bIns="0" rtlCol="0" anchor="t"/>
          <a:lstStyle/>
          <a:p>
            <a:pPr marL="0" indent="0">
              <a:buNone/>
            </a:pPr>
            <a:r>
              <a:rPr lang="en-US" sz="1250" dirty="0">
                <a:solidFill>
                  <a:srgbClr val="1E2329"/>
                </a:solidFill>
              </a:rPr>
              <a:t>Past Provincial rank, never active. PPJGW = Past Provincial Junior Grand Warden.</a:t>
            </a:r>
            <a:endParaRPr lang="en-US" sz="1250" dirty="0"/>
          </a:p>
        </p:txBody>
      </p:sp>
      <p:sp>
        <p:nvSpPr>
          <p:cNvPr id="13" name="Term No Prov?"/>
          <p:cNvSpPr/>
          <p:nvPr/>
        </p:nvSpPr>
        <p:spPr>
          <a:xfrm>
            <a:off x="8942832" y="1783080"/>
            <a:ext cx="2679192" cy="1645920"/>
          </a:xfrm>
          <a:prstGeom prst="roundRect">
            <a:avLst>
              <a:gd name="adj" fmla="val 4444"/>
            </a:avLst>
          </a:prstGeom>
          <a:solidFill>
            <a:srgbClr val="F2F7FC"/>
          </a:solidFill>
          <a:ln w="12700">
            <a:solidFill>
              <a:srgbClr val="F2F7FC"/>
            </a:solidFill>
            <a:prstDash val="solid"/>
          </a:ln>
        </p:spPr>
        <p:txBody>
          <a:bodyPr/>
          <a:lstStyle/>
          <a:p>
            <a:endParaRPr lang="en-GB"/>
          </a:p>
        </p:txBody>
      </p:sp>
      <p:sp>
        <p:nvSpPr>
          <p:cNvPr id="14" name="Text 12"/>
          <p:cNvSpPr txBox="1"/>
          <p:nvPr/>
        </p:nvSpPr>
        <p:spPr>
          <a:xfrm>
            <a:off x="9125712" y="1892808"/>
            <a:ext cx="2313432" cy="365760"/>
          </a:xfrm>
          <a:prstGeom prst="rect">
            <a:avLst/>
          </a:prstGeom>
          <a:noFill/>
          <a:ln/>
        </p:spPr>
        <p:txBody>
          <a:bodyPr wrap="square" lIns="0" tIns="0" rIns="0" bIns="0" rtlCol="0" anchor="t"/>
          <a:lstStyle/>
          <a:p>
            <a:pPr marL="0" indent="0">
              <a:buNone/>
            </a:pPr>
            <a:r>
              <a:rPr lang="en-US" sz="1500" b="1" dirty="0">
                <a:solidFill>
                  <a:srgbClr val="157A7C"/>
                </a:solidFill>
              </a:rPr>
              <a:t>No Prov?</a:t>
            </a:r>
            <a:endParaRPr lang="en-US" sz="1500" dirty="0"/>
          </a:p>
        </p:txBody>
      </p:sp>
      <p:sp>
        <p:nvSpPr>
          <p:cNvPr id="15" name="Text 13"/>
          <p:cNvSpPr txBox="1"/>
          <p:nvPr/>
        </p:nvSpPr>
        <p:spPr>
          <a:xfrm>
            <a:off x="9125712" y="2258568"/>
            <a:ext cx="2313432" cy="1097280"/>
          </a:xfrm>
          <a:prstGeom prst="rect">
            <a:avLst/>
          </a:prstGeom>
          <a:noFill/>
          <a:ln/>
        </p:spPr>
        <p:txBody>
          <a:bodyPr wrap="square" lIns="0" tIns="0" rIns="0" bIns="0" rtlCol="0" anchor="t"/>
          <a:lstStyle/>
          <a:p>
            <a:pPr marL="0" indent="0">
              <a:buNone/>
            </a:pPr>
            <a:r>
              <a:rPr lang="en-US" sz="1250" dirty="0">
                <a:solidFill>
                  <a:srgbClr val="1E2329"/>
                </a:solidFill>
              </a:rPr>
              <a:t>A Grand Lodge rank, from UGLE. PAGDC = Past Assistant Grand Director of Ceremonies.</a:t>
            </a:r>
            <a:endParaRPr lang="en-US" sz="1250" dirty="0"/>
          </a:p>
        </p:txBody>
      </p:sp>
      <p:sp>
        <p:nvSpPr>
          <p:cNvPr id="16" name="Term S, J, A, Dep"/>
          <p:cNvSpPr/>
          <p:nvPr/>
        </p:nvSpPr>
        <p:spPr>
          <a:xfrm>
            <a:off x="548640" y="3547872"/>
            <a:ext cx="2679192" cy="1645920"/>
          </a:xfrm>
          <a:prstGeom prst="roundRect">
            <a:avLst>
              <a:gd name="adj" fmla="val 4444"/>
            </a:avLst>
          </a:prstGeom>
          <a:solidFill>
            <a:srgbClr val="F2F7FC"/>
          </a:solidFill>
          <a:ln w="12700">
            <a:solidFill>
              <a:srgbClr val="F2F7FC"/>
            </a:solidFill>
            <a:prstDash val="solid"/>
          </a:ln>
        </p:spPr>
        <p:txBody>
          <a:bodyPr/>
          <a:lstStyle/>
          <a:p>
            <a:endParaRPr lang="en-GB"/>
          </a:p>
        </p:txBody>
      </p:sp>
      <p:sp>
        <p:nvSpPr>
          <p:cNvPr id="17" name="Text 15"/>
          <p:cNvSpPr txBox="1"/>
          <p:nvPr/>
        </p:nvSpPr>
        <p:spPr>
          <a:xfrm>
            <a:off x="731520" y="3657600"/>
            <a:ext cx="2313432" cy="365760"/>
          </a:xfrm>
          <a:prstGeom prst="rect">
            <a:avLst/>
          </a:prstGeom>
          <a:noFill/>
          <a:ln/>
        </p:spPr>
        <p:txBody>
          <a:bodyPr wrap="square" lIns="0" tIns="0" rIns="0" bIns="0" rtlCol="0" anchor="t"/>
          <a:lstStyle/>
          <a:p>
            <a:pPr marL="0" indent="0">
              <a:buNone/>
            </a:pPr>
            <a:r>
              <a:rPr lang="en-US" sz="1500" b="1" dirty="0">
                <a:solidFill>
                  <a:srgbClr val="003668"/>
                </a:solidFill>
              </a:rPr>
              <a:t>S, J, A, Dep</a:t>
            </a:r>
            <a:endParaRPr lang="en-US" sz="1500" dirty="0"/>
          </a:p>
        </p:txBody>
      </p:sp>
      <p:sp>
        <p:nvSpPr>
          <p:cNvPr id="18" name="Text 16"/>
          <p:cNvSpPr txBox="1"/>
          <p:nvPr/>
        </p:nvSpPr>
        <p:spPr>
          <a:xfrm>
            <a:off x="731520" y="4023360"/>
            <a:ext cx="2313432" cy="1097280"/>
          </a:xfrm>
          <a:prstGeom prst="rect">
            <a:avLst/>
          </a:prstGeom>
          <a:noFill/>
          <a:ln/>
        </p:spPr>
        <p:txBody>
          <a:bodyPr wrap="square" lIns="0" tIns="0" rIns="0" bIns="0" rtlCol="0" anchor="t"/>
          <a:lstStyle/>
          <a:p>
            <a:pPr marL="0" indent="0">
              <a:buNone/>
            </a:pPr>
            <a:r>
              <a:rPr lang="en-US" sz="1250" dirty="0">
                <a:solidFill>
                  <a:srgbClr val="1E2329"/>
                </a:solidFill>
              </a:rPr>
              <a:t>Senior, Junior, Assistant, Deputy.</a:t>
            </a:r>
            <a:endParaRPr lang="en-US" sz="1250" dirty="0"/>
          </a:p>
        </p:txBody>
      </p:sp>
      <p:sp>
        <p:nvSpPr>
          <p:cNvPr id="19" name="Term W, D, DC"/>
          <p:cNvSpPr/>
          <p:nvPr/>
        </p:nvSpPr>
        <p:spPr>
          <a:xfrm>
            <a:off x="3346704" y="3547872"/>
            <a:ext cx="2679192" cy="1645920"/>
          </a:xfrm>
          <a:prstGeom prst="roundRect">
            <a:avLst>
              <a:gd name="adj" fmla="val 4444"/>
            </a:avLst>
          </a:prstGeom>
          <a:solidFill>
            <a:srgbClr val="F2F7FC"/>
          </a:solidFill>
          <a:ln w="12700">
            <a:solidFill>
              <a:srgbClr val="F2F7FC"/>
            </a:solidFill>
            <a:prstDash val="solid"/>
          </a:ln>
        </p:spPr>
        <p:txBody>
          <a:bodyPr/>
          <a:lstStyle/>
          <a:p>
            <a:endParaRPr lang="en-GB"/>
          </a:p>
        </p:txBody>
      </p:sp>
      <p:sp>
        <p:nvSpPr>
          <p:cNvPr id="20" name="Text 18"/>
          <p:cNvSpPr txBox="1"/>
          <p:nvPr/>
        </p:nvSpPr>
        <p:spPr>
          <a:xfrm>
            <a:off x="3529584" y="3657600"/>
            <a:ext cx="2313432" cy="365760"/>
          </a:xfrm>
          <a:prstGeom prst="rect">
            <a:avLst/>
          </a:prstGeom>
          <a:noFill/>
          <a:ln/>
        </p:spPr>
        <p:txBody>
          <a:bodyPr wrap="square" lIns="0" tIns="0" rIns="0" bIns="0" rtlCol="0" anchor="t"/>
          <a:lstStyle/>
          <a:p>
            <a:pPr marL="0" indent="0">
              <a:buNone/>
            </a:pPr>
            <a:r>
              <a:rPr lang="en-US" sz="1500" b="1" dirty="0">
                <a:solidFill>
                  <a:srgbClr val="0A4F72"/>
                </a:solidFill>
              </a:rPr>
              <a:t>W, D, DC</a:t>
            </a:r>
            <a:endParaRPr lang="en-US" sz="1500" dirty="0"/>
          </a:p>
        </p:txBody>
      </p:sp>
      <p:sp>
        <p:nvSpPr>
          <p:cNvPr id="21" name="Text 19"/>
          <p:cNvSpPr txBox="1"/>
          <p:nvPr/>
        </p:nvSpPr>
        <p:spPr>
          <a:xfrm>
            <a:off x="3529584" y="4023360"/>
            <a:ext cx="2313432" cy="1097280"/>
          </a:xfrm>
          <a:prstGeom prst="rect">
            <a:avLst/>
          </a:prstGeom>
          <a:noFill/>
          <a:ln/>
        </p:spPr>
        <p:txBody>
          <a:bodyPr wrap="square" lIns="0" tIns="0" rIns="0" bIns="0" rtlCol="0" anchor="t"/>
          <a:lstStyle/>
          <a:p>
            <a:pPr marL="0" indent="0">
              <a:buNone/>
            </a:pPr>
            <a:r>
              <a:rPr lang="en-US" sz="1250" dirty="0">
                <a:solidFill>
                  <a:srgbClr val="1E2329"/>
                </a:solidFill>
              </a:rPr>
              <a:t>Warden, Deacon, Director of Ceremonies.</a:t>
            </a:r>
            <a:endParaRPr lang="en-US" sz="1250" dirty="0"/>
          </a:p>
        </p:txBody>
      </p:sp>
      <p:sp>
        <p:nvSpPr>
          <p:cNvPr id="22" name="Term Sec, Reg, Chap"/>
          <p:cNvSpPr/>
          <p:nvPr/>
        </p:nvSpPr>
        <p:spPr>
          <a:xfrm>
            <a:off x="6144768" y="3547872"/>
            <a:ext cx="2679192" cy="1645920"/>
          </a:xfrm>
          <a:prstGeom prst="roundRect">
            <a:avLst>
              <a:gd name="adj" fmla="val 4444"/>
            </a:avLst>
          </a:prstGeom>
          <a:solidFill>
            <a:srgbClr val="F2F7FC"/>
          </a:solidFill>
          <a:ln w="12700">
            <a:solidFill>
              <a:srgbClr val="F2F7FC"/>
            </a:solidFill>
            <a:prstDash val="solid"/>
          </a:ln>
        </p:spPr>
        <p:txBody>
          <a:bodyPr/>
          <a:lstStyle/>
          <a:p>
            <a:endParaRPr lang="en-GB"/>
          </a:p>
        </p:txBody>
      </p:sp>
      <p:sp>
        <p:nvSpPr>
          <p:cNvPr id="23" name="Text 21"/>
          <p:cNvSpPr txBox="1"/>
          <p:nvPr/>
        </p:nvSpPr>
        <p:spPr>
          <a:xfrm>
            <a:off x="6327648" y="3657600"/>
            <a:ext cx="2313432" cy="365760"/>
          </a:xfrm>
          <a:prstGeom prst="rect">
            <a:avLst/>
          </a:prstGeom>
          <a:noFill/>
          <a:ln/>
        </p:spPr>
        <p:txBody>
          <a:bodyPr wrap="square" lIns="0" tIns="0" rIns="0" bIns="0" rtlCol="0" anchor="t"/>
          <a:lstStyle/>
          <a:p>
            <a:pPr marL="0" indent="0">
              <a:buNone/>
            </a:pPr>
            <a:r>
              <a:rPr lang="en-US" sz="1500" b="1" dirty="0">
                <a:solidFill>
                  <a:srgbClr val="106576"/>
                </a:solidFill>
              </a:rPr>
              <a:t>Sec, Reg, Chap</a:t>
            </a:r>
            <a:endParaRPr lang="en-US" sz="1500" dirty="0"/>
          </a:p>
        </p:txBody>
      </p:sp>
      <p:sp>
        <p:nvSpPr>
          <p:cNvPr id="24" name="Text 22"/>
          <p:cNvSpPr txBox="1"/>
          <p:nvPr/>
        </p:nvSpPr>
        <p:spPr>
          <a:xfrm>
            <a:off x="6327648" y="4023360"/>
            <a:ext cx="2313432" cy="1097280"/>
          </a:xfrm>
          <a:prstGeom prst="rect">
            <a:avLst/>
          </a:prstGeom>
          <a:noFill/>
          <a:ln/>
        </p:spPr>
        <p:txBody>
          <a:bodyPr wrap="square" lIns="0" tIns="0" rIns="0" bIns="0" rtlCol="0" anchor="t"/>
          <a:lstStyle/>
          <a:p>
            <a:pPr marL="0" indent="0">
              <a:buNone/>
            </a:pPr>
            <a:r>
              <a:rPr lang="en-US" sz="1250" dirty="0">
                <a:solidFill>
                  <a:srgbClr val="1E2329"/>
                </a:solidFill>
              </a:rPr>
              <a:t>Secretary, Registrar, Chaplain. SwdB and StB: Sword and Standard Bearer.</a:t>
            </a:r>
            <a:endParaRPr lang="en-US" sz="1250" dirty="0"/>
          </a:p>
        </p:txBody>
      </p:sp>
      <p:sp>
        <p:nvSpPr>
          <p:cNvPr id="25" name="Term LGR"/>
          <p:cNvSpPr/>
          <p:nvPr/>
        </p:nvSpPr>
        <p:spPr>
          <a:xfrm>
            <a:off x="8942832" y="3547872"/>
            <a:ext cx="2679192" cy="1645920"/>
          </a:xfrm>
          <a:prstGeom prst="roundRect">
            <a:avLst>
              <a:gd name="adj" fmla="val 4444"/>
            </a:avLst>
          </a:prstGeom>
          <a:solidFill>
            <a:srgbClr val="F2F7FC"/>
          </a:solidFill>
          <a:ln w="12700">
            <a:solidFill>
              <a:srgbClr val="F2F7FC"/>
            </a:solidFill>
            <a:prstDash val="solid"/>
          </a:ln>
        </p:spPr>
        <p:txBody>
          <a:bodyPr/>
          <a:lstStyle/>
          <a:p>
            <a:endParaRPr lang="en-GB"/>
          </a:p>
        </p:txBody>
      </p:sp>
      <p:sp>
        <p:nvSpPr>
          <p:cNvPr id="26" name="Text 24"/>
          <p:cNvSpPr txBox="1"/>
          <p:nvPr/>
        </p:nvSpPr>
        <p:spPr>
          <a:xfrm>
            <a:off x="9125712" y="3657600"/>
            <a:ext cx="2313432" cy="365760"/>
          </a:xfrm>
          <a:prstGeom prst="rect">
            <a:avLst/>
          </a:prstGeom>
          <a:noFill/>
          <a:ln/>
        </p:spPr>
        <p:txBody>
          <a:bodyPr wrap="square" lIns="0" tIns="0" rIns="0" bIns="0" rtlCol="0" anchor="t"/>
          <a:lstStyle/>
          <a:p>
            <a:pPr marL="0" indent="0">
              <a:buNone/>
            </a:pPr>
            <a:r>
              <a:rPr lang="en-US" sz="1500" b="1" dirty="0">
                <a:solidFill>
                  <a:srgbClr val="157A7C"/>
                </a:solidFill>
              </a:rPr>
              <a:t>LGR</a:t>
            </a:r>
            <a:endParaRPr lang="en-US" sz="1500" dirty="0"/>
          </a:p>
        </p:txBody>
      </p:sp>
      <p:sp>
        <p:nvSpPr>
          <p:cNvPr id="27" name="Text 25"/>
          <p:cNvSpPr txBox="1"/>
          <p:nvPr/>
        </p:nvSpPr>
        <p:spPr>
          <a:xfrm>
            <a:off x="9125712" y="4023360"/>
            <a:ext cx="2313432" cy="1097280"/>
          </a:xfrm>
          <a:prstGeom prst="rect">
            <a:avLst/>
          </a:prstGeom>
          <a:noFill/>
          <a:ln/>
        </p:spPr>
        <p:txBody>
          <a:bodyPr wrap="square" lIns="0" tIns="0" rIns="0" bIns="0" rtlCol="0" anchor="t"/>
          <a:lstStyle/>
          <a:p>
            <a:pPr marL="0" indent="0">
              <a:buNone/>
            </a:pPr>
            <a:r>
              <a:rPr lang="en-US" sz="1250" dirty="0">
                <a:solidFill>
                  <a:srgbClr val="1E2329"/>
                </a:solidFill>
              </a:rPr>
              <a:t>London Grand Rank, from Metropolitan Grand Lodge.</a:t>
            </a:r>
            <a:endParaRPr lang="en-US" sz="1250" dirty="0"/>
          </a:p>
        </p:txBody>
      </p:sp>
      <p:sp>
        <p:nvSpPr>
          <p:cNvPr id="28" name="Forms of address"/>
          <p:cNvSpPr txBox="1"/>
          <p:nvPr/>
        </p:nvSpPr>
        <p:spPr>
          <a:xfrm>
            <a:off x="548640" y="5440680"/>
            <a:ext cx="11064240" cy="457200"/>
          </a:xfrm>
          <a:prstGeom prst="rect">
            <a:avLst/>
          </a:prstGeom>
          <a:noFill/>
          <a:ln/>
        </p:spPr>
        <p:txBody>
          <a:bodyPr wrap="square" lIns="0" tIns="0" rIns="0" bIns="0" rtlCol="0" anchor="ctr"/>
          <a:lstStyle/>
          <a:p>
            <a:pPr marL="0" indent="0">
              <a:buNone/>
            </a:pPr>
            <a:r>
              <a:rPr lang="en-US" sz="1350" b="1" dirty="0">
                <a:solidFill>
                  <a:srgbClr val="003668"/>
                </a:solidFill>
              </a:rPr>
              <a:t>Bro </a:t>
            </a:r>
            <a:r>
              <a:rPr lang="en-US" sz="1350" dirty="0">
                <a:solidFill>
                  <a:srgbClr val="1E2329"/>
                </a:solidFill>
              </a:rPr>
              <a:t>every Brother.   </a:t>
            </a:r>
            <a:r>
              <a:rPr lang="en-US" sz="1350" b="1" dirty="0">
                <a:solidFill>
                  <a:srgbClr val="0A4F72"/>
                </a:solidFill>
              </a:rPr>
              <a:t>W Bro </a:t>
            </a:r>
            <a:r>
              <a:rPr lang="en-US" sz="1350" dirty="0">
                <a:solidFill>
                  <a:srgbClr val="1E2329"/>
                </a:solidFill>
              </a:rPr>
              <a:t>has been Master, or holds rank.   </a:t>
            </a:r>
            <a:r>
              <a:rPr lang="en-US" sz="1350" b="1" dirty="0">
                <a:solidFill>
                  <a:srgbClr val="106576"/>
                </a:solidFill>
              </a:rPr>
              <a:t>VW Bro </a:t>
            </a:r>
            <a:r>
              <a:rPr lang="en-US" sz="1350" dirty="0">
                <a:solidFill>
                  <a:srgbClr val="1E2329"/>
                </a:solidFill>
              </a:rPr>
              <a:t>senior rank, such as the Deputy.   </a:t>
            </a:r>
            <a:r>
              <a:rPr lang="en-US" sz="1350" b="1" dirty="0">
                <a:solidFill>
                  <a:srgbClr val="157A7C"/>
                </a:solidFill>
              </a:rPr>
              <a:t>RW Bro </a:t>
            </a:r>
            <a:r>
              <a:rPr lang="en-US" sz="1350" dirty="0">
                <a:solidFill>
                  <a:srgbClr val="1E2329"/>
                </a:solidFill>
              </a:rPr>
              <a:t>the Provincial Grand Master.</a:t>
            </a:r>
            <a:endParaRPr lang="en-US" sz="1350" dirty="0"/>
          </a:p>
        </p:txBody>
      </p:sp>
      <p:sp>
        <p:nvSpPr>
          <p:cNvPr id="29"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06345D"/>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itle"/>
          <p:cNvSpPr txBox="1"/>
          <p:nvPr/>
        </p:nvSpPr>
        <p:spPr>
          <a:xfrm>
            <a:off x="548640" y="411480"/>
            <a:ext cx="11091672" cy="731520"/>
          </a:xfrm>
          <a:prstGeom prst="rect">
            <a:avLst/>
          </a:prstGeom>
          <a:noFill/>
          <a:ln/>
        </p:spPr>
        <p:txBody>
          <a:bodyPr wrap="square" lIns="0" tIns="0" rIns="0" bIns="0" rtlCol="0" anchor="ctr"/>
          <a:lstStyle/>
          <a:p>
            <a:pPr marL="0" indent="0">
              <a:buNone/>
            </a:pPr>
            <a:r>
              <a:rPr lang="en-US" sz="3200" b="1" dirty="0">
                <a:solidFill>
                  <a:srgbClr val="003668"/>
                </a:solidFill>
              </a:rPr>
              <a:t>The Festive Board</a:t>
            </a:r>
            <a:endParaRPr lang="en-US" sz="3200" dirty="0"/>
          </a:p>
        </p:txBody>
      </p:sp>
      <p:sp>
        <p:nvSpPr>
          <p:cNvPr id="3" name="Card Etiquette"/>
          <p:cNvSpPr/>
          <p:nvPr/>
        </p:nvSpPr>
        <p:spPr>
          <a:xfrm>
            <a:off x="548640" y="1280160"/>
            <a:ext cx="5394960" cy="2240280"/>
          </a:xfrm>
          <a:prstGeom prst="roundRect">
            <a:avLst>
              <a:gd name="adj" fmla="val 3265"/>
            </a:avLst>
          </a:prstGeom>
          <a:solidFill>
            <a:srgbClr val="F2F7FC"/>
          </a:solidFill>
          <a:ln w="12700">
            <a:solidFill>
              <a:srgbClr val="F2F7FC"/>
            </a:solidFill>
            <a:prstDash val="solid"/>
          </a:ln>
        </p:spPr>
        <p:txBody>
          <a:bodyPr/>
          <a:lstStyle/>
          <a:p>
            <a:endParaRPr lang="en-GB"/>
          </a:p>
        </p:txBody>
      </p:sp>
      <p:pic>
        <p:nvPicPr>
          <p:cNvPr id="4" name="Image 0" descr="preencoded.png"/>
          <p:cNvPicPr>
            <a:picLocks noChangeAspect="1"/>
          </p:cNvPicPr>
          <p:nvPr/>
        </p:nvPicPr>
        <p:blipFill>
          <a:blip r:embed="rId3"/>
          <a:stretch>
            <a:fillRect/>
          </a:stretch>
        </p:blipFill>
        <p:spPr>
          <a:xfrm>
            <a:off x="749808" y="1463040"/>
            <a:ext cx="384048" cy="384048"/>
          </a:xfrm>
          <a:prstGeom prst="rect">
            <a:avLst/>
          </a:prstGeom>
        </p:spPr>
      </p:pic>
      <p:sp>
        <p:nvSpPr>
          <p:cNvPr id="5" name="Text 2"/>
          <p:cNvSpPr txBox="1"/>
          <p:nvPr/>
        </p:nvSpPr>
        <p:spPr>
          <a:xfrm>
            <a:off x="1261872" y="1444752"/>
            <a:ext cx="4480560" cy="411480"/>
          </a:xfrm>
          <a:prstGeom prst="rect">
            <a:avLst/>
          </a:prstGeom>
          <a:noFill/>
          <a:ln/>
        </p:spPr>
        <p:txBody>
          <a:bodyPr wrap="square" lIns="0" tIns="0" rIns="0" bIns="0" rtlCol="0" anchor="ctr"/>
          <a:lstStyle/>
          <a:p>
            <a:pPr marL="0" indent="0">
              <a:buNone/>
            </a:pPr>
            <a:r>
              <a:rPr lang="en-US" sz="1600" b="1" dirty="0">
                <a:solidFill>
                  <a:srgbClr val="003668"/>
                </a:solidFill>
              </a:rPr>
              <a:t>Etiquette</a:t>
            </a:r>
            <a:endParaRPr lang="en-US" sz="1600" dirty="0"/>
          </a:p>
        </p:txBody>
      </p:sp>
      <p:sp>
        <p:nvSpPr>
          <p:cNvPr id="6" name="Text 3"/>
          <p:cNvSpPr txBox="1"/>
          <p:nvPr/>
        </p:nvSpPr>
        <p:spPr>
          <a:xfrm>
            <a:off x="777240" y="1901952"/>
            <a:ext cx="4937760" cy="1508760"/>
          </a:xfrm>
          <a:prstGeom prst="rect">
            <a:avLst/>
          </a:prstGeom>
          <a:noFill/>
          <a:ln/>
        </p:spPr>
        <p:txBody>
          <a:bodyPr wrap="square" lIns="0" tIns="0" rIns="0" bIns="0" rtlCol="0" anchor="t"/>
          <a:lstStyle/>
          <a:p>
            <a:pPr marL="203200" indent="-203200">
              <a:spcAft>
                <a:spcPts val="400"/>
              </a:spcAft>
              <a:buSzPct val="100000"/>
              <a:buChar char="■"/>
            </a:pPr>
            <a:r>
              <a:rPr lang="en-US" sz="1350" dirty="0">
                <a:solidFill>
                  <a:srgbClr val="1E2329"/>
                </a:solidFill>
              </a:rPr>
              <a:t>Light-hearted and fun, but no religion and no politics</a:t>
            </a:r>
            <a:endParaRPr lang="en-US" sz="1350" dirty="0"/>
          </a:p>
          <a:p>
            <a:pPr marL="203200" indent="-203200">
              <a:spcAft>
                <a:spcPts val="400"/>
              </a:spcAft>
              <a:buSzPct val="100000"/>
              <a:buChar char="■"/>
            </a:pPr>
            <a:r>
              <a:rPr lang="en-US" sz="1350" dirty="0">
                <a:solidFill>
                  <a:srgbClr val="1E2329"/>
                </a:solidFill>
              </a:rPr>
              <a:t>Jackets stay on unless the Master gives permission</a:t>
            </a:r>
            <a:endParaRPr lang="en-US" sz="1350" dirty="0"/>
          </a:p>
          <a:p>
            <a:pPr marL="203200" indent="-203200">
              <a:spcAft>
                <a:spcPts val="400"/>
              </a:spcAft>
              <a:buSzPct val="100000"/>
              <a:buChar char="■"/>
            </a:pPr>
            <a:r>
              <a:rPr lang="en-US" sz="1350" dirty="0">
                <a:solidFill>
                  <a:srgbClr val="1E2329"/>
                </a:solidFill>
              </a:rPr>
              <a:t>No phones: a photo of dinner, fine; texting mid-meal, not. Urgent call? Leave the room</a:t>
            </a:r>
            <a:endParaRPr lang="en-US" sz="1350" dirty="0"/>
          </a:p>
          <a:p>
            <a:pPr marL="203200" indent="-203200">
              <a:spcAft>
                <a:spcPts val="400"/>
              </a:spcAft>
              <a:buSzPct val="100000"/>
              <a:buChar char="■"/>
            </a:pPr>
            <a:r>
              <a:rPr lang="en-US" sz="1350" dirty="0">
                <a:solidFill>
                  <a:srgbClr val="1E2329"/>
                </a:solidFill>
              </a:rPr>
              <a:t>Stand when the Director of Ceremonies stands; follow the Brother next to you</a:t>
            </a:r>
            <a:endParaRPr lang="en-US" sz="1350" dirty="0"/>
          </a:p>
        </p:txBody>
      </p:sp>
      <p:sp>
        <p:nvSpPr>
          <p:cNvPr id="7" name="Card Toasts and Masonic Fire"/>
          <p:cNvSpPr/>
          <p:nvPr/>
        </p:nvSpPr>
        <p:spPr>
          <a:xfrm>
            <a:off x="548640" y="3657600"/>
            <a:ext cx="5394960" cy="2194560"/>
          </a:xfrm>
          <a:prstGeom prst="roundRect">
            <a:avLst>
              <a:gd name="adj" fmla="val 3333"/>
            </a:avLst>
          </a:prstGeom>
          <a:solidFill>
            <a:srgbClr val="F2F7FC"/>
          </a:solidFill>
          <a:ln w="12700">
            <a:solidFill>
              <a:srgbClr val="F2F7FC"/>
            </a:solidFill>
            <a:prstDash val="solid"/>
          </a:ln>
        </p:spPr>
        <p:txBody>
          <a:bodyPr/>
          <a:lstStyle/>
          <a:p>
            <a:endParaRPr lang="en-GB"/>
          </a:p>
        </p:txBody>
      </p:sp>
      <p:pic>
        <p:nvPicPr>
          <p:cNvPr id="8" name="Image 1" descr="preencoded.png"/>
          <p:cNvPicPr>
            <a:picLocks noChangeAspect="1"/>
          </p:cNvPicPr>
          <p:nvPr/>
        </p:nvPicPr>
        <p:blipFill>
          <a:blip r:embed="rId4"/>
          <a:stretch>
            <a:fillRect/>
          </a:stretch>
        </p:blipFill>
        <p:spPr>
          <a:xfrm>
            <a:off x="749808" y="3840480"/>
            <a:ext cx="384048" cy="384048"/>
          </a:xfrm>
          <a:prstGeom prst="rect">
            <a:avLst/>
          </a:prstGeom>
        </p:spPr>
      </p:pic>
      <p:sp>
        <p:nvSpPr>
          <p:cNvPr id="9" name="Text 5"/>
          <p:cNvSpPr txBox="1"/>
          <p:nvPr/>
        </p:nvSpPr>
        <p:spPr>
          <a:xfrm>
            <a:off x="1261872" y="3822192"/>
            <a:ext cx="4480560" cy="411480"/>
          </a:xfrm>
          <a:prstGeom prst="rect">
            <a:avLst/>
          </a:prstGeom>
          <a:noFill/>
          <a:ln/>
        </p:spPr>
        <p:txBody>
          <a:bodyPr wrap="square" lIns="0" tIns="0" rIns="0" bIns="0" rtlCol="0" anchor="ctr"/>
          <a:lstStyle/>
          <a:p>
            <a:pPr marL="0" indent="0">
              <a:buNone/>
            </a:pPr>
            <a:r>
              <a:rPr lang="en-US" sz="1600" b="1" dirty="0">
                <a:solidFill>
                  <a:srgbClr val="003668"/>
                </a:solidFill>
              </a:rPr>
              <a:t>Toasts and Masonic Fire</a:t>
            </a:r>
            <a:endParaRPr lang="en-US" sz="1600" dirty="0"/>
          </a:p>
        </p:txBody>
      </p:sp>
      <p:sp>
        <p:nvSpPr>
          <p:cNvPr id="10" name="Text 6"/>
          <p:cNvSpPr txBox="1"/>
          <p:nvPr/>
        </p:nvSpPr>
        <p:spPr>
          <a:xfrm>
            <a:off x="777240" y="4279392"/>
            <a:ext cx="4937760" cy="1463040"/>
          </a:xfrm>
          <a:prstGeom prst="rect">
            <a:avLst/>
          </a:prstGeom>
          <a:noFill/>
          <a:ln/>
        </p:spPr>
        <p:txBody>
          <a:bodyPr wrap="square" lIns="0" tIns="0" rIns="0" bIns="0" rtlCol="0" anchor="t"/>
          <a:lstStyle/>
          <a:p>
            <a:pPr marL="203200" indent="-203200">
              <a:spcAft>
                <a:spcPts val="400"/>
              </a:spcAft>
              <a:buSzPct val="100000"/>
              <a:buChar char="■"/>
            </a:pPr>
            <a:r>
              <a:rPr lang="en-US" sz="1350" dirty="0">
                <a:solidFill>
                  <a:srgbClr val="1E2329"/>
                </a:solidFill>
              </a:rPr>
              <a:t>Your mentor will walk you through the toasts and the Fire before your first night</a:t>
            </a:r>
            <a:endParaRPr lang="en-US" sz="1350" dirty="0"/>
          </a:p>
          <a:p>
            <a:pPr marL="203200" indent="-203200">
              <a:spcAft>
                <a:spcPts val="400"/>
              </a:spcAft>
              <a:buSzPct val="100000"/>
              <a:buChar char="■"/>
            </a:pPr>
            <a:r>
              <a:rPr lang="en-US" sz="1350" dirty="0">
                <a:solidFill>
                  <a:srgbClr val="1E2329"/>
                </a:solidFill>
              </a:rPr>
              <a:t>The proposer gives the Fire. If the toast is to you, you reply: there is no Fire back</a:t>
            </a:r>
            <a:endParaRPr lang="en-US" sz="1350" dirty="0"/>
          </a:p>
        </p:txBody>
      </p:sp>
      <p:sp>
        <p:nvSpPr>
          <p:cNvPr id="11" name="Card Replying to a toast"/>
          <p:cNvSpPr/>
          <p:nvPr/>
        </p:nvSpPr>
        <p:spPr>
          <a:xfrm>
            <a:off x="6172200" y="1280160"/>
            <a:ext cx="5486400" cy="4572000"/>
          </a:xfrm>
          <a:prstGeom prst="roundRect">
            <a:avLst>
              <a:gd name="adj" fmla="val 1600"/>
            </a:avLst>
          </a:prstGeom>
          <a:solidFill>
            <a:srgbClr val="E6F2F2"/>
          </a:solidFill>
          <a:ln w="12700">
            <a:solidFill>
              <a:srgbClr val="E6F2F2"/>
            </a:solidFill>
            <a:prstDash val="solid"/>
          </a:ln>
        </p:spPr>
        <p:txBody>
          <a:bodyPr/>
          <a:lstStyle/>
          <a:p>
            <a:endParaRPr lang="en-GB"/>
          </a:p>
        </p:txBody>
      </p:sp>
      <p:pic>
        <p:nvPicPr>
          <p:cNvPr id="12" name="Image 2" descr="preencoded.png"/>
          <p:cNvPicPr>
            <a:picLocks noChangeAspect="1"/>
          </p:cNvPicPr>
          <p:nvPr/>
        </p:nvPicPr>
        <p:blipFill>
          <a:blip r:embed="rId5"/>
          <a:stretch>
            <a:fillRect/>
          </a:stretch>
        </p:blipFill>
        <p:spPr>
          <a:xfrm>
            <a:off x="6373368" y="1463040"/>
            <a:ext cx="384048" cy="384048"/>
          </a:xfrm>
          <a:prstGeom prst="rect">
            <a:avLst/>
          </a:prstGeom>
        </p:spPr>
      </p:pic>
      <p:sp>
        <p:nvSpPr>
          <p:cNvPr id="13" name="Text 8"/>
          <p:cNvSpPr txBox="1"/>
          <p:nvPr/>
        </p:nvSpPr>
        <p:spPr>
          <a:xfrm>
            <a:off x="6885432" y="1444752"/>
            <a:ext cx="4572000" cy="411480"/>
          </a:xfrm>
          <a:prstGeom prst="rect">
            <a:avLst/>
          </a:prstGeom>
          <a:noFill/>
          <a:ln/>
        </p:spPr>
        <p:txBody>
          <a:bodyPr wrap="square" lIns="0" tIns="0" rIns="0" bIns="0" rtlCol="0" anchor="ctr"/>
          <a:lstStyle/>
          <a:p>
            <a:pPr marL="0" indent="0">
              <a:buNone/>
            </a:pPr>
            <a:r>
              <a:rPr lang="en-US" sz="1600" b="1" dirty="0">
                <a:solidFill>
                  <a:srgbClr val="003668"/>
                </a:solidFill>
              </a:rPr>
              <a:t>Replying to a toast</a:t>
            </a:r>
            <a:endParaRPr lang="en-US" sz="1600" dirty="0"/>
          </a:p>
        </p:txBody>
      </p:sp>
      <p:sp>
        <p:nvSpPr>
          <p:cNvPr id="14" name="Text 9"/>
          <p:cNvSpPr txBox="1"/>
          <p:nvPr/>
        </p:nvSpPr>
        <p:spPr>
          <a:xfrm>
            <a:off x="6400800" y="1901952"/>
            <a:ext cx="5029200" cy="3840480"/>
          </a:xfrm>
          <a:prstGeom prst="rect">
            <a:avLst/>
          </a:prstGeom>
          <a:noFill/>
          <a:ln/>
        </p:spPr>
        <p:txBody>
          <a:bodyPr wrap="square" lIns="0" tIns="0" rIns="0" bIns="0" rtlCol="0" anchor="t"/>
          <a:lstStyle/>
          <a:p>
            <a:pPr marL="203200" indent="-203200">
              <a:spcAft>
                <a:spcPts val="400"/>
              </a:spcAft>
              <a:buSzPct val="100000"/>
              <a:buChar char="■"/>
            </a:pPr>
            <a:r>
              <a:rPr lang="en-US" sz="1350" dirty="0">
                <a:solidFill>
                  <a:srgbClr val="1E2329"/>
                </a:solidFill>
              </a:rPr>
              <a:t>Open with “Worshipful Master, Distinguished Brethren, Brethren all”</a:t>
            </a:r>
            <a:endParaRPr lang="en-US" sz="1350" dirty="0"/>
          </a:p>
          <a:p>
            <a:pPr marL="203200" indent="-203200">
              <a:spcAft>
                <a:spcPts val="400"/>
              </a:spcAft>
              <a:buSzPct val="100000"/>
              <a:buChar char="■"/>
            </a:pPr>
            <a:r>
              <a:rPr lang="en-US" sz="1350" dirty="0">
                <a:solidFill>
                  <a:srgbClr val="1E2329"/>
                </a:solidFill>
              </a:rPr>
              <a:t>Replying for the visitors? This is where you praise the work, and thank your hosts</a:t>
            </a:r>
            <a:endParaRPr lang="en-US" sz="1350" dirty="0"/>
          </a:p>
          <a:p>
            <a:pPr marL="203200" indent="-203200">
              <a:spcAft>
                <a:spcPts val="400"/>
              </a:spcAft>
              <a:buSzPct val="100000"/>
              <a:buChar char="■"/>
            </a:pPr>
            <a:r>
              <a:rPr lang="en-US" sz="1350" dirty="0">
                <a:solidFill>
                  <a:srgbClr val="1E2329"/>
                </a:solidFill>
              </a:rPr>
              <a:t>Invite them to your next meeting</a:t>
            </a:r>
            <a:endParaRPr lang="en-US" sz="1350" dirty="0"/>
          </a:p>
          <a:p>
            <a:pPr marL="203200" indent="-203200">
              <a:spcAft>
                <a:spcPts val="400"/>
              </a:spcAft>
              <a:buSzPct val="100000"/>
              <a:buChar char="■"/>
            </a:pPr>
            <a:r>
              <a:rPr lang="en-US" sz="1350" dirty="0">
                <a:solidFill>
                  <a:srgbClr val="1E2329"/>
                </a:solidFill>
              </a:rPr>
              <a:t>One to two minutes. No best man’s speech. You may step out to be seen, but no laps</a:t>
            </a:r>
            <a:endParaRPr lang="en-US" sz="1350" dirty="0"/>
          </a:p>
          <a:p>
            <a:pPr marL="203200" indent="-203200">
              <a:spcAft>
                <a:spcPts val="400"/>
              </a:spcAft>
              <a:buSzPct val="100000"/>
              <a:buChar char="■"/>
            </a:pPr>
            <a:r>
              <a:rPr lang="en-US" sz="1350" dirty="0">
                <a:solidFill>
                  <a:srgbClr val="1E2329"/>
                </a:solidFill>
              </a:rPr>
              <a:t>Mistakes are fine. Every Brother in the room has made one</a:t>
            </a:r>
            <a:endParaRPr lang="en-US" sz="135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06345D"/>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itle"/>
          <p:cNvSpPr txBox="1"/>
          <p:nvPr/>
        </p:nvSpPr>
        <p:spPr>
          <a:xfrm>
            <a:off x="548640" y="411480"/>
            <a:ext cx="11091672" cy="731520"/>
          </a:xfrm>
          <a:prstGeom prst="rect">
            <a:avLst/>
          </a:prstGeom>
          <a:noFill/>
          <a:ln/>
        </p:spPr>
        <p:txBody>
          <a:bodyPr wrap="square" lIns="0" tIns="0" rIns="0" bIns="0" rtlCol="0" anchor="ctr"/>
          <a:lstStyle/>
          <a:p>
            <a:pPr marL="0" indent="0">
              <a:buNone/>
            </a:pPr>
            <a:r>
              <a:rPr lang="en-US" sz="3200" b="1" dirty="0">
                <a:solidFill>
                  <a:srgbClr val="003668"/>
                </a:solidFill>
              </a:rPr>
              <a:t>Bigger than your Lodge</a:t>
            </a:r>
            <a:endParaRPr lang="en-US" sz="3200" dirty="0"/>
          </a:p>
        </p:txBody>
      </p:sp>
      <p:sp>
        <p:nvSpPr>
          <p:cNvPr id="3" name="Lead"/>
          <p:cNvSpPr txBox="1"/>
          <p:nvPr/>
        </p:nvSpPr>
        <p:spPr>
          <a:xfrm>
            <a:off x="548640" y="1234440"/>
            <a:ext cx="11064240" cy="685800"/>
          </a:xfrm>
          <a:prstGeom prst="rect">
            <a:avLst/>
          </a:prstGeom>
          <a:noFill/>
          <a:ln/>
        </p:spPr>
        <p:txBody>
          <a:bodyPr wrap="square" lIns="0" tIns="0" rIns="0" bIns="0" rtlCol="0" anchor="ctr"/>
          <a:lstStyle/>
          <a:p>
            <a:pPr marL="0" indent="0">
              <a:buNone/>
            </a:pPr>
            <a:r>
              <a:rPr lang="en-US" sz="1600" dirty="0">
                <a:solidFill>
                  <a:srgbClr val="06345D"/>
                </a:solidFill>
              </a:rPr>
              <a:t>Your Lodge is your home. It is not the whole of Freemasonry. Many Brethren who drift away never saw what lies beyond their own Lodge room.</a:t>
            </a:r>
            <a:endParaRPr lang="en-US" sz="1600" dirty="0"/>
          </a:p>
        </p:txBody>
      </p:sp>
      <p:sp>
        <p:nvSpPr>
          <p:cNvPr id="4" name="Card Visit"/>
          <p:cNvSpPr/>
          <p:nvPr/>
        </p:nvSpPr>
        <p:spPr>
          <a:xfrm>
            <a:off x="548640" y="2057400"/>
            <a:ext cx="2651760" cy="3794760"/>
          </a:xfrm>
          <a:prstGeom prst="roundRect">
            <a:avLst>
              <a:gd name="adj" fmla="val 2759"/>
            </a:avLst>
          </a:prstGeom>
          <a:solidFill>
            <a:srgbClr val="F2F7FC"/>
          </a:solidFill>
          <a:ln w="12700">
            <a:solidFill>
              <a:srgbClr val="F2F7FC"/>
            </a:solidFill>
            <a:prstDash val="solid"/>
          </a:ln>
        </p:spPr>
        <p:txBody>
          <a:bodyPr/>
          <a:lstStyle/>
          <a:p>
            <a:endParaRPr lang="en-GB"/>
          </a:p>
        </p:txBody>
      </p:sp>
      <p:pic>
        <p:nvPicPr>
          <p:cNvPr id="5" name="Image 0" descr="preencoded.png"/>
          <p:cNvPicPr>
            <a:picLocks noChangeAspect="1"/>
          </p:cNvPicPr>
          <p:nvPr/>
        </p:nvPicPr>
        <p:blipFill>
          <a:blip r:embed="rId3"/>
          <a:stretch>
            <a:fillRect/>
          </a:stretch>
        </p:blipFill>
        <p:spPr>
          <a:xfrm>
            <a:off x="749808" y="2240280"/>
            <a:ext cx="384048" cy="384048"/>
          </a:xfrm>
          <a:prstGeom prst="rect">
            <a:avLst/>
          </a:prstGeom>
        </p:spPr>
      </p:pic>
      <p:sp>
        <p:nvSpPr>
          <p:cNvPr id="6" name="Text 3"/>
          <p:cNvSpPr txBox="1"/>
          <p:nvPr/>
        </p:nvSpPr>
        <p:spPr>
          <a:xfrm>
            <a:off x="1261872" y="2221992"/>
            <a:ext cx="1737360" cy="411480"/>
          </a:xfrm>
          <a:prstGeom prst="rect">
            <a:avLst/>
          </a:prstGeom>
          <a:noFill/>
          <a:ln/>
        </p:spPr>
        <p:txBody>
          <a:bodyPr wrap="square" lIns="0" tIns="0" rIns="0" bIns="0" rtlCol="0" anchor="ctr"/>
          <a:lstStyle/>
          <a:p>
            <a:pPr marL="0" indent="0">
              <a:buNone/>
            </a:pPr>
            <a:r>
              <a:rPr lang="en-US" sz="1600" b="1" dirty="0">
                <a:solidFill>
                  <a:srgbClr val="003668"/>
                </a:solidFill>
              </a:rPr>
              <a:t>Visit</a:t>
            </a:r>
            <a:endParaRPr lang="en-US" sz="1600" dirty="0"/>
          </a:p>
        </p:txBody>
      </p:sp>
      <p:sp>
        <p:nvSpPr>
          <p:cNvPr id="7" name="Text 4"/>
          <p:cNvSpPr txBox="1"/>
          <p:nvPr/>
        </p:nvSpPr>
        <p:spPr>
          <a:xfrm>
            <a:off x="777240" y="2679192"/>
            <a:ext cx="2194560" cy="3063240"/>
          </a:xfrm>
          <a:prstGeom prst="rect">
            <a:avLst/>
          </a:prstGeom>
          <a:noFill/>
          <a:ln/>
        </p:spPr>
        <p:txBody>
          <a:bodyPr wrap="square" lIns="0" tIns="0" rIns="0" bIns="0" rtlCol="0" anchor="t"/>
          <a:lstStyle/>
          <a:p>
            <a:pPr marL="203200" indent="-203200">
              <a:spcAft>
                <a:spcPts val="400"/>
              </a:spcAft>
              <a:buSzPct val="100000"/>
              <a:buChar char="■"/>
            </a:pPr>
            <a:r>
              <a:rPr lang="en-US" sz="1350" dirty="0">
                <a:solidFill>
                  <a:srgbClr val="1E2329"/>
                </a:solidFill>
              </a:rPr>
              <a:t>Any Lodge under UGLE, at Masonic centres across the county</a:t>
            </a:r>
            <a:endParaRPr lang="en-US" sz="1350" dirty="0"/>
          </a:p>
          <a:p>
            <a:pPr marL="203200" indent="-203200">
              <a:spcAft>
                <a:spcPts val="400"/>
              </a:spcAft>
              <a:buSzPct val="100000"/>
              <a:buChar char="■"/>
            </a:pPr>
            <a:r>
              <a:rPr lang="en-US" sz="1350" dirty="0">
                <a:solidFill>
                  <a:srgbClr val="1E2329"/>
                </a:solidFill>
              </a:rPr>
              <a:t>Go with your mentor or the Club the first time</a:t>
            </a:r>
            <a:endParaRPr lang="en-US" sz="1350" dirty="0"/>
          </a:p>
          <a:p>
            <a:pPr marL="203200" indent="-203200">
              <a:spcAft>
                <a:spcPts val="400"/>
              </a:spcAft>
              <a:buSzPct val="100000"/>
              <a:buChar char="■"/>
            </a:pPr>
            <a:r>
              <a:rPr lang="en-US" sz="1350" dirty="0">
                <a:solidFill>
                  <a:srgbClr val="1E2329"/>
                </a:solidFill>
              </a:rPr>
              <a:t>Ask the Club which First Degrees are coming up to watch</a:t>
            </a:r>
            <a:endParaRPr lang="en-US" sz="1350" dirty="0"/>
          </a:p>
        </p:txBody>
      </p:sp>
      <p:sp>
        <p:nvSpPr>
          <p:cNvPr id="8" name="Card Your Province"/>
          <p:cNvSpPr/>
          <p:nvPr/>
        </p:nvSpPr>
        <p:spPr>
          <a:xfrm>
            <a:off x="3355848" y="2057400"/>
            <a:ext cx="2651760" cy="3794760"/>
          </a:xfrm>
          <a:prstGeom prst="roundRect">
            <a:avLst>
              <a:gd name="adj" fmla="val 2759"/>
            </a:avLst>
          </a:prstGeom>
          <a:solidFill>
            <a:srgbClr val="F2F7FC"/>
          </a:solidFill>
          <a:ln w="12700">
            <a:solidFill>
              <a:srgbClr val="F2F7FC"/>
            </a:solidFill>
            <a:prstDash val="solid"/>
          </a:ln>
        </p:spPr>
        <p:txBody>
          <a:bodyPr/>
          <a:lstStyle/>
          <a:p>
            <a:endParaRPr lang="en-GB"/>
          </a:p>
        </p:txBody>
      </p:sp>
      <p:pic>
        <p:nvPicPr>
          <p:cNvPr id="9" name="Image 1" descr="preencoded.png"/>
          <p:cNvPicPr>
            <a:picLocks noChangeAspect="1"/>
          </p:cNvPicPr>
          <p:nvPr/>
        </p:nvPicPr>
        <p:blipFill>
          <a:blip r:embed="rId4"/>
          <a:stretch>
            <a:fillRect/>
          </a:stretch>
        </p:blipFill>
        <p:spPr>
          <a:xfrm>
            <a:off x="3557016" y="2240280"/>
            <a:ext cx="384048" cy="384048"/>
          </a:xfrm>
          <a:prstGeom prst="rect">
            <a:avLst/>
          </a:prstGeom>
        </p:spPr>
      </p:pic>
      <p:sp>
        <p:nvSpPr>
          <p:cNvPr id="10" name="Text 6"/>
          <p:cNvSpPr txBox="1"/>
          <p:nvPr/>
        </p:nvSpPr>
        <p:spPr>
          <a:xfrm>
            <a:off x="4069080" y="2221992"/>
            <a:ext cx="1737360" cy="411480"/>
          </a:xfrm>
          <a:prstGeom prst="rect">
            <a:avLst/>
          </a:prstGeom>
          <a:noFill/>
          <a:ln/>
        </p:spPr>
        <p:txBody>
          <a:bodyPr wrap="square" lIns="0" tIns="0" rIns="0" bIns="0" rtlCol="0" anchor="ctr"/>
          <a:lstStyle/>
          <a:p>
            <a:pPr marL="0" indent="0">
              <a:buNone/>
            </a:pPr>
            <a:r>
              <a:rPr lang="en-US" sz="1600" b="1" dirty="0">
                <a:solidFill>
                  <a:srgbClr val="003668"/>
                </a:solidFill>
              </a:rPr>
              <a:t>Your Province</a:t>
            </a:r>
            <a:endParaRPr lang="en-US" sz="1600" dirty="0"/>
          </a:p>
        </p:txBody>
      </p:sp>
      <p:sp>
        <p:nvSpPr>
          <p:cNvPr id="11" name="Text 7"/>
          <p:cNvSpPr txBox="1"/>
          <p:nvPr/>
        </p:nvSpPr>
        <p:spPr>
          <a:xfrm>
            <a:off x="3584448" y="2679192"/>
            <a:ext cx="2194560" cy="3063240"/>
          </a:xfrm>
          <a:prstGeom prst="rect">
            <a:avLst/>
          </a:prstGeom>
          <a:noFill/>
          <a:ln/>
        </p:spPr>
        <p:txBody>
          <a:bodyPr wrap="square" lIns="0" tIns="0" rIns="0" bIns="0" rtlCol="0" anchor="t"/>
          <a:lstStyle/>
          <a:p>
            <a:pPr marL="203200" indent="-203200">
              <a:spcAft>
                <a:spcPts val="400"/>
              </a:spcAft>
              <a:buSzPct val="100000"/>
              <a:buChar char="■"/>
            </a:pPr>
            <a:r>
              <a:rPr lang="en-US" sz="1350" dirty="0">
                <a:solidFill>
                  <a:srgbClr val="1E2329"/>
                </a:solidFill>
              </a:rPr>
              <a:t>The Provincial Grand Lodge of Hertfordshire, based at Fleet House, St Albans</a:t>
            </a:r>
            <a:endParaRPr lang="en-US" sz="1350" dirty="0"/>
          </a:p>
          <a:p>
            <a:pPr marL="203200" indent="-203200">
              <a:spcAft>
                <a:spcPts val="400"/>
              </a:spcAft>
              <a:buSzPct val="100000"/>
              <a:buChar char="■"/>
            </a:pPr>
            <a:r>
              <a:rPr lang="en-US" sz="1350" dirty="0">
                <a:solidFill>
                  <a:srgbClr val="1E2329"/>
                </a:solidFill>
              </a:rPr>
              <a:t>Events, Lodges and people across the county</a:t>
            </a:r>
            <a:endParaRPr lang="en-US" sz="1350" dirty="0"/>
          </a:p>
          <a:p>
            <a:pPr marL="203200" indent="-203200">
              <a:spcAft>
                <a:spcPts val="400"/>
              </a:spcAft>
              <a:buSzPct val="100000"/>
              <a:buChar char="■"/>
            </a:pPr>
            <a:r>
              <a:rPr lang="en-US" sz="1350" dirty="0">
                <a:solidFill>
                  <a:srgbClr val="1E2329"/>
                </a:solidFill>
              </a:rPr>
              <a:t>hertfordshirefreemasons.org.uk</a:t>
            </a:r>
            <a:endParaRPr lang="en-US" sz="1350" dirty="0"/>
          </a:p>
        </p:txBody>
      </p:sp>
      <p:sp>
        <p:nvSpPr>
          <p:cNvPr id="12" name="Card Giving back"/>
          <p:cNvSpPr/>
          <p:nvPr/>
        </p:nvSpPr>
        <p:spPr>
          <a:xfrm>
            <a:off x="6163056" y="2057400"/>
            <a:ext cx="2651760" cy="3794760"/>
          </a:xfrm>
          <a:prstGeom prst="roundRect">
            <a:avLst>
              <a:gd name="adj" fmla="val 2759"/>
            </a:avLst>
          </a:prstGeom>
          <a:solidFill>
            <a:srgbClr val="F2F7FC"/>
          </a:solidFill>
          <a:ln w="12700">
            <a:solidFill>
              <a:srgbClr val="F2F7FC"/>
            </a:solidFill>
            <a:prstDash val="solid"/>
          </a:ln>
        </p:spPr>
        <p:txBody>
          <a:bodyPr/>
          <a:lstStyle/>
          <a:p>
            <a:endParaRPr lang="en-GB"/>
          </a:p>
        </p:txBody>
      </p:sp>
      <p:pic>
        <p:nvPicPr>
          <p:cNvPr id="13" name="Image 2" descr="preencoded.png"/>
          <p:cNvPicPr>
            <a:picLocks noChangeAspect="1"/>
          </p:cNvPicPr>
          <p:nvPr/>
        </p:nvPicPr>
        <p:blipFill>
          <a:blip r:embed="rId5"/>
          <a:stretch>
            <a:fillRect/>
          </a:stretch>
        </p:blipFill>
        <p:spPr>
          <a:xfrm>
            <a:off x="6364224" y="2240280"/>
            <a:ext cx="384048" cy="384048"/>
          </a:xfrm>
          <a:prstGeom prst="rect">
            <a:avLst/>
          </a:prstGeom>
        </p:spPr>
      </p:pic>
      <p:sp>
        <p:nvSpPr>
          <p:cNvPr id="14" name="Text 9"/>
          <p:cNvSpPr txBox="1"/>
          <p:nvPr/>
        </p:nvSpPr>
        <p:spPr>
          <a:xfrm>
            <a:off x="6876288" y="2221992"/>
            <a:ext cx="1737360" cy="411480"/>
          </a:xfrm>
          <a:prstGeom prst="rect">
            <a:avLst/>
          </a:prstGeom>
          <a:noFill/>
          <a:ln/>
        </p:spPr>
        <p:txBody>
          <a:bodyPr wrap="square" lIns="0" tIns="0" rIns="0" bIns="0" rtlCol="0" anchor="ctr"/>
          <a:lstStyle/>
          <a:p>
            <a:pPr marL="0" indent="0">
              <a:buNone/>
            </a:pPr>
            <a:r>
              <a:rPr lang="en-US" sz="1600" b="1" dirty="0">
                <a:solidFill>
                  <a:srgbClr val="003668"/>
                </a:solidFill>
              </a:rPr>
              <a:t>Giving back</a:t>
            </a:r>
            <a:endParaRPr lang="en-US" sz="1600" dirty="0"/>
          </a:p>
        </p:txBody>
      </p:sp>
      <p:sp>
        <p:nvSpPr>
          <p:cNvPr id="15" name="Text 10"/>
          <p:cNvSpPr txBox="1"/>
          <p:nvPr/>
        </p:nvSpPr>
        <p:spPr>
          <a:xfrm>
            <a:off x="6391656" y="2679192"/>
            <a:ext cx="2194560" cy="3063240"/>
          </a:xfrm>
          <a:prstGeom prst="rect">
            <a:avLst/>
          </a:prstGeom>
          <a:noFill/>
          <a:ln/>
        </p:spPr>
        <p:txBody>
          <a:bodyPr wrap="square" lIns="0" tIns="0" rIns="0" bIns="0" rtlCol="0" anchor="t"/>
          <a:lstStyle/>
          <a:p>
            <a:pPr marL="203200" indent="-203200">
              <a:spcAft>
                <a:spcPts val="400"/>
              </a:spcAft>
              <a:buSzPct val="100000"/>
              <a:buChar char="■"/>
            </a:pPr>
            <a:r>
              <a:rPr lang="en-US" sz="1350" dirty="0">
                <a:solidFill>
                  <a:srgbClr val="1E2329"/>
                </a:solidFill>
              </a:rPr>
              <a:t>Lodges support local causes and the Masonic Charitable Foundation</a:t>
            </a:r>
            <a:endParaRPr lang="en-US" sz="1350" dirty="0"/>
          </a:p>
          <a:p>
            <a:pPr marL="203200" indent="-203200">
              <a:spcAft>
                <a:spcPts val="400"/>
              </a:spcAft>
              <a:buSzPct val="100000"/>
              <a:buChar char="■"/>
            </a:pPr>
            <a:r>
              <a:rPr lang="en-US" sz="1350" dirty="0">
                <a:solidFill>
                  <a:srgbClr val="1E2329"/>
                </a:solidFill>
              </a:rPr>
              <a:t>Your Charity Steward will tell you how your Lodge gives</a:t>
            </a:r>
            <a:endParaRPr lang="en-US" sz="1350" dirty="0"/>
          </a:p>
        </p:txBody>
      </p:sp>
      <p:sp>
        <p:nvSpPr>
          <p:cNvPr id="16" name="Card Lively Lodges"/>
          <p:cNvSpPr/>
          <p:nvPr/>
        </p:nvSpPr>
        <p:spPr>
          <a:xfrm>
            <a:off x="8970264" y="2057400"/>
            <a:ext cx="2651760" cy="3794760"/>
          </a:xfrm>
          <a:prstGeom prst="roundRect">
            <a:avLst>
              <a:gd name="adj" fmla="val 2759"/>
            </a:avLst>
          </a:prstGeom>
          <a:solidFill>
            <a:srgbClr val="E6F2F2"/>
          </a:solidFill>
          <a:ln w="12700">
            <a:solidFill>
              <a:srgbClr val="E6F2F2"/>
            </a:solidFill>
            <a:prstDash val="solid"/>
          </a:ln>
        </p:spPr>
        <p:txBody>
          <a:bodyPr/>
          <a:lstStyle/>
          <a:p>
            <a:endParaRPr lang="en-GB"/>
          </a:p>
        </p:txBody>
      </p:sp>
      <p:pic>
        <p:nvPicPr>
          <p:cNvPr id="17" name="Image 3" descr="preencoded.png"/>
          <p:cNvPicPr>
            <a:picLocks noChangeAspect="1"/>
          </p:cNvPicPr>
          <p:nvPr/>
        </p:nvPicPr>
        <p:blipFill>
          <a:blip r:embed="rId6"/>
          <a:stretch>
            <a:fillRect/>
          </a:stretch>
        </p:blipFill>
        <p:spPr>
          <a:xfrm>
            <a:off x="9171432" y="2240280"/>
            <a:ext cx="384048" cy="384048"/>
          </a:xfrm>
          <a:prstGeom prst="rect">
            <a:avLst/>
          </a:prstGeom>
        </p:spPr>
      </p:pic>
      <p:sp>
        <p:nvSpPr>
          <p:cNvPr id="18" name="Text 12"/>
          <p:cNvSpPr txBox="1"/>
          <p:nvPr/>
        </p:nvSpPr>
        <p:spPr>
          <a:xfrm>
            <a:off x="9683496" y="2221992"/>
            <a:ext cx="1737360" cy="411480"/>
          </a:xfrm>
          <a:prstGeom prst="rect">
            <a:avLst/>
          </a:prstGeom>
          <a:noFill/>
          <a:ln/>
        </p:spPr>
        <p:txBody>
          <a:bodyPr wrap="square" lIns="0" tIns="0" rIns="0" bIns="0" rtlCol="0" anchor="ctr"/>
          <a:lstStyle/>
          <a:p>
            <a:pPr marL="0" indent="0">
              <a:buNone/>
            </a:pPr>
            <a:r>
              <a:rPr lang="en-US" sz="1600" b="1" dirty="0">
                <a:solidFill>
                  <a:srgbClr val="003668"/>
                </a:solidFill>
              </a:rPr>
              <a:t>Lively Lodges</a:t>
            </a:r>
            <a:endParaRPr lang="en-US" sz="1600" dirty="0"/>
          </a:p>
        </p:txBody>
      </p:sp>
      <p:sp>
        <p:nvSpPr>
          <p:cNvPr id="19" name="Text 13"/>
          <p:cNvSpPr txBox="1"/>
          <p:nvPr/>
        </p:nvSpPr>
        <p:spPr>
          <a:xfrm>
            <a:off x="9198864" y="2679192"/>
            <a:ext cx="2194560" cy="3063240"/>
          </a:xfrm>
          <a:prstGeom prst="rect">
            <a:avLst/>
          </a:prstGeom>
          <a:noFill/>
          <a:ln/>
        </p:spPr>
        <p:txBody>
          <a:bodyPr wrap="square" lIns="0" tIns="0" rIns="0" bIns="0" rtlCol="0" anchor="t"/>
          <a:lstStyle/>
          <a:p>
            <a:pPr marL="203200" indent="-203200">
              <a:spcAft>
                <a:spcPts val="400"/>
              </a:spcAft>
              <a:buSzPct val="100000"/>
              <a:buChar char="■"/>
            </a:pPr>
            <a:r>
              <a:rPr lang="en-US" sz="1350" dirty="0">
                <a:solidFill>
                  <a:srgbClr val="1E2329"/>
                </a:solidFill>
              </a:rPr>
              <a:t>Every Lodge has its own size, pace and character</a:t>
            </a:r>
            <a:endParaRPr lang="en-US" sz="1350" dirty="0"/>
          </a:p>
          <a:p>
            <a:pPr marL="203200" indent="-203200">
              <a:spcAft>
                <a:spcPts val="400"/>
              </a:spcAft>
              <a:buSzPct val="100000"/>
              <a:buChar char="■"/>
            </a:pPr>
            <a:r>
              <a:rPr lang="en-US" sz="1350" dirty="0">
                <a:solidFill>
                  <a:srgbClr val="1E2329"/>
                </a:solidFill>
              </a:rPr>
              <a:t>Ask your mentor or the Club to suggest a lively meeting to visit</a:t>
            </a:r>
            <a:endParaRPr lang="en-US" sz="1350" dirty="0"/>
          </a:p>
          <a:p>
            <a:pPr marL="203200" indent="-203200">
              <a:spcAft>
                <a:spcPts val="400"/>
              </a:spcAft>
              <a:buSzPct val="100000"/>
              <a:buChar char="■"/>
            </a:pPr>
            <a:r>
              <a:rPr lang="en-US" sz="1350" dirty="0">
                <a:solidFill>
                  <a:srgbClr val="1E2329"/>
                </a:solidFill>
              </a:rPr>
              <a:t>It often shows you what is great about your own</a:t>
            </a:r>
            <a:endParaRPr lang="en-US" sz="135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06345D"/>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itle"/>
          <p:cNvSpPr txBox="1"/>
          <p:nvPr/>
        </p:nvSpPr>
        <p:spPr>
          <a:xfrm>
            <a:off x="548640" y="411480"/>
            <a:ext cx="11091672" cy="731520"/>
          </a:xfrm>
          <a:prstGeom prst="rect">
            <a:avLst/>
          </a:prstGeom>
          <a:noFill/>
          <a:ln/>
        </p:spPr>
        <p:txBody>
          <a:bodyPr wrap="square" lIns="0" tIns="0" rIns="0" bIns="0" rtlCol="0" anchor="ctr"/>
          <a:lstStyle/>
          <a:p>
            <a:pPr marL="0" indent="0">
              <a:buNone/>
            </a:pPr>
            <a:r>
              <a:rPr lang="en-US" sz="3200" b="1" dirty="0">
                <a:solidFill>
                  <a:srgbClr val="003668"/>
                </a:solidFill>
              </a:rPr>
              <a:t>The questions you asked, and a few you will</a:t>
            </a:r>
            <a:endParaRPr lang="en-US" sz="3200" dirty="0"/>
          </a:p>
        </p:txBody>
      </p:sp>
      <p:sp>
        <p:nvSpPr>
          <p:cNvPr id="3" name="FAQ What do I tell peopl"/>
          <p:cNvSpPr/>
          <p:nvPr/>
        </p:nvSpPr>
        <p:spPr>
          <a:xfrm>
            <a:off x="548640" y="1280160"/>
            <a:ext cx="3611880" cy="2194560"/>
          </a:xfrm>
          <a:prstGeom prst="roundRect">
            <a:avLst>
              <a:gd name="adj" fmla="val 3333"/>
            </a:avLst>
          </a:prstGeom>
          <a:solidFill>
            <a:srgbClr val="F2F7FC"/>
          </a:solidFill>
          <a:ln w="12700">
            <a:solidFill>
              <a:srgbClr val="F2F7FC"/>
            </a:solidFill>
            <a:prstDash val="solid"/>
          </a:ln>
        </p:spPr>
        <p:txBody>
          <a:bodyPr/>
          <a:lstStyle/>
          <a:p>
            <a:endParaRPr lang="en-GB"/>
          </a:p>
        </p:txBody>
      </p:sp>
      <p:sp>
        <p:nvSpPr>
          <p:cNvPr id="4" name="Text 2"/>
          <p:cNvSpPr txBox="1"/>
          <p:nvPr/>
        </p:nvSpPr>
        <p:spPr>
          <a:xfrm>
            <a:off x="777240" y="1417320"/>
            <a:ext cx="3154680" cy="457200"/>
          </a:xfrm>
          <a:prstGeom prst="rect">
            <a:avLst/>
          </a:prstGeom>
          <a:noFill/>
          <a:ln/>
        </p:spPr>
        <p:txBody>
          <a:bodyPr wrap="square" lIns="0" tIns="0" rIns="0" bIns="0" rtlCol="0" anchor="t"/>
          <a:lstStyle/>
          <a:p>
            <a:pPr marL="0" indent="0">
              <a:buNone/>
            </a:pPr>
            <a:r>
              <a:rPr lang="en-US" sz="1500" b="1" dirty="0">
                <a:solidFill>
                  <a:srgbClr val="003668"/>
                </a:solidFill>
              </a:rPr>
              <a:t>What do I tell people at work?</a:t>
            </a:r>
            <a:endParaRPr lang="en-US" sz="1500" dirty="0"/>
          </a:p>
        </p:txBody>
      </p:sp>
      <p:sp>
        <p:nvSpPr>
          <p:cNvPr id="5" name="Text 3"/>
          <p:cNvSpPr txBox="1"/>
          <p:nvPr/>
        </p:nvSpPr>
        <p:spPr>
          <a:xfrm>
            <a:off x="777240" y="1847088"/>
            <a:ext cx="3154680" cy="1508760"/>
          </a:xfrm>
          <a:prstGeom prst="rect">
            <a:avLst/>
          </a:prstGeom>
          <a:noFill/>
          <a:ln/>
        </p:spPr>
        <p:txBody>
          <a:bodyPr wrap="square" lIns="0" tIns="0" rIns="0" bIns="0" rtlCol="0" anchor="t"/>
          <a:lstStyle/>
          <a:p>
            <a:pPr marL="0" indent="0">
              <a:buNone/>
            </a:pPr>
            <a:r>
              <a:rPr lang="en-US" sz="1250" dirty="0">
                <a:solidFill>
                  <a:srgbClr val="1E2329"/>
                </a:solidFill>
              </a:rPr>
              <a:t>The truth: you have joined a Lodge, you meet a few times a year, there is a dinner, and it raises a lot for charity.</a:t>
            </a:r>
            <a:endParaRPr lang="en-US" sz="1250" dirty="0"/>
          </a:p>
        </p:txBody>
      </p:sp>
      <p:sp>
        <p:nvSpPr>
          <p:cNvPr id="6" name="FAQ Can I post about it "/>
          <p:cNvSpPr/>
          <p:nvPr/>
        </p:nvSpPr>
        <p:spPr>
          <a:xfrm>
            <a:off x="4297680" y="1280160"/>
            <a:ext cx="3611880" cy="2194560"/>
          </a:xfrm>
          <a:prstGeom prst="roundRect">
            <a:avLst>
              <a:gd name="adj" fmla="val 3333"/>
            </a:avLst>
          </a:prstGeom>
          <a:solidFill>
            <a:srgbClr val="F2F7FC"/>
          </a:solidFill>
          <a:ln w="12700">
            <a:solidFill>
              <a:srgbClr val="F2F7FC"/>
            </a:solidFill>
            <a:prstDash val="solid"/>
          </a:ln>
        </p:spPr>
        <p:txBody>
          <a:bodyPr/>
          <a:lstStyle/>
          <a:p>
            <a:endParaRPr lang="en-GB"/>
          </a:p>
        </p:txBody>
      </p:sp>
      <p:sp>
        <p:nvSpPr>
          <p:cNvPr id="7" name="Text 5"/>
          <p:cNvSpPr txBox="1"/>
          <p:nvPr/>
        </p:nvSpPr>
        <p:spPr>
          <a:xfrm>
            <a:off x="4526280" y="1417320"/>
            <a:ext cx="3154680" cy="457200"/>
          </a:xfrm>
          <a:prstGeom prst="rect">
            <a:avLst/>
          </a:prstGeom>
          <a:noFill/>
          <a:ln/>
        </p:spPr>
        <p:txBody>
          <a:bodyPr wrap="square" lIns="0" tIns="0" rIns="0" bIns="0" rtlCol="0" anchor="t"/>
          <a:lstStyle/>
          <a:p>
            <a:pPr marL="0" indent="0">
              <a:buNone/>
            </a:pPr>
            <a:r>
              <a:rPr lang="en-US" sz="1500" b="1" dirty="0">
                <a:solidFill>
                  <a:srgbClr val="0A4F72"/>
                </a:solidFill>
              </a:rPr>
              <a:t>Can I post about it online?</a:t>
            </a:r>
            <a:endParaRPr lang="en-US" sz="1500" dirty="0"/>
          </a:p>
        </p:txBody>
      </p:sp>
      <p:sp>
        <p:nvSpPr>
          <p:cNvPr id="8" name="Text 6"/>
          <p:cNvSpPr txBox="1"/>
          <p:nvPr/>
        </p:nvSpPr>
        <p:spPr>
          <a:xfrm>
            <a:off x="4526280" y="1847088"/>
            <a:ext cx="3154680" cy="1508760"/>
          </a:xfrm>
          <a:prstGeom prst="rect">
            <a:avLst/>
          </a:prstGeom>
          <a:noFill/>
          <a:ln/>
        </p:spPr>
        <p:txBody>
          <a:bodyPr wrap="square" lIns="0" tIns="0" rIns="0" bIns="0" rtlCol="0" anchor="t"/>
          <a:lstStyle/>
          <a:p>
            <a:pPr marL="0" indent="0">
              <a:buNone/>
            </a:pPr>
            <a:r>
              <a:rPr lang="en-US" sz="1250" dirty="0">
                <a:solidFill>
                  <a:srgbClr val="1E2329"/>
                </a:solidFill>
              </a:rPr>
              <a:t>Yes, with judgement. Festive Board and charity photos, fine; anything from inside the Lodge room, not.</a:t>
            </a:r>
            <a:endParaRPr lang="en-US" sz="1250" dirty="0"/>
          </a:p>
        </p:txBody>
      </p:sp>
      <p:sp>
        <p:nvSpPr>
          <p:cNvPr id="9" name="FAQ What is a White Tabl"/>
          <p:cNvSpPr/>
          <p:nvPr/>
        </p:nvSpPr>
        <p:spPr>
          <a:xfrm>
            <a:off x="8046720" y="1280160"/>
            <a:ext cx="3611880" cy="2194560"/>
          </a:xfrm>
          <a:prstGeom prst="roundRect">
            <a:avLst>
              <a:gd name="adj" fmla="val 3333"/>
            </a:avLst>
          </a:prstGeom>
          <a:solidFill>
            <a:srgbClr val="F2F7FC"/>
          </a:solidFill>
          <a:ln w="12700">
            <a:solidFill>
              <a:srgbClr val="F2F7FC"/>
            </a:solidFill>
            <a:prstDash val="solid"/>
          </a:ln>
        </p:spPr>
        <p:txBody>
          <a:bodyPr/>
          <a:lstStyle/>
          <a:p>
            <a:endParaRPr lang="en-GB"/>
          </a:p>
        </p:txBody>
      </p:sp>
      <p:sp>
        <p:nvSpPr>
          <p:cNvPr id="10" name="Text 8"/>
          <p:cNvSpPr txBox="1"/>
          <p:nvPr/>
        </p:nvSpPr>
        <p:spPr>
          <a:xfrm>
            <a:off x="8275320" y="1417320"/>
            <a:ext cx="3154680" cy="457200"/>
          </a:xfrm>
          <a:prstGeom prst="rect">
            <a:avLst/>
          </a:prstGeom>
          <a:noFill/>
          <a:ln/>
        </p:spPr>
        <p:txBody>
          <a:bodyPr wrap="square" lIns="0" tIns="0" rIns="0" bIns="0" rtlCol="0" anchor="t"/>
          <a:lstStyle/>
          <a:p>
            <a:pPr marL="0" indent="0">
              <a:buNone/>
            </a:pPr>
            <a:r>
              <a:rPr lang="en-US" sz="1500" b="1" dirty="0">
                <a:solidFill>
                  <a:srgbClr val="106576"/>
                </a:solidFill>
              </a:rPr>
              <a:t>What is a White Table?</a:t>
            </a:r>
            <a:endParaRPr lang="en-US" sz="1500" dirty="0"/>
          </a:p>
        </p:txBody>
      </p:sp>
      <p:sp>
        <p:nvSpPr>
          <p:cNvPr id="11" name="Text 9"/>
          <p:cNvSpPr txBox="1"/>
          <p:nvPr/>
        </p:nvSpPr>
        <p:spPr>
          <a:xfrm>
            <a:off x="8275320" y="1847088"/>
            <a:ext cx="3154680" cy="1508760"/>
          </a:xfrm>
          <a:prstGeom prst="rect">
            <a:avLst/>
          </a:prstGeom>
          <a:noFill/>
          <a:ln/>
        </p:spPr>
        <p:txBody>
          <a:bodyPr wrap="square" lIns="0" tIns="0" rIns="0" bIns="0" rtlCol="0" anchor="t"/>
          <a:lstStyle/>
          <a:p>
            <a:pPr marL="0" indent="0">
              <a:buNone/>
            </a:pPr>
            <a:r>
              <a:rPr lang="en-US" sz="1250" dirty="0">
                <a:solidFill>
                  <a:srgbClr val="1E2329"/>
                </a:solidFill>
              </a:rPr>
              <a:t>Partners are invited to dine, and sometimes into the meeting, which is then not tyled. A lovely way to show them what you do.</a:t>
            </a:r>
            <a:endParaRPr lang="en-US" sz="1250" dirty="0"/>
          </a:p>
        </p:txBody>
      </p:sp>
      <p:sp>
        <p:nvSpPr>
          <p:cNvPr id="12" name="FAQ What is a Ladies Nig"/>
          <p:cNvSpPr/>
          <p:nvPr/>
        </p:nvSpPr>
        <p:spPr>
          <a:xfrm>
            <a:off x="548640" y="3611880"/>
            <a:ext cx="3611880" cy="2194560"/>
          </a:xfrm>
          <a:prstGeom prst="roundRect">
            <a:avLst>
              <a:gd name="adj" fmla="val 3333"/>
            </a:avLst>
          </a:prstGeom>
          <a:solidFill>
            <a:srgbClr val="F2F7FC"/>
          </a:solidFill>
          <a:ln w="12700">
            <a:solidFill>
              <a:srgbClr val="F2F7FC"/>
            </a:solidFill>
            <a:prstDash val="solid"/>
          </a:ln>
        </p:spPr>
        <p:txBody>
          <a:bodyPr/>
          <a:lstStyle/>
          <a:p>
            <a:endParaRPr lang="en-GB"/>
          </a:p>
        </p:txBody>
      </p:sp>
      <p:sp>
        <p:nvSpPr>
          <p:cNvPr id="13" name="Text 11"/>
          <p:cNvSpPr txBox="1"/>
          <p:nvPr/>
        </p:nvSpPr>
        <p:spPr>
          <a:xfrm>
            <a:off x="777240" y="3749040"/>
            <a:ext cx="3154680" cy="457200"/>
          </a:xfrm>
          <a:prstGeom prst="rect">
            <a:avLst/>
          </a:prstGeom>
          <a:noFill/>
          <a:ln/>
        </p:spPr>
        <p:txBody>
          <a:bodyPr wrap="square" lIns="0" tIns="0" rIns="0" bIns="0" rtlCol="0" anchor="t"/>
          <a:lstStyle/>
          <a:p>
            <a:pPr marL="0" indent="0">
              <a:buNone/>
            </a:pPr>
            <a:r>
              <a:rPr lang="en-US" sz="1500" b="1" dirty="0">
                <a:solidFill>
                  <a:srgbClr val="157A7C"/>
                </a:solidFill>
              </a:rPr>
              <a:t>What is a Ladies Night?</a:t>
            </a:r>
            <a:endParaRPr lang="en-US" sz="1500" dirty="0"/>
          </a:p>
        </p:txBody>
      </p:sp>
      <p:sp>
        <p:nvSpPr>
          <p:cNvPr id="14" name="Text 12"/>
          <p:cNvSpPr txBox="1"/>
          <p:nvPr/>
        </p:nvSpPr>
        <p:spPr>
          <a:xfrm>
            <a:off x="777240" y="4178808"/>
            <a:ext cx="3154680" cy="1508760"/>
          </a:xfrm>
          <a:prstGeom prst="rect">
            <a:avLst/>
          </a:prstGeom>
          <a:noFill/>
          <a:ln/>
        </p:spPr>
        <p:txBody>
          <a:bodyPr wrap="square" lIns="0" tIns="0" rIns="0" bIns="0" rtlCol="0" anchor="t"/>
          <a:lstStyle/>
          <a:p>
            <a:pPr marL="0" indent="0">
              <a:buNone/>
            </a:pPr>
            <a:r>
              <a:rPr lang="en-US" sz="1250" dirty="0">
                <a:solidFill>
                  <a:srgbClr val="1E2329"/>
                </a:solidFill>
              </a:rPr>
              <a:t>The Master’s formal dinner each year, often with a dance, raising money for his charity. Some Lodges go away for a weekend.</a:t>
            </a:r>
            <a:endParaRPr lang="en-US" sz="1250" dirty="0"/>
          </a:p>
        </p:txBody>
      </p:sp>
      <p:sp>
        <p:nvSpPr>
          <p:cNvPr id="15" name="FAQ What is the Royal Ar"/>
          <p:cNvSpPr/>
          <p:nvPr/>
        </p:nvSpPr>
        <p:spPr>
          <a:xfrm>
            <a:off x="4297680" y="3611880"/>
            <a:ext cx="3611880" cy="2194560"/>
          </a:xfrm>
          <a:prstGeom prst="roundRect">
            <a:avLst>
              <a:gd name="adj" fmla="val 3333"/>
            </a:avLst>
          </a:prstGeom>
          <a:solidFill>
            <a:srgbClr val="F2F7FC"/>
          </a:solidFill>
          <a:ln w="12700">
            <a:solidFill>
              <a:srgbClr val="F2F7FC"/>
            </a:solidFill>
            <a:prstDash val="solid"/>
          </a:ln>
        </p:spPr>
        <p:txBody>
          <a:bodyPr/>
          <a:lstStyle/>
          <a:p>
            <a:endParaRPr lang="en-GB"/>
          </a:p>
        </p:txBody>
      </p:sp>
      <p:sp>
        <p:nvSpPr>
          <p:cNvPr id="16" name="Text 14"/>
          <p:cNvSpPr txBox="1"/>
          <p:nvPr/>
        </p:nvSpPr>
        <p:spPr>
          <a:xfrm>
            <a:off x="4526280" y="3749040"/>
            <a:ext cx="3154680" cy="457200"/>
          </a:xfrm>
          <a:prstGeom prst="rect">
            <a:avLst/>
          </a:prstGeom>
          <a:noFill/>
          <a:ln/>
        </p:spPr>
        <p:txBody>
          <a:bodyPr wrap="square" lIns="0" tIns="0" rIns="0" bIns="0" rtlCol="0" anchor="t"/>
          <a:lstStyle/>
          <a:p>
            <a:pPr marL="0" indent="0">
              <a:buNone/>
            </a:pPr>
            <a:r>
              <a:rPr lang="en-US" sz="1500" b="1" dirty="0">
                <a:solidFill>
                  <a:srgbClr val="003668"/>
                </a:solidFill>
              </a:rPr>
              <a:t>What is the Royal Arch?</a:t>
            </a:r>
            <a:endParaRPr lang="en-US" sz="1500" dirty="0"/>
          </a:p>
        </p:txBody>
      </p:sp>
      <p:sp>
        <p:nvSpPr>
          <p:cNvPr id="17" name="Text 15"/>
          <p:cNvSpPr txBox="1"/>
          <p:nvPr/>
        </p:nvSpPr>
        <p:spPr>
          <a:xfrm>
            <a:off x="4526280" y="4178808"/>
            <a:ext cx="3154680" cy="1508760"/>
          </a:xfrm>
          <a:prstGeom prst="rect">
            <a:avLst/>
          </a:prstGeom>
          <a:noFill/>
          <a:ln/>
        </p:spPr>
        <p:txBody>
          <a:bodyPr wrap="square" lIns="0" tIns="0" rIns="0" bIns="0" rtlCol="0" anchor="t"/>
          <a:lstStyle/>
          <a:p>
            <a:pPr marL="0" indent="0">
              <a:buNone/>
            </a:pPr>
            <a:r>
              <a:rPr lang="en-US" sz="1250" dirty="0">
                <a:solidFill>
                  <a:srgbClr val="1E2329"/>
                </a:solidFill>
              </a:rPr>
              <a:t>It completes Pure Antient Masonry and is your fourth ceremony. Your Royal Arch Representative will explain it when you are ready.</a:t>
            </a:r>
            <a:endParaRPr lang="en-US" sz="1250" dirty="0"/>
          </a:p>
        </p:txBody>
      </p:sp>
      <p:sp>
        <p:nvSpPr>
          <p:cNvPr id="18" name="FAQ What if I am struggl"/>
          <p:cNvSpPr/>
          <p:nvPr/>
        </p:nvSpPr>
        <p:spPr>
          <a:xfrm>
            <a:off x="8046720" y="3611880"/>
            <a:ext cx="3611880" cy="2194560"/>
          </a:xfrm>
          <a:prstGeom prst="roundRect">
            <a:avLst>
              <a:gd name="adj" fmla="val 3333"/>
            </a:avLst>
          </a:prstGeom>
          <a:solidFill>
            <a:srgbClr val="F2F7FC"/>
          </a:solidFill>
          <a:ln w="12700">
            <a:solidFill>
              <a:srgbClr val="F2F7FC"/>
            </a:solidFill>
            <a:prstDash val="solid"/>
          </a:ln>
        </p:spPr>
        <p:txBody>
          <a:bodyPr/>
          <a:lstStyle/>
          <a:p>
            <a:endParaRPr lang="en-GB"/>
          </a:p>
        </p:txBody>
      </p:sp>
      <p:sp>
        <p:nvSpPr>
          <p:cNvPr id="19" name="Text 17"/>
          <p:cNvSpPr txBox="1"/>
          <p:nvPr/>
        </p:nvSpPr>
        <p:spPr>
          <a:xfrm>
            <a:off x="8275320" y="3749040"/>
            <a:ext cx="3154680" cy="457200"/>
          </a:xfrm>
          <a:prstGeom prst="rect">
            <a:avLst/>
          </a:prstGeom>
          <a:noFill/>
          <a:ln/>
        </p:spPr>
        <p:txBody>
          <a:bodyPr wrap="square" lIns="0" tIns="0" rIns="0" bIns="0" rtlCol="0" anchor="t"/>
          <a:lstStyle/>
          <a:p>
            <a:pPr marL="0" indent="0">
              <a:buNone/>
            </a:pPr>
            <a:r>
              <a:rPr lang="en-US" sz="1500" b="1" dirty="0">
                <a:solidFill>
                  <a:srgbClr val="0A4F72"/>
                </a:solidFill>
              </a:rPr>
              <a:t>What if I am struggling?</a:t>
            </a:r>
            <a:endParaRPr lang="en-US" sz="1500" dirty="0"/>
          </a:p>
        </p:txBody>
      </p:sp>
      <p:sp>
        <p:nvSpPr>
          <p:cNvPr id="20" name="Text 18"/>
          <p:cNvSpPr txBox="1"/>
          <p:nvPr/>
        </p:nvSpPr>
        <p:spPr>
          <a:xfrm>
            <a:off x="8275320" y="4178808"/>
            <a:ext cx="3154680" cy="1508760"/>
          </a:xfrm>
          <a:prstGeom prst="rect">
            <a:avLst/>
          </a:prstGeom>
          <a:noFill/>
          <a:ln/>
        </p:spPr>
        <p:txBody>
          <a:bodyPr wrap="square" lIns="0" tIns="0" rIns="0" bIns="0" rtlCol="0" anchor="t"/>
          <a:lstStyle/>
          <a:p>
            <a:pPr marL="0" indent="0">
              <a:buNone/>
            </a:pPr>
            <a:r>
              <a:rPr lang="en-US" sz="1250" dirty="0">
                <a:solidFill>
                  <a:srgbClr val="1E2329"/>
                </a:solidFill>
              </a:rPr>
              <a:t>Say so, early, to anyone: your mentor, the Almoner, the Club. The question is always “How can we help?”.</a:t>
            </a:r>
            <a:endParaRPr lang="en-US" sz="125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06345D"/>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itle"/>
          <p:cNvSpPr txBox="1"/>
          <p:nvPr/>
        </p:nvSpPr>
        <p:spPr>
          <a:xfrm>
            <a:off x="548640" y="411480"/>
            <a:ext cx="11091672" cy="731520"/>
          </a:xfrm>
          <a:prstGeom prst="rect">
            <a:avLst/>
          </a:prstGeom>
          <a:noFill/>
          <a:ln/>
        </p:spPr>
        <p:txBody>
          <a:bodyPr wrap="square" lIns="0" tIns="0" rIns="0" bIns="0" rtlCol="0" anchor="ctr"/>
          <a:lstStyle/>
          <a:p>
            <a:pPr marL="0" indent="0">
              <a:buNone/>
            </a:pPr>
            <a:r>
              <a:rPr lang="en-US" sz="3200" b="1" dirty="0">
                <a:solidFill>
                  <a:srgbClr val="003668"/>
                </a:solidFill>
              </a:rPr>
              <a:t>Words you will hear</a:t>
            </a:r>
            <a:endParaRPr lang="en-US" sz="3200" dirty="0"/>
          </a:p>
        </p:txBody>
      </p:sp>
      <p:sp>
        <p:nvSpPr>
          <p:cNvPr id="3" name="Term Summons"/>
          <p:cNvSpPr/>
          <p:nvPr/>
        </p:nvSpPr>
        <p:spPr>
          <a:xfrm>
            <a:off x="548640" y="1325880"/>
            <a:ext cx="2679192" cy="2011680"/>
          </a:xfrm>
          <a:prstGeom prst="roundRect">
            <a:avLst>
              <a:gd name="adj" fmla="val 3636"/>
            </a:avLst>
          </a:prstGeom>
          <a:solidFill>
            <a:srgbClr val="F2F7FC"/>
          </a:solidFill>
          <a:ln w="12700">
            <a:solidFill>
              <a:srgbClr val="F2F7FC"/>
            </a:solidFill>
            <a:prstDash val="solid"/>
          </a:ln>
        </p:spPr>
        <p:txBody>
          <a:bodyPr/>
          <a:lstStyle/>
          <a:p>
            <a:endParaRPr lang="en-GB"/>
          </a:p>
        </p:txBody>
      </p:sp>
      <p:sp>
        <p:nvSpPr>
          <p:cNvPr id="4" name="Text 2"/>
          <p:cNvSpPr txBox="1"/>
          <p:nvPr/>
        </p:nvSpPr>
        <p:spPr>
          <a:xfrm>
            <a:off x="731520" y="1435608"/>
            <a:ext cx="2313432" cy="365760"/>
          </a:xfrm>
          <a:prstGeom prst="rect">
            <a:avLst/>
          </a:prstGeom>
          <a:noFill/>
          <a:ln/>
        </p:spPr>
        <p:txBody>
          <a:bodyPr wrap="square" lIns="0" tIns="0" rIns="0" bIns="0" rtlCol="0" anchor="t"/>
          <a:lstStyle/>
          <a:p>
            <a:pPr marL="0" indent="0">
              <a:buNone/>
            </a:pPr>
            <a:r>
              <a:rPr lang="en-US" sz="1500" b="1" dirty="0">
                <a:solidFill>
                  <a:srgbClr val="003668"/>
                </a:solidFill>
              </a:rPr>
              <a:t>Summons</a:t>
            </a:r>
            <a:endParaRPr lang="en-US" sz="1500" dirty="0"/>
          </a:p>
        </p:txBody>
      </p:sp>
      <p:sp>
        <p:nvSpPr>
          <p:cNvPr id="5" name="Text 3"/>
          <p:cNvSpPr txBox="1"/>
          <p:nvPr/>
        </p:nvSpPr>
        <p:spPr>
          <a:xfrm>
            <a:off x="731520" y="1801368"/>
            <a:ext cx="2313432" cy="1463040"/>
          </a:xfrm>
          <a:prstGeom prst="rect">
            <a:avLst/>
          </a:prstGeom>
          <a:noFill/>
          <a:ln/>
        </p:spPr>
        <p:txBody>
          <a:bodyPr wrap="square" lIns="0" tIns="0" rIns="0" bIns="0" rtlCol="0" anchor="t"/>
          <a:lstStyle/>
          <a:p>
            <a:pPr marL="0" indent="0">
              <a:buNone/>
            </a:pPr>
            <a:r>
              <a:rPr lang="en-US" sz="1250" dirty="0">
                <a:solidFill>
                  <a:srgbClr val="1E2329"/>
                </a:solidFill>
              </a:rPr>
              <a:t>The notice of a meeting. Read it; most answers are in it.</a:t>
            </a:r>
            <a:endParaRPr lang="en-US" sz="1250" dirty="0"/>
          </a:p>
        </p:txBody>
      </p:sp>
      <p:sp>
        <p:nvSpPr>
          <p:cNvPr id="6" name="Term Festive Board"/>
          <p:cNvSpPr/>
          <p:nvPr/>
        </p:nvSpPr>
        <p:spPr>
          <a:xfrm>
            <a:off x="3346704" y="1325880"/>
            <a:ext cx="2679192" cy="2011680"/>
          </a:xfrm>
          <a:prstGeom prst="roundRect">
            <a:avLst>
              <a:gd name="adj" fmla="val 3636"/>
            </a:avLst>
          </a:prstGeom>
          <a:solidFill>
            <a:srgbClr val="F2F7FC"/>
          </a:solidFill>
          <a:ln w="12700">
            <a:solidFill>
              <a:srgbClr val="F2F7FC"/>
            </a:solidFill>
            <a:prstDash val="solid"/>
          </a:ln>
        </p:spPr>
        <p:txBody>
          <a:bodyPr/>
          <a:lstStyle/>
          <a:p>
            <a:endParaRPr lang="en-GB"/>
          </a:p>
        </p:txBody>
      </p:sp>
      <p:sp>
        <p:nvSpPr>
          <p:cNvPr id="7" name="Text 5"/>
          <p:cNvSpPr txBox="1"/>
          <p:nvPr/>
        </p:nvSpPr>
        <p:spPr>
          <a:xfrm>
            <a:off x="3529584" y="1435608"/>
            <a:ext cx="2313432" cy="365760"/>
          </a:xfrm>
          <a:prstGeom prst="rect">
            <a:avLst/>
          </a:prstGeom>
          <a:noFill/>
          <a:ln/>
        </p:spPr>
        <p:txBody>
          <a:bodyPr wrap="square" lIns="0" tIns="0" rIns="0" bIns="0" rtlCol="0" anchor="t"/>
          <a:lstStyle/>
          <a:p>
            <a:pPr marL="0" indent="0">
              <a:buNone/>
            </a:pPr>
            <a:r>
              <a:rPr lang="en-US" sz="1500" b="1" dirty="0">
                <a:solidFill>
                  <a:srgbClr val="0A4F72"/>
                </a:solidFill>
              </a:rPr>
              <a:t>Festive Board</a:t>
            </a:r>
            <a:endParaRPr lang="en-US" sz="1500" dirty="0"/>
          </a:p>
        </p:txBody>
      </p:sp>
      <p:sp>
        <p:nvSpPr>
          <p:cNvPr id="8" name="Text 6"/>
          <p:cNvSpPr txBox="1"/>
          <p:nvPr/>
        </p:nvSpPr>
        <p:spPr>
          <a:xfrm>
            <a:off x="3529584" y="1801368"/>
            <a:ext cx="2313432" cy="1463040"/>
          </a:xfrm>
          <a:prstGeom prst="rect">
            <a:avLst/>
          </a:prstGeom>
          <a:noFill/>
          <a:ln/>
        </p:spPr>
        <p:txBody>
          <a:bodyPr wrap="square" lIns="0" tIns="0" rIns="0" bIns="0" rtlCol="0" anchor="t"/>
          <a:lstStyle/>
          <a:p>
            <a:pPr marL="0" indent="0">
              <a:buNone/>
            </a:pPr>
            <a:r>
              <a:rPr lang="en-US" sz="1250" dirty="0">
                <a:solidFill>
                  <a:srgbClr val="1E2329"/>
                </a:solidFill>
              </a:rPr>
              <a:t>The meal after the meeting, where friendships are made.</a:t>
            </a:r>
            <a:endParaRPr lang="en-US" sz="1250" dirty="0"/>
          </a:p>
        </p:txBody>
      </p:sp>
      <p:sp>
        <p:nvSpPr>
          <p:cNvPr id="9" name="Term Lodge of Instruction"/>
          <p:cNvSpPr/>
          <p:nvPr/>
        </p:nvSpPr>
        <p:spPr>
          <a:xfrm>
            <a:off x="6144768" y="1325880"/>
            <a:ext cx="2679192" cy="2011680"/>
          </a:xfrm>
          <a:prstGeom prst="roundRect">
            <a:avLst>
              <a:gd name="adj" fmla="val 3636"/>
            </a:avLst>
          </a:prstGeom>
          <a:solidFill>
            <a:srgbClr val="F2F7FC"/>
          </a:solidFill>
          <a:ln w="12700">
            <a:solidFill>
              <a:srgbClr val="F2F7FC"/>
            </a:solidFill>
            <a:prstDash val="solid"/>
          </a:ln>
        </p:spPr>
        <p:txBody>
          <a:bodyPr/>
          <a:lstStyle/>
          <a:p>
            <a:endParaRPr lang="en-GB"/>
          </a:p>
        </p:txBody>
      </p:sp>
      <p:sp>
        <p:nvSpPr>
          <p:cNvPr id="10" name="Text 8"/>
          <p:cNvSpPr txBox="1"/>
          <p:nvPr/>
        </p:nvSpPr>
        <p:spPr>
          <a:xfrm>
            <a:off x="6327648" y="1435608"/>
            <a:ext cx="2313432" cy="365760"/>
          </a:xfrm>
          <a:prstGeom prst="rect">
            <a:avLst/>
          </a:prstGeom>
          <a:noFill/>
          <a:ln/>
        </p:spPr>
        <p:txBody>
          <a:bodyPr wrap="square" lIns="0" tIns="0" rIns="0" bIns="0" rtlCol="0" anchor="t"/>
          <a:lstStyle/>
          <a:p>
            <a:pPr marL="0" indent="0">
              <a:buNone/>
            </a:pPr>
            <a:r>
              <a:rPr lang="en-US" sz="1500" b="1" dirty="0">
                <a:solidFill>
                  <a:srgbClr val="106576"/>
                </a:solidFill>
              </a:rPr>
              <a:t>Lodge of Instruction</a:t>
            </a:r>
            <a:endParaRPr lang="en-US" sz="1500" dirty="0"/>
          </a:p>
        </p:txBody>
      </p:sp>
      <p:sp>
        <p:nvSpPr>
          <p:cNvPr id="11" name="Text 9"/>
          <p:cNvSpPr txBox="1"/>
          <p:nvPr/>
        </p:nvSpPr>
        <p:spPr>
          <a:xfrm>
            <a:off x="6327648" y="1801368"/>
            <a:ext cx="2313432" cy="1463040"/>
          </a:xfrm>
          <a:prstGeom prst="rect">
            <a:avLst/>
          </a:prstGeom>
          <a:noFill/>
          <a:ln/>
        </p:spPr>
        <p:txBody>
          <a:bodyPr wrap="square" lIns="0" tIns="0" rIns="0" bIns="0" rtlCol="0" anchor="t"/>
          <a:lstStyle/>
          <a:p>
            <a:pPr marL="0" indent="0">
              <a:buNone/>
            </a:pPr>
            <a:r>
              <a:rPr lang="en-US" sz="1250" dirty="0">
                <a:solidFill>
                  <a:srgbClr val="1E2329"/>
                </a:solidFill>
              </a:rPr>
              <a:t>The informal rehearsal. Go, even without an office.</a:t>
            </a:r>
            <a:endParaRPr lang="en-US" sz="1250" dirty="0"/>
          </a:p>
        </p:txBody>
      </p:sp>
      <p:sp>
        <p:nvSpPr>
          <p:cNvPr id="12" name="Term Installation"/>
          <p:cNvSpPr/>
          <p:nvPr/>
        </p:nvSpPr>
        <p:spPr>
          <a:xfrm>
            <a:off x="8942832" y="1325880"/>
            <a:ext cx="2679192" cy="2011680"/>
          </a:xfrm>
          <a:prstGeom prst="roundRect">
            <a:avLst>
              <a:gd name="adj" fmla="val 3636"/>
            </a:avLst>
          </a:prstGeom>
          <a:solidFill>
            <a:srgbClr val="F2F7FC"/>
          </a:solidFill>
          <a:ln w="12700">
            <a:solidFill>
              <a:srgbClr val="F2F7FC"/>
            </a:solidFill>
            <a:prstDash val="solid"/>
          </a:ln>
        </p:spPr>
        <p:txBody>
          <a:bodyPr/>
          <a:lstStyle/>
          <a:p>
            <a:endParaRPr lang="en-GB"/>
          </a:p>
        </p:txBody>
      </p:sp>
      <p:sp>
        <p:nvSpPr>
          <p:cNvPr id="13" name="Text 11"/>
          <p:cNvSpPr txBox="1"/>
          <p:nvPr/>
        </p:nvSpPr>
        <p:spPr>
          <a:xfrm>
            <a:off x="9125712" y="1435608"/>
            <a:ext cx="2313432" cy="365760"/>
          </a:xfrm>
          <a:prstGeom prst="rect">
            <a:avLst/>
          </a:prstGeom>
          <a:noFill/>
          <a:ln/>
        </p:spPr>
        <p:txBody>
          <a:bodyPr wrap="square" lIns="0" tIns="0" rIns="0" bIns="0" rtlCol="0" anchor="t"/>
          <a:lstStyle/>
          <a:p>
            <a:pPr marL="0" indent="0">
              <a:buNone/>
            </a:pPr>
            <a:r>
              <a:rPr lang="en-US" sz="1500" b="1" dirty="0">
                <a:solidFill>
                  <a:srgbClr val="157A7C"/>
                </a:solidFill>
              </a:rPr>
              <a:t>Installation</a:t>
            </a:r>
            <a:endParaRPr lang="en-US" sz="1500" dirty="0"/>
          </a:p>
        </p:txBody>
      </p:sp>
      <p:sp>
        <p:nvSpPr>
          <p:cNvPr id="14" name="Text 12"/>
          <p:cNvSpPr txBox="1"/>
          <p:nvPr/>
        </p:nvSpPr>
        <p:spPr>
          <a:xfrm>
            <a:off x="9125712" y="1801368"/>
            <a:ext cx="2313432" cy="1463040"/>
          </a:xfrm>
          <a:prstGeom prst="rect">
            <a:avLst/>
          </a:prstGeom>
          <a:noFill/>
          <a:ln/>
        </p:spPr>
        <p:txBody>
          <a:bodyPr wrap="square" lIns="0" tIns="0" rIns="0" bIns="0" rtlCol="0" anchor="t"/>
          <a:lstStyle/>
          <a:p>
            <a:pPr marL="0" indent="0">
              <a:buNone/>
            </a:pPr>
            <a:r>
              <a:rPr lang="en-US" sz="1250" dirty="0">
                <a:solidFill>
                  <a:srgbClr val="1E2329"/>
                </a:solidFill>
              </a:rPr>
              <a:t>The yearly meeting where the new Master takes the Chair.</a:t>
            </a:r>
            <a:endParaRPr lang="en-US" sz="1250" dirty="0"/>
          </a:p>
        </p:txBody>
      </p:sp>
      <p:sp>
        <p:nvSpPr>
          <p:cNvPr id="15" name="Term Tyler"/>
          <p:cNvSpPr/>
          <p:nvPr/>
        </p:nvSpPr>
        <p:spPr>
          <a:xfrm>
            <a:off x="548640" y="3456432"/>
            <a:ext cx="2679192" cy="2011680"/>
          </a:xfrm>
          <a:prstGeom prst="roundRect">
            <a:avLst>
              <a:gd name="adj" fmla="val 3636"/>
            </a:avLst>
          </a:prstGeom>
          <a:solidFill>
            <a:srgbClr val="F2F7FC"/>
          </a:solidFill>
          <a:ln w="12700">
            <a:solidFill>
              <a:srgbClr val="F2F7FC"/>
            </a:solidFill>
            <a:prstDash val="solid"/>
          </a:ln>
        </p:spPr>
        <p:txBody>
          <a:bodyPr/>
          <a:lstStyle/>
          <a:p>
            <a:endParaRPr lang="en-GB"/>
          </a:p>
        </p:txBody>
      </p:sp>
      <p:sp>
        <p:nvSpPr>
          <p:cNvPr id="16" name="Text 14"/>
          <p:cNvSpPr txBox="1"/>
          <p:nvPr/>
        </p:nvSpPr>
        <p:spPr>
          <a:xfrm>
            <a:off x="731520" y="3566160"/>
            <a:ext cx="2313432" cy="365760"/>
          </a:xfrm>
          <a:prstGeom prst="rect">
            <a:avLst/>
          </a:prstGeom>
          <a:noFill/>
          <a:ln/>
        </p:spPr>
        <p:txBody>
          <a:bodyPr wrap="square" lIns="0" tIns="0" rIns="0" bIns="0" rtlCol="0" anchor="t"/>
          <a:lstStyle/>
          <a:p>
            <a:pPr marL="0" indent="0">
              <a:buNone/>
            </a:pPr>
            <a:r>
              <a:rPr lang="en-US" sz="1500" b="1" dirty="0">
                <a:solidFill>
                  <a:srgbClr val="003668"/>
                </a:solidFill>
              </a:rPr>
              <a:t>Tyler</a:t>
            </a:r>
            <a:endParaRPr lang="en-US" sz="1500" dirty="0"/>
          </a:p>
        </p:txBody>
      </p:sp>
      <p:sp>
        <p:nvSpPr>
          <p:cNvPr id="17" name="Text 15"/>
          <p:cNvSpPr txBox="1"/>
          <p:nvPr/>
        </p:nvSpPr>
        <p:spPr>
          <a:xfrm>
            <a:off x="731520" y="3931920"/>
            <a:ext cx="2313432" cy="1463040"/>
          </a:xfrm>
          <a:prstGeom prst="rect">
            <a:avLst/>
          </a:prstGeom>
          <a:noFill/>
          <a:ln/>
        </p:spPr>
        <p:txBody>
          <a:bodyPr wrap="square" lIns="0" tIns="0" rIns="0" bIns="0" rtlCol="0" anchor="t"/>
          <a:lstStyle/>
          <a:p>
            <a:pPr marL="0" indent="0">
              <a:buNone/>
            </a:pPr>
            <a:r>
              <a:rPr lang="en-US" sz="1250" dirty="0">
                <a:solidFill>
                  <a:srgbClr val="1E2329"/>
                </a:solidFill>
              </a:rPr>
              <a:t>The officer outside the door. The first person you met.</a:t>
            </a:r>
            <a:endParaRPr lang="en-US" sz="1250" dirty="0"/>
          </a:p>
        </p:txBody>
      </p:sp>
      <p:sp>
        <p:nvSpPr>
          <p:cNvPr id="18" name="Term DC"/>
          <p:cNvSpPr/>
          <p:nvPr/>
        </p:nvSpPr>
        <p:spPr>
          <a:xfrm>
            <a:off x="3346704" y="3456432"/>
            <a:ext cx="2679192" cy="2011680"/>
          </a:xfrm>
          <a:prstGeom prst="roundRect">
            <a:avLst>
              <a:gd name="adj" fmla="val 3636"/>
            </a:avLst>
          </a:prstGeom>
          <a:solidFill>
            <a:srgbClr val="F2F7FC"/>
          </a:solidFill>
          <a:ln w="12700">
            <a:solidFill>
              <a:srgbClr val="F2F7FC"/>
            </a:solidFill>
            <a:prstDash val="solid"/>
          </a:ln>
        </p:spPr>
        <p:txBody>
          <a:bodyPr/>
          <a:lstStyle/>
          <a:p>
            <a:endParaRPr lang="en-GB"/>
          </a:p>
        </p:txBody>
      </p:sp>
      <p:sp>
        <p:nvSpPr>
          <p:cNvPr id="19" name="Text 17"/>
          <p:cNvSpPr txBox="1"/>
          <p:nvPr/>
        </p:nvSpPr>
        <p:spPr>
          <a:xfrm>
            <a:off x="3529584" y="3566160"/>
            <a:ext cx="2313432" cy="365760"/>
          </a:xfrm>
          <a:prstGeom prst="rect">
            <a:avLst/>
          </a:prstGeom>
          <a:noFill/>
          <a:ln/>
        </p:spPr>
        <p:txBody>
          <a:bodyPr wrap="square" lIns="0" tIns="0" rIns="0" bIns="0" rtlCol="0" anchor="t"/>
          <a:lstStyle/>
          <a:p>
            <a:pPr marL="0" indent="0">
              <a:buNone/>
            </a:pPr>
            <a:r>
              <a:rPr lang="en-US" sz="1500" b="1" dirty="0">
                <a:solidFill>
                  <a:srgbClr val="0A4F72"/>
                </a:solidFill>
              </a:rPr>
              <a:t>DC</a:t>
            </a:r>
            <a:endParaRPr lang="en-US" sz="1500" dirty="0"/>
          </a:p>
        </p:txBody>
      </p:sp>
      <p:sp>
        <p:nvSpPr>
          <p:cNvPr id="20" name="Text 18"/>
          <p:cNvSpPr txBox="1"/>
          <p:nvPr/>
        </p:nvSpPr>
        <p:spPr>
          <a:xfrm>
            <a:off x="3529584" y="3931920"/>
            <a:ext cx="2313432" cy="1463040"/>
          </a:xfrm>
          <a:prstGeom prst="rect">
            <a:avLst/>
          </a:prstGeom>
          <a:noFill/>
          <a:ln/>
        </p:spPr>
        <p:txBody>
          <a:bodyPr wrap="square" lIns="0" tIns="0" rIns="0" bIns="0" rtlCol="0" anchor="t"/>
          <a:lstStyle/>
          <a:p>
            <a:pPr marL="0" indent="0">
              <a:buNone/>
            </a:pPr>
            <a:r>
              <a:rPr lang="en-US" sz="1250" dirty="0">
                <a:solidFill>
                  <a:srgbClr val="1E2329"/>
                </a:solidFill>
              </a:rPr>
              <a:t>Director of Ceremonies. Follow the DC.</a:t>
            </a:r>
            <a:endParaRPr lang="en-US" sz="1250" dirty="0"/>
          </a:p>
        </p:txBody>
      </p:sp>
      <p:sp>
        <p:nvSpPr>
          <p:cNvPr id="21" name="Term WM, SW, JW"/>
          <p:cNvSpPr/>
          <p:nvPr/>
        </p:nvSpPr>
        <p:spPr>
          <a:xfrm>
            <a:off x="6144768" y="3456432"/>
            <a:ext cx="2679192" cy="2011680"/>
          </a:xfrm>
          <a:prstGeom prst="roundRect">
            <a:avLst>
              <a:gd name="adj" fmla="val 3636"/>
            </a:avLst>
          </a:prstGeom>
          <a:solidFill>
            <a:srgbClr val="F2F7FC"/>
          </a:solidFill>
          <a:ln w="12700">
            <a:solidFill>
              <a:srgbClr val="F2F7FC"/>
            </a:solidFill>
            <a:prstDash val="solid"/>
          </a:ln>
        </p:spPr>
        <p:txBody>
          <a:bodyPr/>
          <a:lstStyle/>
          <a:p>
            <a:endParaRPr lang="en-GB"/>
          </a:p>
        </p:txBody>
      </p:sp>
      <p:sp>
        <p:nvSpPr>
          <p:cNvPr id="22" name="Text 20"/>
          <p:cNvSpPr txBox="1"/>
          <p:nvPr/>
        </p:nvSpPr>
        <p:spPr>
          <a:xfrm>
            <a:off x="6327648" y="3566160"/>
            <a:ext cx="2313432" cy="365760"/>
          </a:xfrm>
          <a:prstGeom prst="rect">
            <a:avLst/>
          </a:prstGeom>
          <a:noFill/>
          <a:ln/>
        </p:spPr>
        <p:txBody>
          <a:bodyPr wrap="square" lIns="0" tIns="0" rIns="0" bIns="0" rtlCol="0" anchor="t"/>
          <a:lstStyle/>
          <a:p>
            <a:pPr marL="0" indent="0">
              <a:buNone/>
            </a:pPr>
            <a:r>
              <a:rPr lang="en-US" sz="1500" b="1" dirty="0">
                <a:solidFill>
                  <a:srgbClr val="106576"/>
                </a:solidFill>
              </a:rPr>
              <a:t>WM, SW, JW</a:t>
            </a:r>
            <a:endParaRPr lang="en-US" sz="1500" dirty="0"/>
          </a:p>
        </p:txBody>
      </p:sp>
      <p:sp>
        <p:nvSpPr>
          <p:cNvPr id="23" name="Text 21"/>
          <p:cNvSpPr txBox="1"/>
          <p:nvPr/>
        </p:nvSpPr>
        <p:spPr>
          <a:xfrm>
            <a:off x="6327648" y="3931920"/>
            <a:ext cx="2313432" cy="1463040"/>
          </a:xfrm>
          <a:prstGeom prst="rect">
            <a:avLst/>
          </a:prstGeom>
          <a:noFill/>
          <a:ln/>
        </p:spPr>
        <p:txBody>
          <a:bodyPr wrap="square" lIns="0" tIns="0" rIns="0" bIns="0" rtlCol="0" anchor="t"/>
          <a:lstStyle/>
          <a:p>
            <a:pPr marL="0" indent="0">
              <a:buNone/>
            </a:pPr>
            <a:r>
              <a:rPr lang="en-US" sz="1250" dirty="0">
                <a:solidFill>
                  <a:srgbClr val="1E2329"/>
                </a:solidFill>
              </a:rPr>
              <a:t>Worshipful Master and his Senior and Junior Wardens.</a:t>
            </a:r>
            <a:endParaRPr lang="en-US" sz="1250" dirty="0"/>
          </a:p>
        </p:txBody>
      </p:sp>
      <p:sp>
        <p:nvSpPr>
          <p:cNvPr id="24" name="Term Operative, Speculative"/>
          <p:cNvSpPr/>
          <p:nvPr/>
        </p:nvSpPr>
        <p:spPr>
          <a:xfrm>
            <a:off x="8942832" y="3456432"/>
            <a:ext cx="2679192" cy="2011680"/>
          </a:xfrm>
          <a:prstGeom prst="roundRect">
            <a:avLst>
              <a:gd name="adj" fmla="val 3636"/>
            </a:avLst>
          </a:prstGeom>
          <a:solidFill>
            <a:srgbClr val="F2F7FC"/>
          </a:solidFill>
          <a:ln w="12700">
            <a:solidFill>
              <a:srgbClr val="F2F7FC"/>
            </a:solidFill>
            <a:prstDash val="solid"/>
          </a:ln>
        </p:spPr>
        <p:txBody>
          <a:bodyPr/>
          <a:lstStyle/>
          <a:p>
            <a:endParaRPr lang="en-GB"/>
          </a:p>
        </p:txBody>
      </p:sp>
      <p:sp>
        <p:nvSpPr>
          <p:cNvPr id="25" name="Text 23"/>
          <p:cNvSpPr txBox="1"/>
          <p:nvPr/>
        </p:nvSpPr>
        <p:spPr>
          <a:xfrm>
            <a:off x="9125712" y="3566160"/>
            <a:ext cx="2313432" cy="365760"/>
          </a:xfrm>
          <a:prstGeom prst="rect">
            <a:avLst/>
          </a:prstGeom>
          <a:noFill/>
          <a:ln/>
        </p:spPr>
        <p:txBody>
          <a:bodyPr wrap="square" lIns="0" tIns="0" rIns="0" bIns="0" rtlCol="0" anchor="t"/>
          <a:lstStyle/>
          <a:p>
            <a:pPr marL="0" indent="0">
              <a:buNone/>
            </a:pPr>
            <a:r>
              <a:rPr lang="en-US" sz="1500" b="1" dirty="0">
                <a:solidFill>
                  <a:srgbClr val="157A7C"/>
                </a:solidFill>
              </a:rPr>
              <a:t>Operative, Speculative</a:t>
            </a:r>
            <a:endParaRPr lang="en-US" sz="1500" dirty="0"/>
          </a:p>
        </p:txBody>
      </p:sp>
      <p:sp>
        <p:nvSpPr>
          <p:cNvPr id="26" name="Text 24"/>
          <p:cNvSpPr txBox="1"/>
          <p:nvPr/>
        </p:nvSpPr>
        <p:spPr>
          <a:xfrm>
            <a:off x="9125712" y="3931920"/>
            <a:ext cx="2313432" cy="1463040"/>
          </a:xfrm>
          <a:prstGeom prst="rect">
            <a:avLst/>
          </a:prstGeom>
          <a:noFill/>
          <a:ln/>
        </p:spPr>
        <p:txBody>
          <a:bodyPr wrap="square" lIns="0" tIns="0" rIns="0" bIns="0" rtlCol="0" anchor="t"/>
          <a:lstStyle/>
          <a:p>
            <a:pPr marL="0" indent="0">
              <a:buNone/>
            </a:pPr>
            <a:r>
              <a:rPr lang="en-US" sz="1250" dirty="0">
                <a:solidFill>
                  <a:srgbClr val="1E2329"/>
                </a:solidFill>
              </a:rPr>
              <a:t>Operatives worked stone. We are speculative: we apply their tools to our lives.</a:t>
            </a:r>
            <a:endParaRPr lang="en-US" sz="1250" dirty="0"/>
          </a:p>
        </p:txBody>
      </p:sp>
      <p:sp>
        <p:nvSpPr>
          <p:cNvPr id="27" name="Tagline"/>
          <p:cNvSpPr txBox="1"/>
          <p:nvPr/>
        </p:nvSpPr>
        <p:spPr>
          <a:xfrm>
            <a:off x="548640" y="5623560"/>
            <a:ext cx="10972800" cy="457200"/>
          </a:xfrm>
          <a:prstGeom prst="rect">
            <a:avLst/>
          </a:prstGeom>
          <a:noFill/>
          <a:ln/>
        </p:spPr>
        <p:txBody>
          <a:bodyPr wrap="square" lIns="0" tIns="0" rIns="0" bIns="0" rtlCol="0" anchor="ctr"/>
          <a:lstStyle/>
          <a:p>
            <a:pPr marL="0" indent="0">
              <a:buNone/>
            </a:pPr>
            <a:r>
              <a:rPr lang="en-US" sz="1600" b="1" i="1" dirty="0">
                <a:solidFill>
                  <a:srgbClr val="157A7C"/>
                </a:solidFill>
              </a:rPr>
              <a:t>The full jargon buster, words and letters, is on the back of your handout. Nobody minds being asked. Ask.</a:t>
            </a:r>
            <a:endParaRPr lang="en-US" sz="1600" dirty="0"/>
          </a:p>
        </p:txBody>
      </p:sp>
      <p:sp>
        <p:nvSpPr>
          <p:cNvPr id="28"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06345D"/>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Number"/>
          <p:cNvSpPr txBox="1"/>
          <p:nvPr/>
        </p:nvSpPr>
        <p:spPr>
          <a:xfrm>
            <a:off x="822960" y="1463040"/>
            <a:ext cx="2011680" cy="2011680"/>
          </a:xfrm>
          <a:prstGeom prst="rect">
            <a:avLst/>
          </a:prstGeom>
          <a:noFill/>
          <a:ln/>
        </p:spPr>
        <p:txBody>
          <a:bodyPr wrap="square" lIns="0" tIns="0" rIns="0" bIns="0" rtlCol="0" anchor="ctr"/>
          <a:lstStyle/>
          <a:p>
            <a:pPr marL="0" indent="0">
              <a:buNone/>
            </a:pPr>
            <a:r>
              <a:rPr lang="en-US" sz="12000" b="1" dirty="0">
                <a:solidFill>
                  <a:srgbClr val="8FD3D1"/>
                </a:solidFill>
              </a:rPr>
              <a:t>2</a:t>
            </a:r>
            <a:endParaRPr lang="en-US" sz="12000" dirty="0"/>
          </a:p>
        </p:txBody>
      </p:sp>
      <p:sp>
        <p:nvSpPr>
          <p:cNvPr id="3" name="Section title"/>
          <p:cNvSpPr txBox="1"/>
          <p:nvPr/>
        </p:nvSpPr>
        <p:spPr>
          <a:xfrm>
            <a:off x="3108960" y="1737360"/>
            <a:ext cx="8229600" cy="1097280"/>
          </a:xfrm>
          <a:prstGeom prst="rect">
            <a:avLst/>
          </a:prstGeom>
          <a:noFill/>
          <a:ln/>
        </p:spPr>
        <p:txBody>
          <a:bodyPr wrap="square" lIns="0" tIns="0" rIns="0" bIns="0" rtlCol="0" anchor="ctr"/>
          <a:lstStyle/>
          <a:p>
            <a:pPr marL="0" indent="0">
              <a:buNone/>
            </a:pPr>
            <a:r>
              <a:rPr lang="en-US" sz="4400" b="1" dirty="0">
                <a:solidFill>
                  <a:srgbClr val="FFFFFF"/>
                </a:solidFill>
              </a:rPr>
              <a:t>Learning and Development</a:t>
            </a:r>
            <a:endParaRPr lang="en-US" sz="4400" dirty="0"/>
          </a:p>
        </p:txBody>
      </p:sp>
      <p:sp>
        <p:nvSpPr>
          <p:cNvPr id="4" name="Section subtitle"/>
          <p:cNvSpPr txBox="1"/>
          <p:nvPr/>
        </p:nvSpPr>
        <p:spPr>
          <a:xfrm>
            <a:off x="3108960" y="2834640"/>
            <a:ext cx="8229600" cy="731520"/>
          </a:xfrm>
          <a:prstGeom prst="rect">
            <a:avLst/>
          </a:prstGeom>
          <a:noFill/>
          <a:ln/>
        </p:spPr>
        <p:txBody>
          <a:bodyPr wrap="square" lIns="0" tIns="0" rIns="0" bIns="0" rtlCol="0" anchor="t"/>
          <a:lstStyle/>
          <a:p>
            <a:pPr marL="0" indent="0">
              <a:buNone/>
            </a:pPr>
            <a:r>
              <a:rPr lang="en-US" sz="1800" dirty="0">
                <a:solidFill>
                  <a:srgbClr val="BFD6EA"/>
                </a:solidFill>
              </a:rPr>
              <a:t>Why learning matters, how you learn best, Solomon and the Academy, and learning ritual without losing sleep</a:t>
            </a:r>
            <a:endParaRPr lang="en-US" sz="1800" dirty="0"/>
          </a:p>
        </p:txBody>
      </p:sp>
      <p:sp>
        <p:nvSpPr>
          <p:cNvPr id="5" name="Presenter"/>
          <p:cNvSpPr txBox="1"/>
          <p:nvPr/>
        </p:nvSpPr>
        <p:spPr>
          <a:xfrm>
            <a:off x="3108960" y="3931920"/>
            <a:ext cx="8229600" cy="457200"/>
          </a:xfrm>
          <a:prstGeom prst="rect">
            <a:avLst/>
          </a:prstGeom>
          <a:noFill/>
          <a:ln/>
        </p:spPr>
        <p:txBody>
          <a:bodyPr wrap="square" lIns="0" tIns="0" rIns="0" bIns="0" rtlCol="0" anchor="ctr"/>
          <a:lstStyle/>
          <a:p>
            <a:pPr marL="0" indent="0">
              <a:buNone/>
            </a:pPr>
            <a:r>
              <a:rPr lang="en-US" sz="1600" b="1" dirty="0">
                <a:solidFill>
                  <a:srgbClr val="FFFFFF"/>
                </a:solidFill>
              </a:rPr>
              <a:t>W Bro Tom Golds, Provincial Learning and Development Officer</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itle"/>
          <p:cNvSpPr txBox="1"/>
          <p:nvPr/>
        </p:nvSpPr>
        <p:spPr>
          <a:xfrm>
            <a:off x="548640" y="411480"/>
            <a:ext cx="11091672" cy="731520"/>
          </a:xfrm>
          <a:prstGeom prst="rect">
            <a:avLst/>
          </a:prstGeom>
          <a:noFill/>
          <a:ln/>
        </p:spPr>
        <p:txBody>
          <a:bodyPr wrap="square" lIns="0" tIns="0" rIns="0" bIns="0" rtlCol="0" anchor="ctr"/>
          <a:lstStyle/>
          <a:p>
            <a:pPr marL="0" indent="0">
              <a:buNone/>
            </a:pPr>
            <a:r>
              <a:rPr lang="en-US" sz="3200" b="1" dirty="0">
                <a:solidFill>
                  <a:srgbClr val="003668"/>
                </a:solidFill>
              </a:rPr>
              <a:t>Why it matters</a:t>
            </a:r>
            <a:endParaRPr lang="en-US" sz="3200" dirty="0"/>
          </a:p>
        </p:txBody>
      </p:sp>
      <p:sp>
        <p:nvSpPr>
          <p:cNvPr id="3" name="Quote panel"/>
          <p:cNvSpPr/>
          <p:nvPr/>
        </p:nvSpPr>
        <p:spPr>
          <a:xfrm>
            <a:off x="548640" y="1325880"/>
            <a:ext cx="5486400" cy="4526280"/>
          </a:xfrm>
          <a:prstGeom prst="roundRect">
            <a:avLst>
              <a:gd name="adj" fmla="val 1616"/>
            </a:avLst>
          </a:prstGeom>
          <a:solidFill>
            <a:srgbClr val="003668"/>
          </a:solidFill>
          <a:ln w="12700">
            <a:solidFill>
              <a:srgbClr val="003668"/>
            </a:solidFill>
            <a:prstDash val="solid"/>
          </a:ln>
        </p:spPr>
        <p:txBody>
          <a:bodyPr/>
          <a:lstStyle/>
          <a:p>
            <a:endParaRPr lang="en-GB"/>
          </a:p>
        </p:txBody>
      </p:sp>
      <p:pic>
        <p:nvPicPr>
          <p:cNvPr id="4" name="Image 0" descr="preencoded.png"/>
          <p:cNvPicPr>
            <a:picLocks noChangeAspect="1"/>
          </p:cNvPicPr>
          <p:nvPr/>
        </p:nvPicPr>
        <p:blipFill>
          <a:blip r:embed="rId3"/>
          <a:stretch>
            <a:fillRect/>
          </a:stretch>
        </p:blipFill>
        <p:spPr>
          <a:xfrm>
            <a:off x="868680" y="1645920"/>
            <a:ext cx="548640" cy="548640"/>
          </a:xfrm>
          <a:prstGeom prst="rect">
            <a:avLst/>
          </a:prstGeom>
        </p:spPr>
      </p:pic>
      <p:sp>
        <p:nvSpPr>
          <p:cNvPr id="5" name="Text 2"/>
          <p:cNvSpPr txBox="1"/>
          <p:nvPr/>
        </p:nvSpPr>
        <p:spPr>
          <a:xfrm>
            <a:off x="868680" y="2377440"/>
            <a:ext cx="4846320" cy="1828800"/>
          </a:xfrm>
          <a:prstGeom prst="rect">
            <a:avLst/>
          </a:prstGeom>
          <a:noFill/>
          <a:ln/>
        </p:spPr>
        <p:txBody>
          <a:bodyPr wrap="square" lIns="0" tIns="0" rIns="0" bIns="0" rtlCol="0" anchor="t"/>
          <a:lstStyle/>
          <a:p>
            <a:pPr marL="0" indent="0">
              <a:buNone/>
            </a:pPr>
            <a:r>
              <a:rPr lang="en-US" sz="2800" b="1" dirty="0">
                <a:solidFill>
                  <a:srgbClr val="FFFFFF"/>
                </a:solidFill>
              </a:rPr>
              <a:t>“To make a daily advancement in Masonic knowledge”</a:t>
            </a:r>
            <a:endParaRPr lang="en-US" sz="2800" dirty="0"/>
          </a:p>
        </p:txBody>
      </p:sp>
      <p:sp>
        <p:nvSpPr>
          <p:cNvPr id="6" name="Text 3"/>
          <p:cNvSpPr txBox="1"/>
          <p:nvPr/>
        </p:nvSpPr>
        <p:spPr>
          <a:xfrm>
            <a:off x="868680" y="4251960"/>
            <a:ext cx="4846320" cy="1371600"/>
          </a:xfrm>
          <a:prstGeom prst="rect">
            <a:avLst/>
          </a:prstGeom>
          <a:noFill/>
          <a:ln/>
        </p:spPr>
        <p:txBody>
          <a:bodyPr wrap="square" lIns="0" tIns="0" rIns="0" bIns="0" rtlCol="0" anchor="t"/>
          <a:lstStyle/>
          <a:p>
            <a:pPr marL="0" indent="0">
              <a:buNone/>
            </a:pPr>
            <a:r>
              <a:rPr lang="en-US" sz="1500" dirty="0">
                <a:solidFill>
                  <a:srgbClr val="BFD6EA"/>
                </a:solidFill>
              </a:rPr>
              <a:t>Learning is not about performing ritual. It is about understanding what you have experienced, and finding your own purpose in it.</a:t>
            </a:r>
            <a:endParaRPr lang="en-US" sz="1500" dirty="0"/>
          </a:p>
        </p:txBody>
      </p:sp>
      <p:sp>
        <p:nvSpPr>
          <p:cNvPr id="7" name="Card A journey, not the journey"/>
          <p:cNvSpPr/>
          <p:nvPr/>
        </p:nvSpPr>
        <p:spPr>
          <a:xfrm>
            <a:off x="6263640" y="1325880"/>
            <a:ext cx="5394960" cy="4526280"/>
          </a:xfrm>
          <a:prstGeom prst="roundRect">
            <a:avLst>
              <a:gd name="adj" fmla="val 1616"/>
            </a:avLst>
          </a:prstGeom>
          <a:solidFill>
            <a:srgbClr val="E6F2F2"/>
          </a:solidFill>
          <a:ln w="12700">
            <a:solidFill>
              <a:srgbClr val="E6F2F2"/>
            </a:solidFill>
            <a:prstDash val="solid"/>
          </a:ln>
        </p:spPr>
        <p:txBody>
          <a:bodyPr/>
          <a:lstStyle/>
          <a:p>
            <a:endParaRPr lang="en-GB"/>
          </a:p>
        </p:txBody>
      </p:sp>
      <p:pic>
        <p:nvPicPr>
          <p:cNvPr id="8" name="Image 1" descr="preencoded.png"/>
          <p:cNvPicPr>
            <a:picLocks noChangeAspect="1"/>
          </p:cNvPicPr>
          <p:nvPr/>
        </p:nvPicPr>
        <p:blipFill>
          <a:blip r:embed="rId4"/>
          <a:stretch>
            <a:fillRect/>
          </a:stretch>
        </p:blipFill>
        <p:spPr>
          <a:xfrm>
            <a:off x="6464808" y="1508760"/>
            <a:ext cx="384048" cy="384048"/>
          </a:xfrm>
          <a:prstGeom prst="rect">
            <a:avLst/>
          </a:prstGeom>
        </p:spPr>
      </p:pic>
      <p:sp>
        <p:nvSpPr>
          <p:cNvPr id="9" name="Text 5"/>
          <p:cNvSpPr txBox="1"/>
          <p:nvPr/>
        </p:nvSpPr>
        <p:spPr>
          <a:xfrm>
            <a:off x="6976872" y="1490472"/>
            <a:ext cx="4480560" cy="411480"/>
          </a:xfrm>
          <a:prstGeom prst="rect">
            <a:avLst/>
          </a:prstGeom>
          <a:noFill/>
          <a:ln/>
        </p:spPr>
        <p:txBody>
          <a:bodyPr wrap="square" lIns="0" tIns="0" rIns="0" bIns="0" rtlCol="0" anchor="ctr"/>
          <a:lstStyle/>
          <a:p>
            <a:pPr marL="0" indent="0">
              <a:buNone/>
            </a:pPr>
            <a:r>
              <a:rPr lang="en-US" sz="1600" b="1" dirty="0">
                <a:solidFill>
                  <a:srgbClr val="003668"/>
                </a:solidFill>
              </a:rPr>
              <a:t>A journey, not the journey</a:t>
            </a:r>
            <a:endParaRPr lang="en-US" sz="1600" dirty="0"/>
          </a:p>
        </p:txBody>
      </p:sp>
      <p:sp>
        <p:nvSpPr>
          <p:cNvPr id="10" name="Text 6"/>
          <p:cNvSpPr txBox="1"/>
          <p:nvPr/>
        </p:nvSpPr>
        <p:spPr>
          <a:xfrm>
            <a:off x="6492240" y="1947672"/>
            <a:ext cx="4937760" cy="3794760"/>
          </a:xfrm>
          <a:prstGeom prst="rect">
            <a:avLst/>
          </a:prstGeom>
          <a:noFill/>
          <a:ln/>
        </p:spPr>
        <p:txBody>
          <a:bodyPr wrap="square" lIns="0" tIns="0" rIns="0" bIns="0" rtlCol="0" anchor="t"/>
          <a:lstStyle/>
          <a:p>
            <a:pPr marL="203200" indent="-203200">
              <a:spcAft>
                <a:spcPts val="400"/>
              </a:spcAft>
              <a:buSzPct val="100000"/>
              <a:buChar char="■"/>
            </a:pPr>
            <a:r>
              <a:rPr lang="en-US" sz="1500" dirty="0">
                <a:solidFill>
                  <a:srgbClr val="1E2329"/>
                </a:solidFill>
              </a:rPr>
              <a:t>Each degree builds on the last. Focus on the meaning of your Initiation, Passing and Raising</a:t>
            </a:r>
            <a:endParaRPr lang="en-US" sz="1500" dirty="0"/>
          </a:p>
          <a:p>
            <a:pPr marL="203200" indent="-203200">
              <a:spcAft>
                <a:spcPts val="400"/>
              </a:spcAft>
              <a:buSzPct val="100000"/>
              <a:buChar char="■"/>
            </a:pPr>
            <a:r>
              <a:rPr lang="en-US" sz="1500" dirty="0">
                <a:solidFill>
                  <a:srgbClr val="1E2329"/>
                </a:solidFill>
              </a:rPr>
              <a:t>Take your time. Do not rush; nobody is marking you</a:t>
            </a:r>
            <a:endParaRPr lang="en-US" sz="1500" dirty="0"/>
          </a:p>
          <a:p>
            <a:pPr marL="203200" indent="-203200">
              <a:spcAft>
                <a:spcPts val="400"/>
              </a:spcAft>
              <a:buSzPct val="100000"/>
              <a:buChar char="■"/>
            </a:pPr>
            <a:r>
              <a:rPr lang="en-US" sz="1500" dirty="0">
                <a:solidFill>
                  <a:srgbClr val="1E2329"/>
                </a:solidFill>
              </a:rPr>
              <a:t>Use your mentor and Lodge conversations to clarify questions</a:t>
            </a:r>
            <a:endParaRPr lang="en-US" sz="1500" dirty="0"/>
          </a:p>
          <a:p>
            <a:pPr marL="203200" indent="-203200">
              <a:spcAft>
                <a:spcPts val="400"/>
              </a:spcAft>
              <a:buSzPct val="100000"/>
              <a:buChar char="■"/>
            </a:pPr>
            <a:r>
              <a:rPr lang="en-US" sz="1500" dirty="0">
                <a:solidFill>
                  <a:srgbClr val="1E2329"/>
                </a:solidFill>
              </a:rPr>
              <a:t>Your journey will not look like anyone else’s, and it does not need to</a:t>
            </a:r>
            <a:endParaRPr lang="en-US" sz="15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06345D"/>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itle"/>
          <p:cNvSpPr txBox="1"/>
          <p:nvPr/>
        </p:nvSpPr>
        <p:spPr>
          <a:xfrm>
            <a:off x="548640" y="411480"/>
            <a:ext cx="11091672" cy="731520"/>
          </a:xfrm>
          <a:prstGeom prst="rect">
            <a:avLst/>
          </a:prstGeom>
          <a:noFill/>
          <a:ln/>
        </p:spPr>
        <p:txBody>
          <a:bodyPr wrap="square" lIns="0" tIns="0" rIns="0" bIns="0" rtlCol="0" anchor="ctr"/>
          <a:lstStyle/>
          <a:p>
            <a:pPr marL="0" indent="0">
              <a:buNone/>
            </a:pPr>
            <a:r>
              <a:rPr lang="en-US" sz="3200" b="1" dirty="0">
                <a:solidFill>
                  <a:srgbClr val="003668"/>
                </a:solidFill>
              </a:rPr>
              <a:t>How do you learn best?</a:t>
            </a:r>
            <a:endParaRPr lang="en-US" sz="3200" dirty="0"/>
          </a:p>
        </p:txBody>
      </p:sp>
      <p:sp>
        <p:nvSpPr>
          <p:cNvPr id="3" name="Lead"/>
          <p:cNvSpPr txBox="1"/>
          <p:nvPr/>
        </p:nvSpPr>
        <p:spPr>
          <a:xfrm>
            <a:off x="548640" y="1234440"/>
            <a:ext cx="10972800" cy="411480"/>
          </a:xfrm>
          <a:prstGeom prst="rect">
            <a:avLst/>
          </a:prstGeom>
          <a:noFill/>
          <a:ln/>
        </p:spPr>
        <p:txBody>
          <a:bodyPr wrap="square" lIns="0" tIns="0" rIns="0" bIns="0" rtlCol="0" anchor="ctr"/>
          <a:lstStyle/>
          <a:p>
            <a:pPr marL="0" indent="0">
              <a:buNone/>
            </a:pPr>
            <a:r>
              <a:rPr lang="en-US" sz="1600" dirty="0">
                <a:solidFill>
                  <a:srgbClr val="06345D"/>
                </a:solidFill>
              </a:rPr>
              <a:t>People learn in different ways. All of them are valid. Find what works for you, then use it.</a:t>
            </a:r>
            <a:endParaRPr lang="en-US" sz="1600" dirty="0"/>
          </a:p>
        </p:txBody>
      </p:sp>
      <p:sp>
        <p:nvSpPr>
          <p:cNvPr id="4" name="VARK Visual"/>
          <p:cNvSpPr/>
          <p:nvPr/>
        </p:nvSpPr>
        <p:spPr>
          <a:xfrm>
            <a:off x="548640" y="1828800"/>
            <a:ext cx="2651760" cy="1143000"/>
          </a:xfrm>
          <a:prstGeom prst="rect">
            <a:avLst/>
          </a:prstGeom>
          <a:solidFill>
            <a:srgbClr val="003668"/>
          </a:solidFill>
          <a:ln w="12700">
            <a:solidFill>
              <a:srgbClr val="003668"/>
            </a:solidFill>
            <a:prstDash val="solid"/>
          </a:ln>
        </p:spPr>
        <p:txBody>
          <a:bodyPr/>
          <a:lstStyle/>
          <a:p>
            <a:endParaRPr lang="en-GB"/>
          </a:p>
        </p:txBody>
      </p:sp>
      <p:sp>
        <p:nvSpPr>
          <p:cNvPr id="5" name="Text 3"/>
          <p:cNvSpPr txBox="1"/>
          <p:nvPr/>
        </p:nvSpPr>
        <p:spPr>
          <a:xfrm>
            <a:off x="777240" y="1828800"/>
            <a:ext cx="2377440" cy="1143000"/>
          </a:xfrm>
          <a:prstGeom prst="rect">
            <a:avLst/>
          </a:prstGeom>
          <a:noFill/>
          <a:ln/>
        </p:spPr>
        <p:txBody>
          <a:bodyPr wrap="square" lIns="0" tIns="0" rIns="0" bIns="0" rtlCol="0" anchor="ctr"/>
          <a:lstStyle/>
          <a:p>
            <a:pPr marL="0" indent="0">
              <a:buNone/>
            </a:pPr>
            <a:r>
              <a:rPr lang="en-US" sz="3400" b="1" dirty="0">
                <a:solidFill>
                  <a:srgbClr val="8FD3D1"/>
                </a:solidFill>
              </a:rPr>
              <a:t>V  </a:t>
            </a:r>
            <a:r>
              <a:rPr lang="en-US" sz="1800" b="1" dirty="0">
                <a:solidFill>
                  <a:srgbClr val="FFFFFF"/>
                </a:solidFill>
              </a:rPr>
              <a:t>Visual</a:t>
            </a:r>
            <a:endParaRPr lang="en-US" sz="3400" dirty="0"/>
          </a:p>
        </p:txBody>
      </p:sp>
      <p:sp>
        <p:nvSpPr>
          <p:cNvPr id="6" name="VARK text Visual"/>
          <p:cNvSpPr/>
          <p:nvPr/>
        </p:nvSpPr>
        <p:spPr>
          <a:xfrm>
            <a:off x="548640" y="2971800"/>
            <a:ext cx="2651760" cy="2880360"/>
          </a:xfrm>
          <a:prstGeom prst="rect">
            <a:avLst/>
          </a:prstGeom>
          <a:solidFill>
            <a:srgbClr val="F2F7FC"/>
          </a:solidFill>
          <a:ln w="12700">
            <a:solidFill>
              <a:srgbClr val="F2F7FC"/>
            </a:solidFill>
            <a:prstDash val="solid"/>
          </a:ln>
        </p:spPr>
        <p:txBody>
          <a:bodyPr/>
          <a:lstStyle/>
          <a:p>
            <a:endParaRPr lang="en-GB"/>
          </a:p>
        </p:txBody>
      </p:sp>
      <p:sp>
        <p:nvSpPr>
          <p:cNvPr id="7" name="Text 5"/>
          <p:cNvSpPr txBox="1"/>
          <p:nvPr/>
        </p:nvSpPr>
        <p:spPr>
          <a:xfrm>
            <a:off x="777240" y="3108960"/>
            <a:ext cx="2194560" cy="365760"/>
          </a:xfrm>
          <a:prstGeom prst="rect">
            <a:avLst/>
          </a:prstGeom>
          <a:noFill/>
          <a:ln/>
        </p:spPr>
        <p:txBody>
          <a:bodyPr wrap="square" lIns="0" tIns="0" rIns="0" bIns="0" rtlCol="0" anchor="ctr"/>
          <a:lstStyle/>
          <a:p>
            <a:pPr marL="0" indent="0">
              <a:buNone/>
            </a:pPr>
            <a:r>
              <a:rPr lang="en-US" sz="1500" b="1" dirty="0">
                <a:solidFill>
                  <a:srgbClr val="003668"/>
                </a:solidFill>
              </a:rPr>
              <a:t>Watch</a:t>
            </a:r>
            <a:endParaRPr lang="en-US" sz="1500" dirty="0"/>
          </a:p>
        </p:txBody>
      </p:sp>
      <p:sp>
        <p:nvSpPr>
          <p:cNvPr id="8" name="Text 6"/>
          <p:cNvSpPr txBox="1"/>
          <p:nvPr/>
        </p:nvSpPr>
        <p:spPr>
          <a:xfrm>
            <a:off x="777240" y="3520440"/>
            <a:ext cx="2240280" cy="219456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rgbClr val="1E2329"/>
                </a:solidFill>
              </a:rPr>
              <a:t>Visit other Lodges</a:t>
            </a:r>
            <a:endParaRPr lang="en-US" sz="1400" dirty="0"/>
          </a:p>
          <a:p>
            <a:pPr marL="203200" indent="-203200">
              <a:spcAft>
                <a:spcPts val="600"/>
              </a:spcAft>
              <a:buSzPct val="100000"/>
              <a:buChar char="■"/>
            </a:pPr>
            <a:r>
              <a:rPr lang="en-US" sz="1400" dirty="0">
                <a:solidFill>
                  <a:srgbClr val="1E2329"/>
                </a:solidFill>
              </a:rPr>
              <a:t>Demonstrations and the Visitors’ Festival</a:t>
            </a:r>
            <a:endParaRPr lang="en-US" sz="1400" dirty="0"/>
          </a:p>
          <a:p>
            <a:pPr marL="203200" indent="-203200">
              <a:spcAft>
                <a:spcPts val="600"/>
              </a:spcAft>
              <a:buSzPct val="100000"/>
              <a:buChar char="■"/>
            </a:pPr>
            <a:r>
              <a:rPr lang="en-US" sz="1400" dirty="0">
                <a:solidFill>
                  <a:srgbClr val="1E2329"/>
                </a:solidFill>
              </a:rPr>
              <a:t>Solomon presentations</a:t>
            </a:r>
            <a:endParaRPr lang="en-US" sz="1400" dirty="0"/>
          </a:p>
        </p:txBody>
      </p:sp>
      <p:sp>
        <p:nvSpPr>
          <p:cNvPr id="9" name="VARK Aural"/>
          <p:cNvSpPr/>
          <p:nvPr/>
        </p:nvSpPr>
        <p:spPr>
          <a:xfrm>
            <a:off x="3383280" y="1828800"/>
            <a:ext cx="2651760" cy="1143000"/>
          </a:xfrm>
          <a:prstGeom prst="rect">
            <a:avLst/>
          </a:prstGeom>
          <a:solidFill>
            <a:srgbClr val="0A4F72"/>
          </a:solidFill>
          <a:ln w="12700">
            <a:solidFill>
              <a:srgbClr val="0A4F72"/>
            </a:solidFill>
            <a:prstDash val="solid"/>
          </a:ln>
        </p:spPr>
        <p:txBody>
          <a:bodyPr/>
          <a:lstStyle/>
          <a:p>
            <a:endParaRPr lang="en-GB"/>
          </a:p>
        </p:txBody>
      </p:sp>
      <p:sp>
        <p:nvSpPr>
          <p:cNvPr id="10" name="Text 8"/>
          <p:cNvSpPr txBox="1"/>
          <p:nvPr/>
        </p:nvSpPr>
        <p:spPr>
          <a:xfrm>
            <a:off x="3611880" y="1828800"/>
            <a:ext cx="2377440" cy="1143000"/>
          </a:xfrm>
          <a:prstGeom prst="rect">
            <a:avLst/>
          </a:prstGeom>
          <a:noFill/>
          <a:ln/>
        </p:spPr>
        <p:txBody>
          <a:bodyPr wrap="square" lIns="0" tIns="0" rIns="0" bIns="0" rtlCol="0" anchor="ctr"/>
          <a:lstStyle/>
          <a:p>
            <a:pPr marL="0" indent="0">
              <a:buNone/>
            </a:pPr>
            <a:r>
              <a:rPr lang="en-US" sz="3400" b="1" dirty="0">
                <a:solidFill>
                  <a:srgbClr val="8FD3D1"/>
                </a:solidFill>
              </a:rPr>
              <a:t>A  </a:t>
            </a:r>
            <a:r>
              <a:rPr lang="en-US" sz="1800" b="1" dirty="0">
                <a:solidFill>
                  <a:srgbClr val="FFFFFF"/>
                </a:solidFill>
              </a:rPr>
              <a:t>Aural</a:t>
            </a:r>
            <a:endParaRPr lang="en-US" sz="3400" dirty="0"/>
          </a:p>
        </p:txBody>
      </p:sp>
      <p:sp>
        <p:nvSpPr>
          <p:cNvPr id="11" name="VARK text Aural"/>
          <p:cNvSpPr/>
          <p:nvPr/>
        </p:nvSpPr>
        <p:spPr>
          <a:xfrm>
            <a:off x="3383280" y="2971800"/>
            <a:ext cx="2651760" cy="2880360"/>
          </a:xfrm>
          <a:prstGeom prst="rect">
            <a:avLst/>
          </a:prstGeom>
          <a:solidFill>
            <a:srgbClr val="F2F7FC"/>
          </a:solidFill>
          <a:ln w="12700">
            <a:solidFill>
              <a:srgbClr val="F2F7FC"/>
            </a:solidFill>
            <a:prstDash val="solid"/>
          </a:ln>
        </p:spPr>
        <p:txBody>
          <a:bodyPr/>
          <a:lstStyle/>
          <a:p>
            <a:endParaRPr lang="en-GB"/>
          </a:p>
        </p:txBody>
      </p:sp>
      <p:sp>
        <p:nvSpPr>
          <p:cNvPr id="12" name="Text 10"/>
          <p:cNvSpPr txBox="1"/>
          <p:nvPr/>
        </p:nvSpPr>
        <p:spPr>
          <a:xfrm>
            <a:off x="3611880" y="3108960"/>
            <a:ext cx="2194560" cy="365760"/>
          </a:xfrm>
          <a:prstGeom prst="rect">
            <a:avLst/>
          </a:prstGeom>
          <a:noFill/>
          <a:ln/>
        </p:spPr>
        <p:txBody>
          <a:bodyPr wrap="square" lIns="0" tIns="0" rIns="0" bIns="0" rtlCol="0" anchor="ctr"/>
          <a:lstStyle/>
          <a:p>
            <a:pPr marL="0" indent="0">
              <a:buNone/>
            </a:pPr>
            <a:r>
              <a:rPr lang="en-US" sz="1500" b="1" dirty="0">
                <a:solidFill>
                  <a:srgbClr val="0A4F72"/>
                </a:solidFill>
              </a:rPr>
              <a:t>Listen</a:t>
            </a:r>
            <a:endParaRPr lang="en-US" sz="1500" dirty="0"/>
          </a:p>
        </p:txBody>
      </p:sp>
      <p:sp>
        <p:nvSpPr>
          <p:cNvPr id="13" name="Text 11"/>
          <p:cNvSpPr txBox="1"/>
          <p:nvPr/>
        </p:nvSpPr>
        <p:spPr>
          <a:xfrm>
            <a:off x="3611880" y="3520440"/>
            <a:ext cx="2240280" cy="219456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rgbClr val="1E2329"/>
                </a:solidFill>
              </a:rPr>
              <a:t>Talks and papers in Lodge</a:t>
            </a:r>
            <a:endParaRPr lang="en-US" sz="1400" dirty="0"/>
          </a:p>
          <a:p>
            <a:pPr marL="203200" indent="-203200">
              <a:spcAft>
                <a:spcPts val="600"/>
              </a:spcAft>
              <a:buSzPct val="100000"/>
              <a:buChar char="■"/>
            </a:pPr>
            <a:r>
              <a:rPr lang="en-US" sz="1400" dirty="0">
                <a:solidFill>
                  <a:srgbClr val="1E2329"/>
                </a:solidFill>
              </a:rPr>
              <a:t>The Brother next to you at the Festive Board</a:t>
            </a:r>
            <a:endParaRPr lang="en-US" sz="1400" dirty="0"/>
          </a:p>
          <a:p>
            <a:pPr marL="203200" indent="-203200">
              <a:spcAft>
                <a:spcPts val="600"/>
              </a:spcAft>
              <a:buSzPct val="100000"/>
              <a:buChar char="■"/>
            </a:pPr>
            <a:r>
              <a:rPr lang="en-US" sz="1400" dirty="0">
                <a:solidFill>
                  <a:srgbClr val="1E2329"/>
                </a:solidFill>
              </a:rPr>
              <a:t>Record your piece and play it back</a:t>
            </a:r>
            <a:endParaRPr lang="en-US" sz="1400" dirty="0"/>
          </a:p>
        </p:txBody>
      </p:sp>
      <p:sp>
        <p:nvSpPr>
          <p:cNvPr id="14" name="VARK Read / write"/>
          <p:cNvSpPr/>
          <p:nvPr/>
        </p:nvSpPr>
        <p:spPr>
          <a:xfrm>
            <a:off x="6217920" y="1828800"/>
            <a:ext cx="2651760" cy="1143000"/>
          </a:xfrm>
          <a:prstGeom prst="rect">
            <a:avLst/>
          </a:prstGeom>
          <a:solidFill>
            <a:srgbClr val="106576"/>
          </a:solidFill>
          <a:ln w="12700">
            <a:solidFill>
              <a:srgbClr val="106576"/>
            </a:solidFill>
            <a:prstDash val="solid"/>
          </a:ln>
        </p:spPr>
        <p:txBody>
          <a:bodyPr/>
          <a:lstStyle/>
          <a:p>
            <a:endParaRPr lang="en-GB"/>
          </a:p>
        </p:txBody>
      </p:sp>
      <p:sp>
        <p:nvSpPr>
          <p:cNvPr id="15" name="Text 13"/>
          <p:cNvSpPr txBox="1"/>
          <p:nvPr/>
        </p:nvSpPr>
        <p:spPr>
          <a:xfrm>
            <a:off x="6446520" y="1828800"/>
            <a:ext cx="2377440" cy="1143000"/>
          </a:xfrm>
          <a:prstGeom prst="rect">
            <a:avLst/>
          </a:prstGeom>
          <a:noFill/>
          <a:ln/>
        </p:spPr>
        <p:txBody>
          <a:bodyPr wrap="square" lIns="0" tIns="0" rIns="0" bIns="0" rtlCol="0" anchor="ctr"/>
          <a:lstStyle/>
          <a:p>
            <a:pPr marL="0" indent="0">
              <a:buNone/>
            </a:pPr>
            <a:r>
              <a:rPr lang="en-US" sz="3400" b="1" dirty="0">
                <a:solidFill>
                  <a:srgbClr val="8FD3D1"/>
                </a:solidFill>
              </a:rPr>
              <a:t>R  </a:t>
            </a:r>
            <a:r>
              <a:rPr lang="en-US" sz="1800" b="1" dirty="0">
                <a:solidFill>
                  <a:srgbClr val="FFFFFF"/>
                </a:solidFill>
              </a:rPr>
              <a:t>Read / write</a:t>
            </a:r>
            <a:endParaRPr lang="en-US" sz="3400" dirty="0"/>
          </a:p>
        </p:txBody>
      </p:sp>
      <p:sp>
        <p:nvSpPr>
          <p:cNvPr id="16" name="VARK text Read / write"/>
          <p:cNvSpPr/>
          <p:nvPr/>
        </p:nvSpPr>
        <p:spPr>
          <a:xfrm>
            <a:off x="6217920" y="2971800"/>
            <a:ext cx="2651760" cy="2880360"/>
          </a:xfrm>
          <a:prstGeom prst="rect">
            <a:avLst/>
          </a:prstGeom>
          <a:solidFill>
            <a:srgbClr val="F2F7FC"/>
          </a:solidFill>
          <a:ln w="12700">
            <a:solidFill>
              <a:srgbClr val="F2F7FC"/>
            </a:solidFill>
            <a:prstDash val="solid"/>
          </a:ln>
        </p:spPr>
        <p:txBody>
          <a:bodyPr/>
          <a:lstStyle/>
          <a:p>
            <a:endParaRPr lang="en-GB"/>
          </a:p>
        </p:txBody>
      </p:sp>
      <p:sp>
        <p:nvSpPr>
          <p:cNvPr id="17" name="Text 15"/>
          <p:cNvSpPr txBox="1"/>
          <p:nvPr/>
        </p:nvSpPr>
        <p:spPr>
          <a:xfrm>
            <a:off x="6446520" y="3108960"/>
            <a:ext cx="2194560" cy="365760"/>
          </a:xfrm>
          <a:prstGeom prst="rect">
            <a:avLst/>
          </a:prstGeom>
          <a:noFill/>
          <a:ln/>
        </p:spPr>
        <p:txBody>
          <a:bodyPr wrap="square" lIns="0" tIns="0" rIns="0" bIns="0" rtlCol="0" anchor="ctr"/>
          <a:lstStyle/>
          <a:p>
            <a:pPr marL="0" indent="0">
              <a:buNone/>
            </a:pPr>
            <a:r>
              <a:rPr lang="en-US" sz="1500" b="1" dirty="0">
                <a:solidFill>
                  <a:srgbClr val="106576"/>
                </a:solidFill>
              </a:rPr>
              <a:t>Read</a:t>
            </a:r>
            <a:endParaRPr lang="en-US" sz="1500" dirty="0"/>
          </a:p>
        </p:txBody>
      </p:sp>
      <p:sp>
        <p:nvSpPr>
          <p:cNvPr id="18" name="Text 16"/>
          <p:cNvSpPr txBox="1"/>
          <p:nvPr/>
        </p:nvSpPr>
        <p:spPr>
          <a:xfrm>
            <a:off x="6446520" y="3520440"/>
            <a:ext cx="2240280" cy="219456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rgbClr val="1E2329"/>
                </a:solidFill>
              </a:rPr>
              <a:t>Solomon papers and Nuggets</a:t>
            </a:r>
            <a:endParaRPr lang="en-US" sz="1400" dirty="0"/>
          </a:p>
          <a:p>
            <a:pPr marL="203200" indent="-203200">
              <a:spcAft>
                <a:spcPts val="600"/>
              </a:spcAft>
              <a:buSzPct val="100000"/>
              <a:buChar char="■"/>
            </a:pPr>
            <a:r>
              <a:rPr lang="en-US" sz="1400" dirty="0">
                <a:solidFill>
                  <a:srgbClr val="1E2329"/>
                </a:solidFill>
              </a:rPr>
              <a:t>The UGLE degree guides</a:t>
            </a:r>
            <a:endParaRPr lang="en-US" sz="1400" dirty="0"/>
          </a:p>
          <a:p>
            <a:pPr marL="203200" indent="-203200">
              <a:spcAft>
                <a:spcPts val="600"/>
              </a:spcAft>
              <a:buSzPct val="100000"/>
              <a:buChar char="■"/>
            </a:pPr>
            <a:r>
              <a:rPr lang="en-US" sz="1400" dirty="0">
                <a:solidFill>
                  <a:srgbClr val="1E2329"/>
                </a:solidFill>
              </a:rPr>
              <a:t>Write out what you are learning</a:t>
            </a:r>
            <a:endParaRPr lang="en-US" sz="1400" dirty="0"/>
          </a:p>
        </p:txBody>
      </p:sp>
      <p:sp>
        <p:nvSpPr>
          <p:cNvPr id="19" name="VARK Kinaesthetic"/>
          <p:cNvSpPr/>
          <p:nvPr/>
        </p:nvSpPr>
        <p:spPr>
          <a:xfrm>
            <a:off x="9052560" y="1828800"/>
            <a:ext cx="2651760" cy="1143000"/>
          </a:xfrm>
          <a:prstGeom prst="rect">
            <a:avLst/>
          </a:prstGeom>
          <a:solidFill>
            <a:srgbClr val="157A7C"/>
          </a:solidFill>
          <a:ln w="12700">
            <a:solidFill>
              <a:srgbClr val="157A7C"/>
            </a:solidFill>
            <a:prstDash val="solid"/>
          </a:ln>
        </p:spPr>
        <p:txBody>
          <a:bodyPr/>
          <a:lstStyle/>
          <a:p>
            <a:endParaRPr lang="en-GB"/>
          </a:p>
        </p:txBody>
      </p:sp>
      <p:sp>
        <p:nvSpPr>
          <p:cNvPr id="20" name="Text 18"/>
          <p:cNvSpPr txBox="1"/>
          <p:nvPr/>
        </p:nvSpPr>
        <p:spPr>
          <a:xfrm>
            <a:off x="9281160" y="1828800"/>
            <a:ext cx="2377440" cy="1143000"/>
          </a:xfrm>
          <a:prstGeom prst="rect">
            <a:avLst/>
          </a:prstGeom>
          <a:noFill/>
          <a:ln/>
        </p:spPr>
        <p:txBody>
          <a:bodyPr wrap="square" lIns="0" tIns="0" rIns="0" bIns="0" rtlCol="0" anchor="ctr"/>
          <a:lstStyle/>
          <a:p>
            <a:pPr marL="0" indent="0">
              <a:buNone/>
            </a:pPr>
            <a:r>
              <a:rPr lang="en-US" sz="3400" b="1" dirty="0">
                <a:solidFill>
                  <a:srgbClr val="8FD3D1"/>
                </a:solidFill>
              </a:rPr>
              <a:t>K  </a:t>
            </a:r>
            <a:r>
              <a:rPr lang="en-US" sz="1800" b="1" dirty="0">
                <a:solidFill>
                  <a:srgbClr val="FFFFFF"/>
                </a:solidFill>
              </a:rPr>
              <a:t>Kinaesthetic</a:t>
            </a:r>
            <a:endParaRPr lang="en-US" sz="3400" dirty="0"/>
          </a:p>
        </p:txBody>
      </p:sp>
      <p:sp>
        <p:nvSpPr>
          <p:cNvPr id="21" name="VARK text Kinaesthetic"/>
          <p:cNvSpPr/>
          <p:nvPr/>
        </p:nvSpPr>
        <p:spPr>
          <a:xfrm>
            <a:off x="9052560" y="2971800"/>
            <a:ext cx="2651760" cy="2880360"/>
          </a:xfrm>
          <a:prstGeom prst="rect">
            <a:avLst/>
          </a:prstGeom>
          <a:solidFill>
            <a:srgbClr val="F2F7FC"/>
          </a:solidFill>
          <a:ln w="12700">
            <a:solidFill>
              <a:srgbClr val="F2F7FC"/>
            </a:solidFill>
            <a:prstDash val="solid"/>
          </a:ln>
        </p:spPr>
        <p:txBody>
          <a:bodyPr/>
          <a:lstStyle/>
          <a:p>
            <a:endParaRPr lang="en-GB"/>
          </a:p>
        </p:txBody>
      </p:sp>
      <p:sp>
        <p:nvSpPr>
          <p:cNvPr id="22" name="Text 20"/>
          <p:cNvSpPr txBox="1"/>
          <p:nvPr/>
        </p:nvSpPr>
        <p:spPr>
          <a:xfrm>
            <a:off x="9281160" y="3108960"/>
            <a:ext cx="2194560" cy="365760"/>
          </a:xfrm>
          <a:prstGeom prst="rect">
            <a:avLst/>
          </a:prstGeom>
          <a:noFill/>
          <a:ln/>
        </p:spPr>
        <p:txBody>
          <a:bodyPr wrap="square" lIns="0" tIns="0" rIns="0" bIns="0" rtlCol="0" anchor="ctr"/>
          <a:lstStyle/>
          <a:p>
            <a:pPr marL="0" indent="0">
              <a:buNone/>
            </a:pPr>
            <a:r>
              <a:rPr lang="en-US" sz="1500" b="1" dirty="0">
                <a:solidFill>
                  <a:srgbClr val="157A7C"/>
                </a:solidFill>
              </a:rPr>
              <a:t>Do</a:t>
            </a:r>
            <a:endParaRPr lang="en-US" sz="1500" dirty="0"/>
          </a:p>
        </p:txBody>
      </p:sp>
      <p:sp>
        <p:nvSpPr>
          <p:cNvPr id="23" name="Text 21"/>
          <p:cNvSpPr txBox="1"/>
          <p:nvPr/>
        </p:nvSpPr>
        <p:spPr>
          <a:xfrm>
            <a:off x="9281160" y="3520440"/>
            <a:ext cx="2240280" cy="219456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rgbClr val="1E2329"/>
                </a:solidFill>
              </a:rPr>
              <a:t>The Lodge of Instruction</a:t>
            </a:r>
            <a:endParaRPr lang="en-US" sz="1400" dirty="0"/>
          </a:p>
          <a:p>
            <a:pPr marL="203200" indent="-203200">
              <a:spcAft>
                <a:spcPts val="600"/>
              </a:spcAft>
              <a:buSzPct val="100000"/>
              <a:buChar char="■"/>
            </a:pPr>
            <a:r>
              <a:rPr lang="en-US" sz="1400" dirty="0">
                <a:solidFill>
                  <a:srgbClr val="1E2329"/>
                </a:solidFill>
              </a:rPr>
              <a:t>A small office, such as Steward</a:t>
            </a:r>
            <a:endParaRPr lang="en-US" sz="1400" dirty="0"/>
          </a:p>
          <a:p>
            <a:pPr marL="203200" indent="-203200">
              <a:spcAft>
                <a:spcPts val="600"/>
              </a:spcAft>
              <a:buSzPct val="100000"/>
              <a:buChar char="■"/>
            </a:pPr>
            <a:r>
              <a:rPr lang="en-US" sz="1400" dirty="0">
                <a:solidFill>
                  <a:srgbClr val="1E2329"/>
                </a:solidFill>
              </a:rPr>
              <a:t>Rehearse in the Lodge room itself</a:t>
            </a:r>
            <a:endParaRPr lang="en-US" sz="14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06345D"/>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itle"/>
          <p:cNvSpPr txBox="1"/>
          <p:nvPr/>
        </p:nvSpPr>
        <p:spPr>
          <a:xfrm>
            <a:off x="548640" y="411480"/>
            <a:ext cx="11091672" cy="731520"/>
          </a:xfrm>
          <a:prstGeom prst="rect">
            <a:avLst/>
          </a:prstGeom>
          <a:noFill/>
          <a:ln/>
        </p:spPr>
        <p:txBody>
          <a:bodyPr wrap="square" lIns="0" tIns="0" rIns="0" bIns="0" rtlCol="0" anchor="ctr"/>
          <a:lstStyle/>
          <a:p>
            <a:pPr marL="0" indent="0">
              <a:buNone/>
            </a:pPr>
            <a:r>
              <a:rPr lang="en-US" sz="3200" b="1" dirty="0">
                <a:solidFill>
                  <a:srgbClr val="003668"/>
                </a:solidFill>
              </a:rPr>
              <a:t>Solomon: UGLE's learning platform</a:t>
            </a:r>
            <a:endParaRPr lang="en-US" sz="3200" dirty="0"/>
          </a:p>
        </p:txBody>
      </p:sp>
      <p:sp>
        <p:nvSpPr>
          <p:cNvPr id="3" name="Card What it is"/>
          <p:cNvSpPr/>
          <p:nvPr/>
        </p:nvSpPr>
        <p:spPr>
          <a:xfrm>
            <a:off x="548640" y="1280160"/>
            <a:ext cx="5394960" cy="2377440"/>
          </a:xfrm>
          <a:prstGeom prst="roundRect">
            <a:avLst>
              <a:gd name="adj" fmla="val 3077"/>
            </a:avLst>
          </a:prstGeom>
          <a:solidFill>
            <a:srgbClr val="F2F7FC"/>
          </a:solidFill>
          <a:ln w="12700">
            <a:solidFill>
              <a:srgbClr val="F2F7FC"/>
            </a:solidFill>
            <a:prstDash val="solid"/>
          </a:ln>
        </p:spPr>
        <p:txBody>
          <a:bodyPr/>
          <a:lstStyle/>
          <a:p>
            <a:endParaRPr lang="en-GB"/>
          </a:p>
        </p:txBody>
      </p:sp>
      <p:pic>
        <p:nvPicPr>
          <p:cNvPr id="4" name="Image 0" descr="preencoded.png"/>
          <p:cNvPicPr>
            <a:picLocks noChangeAspect="1"/>
          </p:cNvPicPr>
          <p:nvPr/>
        </p:nvPicPr>
        <p:blipFill>
          <a:blip r:embed="rId3"/>
          <a:stretch>
            <a:fillRect/>
          </a:stretch>
        </p:blipFill>
        <p:spPr>
          <a:xfrm>
            <a:off x="749808" y="1463040"/>
            <a:ext cx="384048" cy="384048"/>
          </a:xfrm>
          <a:prstGeom prst="rect">
            <a:avLst/>
          </a:prstGeom>
        </p:spPr>
      </p:pic>
      <p:sp>
        <p:nvSpPr>
          <p:cNvPr id="5" name="Text 2"/>
          <p:cNvSpPr txBox="1"/>
          <p:nvPr/>
        </p:nvSpPr>
        <p:spPr>
          <a:xfrm>
            <a:off x="1261872" y="1444752"/>
            <a:ext cx="4480560" cy="411480"/>
          </a:xfrm>
          <a:prstGeom prst="rect">
            <a:avLst/>
          </a:prstGeom>
          <a:noFill/>
          <a:ln/>
        </p:spPr>
        <p:txBody>
          <a:bodyPr wrap="square" lIns="0" tIns="0" rIns="0" bIns="0" rtlCol="0" anchor="ctr"/>
          <a:lstStyle/>
          <a:p>
            <a:pPr marL="0" indent="0">
              <a:buNone/>
            </a:pPr>
            <a:r>
              <a:rPr lang="en-US" sz="1600" b="1" dirty="0">
                <a:solidFill>
                  <a:srgbClr val="003668"/>
                </a:solidFill>
              </a:rPr>
              <a:t>What it is</a:t>
            </a:r>
            <a:endParaRPr lang="en-US" sz="1600" dirty="0"/>
          </a:p>
        </p:txBody>
      </p:sp>
      <p:sp>
        <p:nvSpPr>
          <p:cNvPr id="6" name="Text 3"/>
          <p:cNvSpPr txBox="1"/>
          <p:nvPr/>
        </p:nvSpPr>
        <p:spPr>
          <a:xfrm>
            <a:off x="777240" y="1901952"/>
            <a:ext cx="4937760" cy="1645920"/>
          </a:xfrm>
          <a:prstGeom prst="rect">
            <a:avLst/>
          </a:prstGeom>
          <a:noFill/>
          <a:ln/>
        </p:spPr>
        <p:txBody>
          <a:bodyPr wrap="square" lIns="0" tIns="0" rIns="0" bIns="0" rtlCol="0" anchor="t"/>
          <a:lstStyle/>
          <a:p>
            <a:pPr marL="203200" indent="-203200">
              <a:spcAft>
                <a:spcPts val="400"/>
              </a:spcAft>
              <a:buSzPct val="100000"/>
              <a:buChar char="■"/>
            </a:pPr>
            <a:r>
              <a:rPr lang="en-US" sz="1400" dirty="0">
                <a:solidFill>
                  <a:srgbClr val="1E2329"/>
                </a:solidFill>
              </a:rPr>
              <a:t>UGLE’s online learning hub: accurate, approved material for every stage</a:t>
            </a:r>
            <a:endParaRPr lang="en-US" sz="1400" dirty="0"/>
          </a:p>
          <a:p>
            <a:pPr marL="203200" indent="-203200">
              <a:spcAft>
                <a:spcPts val="400"/>
              </a:spcAft>
              <a:buSzPct val="100000"/>
              <a:buChar char="■"/>
            </a:pPr>
            <a:r>
              <a:rPr lang="en-US" sz="1400" dirty="0">
                <a:solidFill>
                  <a:srgbClr val="1E2329"/>
                </a:solidFill>
              </a:rPr>
              <a:t>Papers, Nuggets, presentations, quizzes and the Welcome modules</a:t>
            </a:r>
            <a:endParaRPr lang="en-US" sz="1400" dirty="0"/>
          </a:p>
          <a:p>
            <a:pPr marL="203200" indent="-203200">
              <a:spcAft>
                <a:spcPts val="400"/>
              </a:spcAft>
              <a:buSzPct val="100000"/>
              <a:buChar char="■"/>
            </a:pPr>
            <a:r>
              <a:rPr lang="en-US" sz="1400" dirty="0">
                <a:solidFill>
                  <a:srgbClr val="1E2329"/>
                </a:solidFill>
              </a:rPr>
              <a:t>Free to every member of a UGLE Lodge, at your own pace</a:t>
            </a:r>
            <a:endParaRPr lang="en-US" sz="1400" dirty="0"/>
          </a:p>
        </p:txBody>
      </p:sp>
      <p:sp>
        <p:nvSpPr>
          <p:cNvPr id="7" name="Card Get started tonight"/>
          <p:cNvSpPr/>
          <p:nvPr/>
        </p:nvSpPr>
        <p:spPr>
          <a:xfrm>
            <a:off x="548640" y="3794760"/>
            <a:ext cx="3749040" cy="2057400"/>
          </a:xfrm>
          <a:prstGeom prst="roundRect">
            <a:avLst>
              <a:gd name="adj" fmla="val 3556"/>
            </a:avLst>
          </a:prstGeom>
          <a:solidFill>
            <a:srgbClr val="F2F7FC"/>
          </a:solidFill>
          <a:ln w="12700">
            <a:solidFill>
              <a:srgbClr val="F2F7FC"/>
            </a:solidFill>
            <a:prstDash val="solid"/>
          </a:ln>
        </p:spPr>
        <p:txBody>
          <a:bodyPr/>
          <a:lstStyle/>
          <a:p>
            <a:endParaRPr lang="en-GB"/>
          </a:p>
        </p:txBody>
      </p:sp>
      <p:pic>
        <p:nvPicPr>
          <p:cNvPr id="8" name="Image 1" descr="preencoded.png"/>
          <p:cNvPicPr>
            <a:picLocks noChangeAspect="1"/>
          </p:cNvPicPr>
          <p:nvPr/>
        </p:nvPicPr>
        <p:blipFill>
          <a:blip r:embed="rId4"/>
          <a:stretch>
            <a:fillRect/>
          </a:stretch>
        </p:blipFill>
        <p:spPr>
          <a:xfrm>
            <a:off x="749808" y="3977640"/>
            <a:ext cx="384048" cy="384048"/>
          </a:xfrm>
          <a:prstGeom prst="rect">
            <a:avLst/>
          </a:prstGeom>
        </p:spPr>
      </p:pic>
      <p:sp>
        <p:nvSpPr>
          <p:cNvPr id="9" name="Text 5"/>
          <p:cNvSpPr txBox="1"/>
          <p:nvPr/>
        </p:nvSpPr>
        <p:spPr>
          <a:xfrm>
            <a:off x="1261872" y="3959352"/>
            <a:ext cx="2834640" cy="411480"/>
          </a:xfrm>
          <a:prstGeom prst="rect">
            <a:avLst/>
          </a:prstGeom>
          <a:noFill/>
          <a:ln/>
        </p:spPr>
        <p:txBody>
          <a:bodyPr wrap="square" lIns="0" tIns="0" rIns="0" bIns="0" rtlCol="0" anchor="ctr"/>
          <a:lstStyle/>
          <a:p>
            <a:pPr marL="0" indent="0">
              <a:buNone/>
            </a:pPr>
            <a:r>
              <a:rPr lang="en-US" sz="1600" b="1" dirty="0">
                <a:solidFill>
                  <a:srgbClr val="003668"/>
                </a:solidFill>
              </a:rPr>
              <a:t>Get started tonight</a:t>
            </a:r>
            <a:endParaRPr lang="en-US" sz="1600" dirty="0"/>
          </a:p>
        </p:txBody>
      </p:sp>
      <p:sp>
        <p:nvSpPr>
          <p:cNvPr id="10" name="Text 6"/>
          <p:cNvSpPr txBox="1"/>
          <p:nvPr/>
        </p:nvSpPr>
        <p:spPr>
          <a:xfrm>
            <a:off x="777240" y="4416552"/>
            <a:ext cx="3291840" cy="1325880"/>
          </a:xfrm>
          <a:prstGeom prst="rect">
            <a:avLst/>
          </a:prstGeom>
          <a:noFill/>
          <a:ln/>
        </p:spPr>
        <p:txBody>
          <a:bodyPr wrap="square" lIns="0" tIns="0" rIns="0" bIns="0" rtlCol="0" anchor="t"/>
          <a:lstStyle/>
          <a:p>
            <a:pPr marL="203200" indent="-203200">
              <a:spcAft>
                <a:spcPts val="400"/>
              </a:spcAft>
              <a:buSzPct val="100000"/>
              <a:buChar char="■"/>
            </a:pPr>
            <a:r>
              <a:rPr lang="en-US" sz="1400" dirty="0">
                <a:solidFill>
                  <a:srgbClr val="1E2329"/>
                </a:solidFill>
              </a:rPr>
              <a:t>Scan, or go to solomon.ugle.org.uk</a:t>
            </a:r>
            <a:endParaRPr lang="en-US" sz="1400" dirty="0"/>
          </a:p>
          <a:p>
            <a:pPr marL="203200" indent="-203200">
              <a:spcAft>
                <a:spcPts val="400"/>
              </a:spcAft>
              <a:buSzPct val="100000"/>
              <a:buChar char="■"/>
            </a:pPr>
            <a:r>
              <a:rPr lang="en-US" sz="1400" dirty="0">
                <a:solidFill>
                  <a:srgbClr val="1E2329"/>
                </a:solidFill>
              </a:rPr>
              <a:t>Register: name, Lodge name and number</a:t>
            </a:r>
            <a:endParaRPr lang="en-US" sz="1400" dirty="0"/>
          </a:p>
          <a:p>
            <a:pPr marL="203200" indent="-203200">
              <a:spcAft>
                <a:spcPts val="400"/>
              </a:spcAft>
              <a:buSzPct val="100000"/>
              <a:buChar char="■"/>
            </a:pPr>
            <a:r>
              <a:rPr lang="en-US" sz="1400" dirty="0">
                <a:solidFill>
                  <a:srgbClr val="1E2329"/>
                </a:solidFill>
              </a:rPr>
              <a:t>Start “Welcome Apprentice”</a:t>
            </a:r>
            <a:endParaRPr lang="en-US" sz="1400" dirty="0"/>
          </a:p>
        </p:txBody>
      </p:sp>
      <p:pic>
        <p:nvPicPr>
          <p:cNvPr id="11" name="Image 2" descr="QR code to solomon.ugle.org.uk"/>
          <p:cNvPicPr>
            <a:picLocks noChangeAspect="1"/>
          </p:cNvPicPr>
          <p:nvPr/>
        </p:nvPicPr>
        <p:blipFill>
          <a:blip r:embed="rId5"/>
          <a:stretch>
            <a:fillRect/>
          </a:stretch>
        </p:blipFill>
        <p:spPr>
          <a:xfrm>
            <a:off x="4434840" y="3794760"/>
            <a:ext cx="1508760" cy="1508760"/>
          </a:xfrm>
          <a:prstGeom prst="rect">
            <a:avLst/>
          </a:prstGeom>
        </p:spPr>
      </p:pic>
      <p:sp>
        <p:nvSpPr>
          <p:cNvPr id="12" name="Text 7"/>
          <p:cNvSpPr txBox="1"/>
          <p:nvPr/>
        </p:nvSpPr>
        <p:spPr>
          <a:xfrm>
            <a:off x="4434840" y="5349240"/>
            <a:ext cx="1508760" cy="365760"/>
          </a:xfrm>
          <a:prstGeom prst="rect">
            <a:avLst/>
          </a:prstGeom>
          <a:noFill/>
          <a:ln/>
        </p:spPr>
        <p:txBody>
          <a:bodyPr wrap="square" lIns="0" tIns="0" rIns="0" bIns="0" rtlCol="0" anchor="ctr"/>
          <a:lstStyle/>
          <a:p>
            <a:pPr marL="0" indent="0" algn="ctr">
              <a:buNone/>
            </a:pPr>
            <a:r>
              <a:rPr lang="en-US" sz="1200" b="1" dirty="0">
                <a:solidFill>
                  <a:srgbClr val="003668"/>
                </a:solidFill>
              </a:rPr>
              <a:t>Scan for Solomon</a:t>
            </a:r>
            <a:endParaRPr lang="en-US" sz="1200" dirty="0"/>
          </a:p>
        </p:txBody>
      </p:sp>
      <p:sp>
        <p:nvSpPr>
          <p:cNvPr id="13" name="Card Use it for the evenings you cannot attend"/>
          <p:cNvSpPr/>
          <p:nvPr/>
        </p:nvSpPr>
        <p:spPr>
          <a:xfrm>
            <a:off x="6172200" y="1280160"/>
            <a:ext cx="5486400" cy="4572000"/>
          </a:xfrm>
          <a:prstGeom prst="roundRect">
            <a:avLst>
              <a:gd name="adj" fmla="val 1600"/>
            </a:avLst>
          </a:prstGeom>
          <a:solidFill>
            <a:srgbClr val="E6F2F2"/>
          </a:solidFill>
          <a:ln w="12700">
            <a:solidFill>
              <a:srgbClr val="E6F2F2"/>
            </a:solidFill>
            <a:prstDash val="solid"/>
          </a:ln>
        </p:spPr>
        <p:txBody>
          <a:bodyPr/>
          <a:lstStyle/>
          <a:p>
            <a:endParaRPr lang="en-GB"/>
          </a:p>
        </p:txBody>
      </p:sp>
      <p:pic>
        <p:nvPicPr>
          <p:cNvPr id="14" name="Image 3" descr="preencoded.png"/>
          <p:cNvPicPr>
            <a:picLocks noChangeAspect="1"/>
          </p:cNvPicPr>
          <p:nvPr/>
        </p:nvPicPr>
        <p:blipFill>
          <a:blip r:embed="rId6"/>
          <a:stretch>
            <a:fillRect/>
          </a:stretch>
        </p:blipFill>
        <p:spPr>
          <a:xfrm>
            <a:off x="6373368" y="1463040"/>
            <a:ext cx="384048" cy="384048"/>
          </a:xfrm>
          <a:prstGeom prst="rect">
            <a:avLst/>
          </a:prstGeom>
        </p:spPr>
      </p:pic>
      <p:sp>
        <p:nvSpPr>
          <p:cNvPr id="15" name="Text 9"/>
          <p:cNvSpPr txBox="1"/>
          <p:nvPr/>
        </p:nvSpPr>
        <p:spPr>
          <a:xfrm>
            <a:off x="6885432" y="1444752"/>
            <a:ext cx="4572000" cy="411480"/>
          </a:xfrm>
          <a:prstGeom prst="rect">
            <a:avLst/>
          </a:prstGeom>
          <a:noFill/>
          <a:ln/>
        </p:spPr>
        <p:txBody>
          <a:bodyPr wrap="square" lIns="0" tIns="0" rIns="0" bIns="0" rtlCol="0" anchor="ctr"/>
          <a:lstStyle/>
          <a:p>
            <a:pPr marL="0" indent="0">
              <a:buNone/>
            </a:pPr>
            <a:r>
              <a:rPr lang="en-US" sz="1600" b="1" dirty="0">
                <a:solidFill>
                  <a:srgbClr val="003668"/>
                </a:solidFill>
              </a:rPr>
              <a:t>Use it for the evenings you cannot attend</a:t>
            </a:r>
            <a:endParaRPr lang="en-US" sz="1600" dirty="0"/>
          </a:p>
        </p:txBody>
      </p:sp>
      <p:sp>
        <p:nvSpPr>
          <p:cNvPr id="16" name="Text 10"/>
          <p:cNvSpPr txBox="1"/>
          <p:nvPr/>
        </p:nvSpPr>
        <p:spPr>
          <a:xfrm>
            <a:off x="6400800" y="1901952"/>
            <a:ext cx="5029200" cy="3840480"/>
          </a:xfrm>
          <a:prstGeom prst="rect">
            <a:avLst/>
          </a:prstGeom>
          <a:noFill/>
          <a:ln/>
        </p:spPr>
        <p:txBody>
          <a:bodyPr wrap="square" lIns="0" tIns="0" rIns="0" bIns="0" rtlCol="0" anchor="t"/>
          <a:lstStyle/>
          <a:p>
            <a:pPr marL="0" indent="0">
              <a:buNone/>
            </a:pPr>
            <a:r>
              <a:rPr lang="en-US" sz="1500" dirty="0">
                <a:solidFill>
                  <a:srgbClr val="1E2329"/>
                </a:solidFill>
              </a:rPr>
              <a:t>When your Lodge works a degree you have not yet taken, you cannot be in the room. That evening is not dead time: meet your mentor, open Solomon, and explore the history, the symbolism of your own degree, or whatever you are curious about.</a:t>
            </a:r>
            <a:endParaRPr lang="en-US" sz="1500" dirty="0"/>
          </a:p>
          <a:p>
            <a:pPr marL="0" indent="0">
              <a:buNone/>
            </a:pPr>
            <a:endParaRPr lang="en-US" sz="1500" dirty="0"/>
          </a:p>
          <a:p>
            <a:pPr marL="0" indent="0">
              <a:buNone/>
            </a:pPr>
            <a:r>
              <a:rPr lang="en-US" sz="1500" dirty="0">
                <a:solidFill>
                  <a:srgbClr val="1E2329"/>
                </a:solidFill>
              </a:rPr>
              <a:t>Solomon sits alongside face-to-face conversation. It never replaces it.</a:t>
            </a:r>
            <a:endParaRPr lang="en-US" sz="15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06345D"/>
                </a:solidFil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itle"/>
          <p:cNvSpPr txBox="1"/>
          <p:nvPr/>
        </p:nvSpPr>
        <p:spPr>
          <a:xfrm>
            <a:off x="548640" y="411480"/>
            <a:ext cx="11091672" cy="731520"/>
          </a:xfrm>
          <a:prstGeom prst="rect">
            <a:avLst/>
          </a:prstGeom>
          <a:noFill/>
          <a:ln/>
        </p:spPr>
        <p:txBody>
          <a:bodyPr wrap="square" lIns="0" tIns="0" rIns="0" bIns="0" rtlCol="0" anchor="ctr"/>
          <a:lstStyle/>
          <a:p>
            <a:pPr marL="0" indent="0">
              <a:buNone/>
            </a:pPr>
            <a:r>
              <a:rPr lang="en-US" sz="3200" b="1" dirty="0">
                <a:solidFill>
                  <a:srgbClr val="003668"/>
                </a:solidFill>
              </a:rPr>
              <a:t>Solomon Academy and the Diploma</a:t>
            </a:r>
            <a:endParaRPr lang="en-US" sz="3200" dirty="0"/>
          </a:p>
        </p:txBody>
      </p:sp>
      <p:sp>
        <p:nvSpPr>
          <p:cNvPr id="3" name="Module 1"/>
          <p:cNvSpPr/>
          <p:nvPr/>
        </p:nvSpPr>
        <p:spPr>
          <a:xfrm>
            <a:off x="548640" y="1280160"/>
            <a:ext cx="2651760" cy="1097280"/>
          </a:xfrm>
          <a:prstGeom prst="roundRect">
            <a:avLst>
              <a:gd name="adj" fmla="val 6667"/>
            </a:avLst>
          </a:prstGeom>
          <a:solidFill>
            <a:srgbClr val="003668"/>
          </a:solidFill>
          <a:ln w="12700">
            <a:solidFill>
              <a:srgbClr val="003668"/>
            </a:solidFill>
            <a:prstDash val="solid"/>
          </a:ln>
        </p:spPr>
        <p:txBody>
          <a:bodyPr/>
          <a:lstStyle/>
          <a:p>
            <a:endParaRPr lang="en-GB"/>
          </a:p>
        </p:txBody>
      </p:sp>
      <p:sp>
        <p:nvSpPr>
          <p:cNvPr id="4" name="Text 2"/>
          <p:cNvSpPr txBox="1"/>
          <p:nvPr/>
        </p:nvSpPr>
        <p:spPr>
          <a:xfrm>
            <a:off x="777240" y="1280160"/>
            <a:ext cx="2286000" cy="1097280"/>
          </a:xfrm>
          <a:prstGeom prst="rect">
            <a:avLst/>
          </a:prstGeom>
          <a:noFill/>
          <a:ln/>
        </p:spPr>
        <p:txBody>
          <a:bodyPr wrap="square" lIns="0" tIns="0" rIns="0" bIns="0" rtlCol="0" anchor="ctr"/>
          <a:lstStyle/>
          <a:p>
            <a:pPr marL="0" indent="0">
              <a:buNone/>
            </a:pPr>
            <a:r>
              <a:rPr lang="en-US" sz="1300" b="1" dirty="0">
                <a:solidFill>
                  <a:srgbClr val="8FD3D1"/>
                </a:solidFill>
              </a:rPr>
              <a:t>Module 1</a:t>
            </a:r>
            <a:endParaRPr lang="en-US" sz="1300" dirty="0"/>
          </a:p>
          <a:p>
            <a:pPr marL="0" indent="0">
              <a:buNone/>
            </a:pPr>
            <a:r>
              <a:rPr lang="en-US" sz="1700" b="1" dirty="0">
                <a:solidFill>
                  <a:srgbClr val="FFFFFF"/>
                </a:solidFill>
              </a:rPr>
              <a:t>Welcome Apprentice</a:t>
            </a:r>
            <a:endParaRPr lang="en-US" sz="1300" dirty="0"/>
          </a:p>
        </p:txBody>
      </p:sp>
      <p:sp>
        <p:nvSpPr>
          <p:cNvPr id="5" name="Module 2"/>
          <p:cNvSpPr/>
          <p:nvPr/>
        </p:nvSpPr>
        <p:spPr>
          <a:xfrm>
            <a:off x="3383280" y="1280160"/>
            <a:ext cx="2651760" cy="1097280"/>
          </a:xfrm>
          <a:prstGeom prst="roundRect">
            <a:avLst>
              <a:gd name="adj" fmla="val 6667"/>
            </a:avLst>
          </a:prstGeom>
          <a:solidFill>
            <a:srgbClr val="0A4F72"/>
          </a:solidFill>
          <a:ln w="12700">
            <a:solidFill>
              <a:srgbClr val="0A4F72"/>
            </a:solidFill>
            <a:prstDash val="solid"/>
          </a:ln>
        </p:spPr>
        <p:txBody>
          <a:bodyPr/>
          <a:lstStyle/>
          <a:p>
            <a:endParaRPr lang="en-GB"/>
          </a:p>
        </p:txBody>
      </p:sp>
      <p:sp>
        <p:nvSpPr>
          <p:cNvPr id="6" name="Text 4"/>
          <p:cNvSpPr txBox="1"/>
          <p:nvPr/>
        </p:nvSpPr>
        <p:spPr>
          <a:xfrm>
            <a:off x="3611880" y="1280160"/>
            <a:ext cx="2286000" cy="1097280"/>
          </a:xfrm>
          <a:prstGeom prst="rect">
            <a:avLst/>
          </a:prstGeom>
          <a:noFill/>
          <a:ln/>
        </p:spPr>
        <p:txBody>
          <a:bodyPr wrap="square" lIns="0" tIns="0" rIns="0" bIns="0" rtlCol="0" anchor="ctr"/>
          <a:lstStyle/>
          <a:p>
            <a:pPr marL="0" indent="0">
              <a:buNone/>
            </a:pPr>
            <a:r>
              <a:rPr lang="en-US" sz="1300" b="1" dirty="0">
                <a:solidFill>
                  <a:srgbClr val="8FD3D1"/>
                </a:solidFill>
              </a:rPr>
              <a:t>Module 2</a:t>
            </a:r>
            <a:endParaRPr lang="en-US" sz="1300" dirty="0"/>
          </a:p>
          <a:p>
            <a:pPr marL="0" indent="0">
              <a:buNone/>
            </a:pPr>
            <a:r>
              <a:rPr lang="en-US" sz="1700" b="1" dirty="0">
                <a:solidFill>
                  <a:srgbClr val="FFFFFF"/>
                </a:solidFill>
              </a:rPr>
              <a:t>Welcome Fellow Craft</a:t>
            </a:r>
            <a:endParaRPr lang="en-US" sz="1300" dirty="0"/>
          </a:p>
        </p:txBody>
      </p:sp>
      <p:sp>
        <p:nvSpPr>
          <p:cNvPr id="7" name="Module 3"/>
          <p:cNvSpPr/>
          <p:nvPr/>
        </p:nvSpPr>
        <p:spPr>
          <a:xfrm>
            <a:off x="6217920" y="1280160"/>
            <a:ext cx="2651760" cy="1097280"/>
          </a:xfrm>
          <a:prstGeom prst="roundRect">
            <a:avLst>
              <a:gd name="adj" fmla="val 6667"/>
            </a:avLst>
          </a:prstGeom>
          <a:solidFill>
            <a:srgbClr val="106576"/>
          </a:solidFill>
          <a:ln w="12700">
            <a:solidFill>
              <a:srgbClr val="106576"/>
            </a:solidFill>
            <a:prstDash val="solid"/>
          </a:ln>
        </p:spPr>
        <p:txBody>
          <a:bodyPr/>
          <a:lstStyle/>
          <a:p>
            <a:endParaRPr lang="en-GB"/>
          </a:p>
        </p:txBody>
      </p:sp>
      <p:sp>
        <p:nvSpPr>
          <p:cNvPr id="8" name="Text 6"/>
          <p:cNvSpPr txBox="1"/>
          <p:nvPr/>
        </p:nvSpPr>
        <p:spPr>
          <a:xfrm>
            <a:off x="6446520" y="1280160"/>
            <a:ext cx="2286000" cy="1097280"/>
          </a:xfrm>
          <a:prstGeom prst="rect">
            <a:avLst/>
          </a:prstGeom>
          <a:noFill/>
          <a:ln/>
        </p:spPr>
        <p:txBody>
          <a:bodyPr wrap="square" lIns="0" tIns="0" rIns="0" bIns="0" rtlCol="0" anchor="ctr"/>
          <a:lstStyle/>
          <a:p>
            <a:pPr marL="0" indent="0">
              <a:buNone/>
            </a:pPr>
            <a:r>
              <a:rPr lang="en-US" sz="1300" b="1" dirty="0">
                <a:solidFill>
                  <a:srgbClr val="8FD3D1"/>
                </a:solidFill>
              </a:rPr>
              <a:t>Module 3</a:t>
            </a:r>
            <a:endParaRPr lang="en-US" sz="1300" dirty="0"/>
          </a:p>
          <a:p>
            <a:pPr marL="0" indent="0">
              <a:buNone/>
            </a:pPr>
            <a:r>
              <a:rPr lang="en-US" sz="1700" b="1" dirty="0">
                <a:solidFill>
                  <a:srgbClr val="FFFFFF"/>
                </a:solidFill>
              </a:rPr>
              <a:t>Welcome Master Mason</a:t>
            </a:r>
            <a:endParaRPr lang="en-US" sz="1300" dirty="0"/>
          </a:p>
        </p:txBody>
      </p:sp>
      <p:sp>
        <p:nvSpPr>
          <p:cNvPr id="9" name="Module 4"/>
          <p:cNvSpPr/>
          <p:nvPr/>
        </p:nvSpPr>
        <p:spPr>
          <a:xfrm>
            <a:off x="9052560" y="1280160"/>
            <a:ext cx="2651760" cy="1097280"/>
          </a:xfrm>
          <a:prstGeom prst="roundRect">
            <a:avLst>
              <a:gd name="adj" fmla="val 6667"/>
            </a:avLst>
          </a:prstGeom>
          <a:solidFill>
            <a:srgbClr val="157A7C"/>
          </a:solidFill>
          <a:ln w="12700">
            <a:solidFill>
              <a:srgbClr val="157A7C"/>
            </a:solidFill>
            <a:prstDash val="solid"/>
          </a:ln>
        </p:spPr>
        <p:txBody>
          <a:bodyPr/>
          <a:lstStyle/>
          <a:p>
            <a:endParaRPr lang="en-GB"/>
          </a:p>
        </p:txBody>
      </p:sp>
      <p:sp>
        <p:nvSpPr>
          <p:cNvPr id="10" name="Text 8"/>
          <p:cNvSpPr txBox="1"/>
          <p:nvPr/>
        </p:nvSpPr>
        <p:spPr>
          <a:xfrm>
            <a:off x="9281160" y="1280160"/>
            <a:ext cx="2286000" cy="1097280"/>
          </a:xfrm>
          <a:prstGeom prst="rect">
            <a:avLst/>
          </a:prstGeom>
          <a:noFill/>
          <a:ln/>
        </p:spPr>
        <p:txBody>
          <a:bodyPr wrap="square" lIns="0" tIns="0" rIns="0" bIns="0" rtlCol="0" anchor="ctr"/>
          <a:lstStyle/>
          <a:p>
            <a:pPr marL="0" indent="0">
              <a:buNone/>
            </a:pPr>
            <a:r>
              <a:rPr lang="en-US" sz="1300" b="1" dirty="0">
                <a:solidFill>
                  <a:srgbClr val="8FD3D1"/>
                </a:solidFill>
              </a:rPr>
              <a:t>Module 4</a:t>
            </a:r>
            <a:endParaRPr lang="en-US" sz="1300" dirty="0"/>
          </a:p>
          <a:p>
            <a:pPr marL="0" indent="0">
              <a:buNone/>
            </a:pPr>
            <a:r>
              <a:rPr lang="en-US" sz="1700" b="1" dirty="0">
                <a:solidFill>
                  <a:srgbClr val="FFFFFF"/>
                </a:solidFill>
              </a:rPr>
              <a:t>Welcome Companion</a:t>
            </a:r>
            <a:endParaRPr lang="en-US" sz="1300" dirty="0"/>
          </a:p>
        </p:txBody>
      </p:sp>
      <p:sp>
        <p:nvSpPr>
          <p:cNvPr id="11" name="Card How it works"/>
          <p:cNvSpPr/>
          <p:nvPr/>
        </p:nvSpPr>
        <p:spPr>
          <a:xfrm>
            <a:off x="548640" y="2560320"/>
            <a:ext cx="5394960" cy="3291840"/>
          </a:xfrm>
          <a:prstGeom prst="roundRect">
            <a:avLst>
              <a:gd name="adj" fmla="val 2222"/>
            </a:avLst>
          </a:prstGeom>
          <a:solidFill>
            <a:srgbClr val="F2F7FC"/>
          </a:solidFill>
          <a:ln w="12700">
            <a:solidFill>
              <a:srgbClr val="F2F7FC"/>
            </a:solidFill>
            <a:prstDash val="solid"/>
          </a:ln>
        </p:spPr>
        <p:txBody>
          <a:bodyPr/>
          <a:lstStyle/>
          <a:p>
            <a:endParaRPr lang="en-GB"/>
          </a:p>
        </p:txBody>
      </p:sp>
      <p:pic>
        <p:nvPicPr>
          <p:cNvPr id="12" name="Image 0" descr="preencoded.png"/>
          <p:cNvPicPr>
            <a:picLocks noChangeAspect="1"/>
          </p:cNvPicPr>
          <p:nvPr/>
        </p:nvPicPr>
        <p:blipFill>
          <a:blip r:embed="rId3"/>
          <a:stretch>
            <a:fillRect/>
          </a:stretch>
        </p:blipFill>
        <p:spPr>
          <a:xfrm>
            <a:off x="749808" y="2743200"/>
            <a:ext cx="384048" cy="384048"/>
          </a:xfrm>
          <a:prstGeom prst="rect">
            <a:avLst/>
          </a:prstGeom>
        </p:spPr>
      </p:pic>
      <p:sp>
        <p:nvSpPr>
          <p:cNvPr id="13" name="Text 10"/>
          <p:cNvSpPr txBox="1"/>
          <p:nvPr/>
        </p:nvSpPr>
        <p:spPr>
          <a:xfrm>
            <a:off x="1261872" y="2724912"/>
            <a:ext cx="4480560" cy="411480"/>
          </a:xfrm>
          <a:prstGeom prst="rect">
            <a:avLst/>
          </a:prstGeom>
          <a:noFill/>
          <a:ln/>
        </p:spPr>
        <p:txBody>
          <a:bodyPr wrap="square" lIns="0" tIns="0" rIns="0" bIns="0" rtlCol="0" anchor="ctr"/>
          <a:lstStyle/>
          <a:p>
            <a:pPr marL="0" indent="0">
              <a:buNone/>
            </a:pPr>
            <a:r>
              <a:rPr lang="en-US" sz="1600" b="1" dirty="0">
                <a:solidFill>
                  <a:srgbClr val="003668"/>
                </a:solidFill>
              </a:rPr>
              <a:t>How it works</a:t>
            </a:r>
            <a:endParaRPr lang="en-US" sz="1600" dirty="0"/>
          </a:p>
        </p:txBody>
      </p:sp>
      <p:sp>
        <p:nvSpPr>
          <p:cNvPr id="14" name="Text 11"/>
          <p:cNvSpPr txBox="1"/>
          <p:nvPr/>
        </p:nvSpPr>
        <p:spPr>
          <a:xfrm>
            <a:off x="777240" y="3182112"/>
            <a:ext cx="4937760" cy="2560320"/>
          </a:xfrm>
          <a:prstGeom prst="rect">
            <a:avLst/>
          </a:prstGeom>
          <a:noFill/>
          <a:ln/>
        </p:spPr>
        <p:txBody>
          <a:bodyPr wrap="square" lIns="0" tIns="0" rIns="0" bIns="0" rtlCol="0" anchor="t"/>
          <a:lstStyle/>
          <a:p>
            <a:pPr marL="203200" indent="-203200">
              <a:spcAft>
                <a:spcPts val="400"/>
              </a:spcAft>
              <a:buSzPct val="100000"/>
              <a:buChar char="■"/>
            </a:pPr>
            <a:r>
              <a:rPr lang="en-US" sz="1400" dirty="0">
                <a:solidFill>
                  <a:srgbClr val="1E2329"/>
                </a:solidFill>
              </a:rPr>
              <a:t>Work through each module at your own pace</a:t>
            </a:r>
            <a:endParaRPr lang="en-US" sz="1400" dirty="0"/>
          </a:p>
          <a:p>
            <a:pPr marL="203200" indent="-203200">
              <a:spcAft>
                <a:spcPts val="400"/>
              </a:spcAft>
              <a:buSzPct val="100000"/>
              <a:buChar char="■"/>
            </a:pPr>
            <a:r>
              <a:rPr lang="en-US" sz="1400" dirty="0">
                <a:solidFill>
                  <a:srgbClr val="1E2329"/>
                </a:solidFill>
              </a:rPr>
              <a:t>A quiz at the end: score 100% for a certificate, and retake as often as you like</a:t>
            </a:r>
            <a:endParaRPr lang="en-US" sz="1400" dirty="0"/>
          </a:p>
          <a:p>
            <a:pPr marL="203200" indent="-203200">
              <a:spcAft>
                <a:spcPts val="400"/>
              </a:spcAft>
              <a:buSzPct val="100000"/>
              <a:buChar char="■"/>
            </a:pPr>
            <a:r>
              <a:rPr lang="en-US" sz="1400" dirty="0">
                <a:solidFill>
                  <a:srgbClr val="1E2329"/>
                </a:solidFill>
              </a:rPr>
              <a:t>All four certificates earn the Solomon Academy Diploma</a:t>
            </a:r>
            <a:endParaRPr lang="en-US" sz="1400" dirty="0"/>
          </a:p>
          <a:p>
            <a:pPr marL="203200" indent="-203200">
              <a:spcAft>
                <a:spcPts val="400"/>
              </a:spcAft>
              <a:buSzPct val="100000"/>
              <a:buChar char="■"/>
            </a:pPr>
            <a:r>
              <a:rPr lang="en-US" sz="1400" dirty="0">
                <a:solidFill>
                  <a:srgbClr val="1E2329"/>
                </a:solidFill>
              </a:rPr>
              <a:t>Do Welcome Companion when the time is right for you; the Diploma waits</a:t>
            </a:r>
            <a:endParaRPr lang="en-US" sz="1400" dirty="0"/>
          </a:p>
        </p:txBody>
      </p:sp>
      <p:sp>
        <p:nvSpPr>
          <p:cNvPr id="15" name="Card Your tie pin, presented in Lodge"/>
          <p:cNvSpPr/>
          <p:nvPr/>
        </p:nvSpPr>
        <p:spPr>
          <a:xfrm>
            <a:off x="6172200" y="2560320"/>
            <a:ext cx="5486400" cy="3291840"/>
          </a:xfrm>
          <a:prstGeom prst="roundRect">
            <a:avLst>
              <a:gd name="adj" fmla="val 2222"/>
            </a:avLst>
          </a:prstGeom>
          <a:solidFill>
            <a:srgbClr val="E6F2F2"/>
          </a:solidFill>
          <a:ln w="12700">
            <a:solidFill>
              <a:srgbClr val="E6F2F2"/>
            </a:solidFill>
            <a:prstDash val="solid"/>
          </a:ln>
        </p:spPr>
        <p:txBody>
          <a:bodyPr/>
          <a:lstStyle/>
          <a:p>
            <a:endParaRPr lang="en-GB"/>
          </a:p>
        </p:txBody>
      </p:sp>
      <p:pic>
        <p:nvPicPr>
          <p:cNvPr id="16" name="Image 1" descr="preencoded.png"/>
          <p:cNvPicPr>
            <a:picLocks noChangeAspect="1"/>
          </p:cNvPicPr>
          <p:nvPr/>
        </p:nvPicPr>
        <p:blipFill>
          <a:blip r:embed="rId4"/>
          <a:stretch>
            <a:fillRect/>
          </a:stretch>
        </p:blipFill>
        <p:spPr>
          <a:xfrm>
            <a:off x="6373368" y="2743200"/>
            <a:ext cx="384048" cy="384048"/>
          </a:xfrm>
          <a:prstGeom prst="rect">
            <a:avLst/>
          </a:prstGeom>
        </p:spPr>
      </p:pic>
      <p:sp>
        <p:nvSpPr>
          <p:cNvPr id="17" name="Text 13"/>
          <p:cNvSpPr txBox="1"/>
          <p:nvPr/>
        </p:nvSpPr>
        <p:spPr>
          <a:xfrm>
            <a:off x="6885432" y="2724912"/>
            <a:ext cx="4572000" cy="411480"/>
          </a:xfrm>
          <a:prstGeom prst="rect">
            <a:avLst/>
          </a:prstGeom>
          <a:noFill/>
          <a:ln/>
        </p:spPr>
        <p:txBody>
          <a:bodyPr wrap="square" lIns="0" tIns="0" rIns="0" bIns="0" rtlCol="0" anchor="ctr"/>
          <a:lstStyle/>
          <a:p>
            <a:pPr marL="0" indent="0">
              <a:buNone/>
            </a:pPr>
            <a:r>
              <a:rPr lang="en-US" sz="1600" b="1" dirty="0">
                <a:solidFill>
                  <a:srgbClr val="003668"/>
                </a:solidFill>
              </a:rPr>
              <a:t>Your tie pin, presented in Lodge</a:t>
            </a:r>
            <a:endParaRPr lang="en-US" sz="1600" dirty="0"/>
          </a:p>
        </p:txBody>
      </p:sp>
      <p:sp>
        <p:nvSpPr>
          <p:cNvPr id="18" name="Text 14"/>
          <p:cNvSpPr txBox="1"/>
          <p:nvPr/>
        </p:nvSpPr>
        <p:spPr>
          <a:xfrm>
            <a:off x="6400800" y="3182112"/>
            <a:ext cx="5029200" cy="2560320"/>
          </a:xfrm>
          <a:prstGeom prst="rect">
            <a:avLst/>
          </a:prstGeom>
          <a:noFill/>
          <a:ln/>
        </p:spPr>
        <p:txBody>
          <a:bodyPr wrap="square" lIns="0" tIns="0" rIns="0" bIns="0" rtlCol="0" anchor="t"/>
          <a:lstStyle/>
          <a:p>
            <a:pPr marL="203200" indent="-203200">
              <a:spcAft>
                <a:spcPts val="400"/>
              </a:spcAft>
              <a:buSzPct val="100000"/>
              <a:buChar char="■"/>
            </a:pPr>
            <a:r>
              <a:rPr lang="en-US" sz="1400" dirty="0">
                <a:solidFill>
                  <a:srgbClr val="1E2329"/>
                </a:solidFill>
              </a:rPr>
              <a:t>Diploma holders receive UGLE’s Solomon Academy tie pin, worn only by those who have earned it</a:t>
            </a:r>
            <a:endParaRPr lang="en-US" sz="1400" dirty="0"/>
          </a:p>
          <a:p>
            <a:pPr marL="203200" indent="-203200">
              <a:spcAft>
                <a:spcPts val="400"/>
              </a:spcAft>
              <a:buSzPct val="100000"/>
              <a:buChar char="■"/>
            </a:pPr>
            <a:r>
              <a:rPr lang="en-US" sz="1400" dirty="0">
                <a:solidFill>
                  <a:srgbClr val="1E2329"/>
                </a:solidFill>
              </a:rPr>
              <a:t>Hertfordshire presents pins in Lodge: at Gladsmuir Lodge No. 1385, the Light Blues Lodge, or arranged at your own</a:t>
            </a:r>
            <a:endParaRPr lang="en-US" sz="1400" dirty="0"/>
          </a:p>
          <a:p>
            <a:pPr marL="203200" indent="-203200">
              <a:spcAft>
                <a:spcPts val="400"/>
              </a:spcAft>
              <a:buSzPct val="100000"/>
              <a:buChar char="■"/>
            </a:pPr>
            <a:r>
              <a:rPr lang="en-US" sz="1400" dirty="0">
                <a:solidFill>
                  <a:srgbClr val="1E2329"/>
                </a:solidFill>
              </a:rPr>
              <a:t>Finished? Email mentor@hertfordshirefreemasons.org.uk with your Lodge name and number</a:t>
            </a:r>
            <a:endParaRPr lang="en-US" sz="14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06345D"/>
                </a:solidFill>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itle"/>
          <p:cNvSpPr txBox="1"/>
          <p:nvPr/>
        </p:nvSpPr>
        <p:spPr>
          <a:xfrm>
            <a:off x="548640" y="411480"/>
            <a:ext cx="11091672" cy="731520"/>
          </a:xfrm>
          <a:prstGeom prst="rect">
            <a:avLst/>
          </a:prstGeom>
          <a:noFill/>
          <a:ln/>
        </p:spPr>
        <p:txBody>
          <a:bodyPr wrap="square" lIns="0" tIns="0" rIns="0" bIns="0" rtlCol="0" anchor="ctr"/>
          <a:lstStyle/>
          <a:p>
            <a:pPr marL="0" indent="0">
              <a:buNone/>
            </a:pPr>
            <a:r>
              <a:rPr lang="en-US" sz="3200" b="1" dirty="0">
                <a:solidFill>
                  <a:srgbClr val="003668"/>
                </a:solidFill>
              </a:rPr>
              <a:t>Learning ritual without losing sleep</a:t>
            </a:r>
            <a:endParaRPr lang="en-US" sz="3200" dirty="0"/>
          </a:p>
        </p:txBody>
      </p:sp>
      <p:sp>
        <p:nvSpPr>
          <p:cNvPr id="3" name="Tip Start early"/>
          <p:cNvSpPr/>
          <p:nvPr/>
        </p:nvSpPr>
        <p:spPr>
          <a:xfrm>
            <a:off x="548640" y="1325880"/>
            <a:ext cx="2651760" cy="2103120"/>
          </a:xfrm>
          <a:prstGeom prst="roundRect">
            <a:avLst>
              <a:gd name="adj" fmla="val 3478"/>
            </a:avLst>
          </a:prstGeom>
          <a:solidFill>
            <a:srgbClr val="F2F7FC"/>
          </a:solidFill>
          <a:ln w="12700">
            <a:solidFill>
              <a:srgbClr val="F2F7FC"/>
            </a:solidFill>
            <a:prstDash val="solid"/>
          </a:ln>
        </p:spPr>
        <p:txBody>
          <a:bodyPr/>
          <a:lstStyle/>
          <a:p>
            <a:endParaRPr lang="en-GB"/>
          </a:p>
        </p:txBody>
      </p:sp>
      <p:sp>
        <p:nvSpPr>
          <p:cNvPr id="4" name="Shape 2"/>
          <p:cNvSpPr/>
          <p:nvPr/>
        </p:nvSpPr>
        <p:spPr>
          <a:xfrm>
            <a:off x="749808" y="1527048"/>
            <a:ext cx="548640" cy="548640"/>
          </a:xfrm>
          <a:prstGeom prst="ellipse">
            <a:avLst/>
          </a:prstGeom>
          <a:solidFill>
            <a:srgbClr val="003668"/>
          </a:solidFill>
          <a:ln w="12700">
            <a:solidFill>
              <a:srgbClr val="003668"/>
            </a:solidFill>
            <a:prstDash val="solid"/>
          </a:ln>
        </p:spPr>
        <p:txBody>
          <a:bodyPr/>
          <a:lstStyle/>
          <a:p>
            <a:endParaRPr lang="en-GB"/>
          </a:p>
        </p:txBody>
      </p:sp>
      <p:sp>
        <p:nvSpPr>
          <p:cNvPr id="5" name="Text 3"/>
          <p:cNvSpPr txBox="1"/>
          <p:nvPr/>
        </p:nvSpPr>
        <p:spPr>
          <a:xfrm>
            <a:off x="749808" y="1527048"/>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rPr>
              <a:t>1</a:t>
            </a:r>
            <a:endParaRPr lang="en-US" sz="1800" dirty="0"/>
          </a:p>
        </p:txBody>
      </p:sp>
      <p:sp>
        <p:nvSpPr>
          <p:cNvPr id="6" name="Text 4"/>
          <p:cNvSpPr txBox="1"/>
          <p:nvPr/>
        </p:nvSpPr>
        <p:spPr>
          <a:xfrm>
            <a:off x="749808" y="2194560"/>
            <a:ext cx="2286000" cy="411480"/>
          </a:xfrm>
          <a:prstGeom prst="rect">
            <a:avLst/>
          </a:prstGeom>
          <a:noFill/>
          <a:ln/>
        </p:spPr>
        <p:txBody>
          <a:bodyPr wrap="square" lIns="0" tIns="0" rIns="0" bIns="0" rtlCol="0" anchor="ctr"/>
          <a:lstStyle/>
          <a:p>
            <a:pPr marL="0" indent="0">
              <a:buNone/>
            </a:pPr>
            <a:r>
              <a:rPr lang="en-US" sz="1600" b="1" dirty="0">
                <a:solidFill>
                  <a:srgbClr val="003668"/>
                </a:solidFill>
              </a:rPr>
              <a:t>Start early</a:t>
            </a:r>
            <a:endParaRPr lang="en-US" sz="1600" dirty="0"/>
          </a:p>
        </p:txBody>
      </p:sp>
      <p:sp>
        <p:nvSpPr>
          <p:cNvPr id="7" name="Text 5"/>
          <p:cNvSpPr txBox="1"/>
          <p:nvPr/>
        </p:nvSpPr>
        <p:spPr>
          <a:xfrm>
            <a:off x="749808" y="2606040"/>
            <a:ext cx="2286000" cy="731520"/>
          </a:xfrm>
          <a:prstGeom prst="rect">
            <a:avLst/>
          </a:prstGeom>
          <a:noFill/>
          <a:ln/>
        </p:spPr>
        <p:txBody>
          <a:bodyPr wrap="square" lIns="0" tIns="0" rIns="0" bIns="0" rtlCol="0" anchor="t"/>
          <a:lstStyle/>
          <a:p>
            <a:pPr marL="0" indent="0">
              <a:buNone/>
            </a:pPr>
            <a:r>
              <a:rPr lang="en-US" sz="1400" dirty="0">
                <a:solidFill>
                  <a:srgbClr val="1E2329"/>
                </a:solidFill>
              </a:rPr>
              <a:t>Months, not the week before.</a:t>
            </a:r>
            <a:endParaRPr lang="en-US" sz="1400" dirty="0"/>
          </a:p>
        </p:txBody>
      </p:sp>
      <p:sp>
        <p:nvSpPr>
          <p:cNvPr id="8" name="Tip Little and often"/>
          <p:cNvSpPr/>
          <p:nvPr/>
        </p:nvSpPr>
        <p:spPr>
          <a:xfrm>
            <a:off x="3383280" y="1325880"/>
            <a:ext cx="2651760" cy="2103120"/>
          </a:xfrm>
          <a:prstGeom prst="roundRect">
            <a:avLst>
              <a:gd name="adj" fmla="val 3478"/>
            </a:avLst>
          </a:prstGeom>
          <a:solidFill>
            <a:srgbClr val="F2F7FC"/>
          </a:solidFill>
          <a:ln w="12700">
            <a:solidFill>
              <a:srgbClr val="F2F7FC"/>
            </a:solidFill>
            <a:prstDash val="solid"/>
          </a:ln>
        </p:spPr>
        <p:txBody>
          <a:bodyPr/>
          <a:lstStyle/>
          <a:p>
            <a:endParaRPr lang="en-GB"/>
          </a:p>
        </p:txBody>
      </p:sp>
      <p:sp>
        <p:nvSpPr>
          <p:cNvPr id="9" name="Shape 7"/>
          <p:cNvSpPr/>
          <p:nvPr/>
        </p:nvSpPr>
        <p:spPr>
          <a:xfrm>
            <a:off x="3584448" y="1527048"/>
            <a:ext cx="548640" cy="548640"/>
          </a:xfrm>
          <a:prstGeom prst="ellipse">
            <a:avLst/>
          </a:prstGeom>
          <a:solidFill>
            <a:srgbClr val="0A4F72"/>
          </a:solidFill>
          <a:ln w="12700">
            <a:solidFill>
              <a:srgbClr val="0A4F72"/>
            </a:solidFill>
            <a:prstDash val="solid"/>
          </a:ln>
        </p:spPr>
        <p:txBody>
          <a:bodyPr/>
          <a:lstStyle/>
          <a:p>
            <a:endParaRPr lang="en-GB"/>
          </a:p>
        </p:txBody>
      </p:sp>
      <p:sp>
        <p:nvSpPr>
          <p:cNvPr id="10" name="Text 8"/>
          <p:cNvSpPr txBox="1"/>
          <p:nvPr/>
        </p:nvSpPr>
        <p:spPr>
          <a:xfrm>
            <a:off x="3584448" y="1527048"/>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rPr>
              <a:t>2</a:t>
            </a:r>
            <a:endParaRPr lang="en-US" sz="1800" dirty="0"/>
          </a:p>
        </p:txBody>
      </p:sp>
      <p:sp>
        <p:nvSpPr>
          <p:cNvPr id="11" name="Text 9"/>
          <p:cNvSpPr txBox="1"/>
          <p:nvPr/>
        </p:nvSpPr>
        <p:spPr>
          <a:xfrm>
            <a:off x="3584448" y="2194560"/>
            <a:ext cx="2286000" cy="411480"/>
          </a:xfrm>
          <a:prstGeom prst="rect">
            <a:avLst/>
          </a:prstGeom>
          <a:noFill/>
          <a:ln/>
        </p:spPr>
        <p:txBody>
          <a:bodyPr wrap="square" lIns="0" tIns="0" rIns="0" bIns="0" rtlCol="0" anchor="ctr"/>
          <a:lstStyle/>
          <a:p>
            <a:pPr marL="0" indent="0">
              <a:buNone/>
            </a:pPr>
            <a:r>
              <a:rPr lang="en-US" sz="1600" b="1" dirty="0">
                <a:solidFill>
                  <a:srgbClr val="0A4F72"/>
                </a:solidFill>
              </a:rPr>
              <a:t>Little and often</a:t>
            </a:r>
            <a:endParaRPr lang="en-US" sz="1600" dirty="0"/>
          </a:p>
        </p:txBody>
      </p:sp>
      <p:sp>
        <p:nvSpPr>
          <p:cNvPr id="12" name="Text 10"/>
          <p:cNvSpPr txBox="1"/>
          <p:nvPr/>
        </p:nvSpPr>
        <p:spPr>
          <a:xfrm>
            <a:off x="3584448" y="2606040"/>
            <a:ext cx="2286000" cy="731520"/>
          </a:xfrm>
          <a:prstGeom prst="rect">
            <a:avLst/>
          </a:prstGeom>
          <a:noFill/>
          <a:ln/>
        </p:spPr>
        <p:txBody>
          <a:bodyPr wrap="square" lIns="0" tIns="0" rIns="0" bIns="0" rtlCol="0" anchor="t"/>
          <a:lstStyle/>
          <a:p>
            <a:pPr marL="0" indent="0">
              <a:buNone/>
            </a:pPr>
            <a:r>
              <a:rPr lang="en-US" sz="1400" dirty="0">
                <a:solidFill>
                  <a:srgbClr val="1E2329"/>
                </a:solidFill>
              </a:rPr>
              <a:t>Ten minutes a day beats an hour on Sunday.</a:t>
            </a:r>
            <a:endParaRPr lang="en-US" sz="1400" dirty="0"/>
          </a:p>
        </p:txBody>
      </p:sp>
      <p:sp>
        <p:nvSpPr>
          <p:cNvPr id="13" name="Tip Read, then read aloud"/>
          <p:cNvSpPr/>
          <p:nvPr/>
        </p:nvSpPr>
        <p:spPr>
          <a:xfrm>
            <a:off x="6217920" y="1325880"/>
            <a:ext cx="2651760" cy="2103120"/>
          </a:xfrm>
          <a:prstGeom prst="roundRect">
            <a:avLst>
              <a:gd name="adj" fmla="val 3478"/>
            </a:avLst>
          </a:prstGeom>
          <a:solidFill>
            <a:srgbClr val="F2F7FC"/>
          </a:solidFill>
          <a:ln w="12700">
            <a:solidFill>
              <a:srgbClr val="F2F7FC"/>
            </a:solidFill>
            <a:prstDash val="solid"/>
          </a:ln>
        </p:spPr>
        <p:txBody>
          <a:bodyPr/>
          <a:lstStyle/>
          <a:p>
            <a:endParaRPr lang="en-GB"/>
          </a:p>
        </p:txBody>
      </p:sp>
      <p:sp>
        <p:nvSpPr>
          <p:cNvPr id="14" name="Shape 12"/>
          <p:cNvSpPr/>
          <p:nvPr/>
        </p:nvSpPr>
        <p:spPr>
          <a:xfrm>
            <a:off x="6419088" y="1527048"/>
            <a:ext cx="548640" cy="548640"/>
          </a:xfrm>
          <a:prstGeom prst="ellipse">
            <a:avLst/>
          </a:prstGeom>
          <a:solidFill>
            <a:srgbClr val="106576"/>
          </a:solidFill>
          <a:ln w="12700">
            <a:solidFill>
              <a:srgbClr val="106576"/>
            </a:solidFill>
            <a:prstDash val="solid"/>
          </a:ln>
        </p:spPr>
        <p:txBody>
          <a:bodyPr/>
          <a:lstStyle/>
          <a:p>
            <a:endParaRPr lang="en-GB"/>
          </a:p>
        </p:txBody>
      </p:sp>
      <p:sp>
        <p:nvSpPr>
          <p:cNvPr id="15" name="Text 13"/>
          <p:cNvSpPr txBox="1"/>
          <p:nvPr/>
        </p:nvSpPr>
        <p:spPr>
          <a:xfrm>
            <a:off x="6419088" y="1527048"/>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rPr>
              <a:t>3</a:t>
            </a:r>
            <a:endParaRPr lang="en-US" sz="1800" dirty="0"/>
          </a:p>
        </p:txBody>
      </p:sp>
      <p:sp>
        <p:nvSpPr>
          <p:cNvPr id="16" name="Text 14"/>
          <p:cNvSpPr txBox="1"/>
          <p:nvPr/>
        </p:nvSpPr>
        <p:spPr>
          <a:xfrm>
            <a:off x="6419088" y="2194560"/>
            <a:ext cx="2286000" cy="411480"/>
          </a:xfrm>
          <a:prstGeom prst="rect">
            <a:avLst/>
          </a:prstGeom>
          <a:noFill/>
          <a:ln/>
        </p:spPr>
        <p:txBody>
          <a:bodyPr wrap="square" lIns="0" tIns="0" rIns="0" bIns="0" rtlCol="0" anchor="ctr"/>
          <a:lstStyle/>
          <a:p>
            <a:pPr marL="0" indent="0">
              <a:buNone/>
            </a:pPr>
            <a:r>
              <a:rPr lang="en-US" sz="1600" b="1" dirty="0">
                <a:solidFill>
                  <a:srgbClr val="106576"/>
                </a:solidFill>
              </a:rPr>
              <a:t>Read, then read aloud</a:t>
            </a:r>
            <a:endParaRPr lang="en-US" sz="1600" dirty="0"/>
          </a:p>
        </p:txBody>
      </p:sp>
      <p:sp>
        <p:nvSpPr>
          <p:cNvPr id="17" name="Text 15"/>
          <p:cNvSpPr txBox="1"/>
          <p:nvPr/>
        </p:nvSpPr>
        <p:spPr>
          <a:xfrm>
            <a:off x="6419088" y="2606040"/>
            <a:ext cx="2286000" cy="731520"/>
          </a:xfrm>
          <a:prstGeom prst="rect">
            <a:avLst/>
          </a:prstGeom>
          <a:noFill/>
          <a:ln/>
        </p:spPr>
        <p:txBody>
          <a:bodyPr wrap="square" lIns="0" tIns="0" rIns="0" bIns="0" rtlCol="0" anchor="t"/>
          <a:lstStyle/>
          <a:p>
            <a:pPr marL="0" indent="0">
              <a:buNone/>
            </a:pPr>
            <a:r>
              <a:rPr lang="en-US" sz="1400" dirty="0">
                <a:solidFill>
                  <a:srgbClr val="1E2329"/>
                </a:solidFill>
              </a:rPr>
              <a:t>Look up any word you do not understand.</a:t>
            </a:r>
            <a:endParaRPr lang="en-US" sz="1400" dirty="0"/>
          </a:p>
        </p:txBody>
      </p:sp>
      <p:sp>
        <p:nvSpPr>
          <p:cNvPr id="18" name="Tip Record it"/>
          <p:cNvSpPr/>
          <p:nvPr/>
        </p:nvSpPr>
        <p:spPr>
          <a:xfrm>
            <a:off x="9052560" y="1325880"/>
            <a:ext cx="2651760" cy="2103120"/>
          </a:xfrm>
          <a:prstGeom prst="roundRect">
            <a:avLst>
              <a:gd name="adj" fmla="val 3478"/>
            </a:avLst>
          </a:prstGeom>
          <a:solidFill>
            <a:srgbClr val="F2F7FC"/>
          </a:solidFill>
          <a:ln w="12700">
            <a:solidFill>
              <a:srgbClr val="F2F7FC"/>
            </a:solidFill>
            <a:prstDash val="solid"/>
          </a:ln>
        </p:spPr>
        <p:txBody>
          <a:bodyPr/>
          <a:lstStyle/>
          <a:p>
            <a:endParaRPr lang="en-GB"/>
          </a:p>
        </p:txBody>
      </p:sp>
      <p:sp>
        <p:nvSpPr>
          <p:cNvPr id="19" name="Shape 17"/>
          <p:cNvSpPr/>
          <p:nvPr/>
        </p:nvSpPr>
        <p:spPr>
          <a:xfrm>
            <a:off x="9253728" y="1527048"/>
            <a:ext cx="548640" cy="548640"/>
          </a:xfrm>
          <a:prstGeom prst="ellipse">
            <a:avLst/>
          </a:prstGeom>
          <a:solidFill>
            <a:srgbClr val="157A7C"/>
          </a:solidFill>
          <a:ln w="12700">
            <a:solidFill>
              <a:srgbClr val="157A7C"/>
            </a:solidFill>
            <a:prstDash val="solid"/>
          </a:ln>
        </p:spPr>
        <p:txBody>
          <a:bodyPr/>
          <a:lstStyle/>
          <a:p>
            <a:endParaRPr lang="en-GB"/>
          </a:p>
        </p:txBody>
      </p:sp>
      <p:sp>
        <p:nvSpPr>
          <p:cNvPr id="20" name="Text 18"/>
          <p:cNvSpPr txBox="1"/>
          <p:nvPr/>
        </p:nvSpPr>
        <p:spPr>
          <a:xfrm>
            <a:off x="9253728" y="1527048"/>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rPr>
              <a:t>4</a:t>
            </a:r>
            <a:endParaRPr lang="en-US" sz="1800" dirty="0"/>
          </a:p>
        </p:txBody>
      </p:sp>
      <p:sp>
        <p:nvSpPr>
          <p:cNvPr id="21" name="Text 19"/>
          <p:cNvSpPr txBox="1"/>
          <p:nvPr/>
        </p:nvSpPr>
        <p:spPr>
          <a:xfrm>
            <a:off x="9253728" y="2194560"/>
            <a:ext cx="2286000" cy="411480"/>
          </a:xfrm>
          <a:prstGeom prst="rect">
            <a:avLst/>
          </a:prstGeom>
          <a:noFill/>
          <a:ln/>
        </p:spPr>
        <p:txBody>
          <a:bodyPr wrap="square" lIns="0" tIns="0" rIns="0" bIns="0" rtlCol="0" anchor="ctr"/>
          <a:lstStyle/>
          <a:p>
            <a:pPr marL="0" indent="0">
              <a:buNone/>
            </a:pPr>
            <a:r>
              <a:rPr lang="en-US" sz="1600" b="1" dirty="0">
                <a:solidFill>
                  <a:srgbClr val="157A7C"/>
                </a:solidFill>
              </a:rPr>
              <a:t>Record it</a:t>
            </a:r>
            <a:endParaRPr lang="en-US" sz="1600" dirty="0"/>
          </a:p>
        </p:txBody>
      </p:sp>
      <p:sp>
        <p:nvSpPr>
          <p:cNvPr id="22" name="Text 20"/>
          <p:cNvSpPr txBox="1"/>
          <p:nvPr/>
        </p:nvSpPr>
        <p:spPr>
          <a:xfrm>
            <a:off x="9253728" y="2606040"/>
            <a:ext cx="2286000" cy="731520"/>
          </a:xfrm>
          <a:prstGeom prst="rect">
            <a:avLst/>
          </a:prstGeom>
          <a:noFill/>
          <a:ln/>
        </p:spPr>
        <p:txBody>
          <a:bodyPr wrap="square" lIns="0" tIns="0" rIns="0" bIns="0" rtlCol="0" anchor="t"/>
          <a:lstStyle/>
          <a:p>
            <a:pPr marL="0" indent="0">
              <a:buNone/>
            </a:pPr>
            <a:r>
              <a:rPr lang="en-US" sz="1400" dirty="0">
                <a:solidFill>
                  <a:srgbClr val="1E2329"/>
                </a:solidFill>
              </a:rPr>
              <a:t>Once the phrasing is right, play it back daily.</a:t>
            </a:r>
            <a:endParaRPr lang="en-US" sz="1400" dirty="0"/>
          </a:p>
        </p:txBody>
      </p:sp>
      <p:sp>
        <p:nvSpPr>
          <p:cNvPr id="23" name="Tip A line at a time"/>
          <p:cNvSpPr/>
          <p:nvPr/>
        </p:nvSpPr>
        <p:spPr>
          <a:xfrm>
            <a:off x="548640" y="3611880"/>
            <a:ext cx="2651760" cy="2103120"/>
          </a:xfrm>
          <a:prstGeom prst="roundRect">
            <a:avLst>
              <a:gd name="adj" fmla="val 3478"/>
            </a:avLst>
          </a:prstGeom>
          <a:solidFill>
            <a:srgbClr val="F2F7FC"/>
          </a:solidFill>
          <a:ln w="12700">
            <a:solidFill>
              <a:srgbClr val="F2F7FC"/>
            </a:solidFill>
            <a:prstDash val="solid"/>
          </a:ln>
        </p:spPr>
        <p:txBody>
          <a:bodyPr/>
          <a:lstStyle/>
          <a:p>
            <a:endParaRPr lang="en-GB"/>
          </a:p>
        </p:txBody>
      </p:sp>
      <p:sp>
        <p:nvSpPr>
          <p:cNvPr id="24" name="Shape 22"/>
          <p:cNvSpPr/>
          <p:nvPr/>
        </p:nvSpPr>
        <p:spPr>
          <a:xfrm>
            <a:off x="749808" y="3813048"/>
            <a:ext cx="548640" cy="548640"/>
          </a:xfrm>
          <a:prstGeom prst="ellipse">
            <a:avLst/>
          </a:prstGeom>
          <a:solidFill>
            <a:srgbClr val="003668"/>
          </a:solidFill>
          <a:ln w="12700">
            <a:solidFill>
              <a:srgbClr val="003668"/>
            </a:solidFill>
            <a:prstDash val="solid"/>
          </a:ln>
        </p:spPr>
        <p:txBody>
          <a:bodyPr/>
          <a:lstStyle/>
          <a:p>
            <a:endParaRPr lang="en-GB"/>
          </a:p>
        </p:txBody>
      </p:sp>
      <p:sp>
        <p:nvSpPr>
          <p:cNvPr id="25" name="Text 23"/>
          <p:cNvSpPr txBox="1"/>
          <p:nvPr/>
        </p:nvSpPr>
        <p:spPr>
          <a:xfrm>
            <a:off x="749808" y="3813048"/>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rPr>
              <a:t>5</a:t>
            </a:r>
            <a:endParaRPr lang="en-US" sz="1800" dirty="0"/>
          </a:p>
        </p:txBody>
      </p:sp>
      <p:sp>
        <p:nvSpPr>
          <p:cNvPr id="26" name="Text 24"/>
          <p:cNvSpPr txBox="1"/>
          <p:nvPr/>
        </p:nvSpPr>
        <p:spPr>
          <a:xfrm>
            <a:off x="749808" y="4480560"/>
            <a:ext cx="2286000" cy="411480"/>
          </a:xfrm>
          <a:prstGeom prst="rect">
            <a:avLst/>
          </a:prstGeom>
          <a:noFill/>
          <a:ln/>
        </p:spPr>
        <p:txBody>
          <a:bodyPr wrap="square" lIns="0" tIns="0" rIns="0" bIns="0" rtlCol="0" anchor="ctr"/>
          <a:lstStyle/>
          <a:p>
            <a:pPr marL="0" indent="0">
              <a:buNone/>
            </a:pPr>
            <a:r>
              <a:rPr lang="en-US" sz="1600" b="1" dirty="0">
                <a:solidFill>
                  <a:srgbClr val="003668"/>
                </a:solidFill>
              </a:rPr>
              <a:t>A line at a time</a:t>
            </a:r>
            <a:endParaRPr lang="en-US" sz="1600" dirty="0"/>
          </a:p>
        </p:txBody>
      </p:sp>
      <p:sp>
        <p:nvSpPr>
          <p:cNvPr id="27" name="Text 25"/>
          <p:cNvSpPr txBox="1"/>
          <p:nvPr/>
        </p:nvSpPr>
        <p:spPr>
          <a:xfrm>
            <a:off x="749808" y="4892040"/>
            <a:ext cx="2286000" cy="731520"/>
          </a:xfrm>
          <a:prstGeom prst="rect">
            <a:avLst/>
          </a:prstGeom>
          <a:noFill/>
          <a:ln/>
        </p:spPr>
        <p:txBody>
          <a:bodyPr wrap="square" lIns="0" tIns="0" rIns="0" bIns="0" rtlCol="0" anchor="t"/>
          <a:lstStyle/>
          <a:p>
            <a:pPr marL="0" indent="0">
              <a:buNone/>
            </a:pPr>
            <a:r>
              <a:rPr lang="en-US" sz="1400" dirty="0">
                <a:solidFill>
                  <a:srgbClr val="1E2329"/>
                </a:solidFill>
              </a:rPr>
              <a:t>Add the next. Build it up; never swallow it whole.</a:t>
            </a:r>
            <a:endParaRPr lang="en-US" sz="1400" dirty="0"/>
          </a:p>
        </p:txBody>
      </p:sp>
      <p:sp>
        <p:nvSpPr>
          <p:cNvPr id="28" name="Tip Hold the book"/>
          <p:cNvSpPr/>
          <p:nvPr/>
        </p:nvSpPr>
        <p:spPr>
          <a:xfrm>
            <a:off x="3383280" y="3611880"/>
            <a:ext cx="2651760" cy="2103120"/>
          </a:xfrm>
          <a:prstGeom prst="roundRect">
            <a:avLst>
              <a:gd name="adj" fmla="val 3478"/>
            </a:avLst>
          </a:prstGeom>
          <a:solidFill>
            <a:srgbClr val="F2F7FC"/>
          </a:solidFill>
          <a:ln w="12700">
            <a:solidFill>
              <a:srgbClr val="F2F7FC"/>
            </a:solidFill>
            <a:prstDash val="solid"/>
          </a:ln>
        </p:spPr>
        <p:txBody>
          <a:bodyPr/>
          <a:lstStyle/>
          <a:p>
            <a:endParaRPr lang="en-GB"/>
          </a:p>
        </p:txBody>
      </p:sp>
      <p:sp>
        <p:nvSpPr>
          <p:cNvPr id="29" name="Shape 27"/>
          <p:cNvSpPr/>
          <p:nvPr/>
        </p:nvSpPr>
        <p:spPr>
          <a:xfrm>
            <a:off x="3584448" y="3813048"/>
            <a:ext cx="548640" cy="548640"/>
          </a:xfrm>
          <a:prstGeom prst="ellipse">
            <a:avLst/>
          </a:prstGeom>
          <a:solidFill>
            <a:srgbClr val="0A4F72"/>
          </a:solidFill>
          <a:ln w="12700">
            <a:solidFill>
              <a:srgbClr val="0A4F72"/>
            </a:solidFill>
            <a:prstDash val="solid"/>
          </a:ln>
        </p:spPr>
        <p:txBody>
          <a:bodyPr/>
          <a:lstStyle/>
          <a:p>
            <a:endParaRPr lang="en-GB"/>
          </a:p>
        </p:txBody>
      </p:sp>
      <p:sp>
        <p:nvSpPr>
          <p:cNvPr id="30" name="Text 28"/>
          <p:cNvSpPr txBox="1"/>
          <p:nvPr/>
        </p:nvSpPr>
        <p:spPr>
          <a:xfrm>
            <a:off x="3584448" y="3813048"/>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rPr>
              <a:t>6</a:t>
            </a:r>
            <a:endParaRPr lang="en-US" sz="1800" dirty="0"/>
          </a:p>
        </p:txBody>
      </p:sp>
      <p:sp>
        <p:nvSpPr>
          <p:cNvPr id="31" name="Text 29"/>
          <p:cNvSpPr txBox="1"/>
          <p:nvPr/>
        </p:nvSpPr>
        <p:spPr>
          <a:xfrm>
            <a:off x="3584448" y="4480560"/>
            <a:ext cx="2286000" cy="411480"/>
          </a:xfrm>
          <a:prstGeom prst="rect">
            <a:avLst/>
          </a:prstGeom>
          <a:noFill/>
          <a:ln/>
        </p:spPr>
        <p:txBody>
          <a:bodyPr wrap="square" lIns="0" tIns="0" rIns="0" bIns="0" rtlCol="0" anchor="ctr"/>
          <a:lstStyle/>
          <a:p>
            <a:pPr marL="0" indent="0">
              <a:buNone/>
            </a:pPr>
            <a:r>
              <a:rPr lang="en-US" sz="1600" b="1" dirty="0">
                <a:solidFill>
                  <a:srgbClr val="0A4F72"/>
                </a:solidFill>
              </a:rPr>
              <a:t>Hold the book</a:t>
            </a:r>
            <a:endParaRPr lang="en-US" sz="1600" dirty="0"/>
          </a:p>
        </p:txBody>
      </p:sp>
      <p:sp>
        <p:nvSpPr>
          <p:cNvPr id="32" name="Text 30"/>
          <p:cNvSpPr txBox="1"/>
          <p:nvPr/>
        </p:nvSpPr>
        <p:spPr>
          <a:xfrm>
            <a:off x="3584448" y="4892040"/>
            <a:ext cx="2286000" cy="731520"/>
          </a:xfrm>
          <a:prstGeom prst="rect">
            <a:avLst/>
          </a:prstGeom>
          <a:noFill/>
          <a:ln/>
        </p:spPr>
        <p:txBody>
          <a:bodyPr wrap="square" lIns="0" tIns="0" rIns="0" bIns="0" rtlCol="0" anchor="t"/>
          <a:lstStyle/>
          <a:p>
            <a:pPr marL="0" indent="0">
              <a:buNone/>
            </a:pPr>
            <a:r>
              <a:rPr lang="en-US" sz="1400" dirty="0">
                <a:solidFill>
                  <a:srgbClr val="1E2329"/>
                </a:solidFill>
              </a:rPr>
              <a:t>Someone follows and corrects you afterwards, not during.</a:t>
            </a:r>
            <a:endParaRPr lang="en-US" sz="1400" dirty="0"/>
          </a:p>
        </p:txBody>
      </p:sp>
      <p:sp>
        <p:nvSpPr>
          <p:cNvPr id="33" name="Tip Say it in the room"/>
          <p:cNvSpPr/>
          <p:nvPr/>
        </p:nvSpPr>
        <p:spPr>
          <a:xfrm>
            <a:off x="6217920" y="3611880"/>
            <a:ext cx="2651760" cy="2103120"/>
          </a:xfrm>
          <a:prstGeom prst="roundRect">
            <a:avLst>
              <a:gd name="adj" fmla="val 3478"/>
            </a:avLst>
          </a:prstGeom>
          <a:solidFill>
            <a:srgbClr val="F2F7FC"/>
          </a:solidFill>
          <a:ln w="12700">
            <a:solidFill>
              <a:srgbClr val="F2F7FC"/>
            </a:solidFill>
            <a:prstDash val="solid"/>
          </a:ln>
        </p:spPr>
        <p:txBody>
          <a:bodyPr/>
          <a:lstStyle/>
          <a:p>
            <a:endParaRPr lang="en-GB"/>
          </a:p>
        </p:txBody>
      </p:sp>
      <p:sp>
        <p:nvSpPr>
          <p:cNvPr id="34" name="Shape 32"/>
          <p:cNvSpPr/>
          <p:nvPr/>
        </p:nvSpPr>
        <p:spPr>
          <a:xfrm>
            <a:off x="6419088" y="3813048"/>
            <a:ext cx="548640" cy="548640"/>
          </a:xfrm>
          <a:prstGeom prst="ellipse">
            <a:avLst/>
          </a:prstGeom>
          <a:solidFill>
            <a:srgbClr val="106576"/>
          </a:solidFill>
          <a:ln w="12700">
            <a:solidFill>
              <a:srgbClr val="106576"/>
            </a:solidFill>
            <a:prstDash val="solid"/>
          </a:ln>
        </p:spPr>
        <p:txBody>
          <a:bodyPr/>
          <a:lstStyle/>
          <a:p>
            <a:endParaRPr lang="en-GB"/>
          </a:p>
        </p:txBody>
      </p:sp>
      <p:sp>
        <p:nvSpPr>
          <p:cNvPr id="35" name="Text 33"/>
          <p:cNvSpPr txBox="1"/>
          <p:nvPr/>
        </p:nvSpPr>
        <p:spPr>
          <a:xfrm>
            <a:off x="6419088" y="3813048"/>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rPr>
              <a:t>7</a:t>
            </a:r>
            <a:endParaRPr lang="en-US" sz="1800" dirty="0"/>
          </a:p>
        </p:txBody>
      </p:sp>
      <p:sp>
        <p:nvSpPr>
          <p:cNvPr id="36" name="Text 34"/>
          <p:cNvSpPr txBox="1"/>
          <p:nvPr/>
        </p:nvSpPr>
        <p:spPr>
          <a:xfrm>
            <a:off x="6419088" y="4480560"/>
            <a:ext cx="2286000" cy="411480"/>
          </a:xfrm>
          <a:prstGeom prst="rect">
            <a:avLst/>
          </a:prstGeom>
          <a:noFill/>
          <a:ln/>
        </p:spPr>
        <p:txBody>
          <a:bodyPr wrap="square" lIns="0" tIns="0" rIns="0" bIns="0" rtlCol="0" anchor="ctr"/>
          <a:lstStyle/>
          <a:p>
            <a:pPr marL="0" indent="0">
              <a:buNone/>
            </a:pPr>
            <a:r>
              <a:rPr lang="en-US" sz="1600" b="1" dirty="0">
                <a:solidFill>
                  <a:srgbClr val="106576"/>
                </a:solidFill>
              </a:rPr>
              <a:t>Say it in the room</a:t>
            </a:r>
            <a:endParaRPr lang="en-US" sz="1600" dirty="0"/>
          </a:p>
        </p:txBody>
      </p:sp>
      <p:sp>
        <p:nvSpPr>
          <p:cNvPr id="37" name="Text 35"/>
          <p:cNvSpPr txBox="1"/>
          <p:nvPr/>
        </p:nvSpPr>
        <p:spPr>
          <a:xfrm>
            <a:off x="6419088" y="4892040"/>
            <a:ext cx="2286000" cy="731520"/>
          </a:xfrm>
          <a:prstGeom prst="rect">
            <a:avLst/>
          </a:prstGeom>
          <a:noFill/>
          <a:ln/>
        </p:spPr>
        <p:txBody>
          <a:bodyPr wrap="square" lIns="0" tIns="0" rIns="0" bIns="0" rtlCol="0" anchor="t"/>
          <a:lstStyle/>
          <a:p>
            <a:pPr marL="0" indent="0">
              <a:buNone/>
            </a:pPr>
            <a:r>
              <a:rPr lang="en-US" sz="1400" dirty="0">
                <a:solidFill>
                  <a:srgbClr val="1E2329"/>
                </a:solidFill>
              </a:rPr>
              <a:t>Rehearse in the Lodge room, then at the Lodge of Instruction.</a:t>
            </a:r>
            <a:endParaRPr lang="en-US" sz="1400" dirty="0"/>
          </a:p>
        </p:txBody>
      </p:sp>
      <p:sp>
        <p:nvSpPr>
          <p:cNvPr id="38" name="Tip Understand it"/>
          <p:cNvSpPr/>
          <p:nvPr/>
        </p:nvSpPr>
        <p:spPr>
          <a:xfrm>
            <a:off x="9052560" y="3611880"/>
            <a:ext cx="2651760" cy="2103120"/>
          </a:xfrm>
          <a:prstGeom prst="roundRect">
            <a:avLst>
              <a:gd name="adj" fmla="val 3478"/>
            </a:avLst>
          </a:prstGeom>
          <a:solidFill>
            <a:srgbClr val="F2F7FC"/>
          </a:solidFill>
          <a:ln w="12700">
            <a:solidFill>
              <a:srgbClr val="F2F7FC"/>
            </a:solidFill>
            <a:prstDash val="solid"/>
          </a:ln>
        </p:spPr>
        <p:txBody>
          <a:bodyPr/>
          <a:lstStyle/>
          <a:p>
            <a:endParaRPr lang="en-GB"/>
          </a:p>
        </p:txBody>
      </p:sp>
      <p:sp>
        <p:nvSpPr>
          <p:cNvPr id="39" name="Shape 37"/>
          <p:cNvSpPr/>
          <p:nvPr/>
        </p:nvSpPr>
        <p:spPr>
          <a:xfrm>
            <a:off x="9253728" y="3813048"/>
            <a:ext cx="548640" cy="548640"/>
          </a:xfrm>
          <a:prstGeom prst="ellipse">
            <a:avLst/>
          </a:prstGeom>
          <a:solidFill>
            <a:srgbClr val="157A7C"/>
          </a:solidFill>
          <a:ln w="12700">
            <a:solidFill>
              <a:srgbClr val="157A7C"/>
            </a:solidFill>
            <a:prstDash val="solid"/>
          </a:ln>
        </p:spPr>
        <p:txBody>
          <a:bodyPr/>
          <a:lstStyle/>
          <a:p>
            <a:endParaRPr lang="en-GB"/>
          </a:p>
        </p:txBody>
      </p:sp>
      <p:sp>
        <p:nvSpPr>
          <p:cNvPr id="40" name="Text 38"/>
          <p:cNvSpPr txBox="1"/>
          <p:nvPr/>
        </p:nvSpPr>
        <p:spPr>
          <a:xfrm>
            <a:off x="9253728" y="3813048"/>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rPr>
              <a:t>8</a:t>
            </a:r>
            <a:endParaRPr lang="en-US" sz="1800" dirty="0"/>
          </a:p>
        </p:txBody>
      </p:sp>
      <p:sp>
        <p:nvSpPr>
          <p:cNvPr id="41" name="Text 39"/>
          <p:cNvSpPr txBox="1"/>
          <p:nvPr/>
        </p:nvSpPr>
        <p:spPr>
          <a:xfrm>
            <a:off x="9253728" y="4480560"/>
            <a:ext cx="2286000" cy="411480"/>
          </a:xfrm>
          <a:prstGeom prst="rect">
            <a:avLst/>
          </a:prstGeom>
          <a:noFill/>
          <a:ln/>
        </p:spPr>
        <p:txBody>
          <a:bodyPr wrap="square" lIns="0" tIns="0" rIns="0" bIns="0" rtlCol="0" anchor="ctr"/>
          <a:lstStyle/>
          <a:p>
            <a:pPr marL="0" indent="0">
              <a:buNone/>
            </a:pPr>
            <a:r>
              <a:rPr lang="en-US" sz="1600" b="1" dirty="0">
                <a:solidFill>
                  <a:srgbClr val="157A7C"/>
                </a:solidFill>
              </a:rPr>
              <a:t>Understand it</a:t>
            </a:r>
            <a:endParaRPr lang="en-US" sz="1600" dirty="0"/>
          </a:p>
        </p:txBody>
      </p:sp>
      <p:sp>
        <p:nvSpPr>
          <p:cNvPr id="42" name="Text 40"/>
          <p:cNvSpPr txBox="1"/>
          <p:nvPr/>
        </p:nvSpPr>
        <p:spPr>
          <a:xfrm>
            <a:off x="9253728" y="4892040"/>
            <a:ext cx="2286000" cy="731520"/>
          </a:xfrm>
          <a:prstGeom prst="rect">
            <a:avLst/>
          </a:prstGeom>
          <a:noFill/>
          <a:ln/>
        </p:spPr>
        <p:txBody>
          <a:bodyPr wrap="square" lIns="0" tIns="0" rIns="0" bIns="0" rtlCol="0" anchor="t"/>
          <a:lstStyle/>
          <a:p>
            <a:pPr marL="0" indent="0">
              <a:buNone/>
            </a:pPr>
            <a:r>
              <a:rPr lang="en-US" sz="1400" dirty="0">
                <a:solidFill>
                  <a:srgbClr val="1E2329"/>
                </a:solidFill>
              </a:rPr>
              <a:t>Words you understand stay learned.</a:t>
            </a:r>
            <a:endParaRPr lang="en-US" sz="1400" dirty="0"/>
          </a:p>
        </p:txBody>
      </p:sp>
      <p:sp>
        <p:nvSpPr>
          <p:cNvPr id="43" name="Tagline"/>
          <p:cNvSpPr txBox="1"/>
          <p:nvPr/>
        </p:nvSpPr>
        <p:spPr>
          <a:xfrm>
            <a:off x="548640" y="5943600"/>
            <a:ext cx="10972800" cy="365760"/>
          </a:xfrm>
          <a:prstGeom prst="rect">
            <a:avLst/>
          </a:prstGeom>
          <a:noFill/>
          <a:ln/>
        </p:spPr>
        <p:txBody>
          <a:bodyPr wrap="square" lIns="0" tIns="0" rIns="0" bIns="0" rtlCol="0" anchor="ctr"/>
          <a:lstStyle/>
          <a:p>
            <a:pPr marL="0" indent="0">
              <a:buNone/>
            </a:pPr>
            <a:r>
              <a:rPr lang="en-US" sz="1400" b="1" i="1" dirty="0">
                <a:solidFill>
                  <a:srgbClr val="157A7C"/>
                </a:solidFill>
              </a:rPr>
              <a:t>Nobody has to learn more than the questions and answers between degrees. Many find they want to.</a:t>
            </a:r>
            <a:endParaRPr lang="en-US" sz="1400" dirty="0"/>
          </a:p>
        </p:txBody>
      </p:sp>
      <p:sp>
        <p:nvSpPr>
          <p:cNvPr id="44"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06345D"/>
                </a:solidFill>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itle"/>
          <p:cNvSpPr txBox="1"/>
          <p:nvPr/>
        </p:nvSpPr>
        <p:spPr>
          <a:xfrm>
            <a:off x="548640" y="411480"/>
            <a:ext cx="11091672" cy="731520"/>
          </a:xfrm>
          <a:prstGeom prst="rect">
            <a:avLst/>
          </a:prstGeom>
          <a:noFill/>
          <a:ln/>
        </p:spPr>
        <p:txBody>
          <a:bodyPr wrap="square" lIns="0" tIns="0" rIns="0" bIns="0" rtlCol="0" anchor="ctr"/>
          <a:lstStyle/>
          <a:p>
            <a:pPr marL="0" indent="0">
              <a:buNone/>
            </a:pPr>
            <a:r>
              <a:rPr lang="en-US" sz="3200" b="1" dirty="0">
                <a:solidFill>
                  <a:srgbClr val="003668"/>
                </a:solidFill>
              </a:rPr>
              <a:t>More than just a ceremony</a:t>
            </a:r>
            <a:endParaRPr lang="en-US" sz="3200" dirty="0"/>
          </a:p>
        </p:txBody>
      </p:sp>
      <p:sp>
        <p:nvSpPr>
          <p:cNvPr id="3" name="Card What you gain"/>
          <p:cNvSpPr/>
          <p:nvPr/>
        </p:nvSpPr>
        <p:spPr>
          <a:xfrm>
            <a:off x="548640" y="1280160"/>
            <a:ext cx="5394960" cy="4572000"/>
          </a:xfrm>
          <a:prstGeom prst="roundRect">
            <a:avLst>
              <a:gd name="adj" fmla="val 1600"/>
            </a:avLst>
          </a:prstGeom>
          <a:solidFill>
            <a:srgbClr val="F2F7FC"/>
          </a:solidFill>
          <a:ln w="12700">
            <a:solidFill>
              <a:srgbClr val="F2F7FC"/>
            </a:solidFill>
            <a:prstDash val="solid"/>
          </a:ln>
        </p:spPr>
        <p:txBody>
          <a:bodyPr/>
          <a:lstStyle/>
          <a:p>
            <a:endParaRPr lang="en-GB"/>
          </a:p>
        </p:txBody>
      </p:sp>
      <p:pic>
        <p:nvPicPr>
          <p:cNvPr id="4" name="Image 0" descr="preencoded.png"/>
          <p:cNvPicPr>
            <a:picLocks noChangeAspect="1"/>
          </p:cNvPicPr>
          <p:nvPr/>
        </p:nvPicPr>
        <p:blipFill>
          <a:blip r:embed="rId3"/>
          <a:stretch>
            <a:fillRect/>
          </a:stretch>
        </p:blipFill>
        <p:spPr>
          <a:xfrm>
            <a:off x="749808" y="1463040"/>
            <a:ext cx="384048" cy="384048"/>
          </a:xfrm>
          <a:prstGeom prst="rect">
            <a:avLst/>
          </a:prstGeom>
        </p:spPr>
      </p:pic>
      <p:sp>
        <p:nvSpPr>
          <p:cNvPr id="5" name="Text 2"/>
          <p:cNvSpPr txBox="1"/>
          <p:nvPr/>
        </p:nvSpPr>
        <p:spPr>
          <a:xfrm>
            <a:off x="1261872" y="1444752"/>
            <a:ext cx="4480560" cy="411480"/>
          </a:xfrm>
          <a:prstGeom prst="rect">
            <a:avLst/>
          </a:prstGeom>
          <a:noFill/>
          <a:ln/>
        </p:spPr>
        <p:txBody>
          <a:bodyPr wrap="square" lIns="0" tIns="0" rIns="0" bIns="0" rtlCol="0" anchor="ctr"/>
          <a:lstStyle/>
          <a:p>
            <a:pPr marL="0" indent="0">
              <a:buNone/>
            </a:pPr>
            <a:r>
              <a:rPr lang="en-US" sz="1600" b="1" dirty="0">
                <a:solidFill>
                  <a:srgbClr val="003668"/>
                </a:solidFill>
              </a:rPr>
              <a:t>What you gain</a:t>
            </a:r>
            <a:endParaRPr lang="en-US" sz="1600" dirty="0"/>
          </a:p>
        </p:txBody>
      </p:sp>
      <p:sp>
        <p:nvSpPr>
          <p:cNvPr id="6" name="Text 3"/>
          <p:cNvSpPr txBox="1"/>
          <p:nvPr/>
        </p:nvSpPr>
        <p:spPr>
          <a:xfrm>
            <a:off x="777240" y="1901952"/>
            <a:ext cx="4937760" cy="3840480"/>
          </a:xfrm>
          <a:prstGeom prst="rect">
            <a:avLst/>
          </a:prstGeom>
          <a:noFill/>
          <a:ln/>
        </p:spPr>
        <p:txBody>
          <a:bodyPr wrap="square" lIns="0" tIns="0" rIns="0" bIns="0" rtlCol="0" anchor="t"/>
          <a:lstStyle/>
          <a:p>
            <a:pPr marL="203200" indent="-203200">
              <a:spcAft>
                <a:spcPts val="400"/>
              </a:spcAft>
              <a:buSzPct val="100000"/>
              <a:buChar char="■"/>
            </a:pPr>
            <a:r>
              <a:rPr lang="en-US" sz="1500" dirty="0">
                <a:solidFill>
                  <a:srgbClr val="1E2329"/>
                </a:solidFill>
              </a:rPr>
              <a:t>Confidence speaking in front of people</a:t>
            </a:r>
            <a:endParaRPr lang="en-US" sz="1500" dirty="0"/>
          </a:p>
          <a:p>
            <a:pPr marL="203200" indent="-203200">
              <a:spcAft>
                <a:spcPts val="400"/>
              </a:spcAft>
              <a:buSzPct val="100000"/>
              <a:buChar char="■"/>
            </a:pPr>
            <a:r>
              <a:rPr lang="en-US" sz="1500" dirty="0">
                <a:solidFill>
                  <a:srgbClr val="1E2329"/>
                </a:solidFill>
              </a:rPr>
              <a:t>Leadership and teamwork, in a room that wants you to succeed</a:t>
            </a:r>
            <a:endParaRPr lang="en-US" sz="1500" dirty="0"/>
          </a:p>
          <a:p>
            <a:pPr marL="203200" indent="-203200">
              <a:spcAft>
                <a:spcPts val="400"/>
              </a:spcAft>
              <a:buSzPct val="100000"/>
              <a:buChar char="■"/>
            </a:pPr>
            <a:r>
              <a:rPr lang="en-US" sz="1500" dirty="0">
                <a:solidFill>
                  <a:srgbClr val="1E2329"/>
                </a:solidFill>
              </a:rPr>
              <a:t>Friendships across the Province and the Constitution</a:t>
            </a:r>
            <a:endParaRPr lang="en-US" sz="1500" dirty="0"/>
          </a:p>
          <a:p>
            <a:pPr marL="203200" indent="-203200">
              <a:spcAft>
                <a:spcPts val="400"/>
              </a:spcAft>
              <a:buSzPct val="100000"/>
              <a:buChar char="■"/>
            </a:pPr>
            <a:r>
              <a:rPr lang="en-US" sz="1500" dirty="0">
                <a:solidFill>
                  <a:srgbClr val="1E2329"/>
                </a:solidFill>
              </a:rPr>
              <a:t>Something that is yours: your own Lodge’s history, the symbolism, the Royal Arch</a:t>
            </a:r>
            <a:endParaRPr lang="en-US" sz="1500" dirty="0"/>
          </a:p>
        </p:txBody>
      </p:sp>
      <p:sp>
        <p:nvSpPr>
          <p:cNvPr id="7" name="Card More ways to learn, all free"/>
          <p:cNvSpPr/>
          <p:nvPr/>
        </p:nvSpPr>
        <p:spPr>
          <a:xfrm>
            <a:off x="6172200" y="1280160"/>
            <a:ext cx="5486400" cy="4572000"/>
          </a:xfrm>
          <a:prstGeom prst="roundRect">
            <a:avLst>
              <a:gd name="adj" fmla="val 1600"/>
            </a:avLst>
          </a:prstGeom>
          <a:solidFill>
            <a:srgbClr val="E6F2F2"/>
          </a:solidFill>
          <a:ln w="12700">
            <a:solidFill>
              <a:srgbClr val="E6F2F2"/>
            </a:solidFill>
            <a:prstDash val="solid"/>
          </a:ln>
        </p:spPr>
        <p:txBody>
          <a:bodyPr/>
          <a:lstStyle/>
          <a:p>
            <a:endParaRPr lang="en-GB"/>
          </a:p>
        </p:txBody>
      </p:sp>
      <p:pic>
        <p:nvPicPr>
          <p:cNvPr id="8" name="Image 1" descr="preencoded.png"/>
          <p:cNvPicPr>
            <a:picLocks noChangeAspect="1"/>
          </p:cNvPicPr>
          <p:nvPr/>
        </p:nvPicPr>
        <p:blipFill>
          <a:blip r:embed="rId4"/>
          <a:stretch>
            <a:fillRect/>
          </a:stretch>
        </p:blipFill>
        <p:spPr>
          <a:xfrm>
            <a:off x="6373368" y="1463040"/>
            <a:ext cx="384048" cy="384048"/>
          </a:xfrm>
          <a:prstGeom prst="rect">
            <a:avLst/>
          </a:prstGeom>
        </p:spPr>
      </p:pic>
      <p:sp>
        <p:nvSpPr>
          <p:cNvPr id="9" name="Text 5"/>
          <p:cNvSpPr txBox="1"/>
          <p:nvPr/>
        </p:nvSpPr>
        <p:spPr>
          <a:xfrm>
            <a:off x="6885432" y="1444752"/>
            <a:ext cx="4572000" cy="411480"/>
          </a:xfrm>
          <a:prstGeom prst="rect">
            <a:avLst/>
          </a:prstGeom>
          <a:noFill/>
          <a:ln/>
        </p:spPr>
        <p:txBody>
          <a:bodyPr wrap="square" lIns="0" tIns="0" rIns="0" bIns="0" rtlCol="0" anchor="ctr"/>
          <a:lstStyle/>
          <a:p>
            <a:pPr marL="0" indent="0">
              <a:buNone/>
            </a:pPr>
            <a:r>
              <a:rPr lang="en-US" sz="1600" b="1" dirty="0">
                <a:solidFill>
                  <a:srgbClr val="003668"/>
                </a:solidFill>
              </a:rPr>
              <a:t>More ways to learn, all free</a:t>
            </a:r>
            <a:endParaRPr lang="en-US" sz="1600" dirty="0"/>
          </a:p>
        </p:txBody>
      </p:sp>
      <p:sp>
        <p:nvSpPr>
          <p:cNvPr id="10" name="Text 6"/>
          <p:cNvSpPr txBox="1"/>
          <p:nvPr/>
        </p:nvSpPr>
        <p:spPr>
          <a:xfrm>
            <a:off x="6400800" y="1901952"/>
            <a:ext cx="5029200" cy="3840480"/>
          </a:xfrm>
          <a:prstGeom prst="rect">
            <a:avLst/>
          </a:prstGeom>
          <a:noFill/>
          <a:ln/>
        </p:spPr>
        <p:txBody>
          <a:bodyPr wrap="square" lIns="0" tIns="0" rIns="0" bIns="0" rtlCol="0" anchor="t"/>
          <a:lstStyle/>
          <a:p>
            <a:pPr marL="203200" indent="-203200">
              <a:spcAft>
                <a:spcPts val="400"/>
              </a:spcAft>
              <a:buSzPct val="100000"/>
              <a:buChar char="■"/>
            </a:pPr>
            <a:r>
              <a:rPr lang="en-US" sz="1450" dirty="0">
                <a:solidFill>
                  <a:srgbClr val="1E2329"/>
                </a:solidFill>
              </a:rPr>
              <a:t>The Lodge of Instruction: go, even with no office. Take your mentor the first time</a:t>
            </a:r>
            <a:endParaRPr lang="en-US" sz="1450" dirty="0"/>
          </a:p>
          <a:p>
            <a:pPr marL="203200" indent="-203200">
              <a:spcAft>
                <a:spcPts val="400"/>
              </a:spcAft>
              <a:buSzPct val="100000"/>
              <a:buChar char="■"/>
            </a:pPr>
            <a:r>
              <a:rPr lang="en-US" sz="1450" dirty="0">
                <a:solidFill>
                  <a:srgbClr val="1E2329"/>
                </a:solidFill>
              </a:rPr>
              <a:t>DAWG: the Daily Advancement WhatsApp Group. Ask tonight to be added</a:t>
            </a:r>
            <a:endParaRPr lang="en-US" sz="1450" dirty="0"/>
          </a:p>
          <a:p>
            <a:pPr marL="203200" indent="-203200">
              <a:spcAft>
                <a:spcPts val="400"/>
              </a:spcAft>
              <a:buSzPct val="100000"/>
              <a:buChar char="■"/>
            </a:pPr>
            <a:r>
              <a:rPr lang="en-US" sz="1450" dirty="0">
                <a:solidFill>
                  <a:srgbClr val="1E2329"/>
                </a:solidFill>
              </a:rPr>
              <a:t>The Visitors’ Festival: exemplary degrees chosen for new Brethren to see</a:t>
            </a:r>
            <a:endParaRPr lang="en-US" sz="1450" dirty="0"/>
          </a:p>
          <a:p>
            <a:pPr marL="203200" indent="-203200">
              <a:spcAft>
                <a:spcPts val="400"/>
              </a:spcAft>
              <a:buSzPct val="100000"/>
              <a:buChar char="■"/>
            </a:pPr>
            <a:r>
              <a:rPr lang="en-US" sz="1450" dirty="0">
                <a:solidFill>
                  <a:srgbClr val="1E2329"/>
                </a:solidFill>
              </a:rPr>
              <a:t>Talks, papers, workshops and research Lodges</a:t>
            </a:r>
            <a:endParaRPr lang="en-US" sz="1450" dirty="0"/>
          </a:p>
          <a:p>
            <a:pPr marL="203200" indent="-203200">
              <a:spcAft>
                <a:spcPts val="400"/>
              </a:spcAft>
              <a:buSzPct val="100000"/>
              <a:buChar char="■"/>
            </a:pPr>
            <a:r>
              <a:rPr lang="en-US" sz="1450" dirty="0">
                <a:solidFill>
                  <a:srgbClr val="1E2329"/>
                </a:solidFill>
              </a:rPr>
              <a:t>Ask. The Brother next to you will be delighted</a:t>
            </a:r>
            <a:endParaRPr lang="en-US" sz="145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06345D"/>
                </a:solidFill>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Number"/>
          <p:cNvSpPr txBox="1"/>
          <p:nvPr/>
        </p:nvSpPr>
        <p:spPr>
          <a:xfrm>
            <a:off x="822960" y="1463040"/>
            <a:ext cx="2011680" cy="2011680"/>
          </a:xfrm>
          <a:prstGeom prst="rect">
            <a:avLst/>
          </a:prstGeom>
          <a:noFill/>
          <a:ln/>
        </p:spPr>
        <p:txBody>
          <a:bodyPr wrap="square" lIns="0" tIns="0" rIns="0" bIns="0" rtlCol="0" anchor="ctr"/>
          <a:lstStyle/>
          <a:p>
            <a:pPr marL="0" indent="0">
              <a:buNone/>
            </a:pPr>
            <a:r>
              <a:rPr lang="en-US" sz="12000" b="1" dirty="0">
                <a:solidFill>
                  <a:srgbClr val="8FD3D1"/>
                </a:solidFill>
              </a:rPr>
              <a:t>3</a:t>
            </a:r>
            <a:endParaRPr lang="en-US" sz="12000" dirty="0"/>
          </a:p>
        </p:txBody>
      </p:sp>
      <p:sp>
        <p:nvSpPr>
          <p:cNvPr id="3" name="Section title"/>
          <p:cNvSpPr txBox="1"/>
          <p:nvPr/>
        </p:nvSpPr>
        <p:spPr>
          <a:xfrm>
            <a:off x="3108960" y="1737360"/>
            <a:ext cx="8229600" cy="1097280"/>
          </a:xfrm>
          <a:prstGeom prst="rect">
            <a:avLst/>
          </a:prstGeom>
          <a:noFill/>
          <a:ln/>
        </p:spPr>
        <p:txBody>
          <a:bodyPr wrap="square" lIns="0" tIns="0" rIns="0" bIns="0" rtlCol="0" anchor="ctr"/>
          <a:lstStyle/>
          <a:p>
            <a:pPr marL="0" indent="0">
              <a:buNone/>
            </a:pPr>
            <a:r>
              <a:rPr lang="en-US" sz="4400" b="1" dirty="0">
                <a:solidFill>
                  <a:srgbClr val="FFFFFF"/>
                </a:solidFill>
              </a:rPr>
              <a:t>Fleet House Light Blues Club</a:t>
            </a:r>
            <a:endParaRPr lang="en-US" sz="4400" dirty="0"/>
          </a:p>
        </p:txBody>
      </p:sp>
      <p:sp>
        <p:nvSpPr>
          <p:cNvPr id="4" name="Section subtitle"/>
          <p:cNvSpPr txBox="1"/>
          <p:nvPr/>
        </p:nvSpPr>
        <p:spPr>
          <a:xfrm>
            <a:off x="3108960" y="2834640"/>
            <a:ext cx="8229600" cy="731520"/>
          </a:xfrm>
          <a:prstGeom prst="rect">
            <a:avLst/>
          </a:prstGeom>
          <a:noFill/>
          <a:ln/>
        </p:spPr>
        <p:txBody>
          <a:bodyPr wrap="square" lIns="0" tIns="0" rIns="0" bIns="0" rtlCol="0" anchor="t"/>
          <a:lstStyle/>
          <a:p>
            <a:pPr marL="0" indent="0">
              <a:buNone/>
            </a:pPr>
            <a:r>
              <a:rPr lang="en-US" sz="1800" dirty="0">
                <a:solidFill>
                  <a:srgbClr val="BFD6EA"/>
                </a:solidFill>
              </a:rPr>
              <a:t>Your club: for every Brother in a white or light blue apron, from tonight</a:t>
            </a:r>
            <a:endParaRPr lang="en-US" sz="1800" dirty="0"/>
          </a:p>
        </p:txBody>
      </p:sp>
      <p:sp>
        <p:nvSpPr>
          <p:cNvPr id="5" name="Presenter"/>
          <p:cNvSpPr txBox="1"/>
          <p:nvPr/>
        </p:nvSpPr>
        <p:spPr>
          <a:xfrm>
            <a:off x="3108960" y="3931920"/>
            <a:ext cx="8229600" cy="457200"/>
          </a:xfrm>
          <a:prstGeom prst="rect">
            <a:avLst/>
          </a:prstGeom>
          <a:noFill/>
          <a:ln/>
        </p:spPr>
        <p:txBody>
          <a:bodyPr wrap="square" lIns="0" tIns="0" rIns="0" bIns="0" rtlCol="0" anchor="ctr"/>
          <a:lstStyle/>
          <a:p>
            <a:pPr marL="0" indent="0">
              <a:buNone/>
            </a:pPr>
            <a:r>
              <a:rPr lang="en-US" sz="1600" b="1" dirty="0">
                <a:solidFill>
                  <a:srgbClr val="FFFFFF"/>
                </a:solidFill>
              </a:rPr>
              <a:t>Bro Aaron Ball, FHLBC Communications Officer</a:t>
            </a:r>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itle"/>
          <p:cNvSpPr txBox="1"/>
          <p:nvPr/>
        </p:nvSpPr>
        <p:spPr>
          <a:xfrm>
            <a:off x="548640" y="411480"/>
            <a:ext cx="11091672" cy="731520"/>
          </a:xfrm>
          <a:prstGeom prst="rect">
            <a:avLst/>
          </a:prstGeom>
          <a:noFill/>
          <a:ln/>
        </p:spPr>
        <p:txBody>
          <a:bodyPr wrap="square" lIns="0" tIns="0" rIns="0" bIns="0" rtlCol="0" anchor="ctr"/>
          <a:lstStyle/>
          <a:p>
            <a:pPr marL="0" indent="0">
              <a:buNone/>
            </a:pPr>
            <a:r>
              <a:rPr lang="en-US" sz="3200" b="1" dirty="0">
                <a:solidFill>
                  <a:srgbClr val="003668"/>
                </a:solidFill>
              </a:rPr>
              <a:t>The club for the first part of your journey</a:t>
            </a:r>
            <a:endParaRPr lang="en-US" sz="3200" dirty="0"/>
          </a:p>
        </p:txBody>
      </p:sp>
      <p:sp>
        <p:nvSpPr>
          <p:cNvPr id="3" name="Lead"/>
          <p:cNvSpPr txBox="1"/>
          <p:nvPr/>
        </p:nvSpPr>
        <p:spPr>
          <a:xfrm>
            <a:off x="548640" y="1234440"/>
            <a:ext cx="10972800" cy="685800"/>
          </a:xfrm>
          <a:prstGeom prst="rect">
            <a:avLst/>
          </a:prstGeom>
          <a:noFill/>
          <a:ln/>
        </p:spPr>
        <p:txBody>
          <a:bodyPr wrap="square" lIns="0" tIns="0" rIns="0" bIns="0" rtlCol="0" anchor="ctr"/>
          <a:lstStyle/>
          <a:p>
            <a:pPr marL="0" indent="0">
              <a:buNone/>
            </a:pPr>
            <a:r>
              <a:rPr lang="en-US" sz="1600" dirty="0">
                <a:solidFill>
                  <a:srgbClr val="06345D"/>
                </a:solidFill>
              </a:rPr>
              <a:t>Run by its members, for its members: the place most new Masons in Hertfordshire make their first friends outside their own Lodge.</a:t>
            </a:r>
            <a:endParaRPr lang="en-US" sz="1600" dirty="0"/>
          </a:p>
        </p:txBody>
      </p:sp>
      <p:sp>
        <p:nvSpPr>
          <p:cNvPr id="4" name="Card Explore"/>
          <p:cNvSpPr/>
          <p:nvPr/>
        </p:nvSpPr>
        <p:spPr>
          <a:xfrm>
            <a:off x="548640" y="2057400"/>
            <a:ext cx="3566160" cy="2194560"/>
          </a:xfrm>
          <a:prstGeom prst="roundRect">
            <a:avLst>
              <a:gd name="adj" fmla="val 3333"/>
            </a:avLst>
          </a:prstGeom>
          <a:solidFill>
            <a:srgbClr val="F2F7FC"/>
          </a:solidFill>
          <a:ln w="12700">
            <a:solidFill>
              <a:srgbClr val="F2F7FC"/>
            </a:solidFill>
            <a:prstDash val="solid"/>
          </a:ln>
        </p:spPr>
        <p:txBody>
          <a:bodyPr/>
          <a:lstStyle/>
          <a:p>
            <a:endParaRPr lang="en-GB"/>
          </a:p>
        </p:txBody>
      </p:sp>
      <p:pic>
        <p:nvPicPr>
          <p:cNvPr id="5" name="Image 0" descr="preencoded.png"/>
          <p:cNvPicPr>
            <a:picLocks noChangeAspect="1"/>
          </p:cNvPicPr>
          <p:nvPr/>
        </p:nvPicPr>
        <p:blipFill>
          <a:blip r:embed="rId3"/>
          <a:stretch>
            <a:fillRect/>
          </a:stretch>
        </p:blipFill>
        <p:spPr>
          <a:xfrm>
            <a:off x="749808" y="2240280"/>
            <a:ext cx="384048" cy="384048"/>
          </a:xfrm>
          <a:prstGeom prst="rect">
            <a:avLst/>
          </a:prstGeom>
        </p:spPr>
      </p:pic>
      <p:sp>
        <p:nvSpPr>
          <p:cNvPr id="6" name="Text 3"/>
          <p:cNvSpPr txBox="1"/>
          <p:nvPr/>
        </p:nvSpPr>
        <p:spPr>
          <a:xfrm>
            <a:off x="1261872" y="2221992"/>
            <a:ext cx="2651760" cy="411480"/>
          </a:xfrm>
          <a:prstGeom prst="rect">
            <a:avLst/>
          </a:prstGeom>
          <a:noFill/>
          <a:ln/>
        </p:spPr>
        <p:txBody>
          <a:bodyPr wrap="square" lIns="0" tIns="0" rIns="0" bIns="0" rtlCol="0" anchor="ctr"/>
          <a:lstStyle/>
          <a:p>
            <a:pPr marL="0" indent="0">
              <a:buNone/>
            </a:pPr>
            <a:r>
              <a:rPr lang="en-US" sz="1600" b="1" dirty="0">
                <a:solidFill>
                  <a:srgbClr val="003668"/>
                </a:solidFill>
              </a:rPr>
              <a:t>Explore</a:t>
            </a:r>
            <a:endParaRPr lang="en-US" sz="1600" dirty="0"/>
          </a:p>
        </p:txBody>
      </p:sp>
      <p:sp>
        <p:nvSpPr>
          <p:cNvPr id="7" name="Text 4"/>
          <p:cNvSpPr txBox="1"/>
          <p:nvPr/>
        </p:nvSpPr>
        <p:spPr>
          <a:xfrm>
            <a:off x="777240" y="2679192"/>
            <a:ext cx="3108960" cy="1463040"/>
          </a:xfrm>
          <a:prstGeom prst="rect">
            <a:avLst/>
          </a:prstGeom>
          <a:noFill/>
          <a:ln/>
        </p:spPr>
        <p:txBody>
          <a:bodyPr wrap="square" lIns="0" tIns="0" rIns="0" bIns="0" rtlCol="0" anchor="t"/>
          <a:lstStyle/>
          <a:p>
            <a:pPr marL="203200" indent="-203200">
              <a:spcAft>
                <a:spcPts val="400"/>
              </a:spcAft>
              <a:buSzPct val="100000"/>
              <a:buChar char="■"/>
            </a:pPr>
            <a:r>
              <a:rPr lang="en-US" sz="1400" dirty="0">
                <a:solidFill>
                  <a:srgbClr val="1E2329"/>
                </a:solidFill>
              </a:rPr>
              <a:t>Lodge meetings across Hertfordshire, as a group, with a host Lodge expecting you</a:t>
            </a:r>
            <a:endParaRPr lang="en-US" sz="1400" dirty="0"/>
          </a:p>
        </p:txBody>
      </p:sp>
      <p:sp>
        <p:nvSpPr>
          <p:cNvPr id="8" name="Card Discover"/>
          <p:cNvSpPr/>
          <p:nvPr/>
        </p:nvSpPr>
        <p:spPr>
          <a:xfrm>
            <a:off x="4297680" y="2057400"/>
            <a:ext cx="3566160" cy="2194560"/>
          </a:xfrm>
          <a:prstGeom prst="roundRect">
            <a:avLst>
              <a:gd name="adj" fmla="val 3333"/>
            </a:avLst>
          </a:prstGeom>
          <a:solidFill>
            <a:srgbClr val="F2F7FC"/>
          </a:solidFill>
          <a:ln w="12700">
            <a:solidFill>
              <a:srgbClr val="F2F7FC"/>
            </a:solidFill>
            <a:prstDash val="solid"/>
          </a:ln>
        </p:spPr>
        <p:txBody>
          <a:bodyPr/>
          <a:lstStyle/>
          <a:p>
            <a:endParaRPr lang="en-GB"/>
          </a:p>
        </p:txBody>
      </p:sp>
      <p:pic>
        <p:nvPicPr>
          <p:cNvPr id="9" name="Image 1" descr="preencoded.png"/>
          <p:cNvPicPr>
            <a:picLocks noChangeAspect="1"/>
          </p:cNvPicPr>
          <p:nvPr/>
        </p:nvPicPr>
        <p:blipFill>
          <a:blip r:embed="rId4"/>
          <a:stretch>
            <a:fillRect/>
          </a:stretch>
        </p:blipFill>
        <p:spPr>
          <a:xfrm>
            <a:off x="4498848" y="2240280"/>
            <a:ext cx="384048" cy="384048"/>
          </a:xfrm>
          <a:prstGeom prst="rect">
            <a:avLst/>
          </a:prstGeom>
        </p:spPr>
      </p:pic>
      <p:sp>
        <p:nvSpPr>
          <p:cNvPr id="10" name="Text 6"/>
          <p:cNvSpPr txBox="1"/>
          <p:nvPr/>
        </p:nvSpPr>
        <p:spPr>
          <a:xfrm>
            <a:off x="5010912" y="2221992"/>
            <a:ext cx="2651760" cy="411480"/>
          </a:xfrm>
          <a:prstGeom prst="rect">
            <a:avLst/>
          </a:prstGeom>
          <a:noFill/>
          <a:ln/>
        </p:spPr>
        <p:txBody>
          <a:bodyPr wrap="square" lIns="0" tIns="0" rIns="0" bIns="0" rtlCol="0" anchor="ctr"/>
          <a:lstStyle/>
          <a:p>
            <a:pPr marL="0" indent="0">
              <a:buNone/>
            </a:pPr>
            <a:r>
              <a:rPr lang="en-US" sz="1600" b="1" dirty="0">
                <a:solidFill>
                  <a:srgbClr val="003668"/>
                </a:solidFill>
              </a:rPr>
              <a:t>Discover</a:t>
            </a:r>
            <a:endParaRPr lang="en-US" sz="1600" dirty="0"/>
          </a:p>
        </p:txBody>
      </p:sp>
      <p:sp>
        <p:nvSpPr>
          <p:cNvPr id="11" name="Text 7"/>
          <p:cNvSpPr txBox="1"/>
          <p:nvPr/>
        </p:nvSpPr>
        <p:spPr>
          <a:xfrm>
            <a:off x="4526280" y="2679192"/>
            <a:ext cx="3108960" cy="1463040"/>
          </a:xfrm>
          <a:prstGeom prst="rect">
            <a:avLst/>
          </a:prstGeom>
          <a:noFill/>
          <a:ln/>
        </p:spPr>
        <p:txBody>
          <a:bodyPr wrap="square" lIns="0" tIns="0" rIns="0" bIns="0" rtlCol="0" anchor="t"/>
          <a:lstStyle/>
          <a:p>
            <a:pPr marL="203200" indent="-203200">
              <a:spcAft>
                <a:spcPts val="400"/>
              </a:spcAft>
              <a:buSzPct val="100000"/>
              <a:buChar char="■"/>
            </a:pPr>
            <a:r>
              <a:rPr lang="en-US" sz="1400" dirty="0">
                <a:solidFill>
                  <a:srgbClr val="1E2329"/>
                </a:solidFill>
              </a:rPr>
              <a:t>Trips to Masonic landmarks, tours, guest speakers and demonstrations</a:t>
            </a:r>
            <a:endParaRPr lang="en-US" sz="1400" dirty="0"/>
          </a:p>
        </p:txBody>
      </p:sp>
      <p:sp>
        <p:nvSpPr>
          <p:cNvPr id="12" name="Card Engage"/>
          <p:cNvSpPr/>
          <p:nvPr/>
        </p:nvSpPr>
        <p:spPr>
          <a:xfrm>
            <a:off x="8046720" y="2057400"/>
            <a:ext cx="3566160" cy="2194560"/>
          </a:xfrm>
          <a:prstGeom prst="roundRect">
            <a:avLst>
              <a:gd name="adj" fmla="val 3333"/>
            </a:avLst>
          </a:prstGeom>
          <a:solidFill>
            <a:srgbClr val="F2F7FC"/>
          </a:solidFill>
          <a:ln w="12700">
            <a:solidFill>
              <a:srgbClr val="F2F7FC"/>
            </a:solidFill>
            <a:prstDash val="solid"/>
          </a:ln>
        </p:spPr>
        <p:txBody>
          <a:bodyPr/>
          <a:lstStyle/>
          <a:p>
            <a:endParaRPr lang="en-GB"/>
          </a:p>
        </p:txBody>
      </p:sp>
      <p:pic>
        <p:nvPicPr>
          <p:cNvPr id="13" name="Image 2" descr="preencoded.png"/>
          <p:cNvPicPr>
            <a:picLocks noChangeAspect="1"/>
          </p:cNvPicPr>
          <p:nvPr/>
        </p:nvPicPr>
        <p:blipFill>
          <a:blip r:embed="rId5"/>
          <a:stretch>
            <a:fillRect/>
          </a:stretch>
        </p:blipFill>
        <p:spPr>
          <a:xfrm>
            <a:off x="8247888" y="2240280"/>
            <a:ext cx="384048" cy="384048"/>
          </a:xfrm>
          <a:prstGeom prst="rect">
            <a:avLst/>
          </a:prstGeom>
        </p:spPr>
      </p:pic>
      <p:sp>
        <p:nvSpPr>
          <p:cNvPr id="14" name="Text 9"/>
          <p:cNvSpPr txBox="1"/>
          <p:nvPr/>
        </p:nvSpPr>
        <p:spPr>
          <a:xfrm>
            <a:off x="8759952" y="2221992"/>
            <a:ext cx="2651760" cy="411480"/>
          </a:xfrm>
          <a:prstGeom prst="rect">
            <a:avLst/>
          </a:prstGeom>
          <a:noFill/>
          <a:ln/>
        </p:spPr>
        <p:txBody>
          <a:bodyPr wrap="square" lIns="0" tIns="0" rIns="0" bIns="0" rtlCol="0" anchor="ctr"/>
          <a:lstStyle/>
          <a:p>
            <a:pPr marL="0" indent="0">
              <a:buNone/>
            </a:pPr>
            <a:r>
              <a:rPr lang="en-US" sz="1600" b="1" dirty="0">
                <a:solidFill>
                  <a:srgbClr val="003668"/>
                </a:solidFill>
              </a:rPr>
              <a:t>Engage</a:t>
            </a:r>
            <a:endParaRPr lang="en-US" sz="1600" dirty="0"/>
          </a:p>
        </p:txBody>
      </p:sp>
      <p:sp>
        <p:nvSpPr>
          <p:cNvPr id="15" name="Text 10"/>
          <p:cNvSpPr txBox="1"/>
          <p:nvPr/>
        </p:nvSpPr>
        <p:spPr>
          <a:xfrm>
            <a:off x="8275320" y="2679192"/>
            <a:ext cx="3108960" cy="1463040"/>
          </a:xfrm>
          <a:prstGeom prst="rect">
            <a:avLst/>
          </a:prstGeom>
          <a:noFill/>
          <a:ln/>
        </p:spPr>
        <p:txBody>
          <a:bodyPr wrap="square" lIns="0" tIns="0" rIns="0" bIns="0" rtlCol="0" anchor="t"/>
          <a:lstStyle/>
          <a:p>
            <a:pPr marL="203200" indent="-203200">
              <a:spcAft>
                <a:spcPts val="400"/>
              </a:spcAft>
              <a:buSzPct val="100000"/>
              <a:buChar char="■"/>
            </a:pPr>
            <a:r>
              <a:rPr lang="en-US" sz="1400" dirty="0">
                <a:solidFill>
                  <a:srgbClr val="1E2329"/>
                </a:solidFill>
              </a:rPr>
              <a:t>Relaxed socials, a members’ WhatsApp group and The Deacon newsletter</a:t>
            </a:r>
            <a:endParaRPr lang="en-US" sz="1400" dirty="0"/>
          </a:p>
        </p:txBody>
      </p:sp>
      <p:sp>
        <p:nvSpPr>
          <p:cNvPr id="16" name="Card Who can join"/>
          <p:cNvSpPr/>
          <p:nvPr/>
        </p:nvSpPr>
        <p:spPr>
          <a:xfrm>
            <a:off x="548640" y="4389120"/>
            <a:ext cx="5486400" cy="1463040"/>
          </a:xfrm>
          <a:prstGeom prst="roundRect">
            <a:avLst>
              <a:gd name="adj" fmla="val 5000"/>
            </a:avLst>
          </a:prstGeom>
          <a:solidFill>
            <a:srgbClr val="E6F2F2"/>
          </a:solidFill>
          <a:ln w="12700">
            <a:solidFill>
              <a:srgbClr val="E6F2F2"/>
            </a:solidFill>
            <a:prstDash val="solid"/>
          </a:ln>
        </p:spPr>
        <p:txBody>
          <a:bodyPr/>
          <a:lstStyle/>
          <a:p>
            <a:endParaRPr lang="en-GB"/>
          </a:p>
        </p:txBody>
      </p:sp>
      <p:pic>
        <p:nvPicPr>
          <p:cNvPr id="17" name="Image 3" descr="preencoded.png"/>
          <p:cNvPicPr>
            <a:picLocks noChangeAspect="1"/>
          </p:cNvPicPr>
          <p:nvPr/>
        </p:nvPicPr>
        <p:blipFill>
          <a:blip r:embed="rId6"/>
          <a:stretch>
            <a:fillRect/>
          </a:stretch>
        </p:blipFill>
        <p:spPr>
          <a:xfrm>
            <a:off x="749808" y="4572000"/>
            <a:ext cx="384048" cy="384048"/>
          </a:xfrm>
          <a:prstGeom prst="rect">
            <a:avLst/>
          </a:prstGeom>
        </p:spPr>
      </p:pic>
      <p:sp>
        <p:nvSpPr>
          <p:cNvPr id="18" name="Text 12"/>
          <p:cNvSpPr txBox="1"/>
          <p:nvPr/>
        </p:nvSpPr>
        <p:spPr>
          <a:xfrm>
            <a:off x="1261872" y="4553712"/>
            <a:ext cx="4572000" cy="411480"/>
          </a:xfrm>
          <a:prstGeom prst="rect">
            <a:avLst/>
          </a:prstGeom>
          <a:noFill/>
          <a:ln/>
        </p:spPr>
        <p:txBody>
          <a:bodyPr wrap="square" lIns="0" tIns="0" rIns="0" bIns="0" rtlCol="0" anchor="ctr"/>
          <a:lstStyle/>
          <a:p>
            <a:pPr marL="0" indent="0">
              <a:buNone/>
            </a:pPr>
            <a:r>
              <a:rPr lang="en-US" sz="1600" b="1" dirty="0">
                <a:solidFill>
                  <a:srgbClr val="003668"/>
                </a:solidFill>
              </a:rPr>
              <a:t>Who can join</a:t>
            </a:r>
            <a:endParaRPr lang="en-US" sz="1600" dirty="0"/>
          </a:p>
        </p:txBody>
      </p:sp>
      <p:sp>
        <p:nvSpPr>
          <p:cNvPr id="19" name="Text 13"/>
          <p:cNvSpPr txBox="1"/>
          <p:nvPr/>
        </p:nvSpPr>
        <p:spPr>
          <a:xfrm>
            <a:off x="777240" y="5010912"/>
            <a:ext cx="5029200" cy="731520"/>
          </a:xfrm>
          <a:prstGeom prst="rect">
            <a:avLst/>
          </a:prstGeom>
          <a:noFill/>
          <a:ln/>
        </p:spPr>
        <p:txBody>
          <a:bodyPr wrap="square" lIns="0" tIns="0" rIns="0" bIns="0" rtlCol="0" anchor="t"/>
          <a:lstStyle/>
          <a:p>
            <a:pPr marL="0" indent="0">
              <a:buNone/>
            </a:pPr>
            <a:r>
              <a:rPr lang="en-US" sz="1350" dirty="0">
                <a:solidFill>
                  <a:srgbClr val="1E2329"/>
                </a:solidFill>
              </a:rPr>
              <a:t>Any Freemason who lives, works or meets in Hertfordshire and has no Provincial, Grand or Metropolitan rank. Yes, an Entered Apprentice can join. Tonight.</a:t>
            </a:r>
            <a:endParaRPr lang="en-US" sz="1350" dirty="0"/>
          </a:p>
        </p:txBody>
      </p:sp>
      <p:sp>
        <p:nvSpPr>
          <p:cNvPr id="20" name="Card Scan to join: two minutes"/>
          <p:cNvSpPr/>
          <p:nvPr/>
        </p:nvSpPr>
        <p:spPr>
          <a:xfrm>
            <a:off x="6172200" y="4389120"/>
            <a:ext cx="4069080" cy="1463040"/>
          </a:xfrm>
          <a:prstGeom prst="roundRect">
            <a:avLst>
              <a:gd name="adj" fmla="val 5000"/>
            </a:avLst>
          </a:prstGeom>
          <a:solidFill>
            <a:srgbClr val="E6F2F2"/>
          </a:solidFill>
          <a:ln w="12700">
            <a:solidFill>
              <a:srgbClr val="E6F2F2"/>
            </a:solidFill>
            <a:prstDash val="solid"/>
          </a:ln>
        </p:spPr>
        <p:txBody>
          <a:bodyPr/>
          <a:lstStyle/>
          <a:p>
            <a:endParaRPr lang="en-GB"/>
          </a:p>
        </p:txBody>
      </p:sp>
      <p:pic>
        <p:nvPicPr>
          <p:cNvPr id="21" name="Image 4" descr="preencoded.png"/>
          <p:cNvPicPr>
            <a:picLocks noChangeAspect="1"/>
          </p:cNvPicPr>
          <p:nvPr/>
        </p:nvPicPr>
        <p:blipFill>
          <a:blip r:embed="rId7"/>
          <a:stretch>
            <a:fillRect/>
          </a:stretch>
        </p:blipFill>
        <p:spPr>
          <a:xfrm>
            <a:off x="6373368" y="4572000"/>
            <a:ext cx="384048" cy="384048"/>
          </a:xfrm>
          <a:prstGeom prst="rect">
            <a:avLst/>
          </a:prstGeom>
        </p:spPr>
      </p:pic>
      <p:sp>
        <p:nvSpPr>
          <p:cNvPr id="22" name="Text 15"/>
          <p:cNvSpPr txBox="1"/>
          <p:nvPr/>
        </p:nvSpPr>
        <p:spPr>
          <a:xfrm>
            <a:off x="6885432" y="4553712"/>
            <a:ext cx="3154680" cy="411480"/>
          </a:xfrm>
          <a:prstGeom prst="rect">
            <a:avLst/>
          </a:prstGeom>
          <a:noFill/>
          <a:ln/>
        </p:spPr>
        <p:txBody>
          <a:bodyPr wrap="square" lIns="0" tIns="0" rIns="0" bIns="0" rtlCol="0" anchor="ctr"/>
          <a:lstStyle/>
          <a:p>
            <a:pPr marL="0" indent="0">
              <a:buNone/>
            </a:pPr>
            <a:r>
              <a:rPr lang="en-US" sz="1600" b="1" dirty="0">
                <a:solidFill>
                  <a:srgbClr val="003668"/>
                </a:solidFill>
              </a:rPr>
              <a:t>Scan to join: two minutes</a:t>
            </a:r>
            <a:endParaRPr lang="en-US" sz="1600" dirty="0"/>
          </a:p>
        </p:txBody>
      </p:sp>
      <p:sp>
        <p:nvSpPr>
          <p:cNvPr id="23" name="Text 16"/>
          <p:cNvSpPr txBox="1"/>
          <p:nvPr/>
        </p:nvSpPr>
        <p:spPr>
          <a:xfrm>
            <a:off x="6400800" y="5010912"/>
            <a:ext cx="3611880" cy="731520"/>
          </a:xfrm>
          <a:prstGeom prst="rect">
            <a:avLst/>
          </a:prstGeom>
          <a:noFill/>
          <a:ln/>
        </p:spPr>
        <p:txBody>
          <a:bodyPr wrap="square" lIns="0" tIns="0" rIns="0" bIns="0" rtlCol="0" anchor="t"/>
          <a:lstStyle/>
          <a:p>
            <a:pPr marL="0" indent="0">
              <a:buNone/>
            </a:pPr>
            <a:r>
              <a:rPr lang="en-US" sz="1350" dirty="0">
                <a:solidFill>
                  <a:srgbClr val="1E2329"/>
                </a:solidFill>
              </a:rPr>
              <a:t>fhlbc.co.uk/join-us. £25 to join, then £10 a year; EAs £10 a year. Welcome pack and pin.</a:t>
            </a:r>
            <a:endParaRPr lang="en-US" sz="1350" dirty="0"/>
          </a:p>
        </p:txBody>
      </p:sp>
      <p:pic>
        <p:nvPicPr>
          <p:cNvPr id="24" name="Image 5" descr="QR code to fhlbc.co.uk/join-us"/>
          <p:cNvPicPr>
            <a:picLocks noChangeAspect="1"/>
          </p:cNvPicPr>
          <p:nvPr/>
        </p:nvPicPr>
        <p:blipFill>
          <a:blip r:embed="rId8"/>
          <a:stretch>
            <a:fillRect/>
          </a:stretch>
        </p:blipFill>
        <p:spPr>
          <a:xfrm>
            <a:off x="10332720" y="4389120"/>
            <a:ext cx="1280160" cy="1280160"/>
          </a:xfrm>
          <a:prstGeom prst="rect">
            <a:avLst/>
          </a:prstGeom>
        </p:spPr>
      </p:pic>
      <p:sp>
        <p:nvSpPr>
          <p:cNvPr id="25" name="Text 17"/>
          <p:cNvSpPr txBox="1"/>
          <p:nvPr/>
        </p:nvSpPr>
        <p:spPr>
          <a:xfrm>
            <a:off x="10241280" y="5687568"/>
            <a:ext cx="1463040" cy="274320"/>
          </a:xfrm>
          <a:prstGeom prst="rect">
            <a:avLst/>
          </a:prstGeom>
          <a:noFill/>
          <a:ln/>
        </p:spPr>
        <p:txBody>
          <a:bodyPr wrap="square" lIns="0" tIns="0" rIns="0" bIns="0" rtlCol="0" anchor="ctr"/>
          <a:lstStyle/>
          <a:p>
            <a:pPr marL="0" indent="0" algn="ctr">
              <a:buNone/>
            </a:pPr>
            <a:r>
              <a:rPr lang="en-US" sz="1100" b="1" dirty="0">
                <a:solidFill>
                  <a:srgbClr val="157A7C"/>
                </a:solidFill>
              </a:rPr>
              <a:t>Join the Club</a:t>
            </a:r>
            <a:endParaRPr lang="en-US" sz="1100" dirty="0"/>
          </a:p>
        </p:txBody>
      </p:sp>
      <p:sp>
        <p:nvSpPr>
          <p:cNvPr id="26"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06345D"/>
                </a:solidFill>
              </a:defRPr>
            </a:lvl1pPr>
          </a:lstStyle>
          <a:p>
            <a:pPr algn="r"/>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itle"/>
          <p:cNvSpPr txBox="1"/>
          <p:nvPr/>
        </p:nvSpPr>
        <p:spPr>
          <a:xfrm>
            <a:off x="548640" y="411480"/>
            <a:ext cx="11091672" cy="731520"/>
          </a:xfrm>
          <a:prstGeom prst="rect">
            <a:avLst/>
          </a:prstGeom>
          <a:noFill/>
          <a:ln/>
        </p:spPr>
        <p:txBody>
          <a:bodyPr wrap="square" lIns="0" tIns="0" rIns="0" bIns="0" rtlCol="0" anchor="ctr"/>
          <a:lstStyle/>
          <a:p>
            <a:pPr marL="0" indent="0">
              <a:buNone/>
            </a:pPr>
            <a:r>
              <a:rPr lang="en-US" sz="3200" b="1" dirty="0">
                <a:solidFill>
                  <a:srgbClr val="003668"/>
                </a:solidFill>
              </a:rPr>
              <a:t>What's coming up</a:t>
            </a:r>
            <a:endParaRPr lang="en-US" sz="3200" dirty="0"/>
          </a:p>
        </p:txBody>
      </p:sp>
      <p:sp>
        <p:nvSpPr>
          <p:cNvPr id="3" name="Date Fri 30 October"/>
          <p:cNvSpPr/>
          <p:nvPr/>
        </p:nvSpPr>
        <p:spPr>
          <a:xfrm>
            <a:off x="548640" y="1325880"/>
            <a:ext cx="2377440" cy="1600200"/>
          </a:xfrm>
          <a:prstGeom prst="roundRect">
            <a:avLst>
              <a:gd name="adj" fmla="val 4571"/>
            </a:avLst>
          </a:prstGeom>
          <a:solidFill>
            <a:srgbClr val="0A4F72"/>
          </a:solidFill>
          <a:ln w="12700">
            <a:solidFill>
              <a:srgbClr val="0A4F72"/>
            </a:solidFill>
            <a:prstDash val="solid"/>
          </a:ln>
        </p:spPr>
        <p:txBody>
          <a:bodyPr/>
          <a:lstStyle/>
          <a:p>
            <a:endParaRPr lang="en-GB"/>
          </a:p>
        </p:txBody>
      </p:sp>
      <p:sp>
        <p:nvSpPr>
          <p:cNvPr id="4" name="Text 2"/>
          <p:cNvSpPr txBox="1"/>
          <p:nvPr/>
        </p:nvSpPr>
        <p:spPr>
          <a:xfrm>
            <a:off x="548640" y="1325880"/>
            <a:ext cx="2377440" cy="1600200"/>
          </a:xfrm>
          <a:prstGeom prst="rect">
            <a:avLst/>
          </a:prstGeom>
          <a:noFill/>
          <a:ln/>
        </p:spPr>
        <p:txBody>
          <a:bodyPr wrap="square" lIns="0" tIns="0" rIns="0" bIns="0" rtlCol="0" anchor="ctr"/>
          <a:lstStyle/>
          <a:p>
            <a:pPr marL="0" indent="0" algn="ctr">
              <a:buNone/>
            </a:pPr>
            <a:r>
              <a:rPr lang="en-US" sz="2000" b="1" dirty="0">
                <a:solidFill>
                  <a:srgbClr val="FFFFFF"/>
                </a:solidFill>
              </a:rPr>
              <a:t>Fri 30 October</a:t>
            </a:r>
            <a:endParaRPr lang="en-US" sz="2000" dirty="0"/>
          </a:p>
        </p:txBody>
      </p:sp>
      <p:sp>
        <p:nvSpPr>
          <p:cNvPr id="5" name="Event Gladsmuir Passing Ceremony"/>
          <p:cNvSpPr/>
          <p:nvPr/>
        </p:nvSpPr>
        <p:spPr>
          <a:xfrm>
            <a:off x="3063240" y="1325880"/>
            <a:ext cx="8549640" cy="1600200"/>
          </a:xfrm>
          <a:prstGeom prst="roundRect">
            <a:avLst>
              <a:gd name="adj" fmla="val 4571"/>
            </a:avLst>
          </a:prstGeom>
          <a:solidFill>
            <a:srgbClr val="F2F7FC"/>
          </a:solidFill>
          <a:ln w="12700">
            <a:solidFill>
              <a:srgbClr val="F2F7FC"/>
            </a:solidFill>
            <a:prstDash val="solid"/>
          </a:ln>
        </p:spPr>
        <p:txBody>
          <a:bodyPr/>
          <a:lstStyle/>
          <a:p>
            <a:endParaRPr lang="en-GB"/>
          </a:p>
        </p:txBody>
      </p:sp>
      <p:sp>
        <p:nvSpPr>
          <p:cNvPr id="6" name="Text 4"/>
          <p:cNvSpPr txBox="1"/>
          <p:nvPr/>
        </p:nvSpPr>
        <p:spPr>
          <a:xfrm>
            <a:off x="3291840" y="1463040"/>
            <a:ext cx="8138160" cy="411480"/>
          </a:xfrm>
          <a:prstGeom prst="rect">
            <a:avLst/>
          </a:prstGeom>
          <a:noFill/>
          <a:ln/>
        </p:spPr>
        <p:txBody>
          <a:bodyPr wrap="square" lIns="0" tIns="0" rIns="0" bIns="0" rtlCol="0" anchor="ctr"/>
          <a:lstStyle/>
          <a:p>
            <a:pPr marL="0" indent="0">
              <a:buNone/>
            </a:pPr>
            <a:r>
              <a:rPr lang="en-US" sz="1800" b="1" dirty="0">
                <a:solidFill>
                  <a:srgbClr val="0A4F72"/>
                </a:solidFill>
              </a:rPr>
              <a:t>Gladsmuir Passing Ceremony</a:t>
            </a:r>
            <a:endParaRPr lang="en-US" sz="1800" dirty="0"/>
          </a:p>
        </p:txBody>
      </p:sp>
      <p:sp>
        <p:nvSpPr>
          <p:cNvPr id="7" name="Text 5"/>
          <p:cNvSpPr txBox="1"/>
          <p:nvPr/>
        </p:nvSpPr>
        <p:spPr>
          <a:xfrm>
            <a:off x="3291840" y="1920240"/>
            <a:ext cx="8138160" cy="914400"/>
          </a:xfrm>
          <a:prstGeom prst="rect">
            <a:avLst/>
          </a:prstGeom>
          <a:noFill/>
          <a:ln/>
        </p:spPr>
        <p:txBody>
          <a:bodyPr wrap="square" lIns="0" tIns="0" rIns="0" bIns="0" rtlCol="0" anchor="t"/>
          <a:lstStyle/>
          <a:p>
            <a:pPr marL="0" indent="0">
              <a:buNone/>
            </a:pPr>
            <a:r>
              <a:rPr lang="en-US" sz="1400" dirty="0">
                <a:solidFill>
                  <a:srgbClr val="1E2329"/>
                </a:solidFill>
              </a:rPr>
              <a:t>Gladsmuir Lodge No. 1385, Radlett. A Passing, a three-course Festive Board and Solomon Academy tie pin presentations. 6.00 to 9.30pm. Dining £32.</a:t>
            </a:r>
            <a:endParaRPr lang="en-US" sz="1400" dirty="0"/>
          </a:p>
        </p:txBody>
      </p:sp>
      <p:sp>
        <p:nvSpPr>
          <p:cNvPr id="8" name="Date Sun 15 November"/>
          <p:cNvSpPr/>
          <p:nvPr/>
        </p:nvSpPr>
        <p:spPr>
          <a:xfrm>
            <a:off x="548640" y="3108960"/>
            <a:ext cx="2377440" cy="1600200"/>
          </a:xfrm>
          <a:prstGeom prst="roundRect">
            <a:avLst>
              <a:gd name="adj" fmla="val 4571"/>
            </a:avLst>
          </a:prstGeom>
          <a:solidFill>
            <a:srgbClr val="157A7C"/>
          </a:solidFill>
          <a:ln w="12700">
            <a:solidFill>
              <a:srgbClr val="157A7C"/>
            </a:solidFill>
            <a:prstDash val="solid"/>
          </a:ln>
        </p:spPr>
        <p:txBody>
          <a:bodyPr/>
          <a:lstStyle/>
          <a:p>
            <a:endParaRPr lang="en-GB"/>
          </a:p>
        </p:txBody>
      </p:sp>
      <p:sp>
        <p:nvSpPr>
          <p:cNvPr id="9" name="Text 7"/>
          <p:cNvSpPr txBox="1"/>
          <p:nvPr/>
        </p:nvSpPr>
        <p:spPr>
          <a:xfrm>
            <a:off x="548640" y="3108960"/>
            <a:ext cx="2377440" cy="1600200"/>
          </a:xfrm>
          <a:prstGeom prst="rect">
            <a:avLst/>
          </a:prstGeom>
          <a:noFill/>
          <a:ln/>
        </p:spPr>
        <p:txBody>
          <a:bodyPr wrap="square" lIns="0" tIns="0" rIns="0" bIns="0" rtlCol="0" anchor="ctr"/>
          <a:lstStyle/>
          <a:p>
            <a:pPr marL="0" indent="0" algn="ctr">
              <a:buNone/>
            </a:pPr>
            <a:r>
              <a:rPr lang="en-US" sz="2000" b="1" dirty="0">
                <a:solidFill>
                  <a:srgbClr val="FFFFFF"/>
                </a:solidFill>
              </a:rPr>
              <a:t>Sun 15 November</a:t>
            </a:r>
            <a:endParaRPr lang="en-US" sz="2000" dirty="0"/>
          </a:p>
        </p:txBody>
      </p:sp>
      <p:sp>
        <p:nvSpPr>
          <p:cNvPr id="10" name="Event FHLBC Annual General Meeting"/>
          <p:cNvSpPr/>
          <p:nvPr/>
        </p:nvSpPr>
        <p:spPr>
          <a:xfrm>
            <a:off x="3063240" y="3108960"/>
            <a:ext cx="8549640" cy="1600200"/>
          </a:xfrm>
          <a:prstGeom prst="roundRect">
            <a:avLst>
              <a:gd name="adj" fmla="val 4571"/>
            </a:avLst>
          </a:prstGeom>
          <a:solidFill>
            <a:srgbClr val="F2F7FC"/>
          </a:solidFill>
          <a:ln w="12700">
            <a:solidFill>
              <a:srgbClr val="F2F7FC"/>
            </a:solidFill>
            <a:prstDash val="solid"/>
          </a:ln>
        </p:spPr>
        <p:txBody>
          <a:bodyPr/>
          <a:lstStyle/>
          <a:p>
            <a:endParaRPr lang="en-GB"/>
          </a:p>
        </p:txBody>
      </p:sp>
      <p:sp>
        <p:nvSpPr>
          <p:cNvPr id="11" name="Text 9"/>
          <p:cNvSpPr txBox="1"/>
          <p:nvPr/>
        </p:nvSpPr>
        <p:spPr>
          <a:xfrm>
            <a:off x="3291840" y="3246120"/>
            <a:ext cx="8138160" cy="411480"/>
          </a:xfrm>
          <a:prstGeom prst="rect">
            <a:avLst/>
          </a:prstGeom>
          <a:noFill/>
          <a:ln/>
        </p:spPr>
        <p:txBody>
          <a:bodyPr wrap="square" lIns="0" tIns="0" rIns="0" bIns="0" rtlCol="0" anchor="ctr"/>
          <a:lstStyle/>
          <a:p>
            <a:pPr marL="0" indent="0">
              <a:buNone/>
            </a:pPr>
            <a:r>
              <a:rPr lang="en-US" sz="1800" b="1" dirty="0">
                <a:solidFill>
                  <a:srgbClr val="157A7C"/>
                </a:solidFill>
              </a:rPr>
              <a:t>FHLBC Annual General Meeting</a:t>
            </a:r>
            <a:endParaRPr lang="en-US" sz="1800" dirty="0"/>
          </a:p>
        </p:txBody>
      </p:sp>
      <p:sp>
        <p:nvSpPr>
          <p:cNvPr id="12" name="Text 10"/>
          <p:cNvSpPr txBox="1"/>
          <p:nvPr/>
        </p:nvSpPr>
        <p:spPr>
          <a:xfrm>
            <a:off x="3291840" y="3703320"/>
            <a:ext cx="8138160" cy="914400"/>
          </a:xfrm>
          <a:prstGeom prst="rect">
            <a:avLst/>
          </a:prstGeom>
          <a:noFill/>
          <a:ln/>
        </p:spPr>
        <p:txBody>
          <a:bodyPr wrap="square" lIns="0" tIns="0" rIns="0" bIns="0" rtlCol="0" anchor="t"/>
          <a:lstStyle/>
          <a:p>
            <a:pPr marL="0" indent="0">
              <a:buNone/>
            </a:pPr>
            <a:r>
              <a:rPr lang="en-US" sz="1400" dirty="0">
                <a:solidFill>
                  <a:srgbClr val="1E2329"/>
                </a:solidFill>
              </a:rPr>
              <a:t>Here at Halsey Hall, Cheshunt. Free for members. Join before then and have your say in what the Club does next year. 6.00 to 9.00pm.</a:t>
            </a:r>
            <a:endParaRPr lang="en-US" sz="1400" dirty="0"/>
          </a:p>
        </p:txBody>
      </p:sp>
      <p:sp>
        <p:nvSpPr>
          <p:cNvPr id="13" name="Text 11"/>
          <p:cNvSpPr txBox="1"/>
          <p:nvPr/>
        </p:nvSpPr>
        <p:spPr>
          <a:xfrm>
            <a:off x="548640" y="4937760"/>
            <a:ext cx="10972800" cy="365760"/>
          </a:xfrm>
          <a:prstGeom prst="rect">
            <a:avLst/>
          </a:prstGeom>
          <a:noFill/>
          <a:ln/>
        </p:spPr>
        <p:txBody>
          <a:bodyPr wrap="square" lIns="0" tIns="0" rIns="0" bIns="0" rtlCol="0" anchor="ctr"/>
          <a:lstStyle/>
          <a:p>
            <a:pPr marL="0" indent="0">
              <a:buNone/>
            </a:pPr>
            <a:r>
              <a:rPr lang="en-US" sz="1400" dirty="0">
                <a:solidFill>
                  <a:srgbClr val="06345D"/>
                </a:solidFill>
              </a:rPr>
              <a:t>Full details and booking at fhlbc.co.uk/events. Club ties and pins at fhlbc.co.uk/fhlbc-merchandise.</a:t>
            </a:r>
            <a:endParaRPr lang="en-US" sz="1400" dirty="0"/>
          </a:p>
        </p:txBody>
      </p:sp>
      <p:sp>
        <p:nvSpPr>
          <p:cNvPr id="14" name="Three thoughts"/>
          <p:cNvSpPr txBox="1"/>
          <p:nvPr/>
        </p:nvSpPr>
        <p:spPr>
          <a:xfrm>
            <a:off x="548640" y="5349240"/>
            <a:ext cx="10972800" cy="548640"/>
          </a:xfrm>
          <a:prstGeom prst="rect">
            <a:avLst/>
          </a:prstGeom>
          <a:noFill/>
          <a:ln/>
        </p:spPr>
        <p:txBody>
          <a:bodyPr wrap="square" lIns="0" tIns="0" rIns="0" bIns="0" rtlCol="0" anchor="ctr"/>
          <a:lstStyle/>
          <a:p>
            <a:pPr marL="0" indent="0">
              <a:buNone/>
            </a:pPr>
            <a:r>
              <a:rPr lang="en-US" sz="2200" b="1" dirty="0">
                <a:solidFill>
                  <a:srgbClr val="003668"/>
                </a:solidFill>
              </a:rPr>
              <a:t>Patience  ·  </a:t>
            </a:r>
            <a:r>
              <a:rPr lang="en-US" sz="2200" b="1" dirty="0">
                <a:solidFill>
                  <a:srgbClr val="106576"/>
                </a:solidFill>
              </a:rPr>
              <a:t>Participation  ·  </a:t>
            </a:r>
            <a:r>
              <a:rPr lang="en-US" sz="2200" b="1" dirty="0">
                <a:solidFill>
                  <a:srgbClr val="157A7C"/>
                </a:solidFill>
              </a:rPr>
              <a:t>Brotherhood</a:t>
            </a:r>
            <a:endParaRPr lang="en-US" sz="22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06345D"/>
                </a:solidFill>
              </a:defRPr>
            </a:lvl1pPr>
          </a:lstStyle>
          <a:p>
            <a:pPr algn="r"/>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itle"/>
          <p:cNvSpPr txBox="1"/>
          <p:nvPr/>
        </p:nvSpPr>
        <p:spPr>
          <a:xfrm>
            <a:off x="548640" y="411480"/>
            <a:ext cx="11091672" cy="731520"/>
          </a:xfrm>
          <a:prstGeom prst="rect">
            <a:avLst/>
          </a:prstGeom>
          <a:noFill/>
          <a:ln/>
        </p:spPr>
        <p:txBody>
          <a:bodyPr wrap="square" lIns="0" tIns="0" rIns="0" bIns="0" rtlCol="0" anchor="ctr"/>
          <a:lstStyle/>
          <a:p>
            <a:pPr marL="0" indent="0">
              <a:buNone/>
            </a:pPr>
            <a:r>
              <a:rPr lang="en-US" sz="3200" b="1" dirty="0">
                <a:solidFill>
                  <a:srgbClr val="003668"/>
                </a:solidFill>
              </a:rPr>
              <a:t>Three things to do this week</a:t>
            </a:r>
            <a:endParaRPr lang="en-US" sz="3200" dirty="0"/>
          </a:p>
        </p:txBody>
      </p:sp>
      <p:sp>
        <p:nvSpPr>
          <p:cNvPr id="3" name="Action Join the Club"/>
          <p:cNvSpPr/>
          <p:nvPr/>
        </p:nvSpPr>
        <p:spPr>
          <a:xfrm>
            <a:off x="548640" y="1463040"/>
            <a:ext cx="3474720" cy="4206240"/>
          </a:xfrm>
          <a:prstGeom prst="roundRect">
            <a:avLst>
              <a:gd name="adj" fmla="val 2105"/>
            </a:avLst>
          </a:prstGeom>
          <a:solidFill>
            <a:srgbClr val="F2F7FC"/>
          </a:solidFill>
          <a:ln w="12700">
            <a:solidFill>
              <a:srgbClr val="F2F7FC"/>
            </a:solidFill>
            <a:prstDash val="solid"/>
          </a:ln>
        </p:spPr>
        <p:txBody>
          <a:bodyPr/>
          <a:lstStyle/>
          <a:p>
            <a:endParaRPr lang="en-GB"/>
          </a:p>
        </p:txBody>
      </p:sp>
      <p:sp>
        <p:nvSpPr>
          <p:cNvPr id="4" name="Shape 2"/>
          <p:cNvSpPr/>
          <p:nvPr/>
        </p:nvSpPr>
        <p:spPr>
          <a:xfrm>
            <a:off x="822960" y="1737360"/>
            <a:ext cx="822960" cy="822960"/>
          </a:xfrm>
          <a:prstGeom prst="ellipse">
            <a:avLst/>
          </a:prstGeom>
          <a:solidFill>
            <a:srgbClr val="003668"/>
          </a:solidFill>
          <a:ln w="12700">
            <a:solidFill>
              <a:srgbClr val="003668"/>
            </a:solidFill>
            <a:prstDash val="solid"/>
          </a:ln>
        </p:spPr>
        <p:txBody>
          <a:bodyPr/>
          <a:lstStyle/>
          <a:p>
            <a:endParaRPr lang="en-GB"/>
          </a:p>
        </p:txBody>
      </p:sp>
      <p:sp>
        <p:nvSpPr>
          <p:cNvPr id="5" name="Text 3"/>
          <p:cNvSpPr txBox="1"/>
          <p:nvPr/>
        </p:nvSpPr>
        <p:spPr>
          <a:xfrm>
            <a:off x="822960" y="1737360"/>
            <a:ext cx="822960" cy="822960"/>
          </a:xfrm>
          <a:prstGeom prst="rect">
            <a:avLst/>
          </a:prstGeom>
          <a:noFill/>
          <a:ln/>
        </p:spPr>
        <p:txBody>
          <a:bodyPr wrap="square" lIns="0" tIns="0" rIns="0" bIns="0" rtlCol="0" anchor="ctr"/>
          <a:lstStyle/>
          <a:p>
            <a:pPr marL="0" indent="0" algn="ctr">
              <a:buNone/>
            </a:pPr>
            <a:r>
              <a:rPr lang="en-US" sz="2800" b="1" dirty="0">
                <a:solidFill>
                  <a:srgbClr val="FFFFFF"/>
                </a:solidFill>
              </a:rPr>
              <a:t>1</a:t>
            </a:r>
            <a:endParaRPr lang="en-US" sz="2800" dirty="0"/>
          </a:p>
        </p:txBody>
      </p:sp>
      <p:sp>
        <p:nvSpPr>
          <p:cNvPr id="6" name="Text 4"/>
          <p:cNvSpPr txBox="1"/>
          <p:nvPr/>
        </p:nvSpPr>
        <p:spPr>
          <a:xfrm>
            <a:off x="822960" y="2788920"/>
            <a:ext cx="2926080" cy="548640"/>
          </a:xfrm>
          <a:prstGeom prst="rect">
            <a:avLst/>
          </a:prstGeom>
          <a:noFill/>
          <a:ln/>
        </p:spPr>
        <p:txBody>
          <a:bodyPr wrap="square" lIns="0" tIns="0" rIns="0" bIns="0" rtlCol="0" anchor="ctr"/>
          <a:lstStyle/>
          <a:p>
            <a:pPr marL="0" indent="0">
              <a:buNone/>
            </a:pPr>
            <a:r>
              <a:rPr lang="en-US" sz="2000" b="1" dirty="0">
                <a:solidFill>
                  <a:srgbClr val="003668"/>
                </a:solidFill>
              </a:rPr>
              <a:t>Join the Club</a:t>
            </a:r>
            <a:endParaRPr lang="en-US" sz="2000" dirty="0"/>
          </a:p>
        </p:txBody>
      </p:sp>
      <p:sp>
        <p:nvSpPr>
          <p:cNvPr id="7" name="Text 5"/>
          <p:cNvSpPr txBox="1"/>
          <p:nvPr/>
        </p:nvSpPr>
        <p:spPr>
          <a:xfrm>
            <a:off x="822960" y="3429000"/>
            <a:ext cx="2926080" cy="1005840"/>
          </a:xfrm>
          <a:prstGeom prst="rect">
            <a:avLst/>
          </a:prstGeom>
          <a:noFill/>
          <a:ln/>
        </p:spPr>
        <p:txBody>
          <a:bodyPr wrap="square" lIns="0" tIns="0" rIns="0" bIns="0" rtlCol="0" anchor="t"/>
          <a:lstStyle/>
          <a:p>
            <a:pPr marL="0" indent="0">
              <a:buNone/>
            </a:pPr>
            <a:r>
              <a:rPr lang="en-US" sz="1500" dirty="0">
                <a:solidFill>
                  <a:srgbClr val="1E2329"/>
                </a:solidFill>
              </a:rPr>
              <a:t>fhlbc.co.uk/join-us. Two minutes. Then say hello on the WhatsApp group.</a:t>
            </a:r>
            <a:endParaRPr lang="en-US" sz="1500" dirty="0"/>
          </a:p>
        </p:txBody>
      </p:sp>
      <p:pic>
        <p:nvPicPr>
          <p:cNvPr id="8" name="Image 0" descr="QR code to fhlbc.co.uk/join-us"/>
          <p:cNvPicPr>
            <a:picLocks noChangeAspect="1"/>
          </p:cNvPicPr>
          <p:nvPr/>
        </p:nvPicPr>
        <p:blipFill>
          <a:blip r:embed="rId3"/>
          <a:stretch>
            <a:fillRect/>
          </a:stretch>
        </p:blipFill>
        <p:spPr>
          <a:xfrm>
            <a:off x="822960" y="4480560"/>
            <a:ext cx="1097280" cy="1097280"/>
          </a:xfrm>
          <a:prstGeom prst="rect">
            <a:avLst/>
          </a:prstGeom>
        </p:spPr>
      </p:pic>
      <p:sp>
        <p:nvSpPr>
          <p:cNvPr id="9" name="Action Sign up to Solomon"/>
          <p:cNvSpPr/>
          <p:nvPr/>
        </p:nvSpPr>
        <p:spPr>
          <a:xfrm>
            <a:off x="4297680" y="1463040"/>
            <a:ext cx="3474720" cy="4206240"/>
          </a:xfrm>
          <a:prstGeom prst="roundRect">
            <a:avLst>
              <a:gd name="adj" fmla="val 2105"/>
            </a:avLst>
          </a:prstGeom>
          <a:solidFill>
            <a:srgbClr val="F2F7FC"/>
          </a:solidFill>
          <a:ln w="12700">
            <a:solidFill>
              <a:srgbClr val="F2F7FC"/>
            </a:solidFill>
            <a:prstDash val="solid"/>
          </a:ln>
        </p:spPr>
        <p:txBody>
          <a:bodyPr/>
          <a:lstStyle/>
          <a:p>
            <a:endParaRPr lang="en-GB"/>
          </a:p>
        </p:txBody>
      </p:sp>
      <p:sp>
        <p:nvSpPr>
          <p:cNvPr id="10" name="Shape 7"/>
          <p:cNvSpPr/>
          <p:nvPr/>
        </p:nvSpPr>
        <p:spPr>
          <a:xfrm>
            <a:off x="4572000" y="1737360"/>
            <a:ext cx="822960" cy="822960"/>
          </a:xfrm>
          <a:prstGeom prst="ellipse">
            <a:avLst/>
          </a:prstGeom>
          <a:solidFill>
            <a:srgbClr val="106576"/>
          </a:solidFill>
          <a:ln w="12700">
            <a:solidFill>
              <a:srgbClr val="106576"/>
            </a:solidFill>
            <a:prstDash val="solid"/>
          </a:ln>
        </p:spPr>
        <p:txBody>
          <a:bodyPr/>
          <a:lstStyle/>
          <a:p>
            <a:endParaRPr lang="en-GB"/>
          </a:p>
        </p:txBody>
      </p:sp>
      <p:sp>
        <p:nvSpPr>
          <p:cNvPr id="11" name="Text 8"/>
          <p:cNvSpPr txBox="1"/>
          <p:nvPr/>
        </p:nvSpPr>
        <p:spPr>
          <a:xfrm>
            <a:off x="4572000" y="1737360"/>
            <a:ext cx="822960" cy="822960"/>
          </a:xfrm>
          <a:prstGeom prst="rect">
            <a:avLst/>
          </a:prstGeom>
          <a:noFill/>
          <a:ln/>
        </p:spPr>
        <p:txBody>
          <a:bodyPr wrap="square" lIns="0" tIns="0" rIns="0" bIns="0" rtlCol="0" anchor="ctr"/>
          <a:lstStyle/>
          <a:p>
            <a:pPr marL="0" indent="0" algn="ctr">
              <a:buNone/>
            </a:pPr>
            <a:r>
              <a:rPr lang="en-US" sz="2800" b="1" dirty="0">
                <a:solidFill>
                  <a:srgbClr val="FFFFFF"/>
                </a:solidFill>
              </a:rPr>
              <a:t>2</a:t>
            </a:r>
            <a:endParaRPr lang="en-US" sz="2800" dirty="0"/>
          </a:p>
        </p:txBody>
      </p:sp>
      <p:sp>
        <p:nvSpPr>
          <p:cNvPr id="12" name="Text 9"/>
          <p:cNvSpPr txBox="1"/>
          <p:nvPr/>
        </p:nvSpPr>
        <p:spPr>
          <a:xfrm>
            <a:off x="4572000" y="2788920"/>
            <a:ext cx="2926080" cy="548640"/>
          </a:xfrm>
          <a:prstGeom prst="rect">
            <a:avLst/>
          </a:prstGeom>
          <a:noFill/>
          <a:ln/>
        </p:spPr>
        <p:txBody>
          <a:bodyPr wrap="square" lIns="0" tIns="0" rIns="0" bIns="0" rtlCol="0" anchor="ctr"/>
          <a:lstStyle/>
          <a:p>
            <a:pPr marL="0" indent="0">
              <a:buNone/>
            </a:pPr>
            <a:r>
              <a:rPr lang="en-US" sz="2000" b="1" dirty="0">
                <a:solidFill>
                  <a:srgbClr val="106576"/>
                </a:solidFill>
              </a:rPr>
              <a:t>Sign up to Solomon</a:t>
            </a:r>
            <a:endParaRPr lang="en-US" sz="2000" dirty="0"/>
          </a:p>
        </p:txBody>
      </p:sp>
      <p:sp>
        <p:nvSpPr>
          <p:cNvPr id="13" name="Text 10"/>
          <p:cNvSpPr txBox="1"/>
          <p:nvPr/>
        </p:nvSpPr>
        <p:spPr>
          <a:xfrm>
            <a:off x="4572000" y="3429000"/>
            <a:ext cx="2926080" cy="1005840"/>
          </a:xfrm>
          <a:prstGeom prst="rect">
            <a:avLst/>
          </a:prstGeom>
          <a:noFill/>
          <a:ln/>
        </p:spPr>
        <p:txBody>
          <a:bodyPr wrap="square" lIns="0" tIns="0" rIns="0" bIns="0" rtlCol="0" anchor="t"/>
          <a:lstStyle/>
          <a:p>
            <a:pPr marL="0" indent="0">
              <a:buNone/>
            </a:pPr>
            <a:r>
              <a:rPr lang="en-US" sz="1500" dirty="0">
                <a:solidFill>
                  <a:srgbClr val="1E2329"/>
                </a:solidFill>
              </a:rPr>
              <a:t>solomon.ugle.org.uk. Start the module that is yours. One certificate is one step to the Diploma.</a:t>
            </a:r>
            <a:endParaRPr lang="en-US" sz="1500" dirty="0"/>
          </a:p>
        </p:txBody>
      </p:sp>
      <p:pic>
        <p:nvPicPr>
          <p:cNvPr id="14" name="Image 1" descr="QR code to solomon.ugle.org.uk"/>
          <p:cNvPicPr>
            <a:picLocks noChangeAspect="1"/>
          </p:cNvPicPr>
          <p:nvPr/>
        </p:nvPicPr>
        <p:blipFill>
          <a:blip r:embed="rId4"/>
          <a:stretch>
            <a:fillRect/>
          </a:stretch>
        </p:blipFill>
        <p:spPr>
          <a:xfrm>
            <a:off x="4572000" y="4480560"/>
            <a:ext cx="1097280" cy="1097280"/>
          </a:xfrm>
          <a:prstGeom prst="rect">
            <a:avLst/>
          </a:prstGeom>
        </p:spPr>
      </p:pic>
      <p:sp>
        <p:nvSpPr>
          <p:cNvPr id="15" name="Action Message your mentor"/>
          <p:cNvSpPr/>
          <p:nvPr/>
        </p:nvSpPr>
        <p:spPr>
          <a:xfrm>
            <a:off x="8046720" y="1463040"/>
            <a:ext cx="3474720" cy="4206240"/>
          </a:xfrm>
          <a:prstGeom prst="roundRect">
            <a:avLst>
              <a:gd name="adj" fmla="val 2105"/>
            </a:avLst>
          </a:prstGeom>
          <a:solidFill>
            <a:srgbClr val="F2F7FC"/>
          </a:solidFill>
          <a:ln w="12700">
            <a:solidFill>
              <a:srgbClr val="F2F7FC"/>
            </a:solidFill>
            <a:prstDash val="solid"/>
          </a:ln>
        </p:spPr>
        <p:txBody>
          <a:bodyPr/>
          <a:lstStyle/>
          <a:p>
            <a:endParaRPr lang="en-GB"/>
          </a:p>
        </p:txBody>
      </p:sp>
      <p:sp>
        <p:nvSpPr>
          <p:cNvPr id="16" name="Shape 12"/>
          <p:cNvSpPr/>
          <p:nvPr/>
        </p:nvSpPr>
        <p:spPr>
          <a:xfrm>
            <a:off x="8321040" y="1737360"/>
            <a:ext cx="822960" cy="822960"/>
          </a:xfrm>
          <a:prstGeom prst="ellipse">
            <a:avLst/>
          </a:prstGeom>
          <a:solidFill>
            <a:srgbClr val="157A7C"/>
          </a:solidFill>
          <a:ln w="12700">
            <a:solidFill>
              <a:srgbClr val="157A7C"/>
            </a:solidFill>
            <a:prstDash val="solid"/>
          </a:ln>
        </p:spPr>
        <p:txBody>
          <a:bodyPr/>
          <a:lstStyle/>
          <a:p>
            <a:endParaRPr lang="en-GB"/>
          </a:p>
        </p:txBody>
      </p:sp>
      <p:sp>
        <p:nvSpPr>
          <p:cNvPr id="17" name="Text 13"/>
          <p:cNvSpPr txBox="1"/>
          <p:nvPr/>
        </p:nvSpPr>
        <p:spPr>
          <a:xfrm>
            <a:off x="8321040" y="1737360"/>
            <a:ext cx="822960" cy="822960"/>
          </a:xfrm>
          <a:prstGeom prst="rect">
            <a:avLst/>
          </a:prstGeom>
          <a:noFill/>
          <a:ln/>
        </p:spPr>
        <p:txBody>
          <a:bodyPr wrap="square" lIns="0" tIns="0" rIns="0" bIns="0" rtlCol="0" anchor="ctr"/>
          <a:lstStyle/>
          <a:p>
            <a:pPr marL="0" indent="0" algn="ctr">
              <a:buNone/>
            </a:pPr>
            <a:r>
              <a:rPr lang="en-US" sz="2800" b="1" dirty="0">
                <a:solidFill>
                  <a:srgbClr val="FFFFFF"/>
                </a:solidFill>
              </a:rPr>
              <a:t>3</a:t>
            </a:r>
            <a:endParaRPr lang="en-US" sz="2800" dirty="0"/>
          </a:p>
        </p:txBody>
      </p:sp>
      <p:sp>
        <p:nvSpPr>
          <p:cNvPr id="18" name="Text 14"/>
          <p:cNvSpPr txBox="1"/>
          <p:nvPr/>
        </p:nvSpPr>
        <p:spPr>
          <a:xfrm>
            <a:off x="8321040" y="2788920"/>
            <a:ext cx="2926080" cy="548640"/>
          </a:xfrm>
          <a:prstGeom prst="rect">
            <a:avLst/>
          </a:prstGeom>
          <a:noFill/>
          <a:ln/>
        </p:spPr>
        <p:txBody>
          <a:bodyPr wrap="square" lIns="0" tIns="0" rIns="0" bIns="0" rtlCol="0" anchor="ctr"/>
          <a:lstStyle/>
          <a:p>
            <a:pPr marL="0" indent="0">
              <a:buNone/>
            </a:pPr>
            <a:r>
              <a:rPr lang="en-US" sz="2000" b="1" dirty="0">
                <a:solidFill>
                  <a:srgbClr val="157A7C"/>
                </a:solidFill>
              </a:rPr>
              <a:t>Message your mentor</a:t>
            </a:r>
            <a:endParaRPr lang="en-US" sz="2000" dirty="0"/>
          </a:p>
        </p:txBody>
      </p:sp>
      <p:sp>
        <p:nvSpPr>
          <p:cNvPr id="19" name="Text 15"/>
          <p:cNvSpPr txBox="1"/>
          <p:nvPr/>
        </p:nvSpPr>
        <p:spPr>
          <a:xfrm>
            <a:off x="8321040" y="3429000"/>
            <a:ext cx="2926080" cy="1005840"/>
          </a:xfrm>
          <a:prstGeom prst="rect">
            <a:avLst/>
          </a:prstGeom>
          <a:noFill/>
          <a:ln/>
        </p:spPr>
        <p:txBody>
          <a:bodyPr wrap="square" lIns="0" tIns="0" rIns="0" bIns="0" rtlCol="0" anchor="t"/>
          <a:lstStyle/>
          <a:p>
            <a:pPr marL="0" indent="0">
              <a:buNone/>
            </a:pPr>
            <a:r>
              <a:rPr lang="en-US" sz="1500" dirty="0">
                <a:solidFill>
                  <a:srgbClr val="1E2329"/>
                </a:solidFill>
              </a:rPr>
              <a:t>Tell him one thing from tonight you want to talk about.</a:t>
            </a:r>
            <a:endParaRPr lang="en-US" sz="15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06345D"/>
                </a:solidFill>
              </a:defRPr>
            </a:lvl1pPr>
          </a:lstStyle>
          <a:p>
            <a:pPr algn="r"/>
            <a:fld id="{F7021451-1387-4CA6-816F-3879F97B5CBC}" type="slidenum">
              <a:rPr lang="en-US" b="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22960" y="1737360"/>
            <a:ext cx="1463040" cy="1463040"/>
          </a:xfrm>
          <a:prstGeom prst="rect">
            <a:avLst/>
          </a:prstGeom>
        </p:spPr>
      </p:pic>
      <p:sp>
        <p:nvSpPr>
          <p:cNvPr id="3" name="Text 0"/>
          <p:cNvSpPr txBox="1"/>
          <p:nvPr/>
        </p:nvSpPr>
        <p:spPr>
          <a:xfrm>
            <a:off x="2743200" y="1737360"/>
            <a:ext cx="8229600" cy="1097280"/>
          </a:xfrm>
          <a:prstGeom prst="rect">
            <a:avLst/>
          </a:prstGeom>
          <a:noFill/>
          <a:ln/>
        </p:spPr>
        <p:txBody>
          <a:bodyPr wrap="square" lIns="0" tIns="0" rIns="0" bIns="0" rtlCol="0" anchor="ctr"/>
          <a:lstStyle/>
          <a:p>
            <a:pPr marL="0" indent="0">
              <a:buNone/>
            </a:pPr>
            <a:r>
              <a:rPr lang="en-US" sz="4400" b="1" dirty="0">
                <a:solidFill>
                  <a:srgbClr val="FFFFFF"/>
                </a:solidFill>
              </a:rPr>
              <a:t>Your questions</a:t>
            </a:r>
            <a:endParaRPr lang="en-US" sz="4400" dirty="0"/>
          </a:p>
        </p:txBody>
      </p:sp>
      <p:sp>
        <p:nvSpPr>
          <p:cNvPr id="4" name="Text 1"/>
          <p:cNvSpPr txBox="1"/>
          <p:nvPr/>
        </p:nvSpPr>
        <p:spPr>
          <a:xfrm>
            <a:off x="2743200" y="2834640"/>
            <a:ext cx="8229600" cy="1097280"/>
          </a:xfrm>
          <a:prstGeom prst="rect">
            <a:avLst/>
          </a:prstGeom>
          <a:noFill/>
          <a:ln/>
        </p:spPr>
        <p:txBody>
          <a:bodyPr wrap="square" lIns="0" tIns="0" rIns="0" bIns="0" rtlCol="0" anchor="t"/>
          <a:lstStyle/>
          <a:p>
            <a:pPr marL="0" indent="0">
              <a:buNone/>
            </a:pPr>
            <a:r>
              <a:rPr lang="en-US" sz="1800" dirty="0">
                <a:solidFill>
                  <a:srgbClr val="BFD6EA"/>
                </a:solidFill>
              </a:rPr>
              <a:t>From the cards, and from the floor. If we do not know, we will say so and come back to you through your Lodge Mentor.</a:t>
            </a:r>
            <a:endParaRPr lang="en-US" sz="1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itle"/>
          <p:cNvSpPr txBox="1"/>
          <p:nvPr/>
        </p:nvSpPr>
        <p:spPr>
          <a:xfrm>
            <a:off x="548640" y="411480"/>
            <a:ext cx="11091672" cy="731520"/>
          </a:xfrm>
          <a:prstGeom prst="rect">
            <a:avLst/>
          </a:prstGeom>
          <a:noFill/>
          <a:ln/>
        </p:spPr>
        <p:txBody>
          <a:bodyPr wrap="square" lIns="0" tIns="0" rIns="0" bIns="0" rtlCol="0" anchor="ctr"/>
          <a:lstStyle/>
          <a:p>
            <a:pPr marL="0" indent="0">
              <a:buNone/>
            </a:pPr>
            <a:r>
              <a:rPr lang="en-US" sz="3200" b="1" dirty="0">
                <a:solidFill>
                  <a:srgbClr val="003668"/>
                </a:solidFill>
              </a:rPr>
              <a:t>Thank you. Stay in touch</a:t>
            </a:r>
            <a:endParaRPr lang="en-US" sz="3200" dirty="0"/>
          </a:p>
        </p:txBody>
      </p:sp>
      <p:sp>
        <p:nvSpPr>
          <p:cNvPr id="3" name="Card Provincial Mentoring"/>
          <p:cNvSpPr/>
          <p:nvPr/>
        </p:nvSpPr>
        <p:spPr>
          <a:xfrm>
            <a:off x="548640" y="1280160"/>
            <a:ext cx="4343400" cy="3383280"/>
          </a:xfrm>
          <a:prstGeom prst="roundRect">
            <a:avLst>
              <a:gd name="adj" fmla="val 2162"/>
            </a:avLst>
          </a:prstGeom>
          <a:solidFill>
            <a:srgbClr val="F2F7FC"/>
          </a:solidFill>
          <a:ln w="12700">
            <a:solidFill>
              <a:srgbClr val="F2F7FC"/>
            </a:solidFill>
            <a:prstDash val="solid"/>
          </a:ln>
        </p:spPr>
        <p:txBody>
          <a:bodyPr/>
          <a:lstStyle/>
          <a:p>
            <a:endParaRPr lang="en-GB"/>
          </a:p>
        </p:txBody>
      </p:sp>
      <p:pic>
        <p:nvPicPr>
          <p:cNvPr id="4" name="Image 0" descr="preencoded.png"/>
          <p:cNvPicPr>
            <a:picLocks noChangeAspect="1"/>
          </p:cNvPicPr>
          <p:nvPr/>
        </p:nvPicPr>
        <p:blipFill>
          <a:blip r:embed="rId3"/>
          <a:stretch>
            <a:fillRect/>
          </a:stretch>
        </p:blipFill>
        <p:spPr>
          <a:xfrm>
            <a:off x="749808" y="1463040"/>
            <a:ext cx="384048" cy="384048"/>
          </a:xfrm>
          <a:prstGeom prst="rect">
            <a:avLst/>
          </a:prstGeom>
        </p:spPr>
      </p:pic>
      <p:sp>
        <p:nvSpPr>
          <p:cNvPr id="5" name="Text 2"/>
          <p:cNvSpPr txBox="1"/>
          <p:nvPr/>
        </p:nvSpPr>
        <p:spPr>
          <a:xfrm>
            <a:off x="1261872" y="1444752"/>
            <a:ext cx="3429000" cy="411480"/>
          </a:xfrm>
          <a:prstGeom prst="rect">
            <a:avLst/>
          </a:prstGeom>
          <a:noFill/>
          <a:ln/>
        </p:spPr>
        <p:txBody>
          <a:bodyPr wrap="square" lIns="0" tIns="0" rIns="0" bIns="0" rtlCol="0" anchor="ctr"/>
          <a:lstStyle/>
          <a:p>
            <a:pPr marL="0" indent="0">
              <a:buNone/>
            </a:pPr>
            <a:r>
              <a:rPr lang="en-US" sz="1600" b="1" dirty="0">
                <a:solidFill>
                  <a:srgbClr val="003668"/>
                </a:solidFill>
              </a:rPr>
              <a:t>Provincial Mentoring</a:t>
            </a:r>
            <a:endParaRPr lang="en-US" sz="1600" dirty="0"/>
          </a:p>
        </p:txBody>
      </p:sp>
      <p:sp>
        <p:nvSpPr>
          <p:cNvPr id="6" name="Text 3"/>
          <p:cNvSpPr txBox="1"/>
          <p:nvPr/>
        </p:nvSpPr>
        <p:spPr>
          <a:xfrm>
            <a:off x="777240" y="1901952"/>
            <a:ext cx="3886200" cy="2651760"/>
          </a:xfrm>
          <a:prstGeom prst="rect">
            <a:avLst/>
          </a:prstGeom>
          <a:noFill/>
          <a:ln/>
        </p:spPr>
        <p:txBody>
          <a:bodyPr wrap="square" lIns="0" tIns="0" rIns="0" bIns="0" rtlCol="0" anchor="t"/>
          <a:lstStyle/>
          <a:p>
            <a:pPr marL="203200" indent="-203200">
              <a:spcAft>
                <a:spcPts val="400"/>
              </a:spcAft>
              <a:buSzPct val="100000"/>
              <a:buChar char="■"/>
            </a:pPr>
            <a:r>
              <a:rPr lang="en-US" sz="1350" dirty="0">
                <a:solidFill>
                  <a:srgbClr val="1E2329"/>
                </a:solidFill>
              </a:rPr>
              <a:t>mentor@hertfordshirefreemasons.org.uk</a:t>
            </a:r>
            <a:endParaRPr lang="en-US" sz="1350" dirty="0"/>
          </a:p>
          <a:p>
            <a:pPr marL="203200" indent="-203200">
              <a:spcAft>
                <a:spcPts val="400"/>
              </a:spcAft>
              <a:buSzPct val="100000"/>
              <a:buChar char="■"/>
            </a:pPr>
            <a:r>
              <a:rPr lang="en-US" sz="1350" dirty="0">
                <a:solidFill>
                  <a:srgbClr val="1E2329"/>
                </a:solidFill>
              </a:rPr>
              <a:t>asstmentor@hertfordshirefreemasons.org.uk</a:t>
            </a:r>
            <a:endParaRPr lang="en-US" sz="1350" dirty="0"/>
          </a:p>
          <a:p>
            <a:pPr marL="203200" indent="-203200">
              <a:spcAft>
                <a:spcPts val="400"/>
              </a:spcAft>
              <a:buSzPct val="100000"/>
              <a:buChar char="■"/>
            </a:pPr>
            <a:r>
              <a:rPr lang="en-US" sz="1350" dirty="0">
                <a:solidFill>
                  <a:srgbClr val="1E2329"/>
                </a:solidFill>
              </a:rPr>
              <a:t>Provincial Office, Fleet House, 10 Parkway, St Albans AL3 6PA</a:t>
            </a:r>
            <a:endParaRPr lang="en-US" sz="1350" dirty="0"/>
          </a:p>
          <a:p>
            <a:pPr marL="203200" indent="-203200">
              <a:spcAft>
                <a:spcPts val="400"/>
              </a:spcAft>
              <a:buSzPct val="100000"/>
              <a:buChar char="■"/>
            </a:pPr>
            <a:r>
              <a:rPr lang="en-US" sz="1350" dirty="0">
                <a:solidFill>
                  <a:srgbClr val="1E2329"/>
                </a:solidFill>
              </a:rPr>
              <a:t>01727 833061</a:t>
            </a:r>
            <a:endParaRPr lang="en-US" sz="1350" dirty="0"/>
          </a:p>
        </p:txBody>
      </p:sp>
      <p:sp>
        <p:nvSpPr>
          <p:cNvPr id="7" name="Card Learning"/>
          <p:cNvSpPr/>
          <p:nvPr/>
        </p:nvSpPr>
        <p:spPr>
          <a:xfrm>
            <a:off x="5029200" y="1280160"/>
            <a:ext cx="3291840" cy="3383280"/>
          </a:xfrm>
          <a:prstGeom prst="roundRect">
            <a:avLst>
              <a:gd name="adj" fmla="val 2222"/>
            </a:avLst>
          </a:prstGeom>
          <a:solidFill>
            <a:srgbClr val="F2F7FC"/>
          </a:solidFill>
          <a:ln w="12700">
            <a:solidFill>
              <a:srgbClr val="F2F7FC"/>
            </a:solidFill>
            <a:prstDash val="solid"/>
          </a:ln>
        </p:spPr>
        <p:txBody>
          <a:bodyPr/>
          <a:lstStyle/>
          <a:p>
            <a:endParaRPr lang="en-GB"/>
          </a:p>
        </p:txBody>
      </p:sp>
      <p:pic>
        <p:nvPicPr>
          <p:cNvPr id="8" name="Image 1" descr="preencoded.png"/>
          <p:cNvPicPr>
            <a:picLocks noChangeAspect="1"/>
          </p:cNvPicPr>
          <p:nvPr/>
        </p:nvPicPr>
        <p:blipFill>
          <a:blip r:embed="rId4"/>
          <a:stretch>
            <a:fillRect/>
          </a:stretch>
        </p:blipFill>
        <p:spPr>
          <a:xfrm>
            <a:off x="5230368" y="1463040"/>
            <a:ext cx="384048" cy="384048"/>
          </a:xfrm>
          <a:prstGeom prst="rect">
            <a:avLst/>
          </a:prstGeom>
        </p:spPr>
      </p:pic>
      <p:sp>
        <p:nvSpPr>
          <p:cNvPr id="9" name="Text 5"/>
          <p:cNvSpPr txBox="1"/>
          <p:nvPr/>
        </p:nvSpPr>
        <p:spPr>
          <a:xfrm>
            <a:off x="5742432" y="1444752"/>
            <a:ext cx="2377440" cy="411480"/>
          </a:xfrm>
          <a:prstGeom prst="rect">
            <a:avLst/>
          </a:prstGeom>
          <a:noFill/>
          <a:ln/>
        </p:spPr>
        <p:txBody>
          <a:bodyPr wrap="square" lIns="0" tIns="0" rIns="0" bIns="0" rtlCol="0" anchor="ctr"/>
          <a:lstStyle/>
          <a:p>
            <a:pPr marL="0" indent="0">
              <a:buNone/>
            </a:pPr>
            <a:r>
              <a:rPr lang="en-US" sz="1600" b="1" dirty="0">
                <a:solidFill>
                  <a:srgbClr val="003668"/>
                </a:solidFill>
              </a:rPr>
              <a:t>Learning</a:t>
            </a:r>
            <a:endParaRPr lang="en-US" sz="1600" dirty="0"/>
          </a:p>
        </p:txBody>
      </p:sp>
      <p:sp>
        <p:nvSpPr>
          <p:cNvPr id="10" name="Text 6"/>
          <p:cNvSpPr txBox="1"/>
          <p:nvPr/>
        </p:nvSpPr>
        <p:spPr>
          <a:xfrm>
            <a:off x="5257800" y="1901952"/>
            <a:ext cx="2834640" cy="2651760"/>
          </a:xfrm>
          <a:prstGeom prst="rect">
            <a:avLst/>
          </a:prstGeom>
          <a:noFill/>
          <a:ln/>
        </p:spPr>
        <p:txBody>
          <a:bodyPr wrap="square" lIns="0" tIns="0" rIns="0" bIns="0" rtlCol="0" anchor="t"/>
          <a:lstStyle/>
          <a:p>
            <a:pPr marL="203200" indent="-203200">
              <a:spcAft>
                <a:spcPts val="400"/>
              </a:spcAft>
              <a:buSzPct val="100000"/>
              <a:buChar char="■"/>
            </a:pPr>
            <a:r>
              <a:rPr lang="en-US" sz="1350" dirty="0">
                <a:solidFill>
                  <a:srgbClr val="1E2329"/>
                </a:solidFill>
              </a:rPr>
              <a:t>solomon.ugle.org.uk</a:t>
            </a:r>
            <a:endParaRPr lang="en-US" sz="1350" dirty="0"/>
          </a:p>
          <a:p>
            <a:pPr marL="203200" indent="-203200">
              <a:spcAft>
                <a:spcPts val="400"/>
              </a:spcAft>
              <a:buSzPct val="100000"/>
              <a:buChar char="■"/>
            </a:pPr>
            <a:r>
              <a:rPr lang="en-US" sz="1350" dirty="0">
                <a:solidFill>
                  <a:srgbClr val="1E2329"/>
                </a:solidFill>
              </a:rPr>
              <a:t>Your Lodge Mentor for the Lodge of Instruction and the Visitors’ Festival</a:t>
            </a:r>
            <a:endParaRPr lang="en-US" sz="1350" dirty="0"/>
          </a:p>
          <a:p>
            <a:pPr marL="203200" indent="-203200">
              <a:spcAft>
                <a:spcPts val="400"/>
              </a:spcAft>
              <a:buSzPct val="100000"/>
              <a:buChar char="■"/>
            </a:pPr>
            <a:r>
              <a:rPr lang="en-US" sz="1350" dirty="0">
                <a:solidFill>
                  <a:srgbClr val="1E2329"/>
                </a:solidFill>
              </a:rPr>
              <a:t>DAWG: ask to be added tonight</a:t>
            </a:r>
            <a:endParaRPr lang="en-US" sz="1350" dirty="0"/>
          </a:p>
        </p:txBody>
      </p:sp>
      <p:sp>
        <p:nvSpPr>
          <p:cNvPr id="11" name="Card Light Blues Club"/>
          <p:cNvSpPr/>
          <p:nvPr/>
        </p:nvSpPr>
        <p:spPr>
          <a:xfrm>
            <a:off x="8458200" y="1280160"/>
            <a:ext cx="3154680" cy="3383280"/>
          </a:xfrm>
          <a:prstGeom prst="roundRect">
            <a:avLst>
              <a:gd name="adj" fmla="val 2319"/>
            </a:avLst>
          </a:prstGeom>
          <a:solidFill>
            <a:srgbClr val="F2F7FC"/>
          </a:solidFill>
          <a:ln w="12700">
            <a:solidFill>
              <a:srgbClr val="F2F7FC"/>
            </a:solidFill>
            <a:prstDash val="solid"/>
          </a:ln>
        </p:spPr>
        <p:txBody>
          <a:bodyPr/>
          <a:lstStyle/>
          <a:p>
            <a:endParaRPr lang="en-GB"/>
          </a:p>
        </p:txBody>
      </p:sp>
      <p:pic>
        <p:nvPicPr>
          <p:cNvPr id="12" name="Image 2" descr="preencoded.png"/>
          <p:cNvPicPr>
            <a:picLocks noChangeAspect="1"/>
          </p:cNvPicPr>
          <p:nvPr/>
        </p:nvPicPr>
        <p:blipFill>
          <a:blip r:embed="rId5"/>
          <a:stretch>
            <a:fillRect/>
          </a:stretch>
        </p:blipFill>
        <p:spPr>
          <a:xfrm>
            <a:off x="8659368" y="1463040"/>
            <a:ext cx="384048" cy="384048"/>
          </a:xfrm>
          <a:prstGeom prst="rect">
            <a:avLst/>
          </a:prstGeom>
        </p:spPr>
      </p:pic>
      <p:sp>
        <p:nvSpPr>
          <p:cNvPr id="13" name="Text 8"/>
          <p:cNvSpPr txBox="1"/>
          <p:nvPr/>
        </p:nvSpPr>
        <p:spPr>
          <a:xfrm>
            <a:off x="9171432" y="1444752"/>
            <a:ext cx="2240280" cy="411480"/>
          </a:xfrm>
          <a:prstGeom prst="rect">
            <a:avLst/>
          </a:prstGeom>
          <a:noFill/>
          <a:ln/>
        </p:spPr>
        <p:txBody>
          <a:bodyPr wrap="square" lIns="0" tIns="0" rIns="0" bIns="0" rtlCol="0" anchor="ctr"/>
          <a:lstStyle/>
          <a:p>
            <a:pPr marL="0" indent="0">
              <a:buNone/>
            </a:pPr>
            <a:r>
              <a:rPr lang="en-US" sz="1600" b="1" dirty="0">
                <a:solidFill>
                  <a:srgbClr val="003668"/>
                </a:solidFill>
              </a:rPr>
              <a:t>Light Blues Club</a:t>
            </a:r>
            <a:endParaRPr lang="en-US" sz="1600" dirty="0"/>
          </a:p>
        </p:txBody>
      </p:sp>
      <p:sp>
        <p:nvSpPr>
          <p:cNvPr id="14" name="Text 9"/>
          <p:cNvSpPr txBox="1"/>
          <p:nvPr/>
        </p:nvSpPr>
        <p:spPr>
          <a:xfrm>
            <a:off x="8686800" y="1901952"/>
            <a:ext cx="2697480" cy="2651760"/>
          </a:xfrm>
          <a:prstGeom prst="rect">
            <a:avLst/>
          </a:prstGeom>
          <a:noFill/>
          <a:ln/>
        </p:spPr>
        <p:txBody>
          <a:bodyPr wrap="square" lIns="0" tIns="0" rIns="0" bIns="0" rtlCol="0" anchor="t"/>
          <a:lstStyle/>
          <a:p>
            <a:pPr marL="203200" indent="-203200">
              <a:spcAft>
                <a:spcPts val="400"/>
              </a:spcAft>
              <a:buSzPct val="100000"/>
              <a:buChar char="■"/>
            </a:pPr>
            <a:r>
              <a:rPr lang="en-US" sz="1350" dirty="0">
                <a:solidFill>
                  <a:srgbClr val="1E2329"/>
                </a:solidFill>
              </a:rPr>
              <a:t>fhlbc.co.uk</a:t>
            </a:r>
            <a:endParaRPr lang="en-US" sz="1350" dirty="0"/>
          </a:p>
          <a:p>
            <a:pPr marL="203200" indent="-203200">
              <a:spcAft>
                <a:spcPts val="400"/>
              </a:spcAft>
              <a:buSzPct val="100000"/>
              <a:buChar char="■"/>
            </a:pPr>
            <a:r>
              <a:rPr lang="en-US" sz="1350" dirty="0">
                <a:solidFill>
                  <a:srgbClr val="1E2329"/>
                </a:solidFill>
              </a:rPr>
              <a:t>Secretary@fhlbc.co.uk</a:t>
            </a:r>
            <a:endParaRPr lang="en-US" sz="1350" dirty="0"/>
          </a:p>
          <a:p>
            <a:pPr marL="203200" indent="-203200">
              <a:spcAft>
                <a:spcPts val="400"/>
              </a:spcAft>
              <a:buSzPct val="100000"/>
              <a:buChar char="■"/>
            </a:pPr>
            <a:r>
              <a:rPr lang="en-US" sz="1350" dirty="0">
                <a:solidFill>
                  <a:srgbClr val="1E2329"/>
                </a:solidFill>
              </a:rPr>
              <a:t>Join at fhlbc.co.uk/join-us</a:t>
            </a:r>
            <a:endParaRPr lang="en-US" sz="1350" dirty="0"/>
          </a:p>
        </p:txBody>
      </p:sp>
      <p:sp>
        <p:nvSpPr>
          <p:cNvPr id="15" name="Closing line"/>
          <p:cNvSpPr/>
          <p:nvPr/>
        </p:nvSpPr>
        <p:spPr>
          <a:xfrm>
            <a:off x="548640" y="4846320"/>
            <a:ext cx="11064240" cy="1005840"/>
          </a:xfrm>
          <a:prstGeom prst="roundRect">
            <a:avLst>
              <a:gd name="adj" fmla="val 7273"/>
            </a:avLst>
          </a:prstGeom>
          <a:solidFill>
            <a:srgbClr val="003668"/>
          </a:solidFill>
          <a:ln w="12700">
            <a:solidFill>
              <a:srgbClr val="003668"/>
            </a:solidFill>
            <a:prstDash val="solid"/>
          </a:ln>
        </p:spPr>
        <p:txBody>
          <a:bodyPr/>
          <a:lstStyle/>
          <a:p>
            <a:endParaRPr lang="en-GB"/>
          </a:p>
        </p:txBody>
      </p:sp>
      <p:sp>
        <p:nvSpPr>
          <p:cNvPr id="16" name="Text 11"/>
          <p:cNvSpPr txBox="1"/>
          <p:nvPr/>
        </p:nvSpPr>
        <p:spPr>
          <a:xfrm>
            <a:off x="822960" y="4846320"/>
            <a:ext cx="10515600" cy="1005840"/>
          </a:xfrm>
          <a:prstGeom prst="rect">
            <a:avLst/>
          </a:prstGeom>
          <a:noFill/>
          <a:ln/>
        </p:spPr>
        <p:txBody>
          <a:bodyPr wrap="square" lIns="0" tIns="0" rIns="0" bIns="0" rtlCol="0" anchor="ctr"/>
          <a:lstStyle/>
          <a:p>
            <a:pPr marL="0" indent="0">
              <a:buNone/>
            </a:pPr>
            <a:r>
              <a:rPr lang="en-US" sz="1700" b="1" dirty="0">
                <a:solidFill>
                  <a:srgbClr val="FFFFFF"/>
                </a:solidFill>
              </a:rPr>
              <a:t>You are not on this journey alone. And remember: whatever you do, it must be fun! Thank you for coming. Now, the bar.</a:t>
            </a:r>
            <a:endParaRPr lang="en-US" sz="17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06345D"/>
                </a:solidFill>
              </a:defRPr>
            </a:lvl1pPr>
          </a:lstStyle>
          <a:p>
            <a:pPr algn="r"/>
            <a:fld id="{F7021451-1387-4CA6-816F-3879F97B5CBC}" type="slidenum">
              <a:rPr lang="en-US" b="0"/>
              <a:t>30</a:t>
            </a:fld>
            <a:endParaRPr lang="en-US"/>
          </a:p>
        </p:txBody>
      </p:sp>
    </p:spTree>
  </p:cSld>
  <p:clrMapOvr>
    <a:masterClrMapping/>
  </p:clrMapOvr>
</p:sld>
</file>

<file path=ppt/theme/theme1.xml><?xml version="1.0" encoding="utf-8"?>
<a:theme xmlns:a="http://schemas.openxmlformats.org/drawingml/2006/main" name="Hertfordshire Provincial Mentoring">
  <a:themeElements>
    <a:clrScheme name="Hertfordshire Provincial Mentoring">
      <a:dk1>
        <a:srgbClr val="1E2329"/>
      </a:dk1>
      <a:lt1>
        <a:srgbClr val="FFFFFF"/>
      </a:lt1>
      <a:dk2>
        <a:srgbClr val="003668"/>
      </a:dk2>
      <a:lt2>
        <a:srgbClr val="F2F7FC"/>
      </a:lt2>
      <a:accent1>
        <a:srgbClr val="003668"/>
      </a:accent1>
      <a:accent2>
        <a:srgbClr val="0A4F72"/>
      </a:accent2>
      <a:accent3>
        <a:srgbClr val="106576"/>
      </a:accent3>
      <a:accent4>
        <a:srgbClr val="157A7C"/>
      </a:accent4>
      <a:accent5>
        <a:srgbClr val="06345D"/>
      </a:accent5>
      <a:accent6>
        <a:srgbClr val="BFD6EA"/>
      </a:accent6>
      <a:hlink>
        <a:srgbClr val="157A7C"/>
      </a:hlink>
      <a:folHlink>
        <a:srgbClr val="0A4F72"/>
      </a:folHlink>
    </a:clrScheme>
    <a:fontScheme name="Hertfordshire Provincial Mentoring">
      <a:majorFont>
        <a:latin typeface="DM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4786</Words>
  <Application>Microsoft Macintosh PowerPoint</Application>
  <PresentationFormat>Widescreen</PresentationFormat>
  <Paragraphs>464</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DM Sans</vt:lpstr>
      <vt:lpstr>Hertfordshire Provincial Mentoring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New Masons Evening</dc:title>
  <dc:subject>PptxGenJS Presentation</dc:subject>
  <dc:creator>Hertfordshire Provincial Mentoring Team</dc:creator>
  <cp:lastModifiedBy>Wes Pierce</cp:lastModifiedBy>
  <cp:revision>2</cp:revision>
  <dcterms:created xsi:type="dcterms:W3CDTF">2026-10-25T15:03:27Z</dcterms:created>
  <dcterms:modified xsi:type="dcterms:W3CDTF">2026-10-25T15:18:09Z</dcterms:modified>
</cp:coreProperties>
</file>