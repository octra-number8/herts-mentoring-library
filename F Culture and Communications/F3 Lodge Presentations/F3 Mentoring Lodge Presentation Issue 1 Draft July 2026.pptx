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maximum on this slide. Introduce yourself as Lodge Mentor. This presentation is about ten minutes and it concerns every Brother in the room - not just the officers, and not just the new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Provincial Grand Mentor's mantra and the foundation of everything that follows. Fun does not mean frivolous - the ceremony matters, the tradition matters. It means a man should leave a meeting feeling better than when he arrived.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are Provincial and national evidence. The point of the slide is the last line: losses come from silence, not conflict. Mentoring is the organised way of making sure nobody meets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words are on the Mentor's Jewel explanation and in every Hertfordshire mentoring document. If the Lodge remembers one slide, make it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band left to right. Emphasise the Royal Arch sits ON the band - part of one journey, introduced with information and never pressure - and that 'Beyond the Chair' is a mentored stage like any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Lodge already assigns Personal Mentors, thank them by name here. If it doesn't yet do so consistently, this is the moment to say that it now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item on this slide is drawn from a real Hertfordshire practice or story. If you have your own Lodge's example - use it instead. Stories beat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teach the whole intervention process in open Lodge - that's for the mentors. The Lodge just needs to know the signs exist, and that telling the Lodge Mentor early is an act of friendship, not telling 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asks - five things any Brother can do without training. Then the support panel: nobody does this alone; the Province stands behind every Lodge 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line is from the explanation of the Mentor's Jewel. Invite questions at the Festive Board rather than in Lodge - and mean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Mentoring in Hertfordshire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 •  Guide  •  Support  •  Enlighten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presentation for the Brethren of the Lodge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Grand Mentor  |  Province of Hertfordshire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Freemasonry must be fun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words that carry a complete philosophy of membership: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D9E2F3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37744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 who ENJOYS himself…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23774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D9E2F3"/>
          </a:solidFill>
          <a:ln/>
        </p:spPr>
      </p:sp>
      <p:sp>
        <p:nvSpPr>
          <p:cNvPr id="7" name="Text 5"/>
          <p:cNvSpPr/>
          <p:nvPr/>
        </p:nvSpPr>
        <p:spPr>
          <a:xfrm>
            <a:off x="3127248" y="237744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…ATTENDS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2080" y="23774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D9E2F3"/>
          </a:solidFill>
          <a:ln/>
        </p:spPr>
      </p:sp>
      <p:sp>
        <p:nvSpPr>
          <p:cNvPr id="9" name="Text 7"/>
          <p:cNvSpPr/>
          <p:nvPr/>
        </p:nvSpPr>
        <p:spPr>
          <a:xfrm>
            <a:off x="5321808" y="237744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…PARTICIPATES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640" y="23774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D9E2F3"/>
          </a:solidFill>
          <a:ln/>
        </p:spPr>
      </p:sp>
      <p:sp>
        <p:nvSpPr>
          <p:cNvPr id="11" name="Text 9"/>
          <p:cNvSpPr/>
          <p:nvPr/>
        </p:nvSpPr>
        <p:spPr>
          <a:xfrm>
            <a:off x="7516368" y="237744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…BELONGS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0" y="23774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9710928" y="237744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does not RESIGN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is not the ceiling of what Freemasonry offers a man. It is the floor - the minimum standard below which no Lodge should fall. A man who is not enjoying his Masonry never stays long enough to discover what Masonry can truly give him.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W Bro Mark Butcher, Provincial Grand Mentor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needs organising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D9E2F3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57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150-190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108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join Hertfordshire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Lodges every year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566160" y="17373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D9E2F3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2057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years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749040" y="3108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in which we lose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those who leave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D9E2F3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057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92240" y="3108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resignations are recovered when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has the conversation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052560" y="17373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D9E2F3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2057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Chair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235440" y="3108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risk point - the year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office ends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men we lose are not lost to disagreement or dissatisfaction with Freemasonry itself. They are lost to silence: nobody noticed, nobody asked, nobody rang.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Hertfordshire Mentoring Principles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D9E2F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5270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984248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him for every stage before it happens - the interview, each ceremony, office. Practical, human detail. There should never be any surprises.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5270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1984248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honest, timely information from authoritative sources. Dispel the myths, answer everything openly - and never create dependency.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858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4315968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Present, responsive, compassionate - throughout his whole journey. “How can we help?”, never “Why aren’t you attending?”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7490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D9E2F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858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4315968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understanding, curiosity and enjoyment - for life, not just to the Third Degree. Follow his curiosity, not our own.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sequential stages - all four, continuously, at every stage of a member's journey.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journey - and mentoring walks all of 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D9E2F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75688" y="20116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2075688" y="201168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28416" y="20116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D9E2F3"/>
          </a:solidFill>
          <a:ln/>
        </p:spPr>
      </p:sp>
      <p:sp>
        <p:nvSpPr>
          <p:cNvPr id="8" name="Text 6"/>
          <p:cNvSpPr/>
          <p:nvPr/>
        </p:nvSpPr>
        <p:spPr>
          <a:xfrm>
            <a:off x="3328416" y="201168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81144" y="20116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D9E2F3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201168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33872" y="20116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D9E2F3"/>
          </a:solidFill>
          <a:ln/>
        </p:spPr>
      </p:sp>
      <p:sp>
        <p:nvSpPr>
          <p:cNvPr id="12" name="Text 10"/>
          <p:cNvSpPr/>
          <p:nvPr/>
        </p:nvSpPr>
        <p:spPr>
          <a:xfrm>
            <a:off x="5833872" y="201168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86600" y="20116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D9E2F3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01168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Arch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39328" y="20116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D9E2F3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01168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92056" y="20116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9592056" y="201168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844784" y="201168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D9E2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844784" y="201168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risk concentrates: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3703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years - before and just after the Third Degree, when the visible journey seems 'complete'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after the Chair - when a Past Master can lose his sense of purpose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break in a Brother's own pattern - the signal is change, not absence itself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in Hertfordshire begins at the point of interest - before the interview - and never formally ends. It changes character; it does not stop.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D9E2F3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1828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Personal Mentor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8992" y="24231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member, one friend. Chosen to suit the individual - temperament and time over seniority. Prepares him before every new experience, contacts him the day before each ceremony, sits with him, and is his first call for any question.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80560" y="155448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D9E2F3"/>
          </a:solidFill>
          <a:ln/>
        </p:spPr>
      </p:sp>
      <p:sp>
        <p:nvSpPr>
          <p:cNvPr id="7" name="Text 5"/>
          <p:cNvSpPr/>
          <p:nvPr/>
        </p:nvSpPr>
        <p:spPr>
          <a:xfrm>
            <a:off x="4736592" y="1828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Lodge Mentor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736592" y="24231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co-ordinator, not the doer of everything. Ensures every member has a Personal Mentor, supports those mentors, notices patterns across the Lodge, links us to the Provincial team - and develops a successor.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8394192" y="1828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us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94192" y="24231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all mentors to others in Freemasonry.” The seat you choose at the Festive Board, the welcome at the door, how a mistake is corrected - culture is a choice the whole room makes, every meeting.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Brother walks alone.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good mentoring actually looks like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choices. No budget. No committee. Just noticing.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the day before his ceremony: “We're thinking of you. Arrive early. You'll be guided at every step.”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within two days of it: “What did you make of the other night?”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seats at the Festive Board so the new man is never left among strangers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experienced Brother keeping him company - and using the time well - when he retires for a higher degree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quiet, kind word at the side about the jewel worn in the wrong order - not a public correction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Noticing the second missed meeting, and ringing within the week: “You were missed. How can we help?”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Brother starts to drift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2900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meetings missed without a word • only Installations • stopped visiting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2423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work or office • withdrawn at the Festive Board • flat in meetings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83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33832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messages • talk of time and money • subscriptions slipping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D9E2F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75488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question</a:t>
            </a:r>
            <a:endParaRPr lang="en-US" sz="1700" dirty="0"/>
          </a:p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we help?” - never “Why aren't you attending?”  His family and his work come first; they are supposed to. The signal is a break in his pattern - and the response is friendship, then the Lodge Mentor if it persists.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ask of you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new Brother's name - and use it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with someone different at the Festive Board now and then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every question as if it were a good one (it is)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Lodge Mentor when you notice someone drifting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yes if you are asked to be a Personal Mentor - you are more qualified than you think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38160" y="1737360"/>
            <a:ext cx="3200400" cy="4023360"/>
          </a:xfrm>
          <a:prstGeom prst="roundRect">
            <a:avLst>
              <a:gd name="adj" fmla="val 2857"/>
            </a:avLst>
          </a:prstGeom>
          <a:solidFill>
            <a:srgbClr val="2E5395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2011680"/>
            <a:ext cx="2651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your Lodge Mentor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Provincial Mentoring Team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mentoring call - first Tuesday, 7pm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DAWG - daily learning on your phone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and tools for every stage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House Light Blues Club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 •  Guide  •  Support  •  Enlighten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463040" y="32918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“Because, Brethren, we are all Mentors - and must take ownership of our future.”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mentor@hertfordshirefreemasons.org.uk   |   www.pgherts.org   |   solomon.ugle.org.uk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2026-07-16T07:18:03Z</dcterms:created>
  <dcterms:modified xsi:type="dcterms:W3CDTF">2026-07-16T07:18:03Z</dcterms:modified>
</cp:coreProperties>
</file>