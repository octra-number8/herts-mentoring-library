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ac62d6ee-3f1c-97b8-843d-3ea488cfec83}">
          <p14:sldIdLst>
            <p14:sldId id="256"/>
            <p14:sldId id="257"/>
          </p14:sldIdLst>
        </p14:section>
        <p14:section name="1 Why you" id="{0056932a-ac4c-1a75-fea3-402e6ff5d2d0}">
          <p14:sldIdLst>
            <p14:sldId id="258"/>
            <p14:sldId id="259"/>
            <p14:sldId id="260"/>
            <p14:sldId id="261"/>
          </p14:sldIdLst>
        </p14:section>
        <p14:section name="2 A new man's eyes" id="{f91275e9-d2eb-42b0-8a79-d636cbc31d80}">
          <p14:sldIdLst>
            <p14:sldId id="262"/>
            <p14:sldId id="263"/>
            <p14:sldId id="264"/>
            <p14:sldId id="265"/>
          </p14:sldIdLst>
        </p14:section>
        <p14:section name="3 The office queue" id="{d4cf4bc5-7053-e62c-7fc1-058a3cc5e799}">
          <p14:sldIdLst>
            <p14:sldId id="266"/>
            <p14:sldId id="267"/>
            <p14:sldId id="268"/>
          </p14:sldIdLst>
        </p14:section>
        <p14:section name="4 A happy year" id="{aec4d4be-3fe9-cac1-7d30-17ae3a35cd42}">
          <p14:sldIdLst>
            <p14:sldId id="269"/>
            <p14:sldId id="270"/>
            <p14:sldId id="271"/>
            <p14:sldId id="272"/>
          </p14:sldIdLst>
        </p14:section>
        <p14:section name="5 Wardens" id="{556838db-2f8e-87f0-8c21-e69e61a966c0}">
          <p14:sldIdLst>
            <p14:sldId id="273"/>
            <p14:sldId id="274"/>
            <p14:sldId id="275"/>
          </p14:sldIdLst>
        </p14:section>
        <p14:section name="6 After the Chair" id="{7746d9e5-0200-5b04-49e6-7bf30ffb8d7e}">
          <p14:sldIdLst>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minutes. Participants have the action sheet and the pocket card. Tables mixed: Masters and Wardens together. Each segment opens with two true-or-false statements, inside the segment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statements, hands up for true, reveal on the next slide. Two minutes, inside the segment time. 1: FALSE. He has no power to. He acknowledges receipt only, and the man then has sixty days to withdraw it; in a Hermes Province the sixty days run from the day his email arrives. Lengthened from 21 days in 2015 so that someone had time to have the conversation. Said aloud at the Risings, a resignation is irrevocable unless the Lodge votes to invite withdrawal on the spot. 2: FALSE. He is not; the Handbook’s precedence list says so in terms. Constitutionally the year after the Chair comes with a seat and no role at all, unless the Lodge gives him one. That is the whole of “Included, Involved, Interested” in one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each one in a sentence and move on. All twenty-two facts, with sources, are in section 7 of the facilitator guide and on the pocket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it for real. Let the silence sit. Then the two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Retention is the outcome of culture, never a target. The culture of the Lodge for one year is the Master's.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statements, hands up for true, reveal on the next slide. Two minutes, inside the segment time. 1: TRUE. A minimum, not a target. The Provincial Grand Master encourages double ceremonies so that no Initiate is kept waiting, and a Degree by Request lets another Lodge pass or raise your candidate on a written request from the Master and Secretary. A man who waits a year for his Second is a man at risk. 2: FALSE. It is presented as soon as it arrives, or sent recorded delivery and minuted. It is a passport, kept with his regalia, not framed. The presentation is a moment the Master can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each one in a sentence and move on. All twenty-two facts, with sources, are in section 7 of the facilitator guide and on the pocket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The second meeting is the one to dwell on: a word before the meeting, a seat beside his mentor, a Brother briefed to include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sheet box 1 while this is on screen: the newest man, his mentor, his next ceremony, one moment you will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statements, hands up for true, reveal on the next slide. Two minutes, inside the segment time. 1: FALSE. Not without a dispensation. A Warden must serve a full year, Installation to Installation, to be eligible for the Chair. The office queue has to allow for it. 2: TRUE. He is proclaimed, not installed again; the Address to the Master is not given; and he receives no Past Master’s jewel until he has installed his successor. He may not be Master of two Lodges at once without a dispensation.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each one in a sentence and move on. All twenty-two facts, with sources, are in section 7 of the facilitator guide and on the pocket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sheet box 2. Four minutes writing, four minutes of examples. The office queue is a joint decision with the DC; the Master owns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statements, hands up for true, reveal on the next slide. Two minutes, inside the segment time. 1: TRUE. Announced in open Lodge and minuted. The Treasurer saw the first missed subscription eighteen months earlier: a quiet word then, not a letter that reads like a final demand. 2: TRUE. Endorsed as a Provincial tradition, with the written caveat that its speed should not “reach the level of absurdity and thus become undignified”. A new man’s first embarrassment is usually fire nobody showed him. Explain it before his first Festive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each one in a sentence and move on. All twenty-two facts, with sources, are in section 7 of the facilitator guide and on the pocket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joke at the bar cost a member in the case study every mentor in the Province has heard. One quiet word to the Lodge about how returning members are greeted is worth a year of retention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Master who does not delegate is the one the Lodge loses in the year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statements, hands up for true, reveal on the next slide. Two minutes, inside the segment time. 1: TRUE. Five, not counting the Tyler and the candidate; two of them members; one an Installed Master. No Installed Master present and the meeting is abandoned and minuted. A Master Elect who cannot attend his Installation: postponed, and held within five weeks. 2: FALSE. They represent themselves by their Patents and should never be called his representative. Anyone wearing a chain represents themselves: offer the gavel. Salutations are completed before the Official Visitor enters, and the first wine-taking at an Installation is with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each one in a sentence and move on. All twenty-two facts, with sources, are in section 7 of the facilitator guide and on the pocket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sheet box 2 again for the Wardens: the office queue is theirs to inherit.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statements, hands up for true, reveal on the next slide. Two minutes, inside the segment time. 1: FALSE. He may visit any Lodge once, and one Lodge three times in twelve months with a view to joining, provided the Master confirms that purpose in writing to the Secretary. The Master’s signature keeps the door open. 2: TRUE. It does. The call within seven days is still the Lodge’s to make, and a Lodge that waits for the notification has already lost a month. “How can we help?”, never “Why weren’t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each one in a sentence and move on. All twenty-two facts, with sources, are in section 7 of the facilitator guide and on the pocket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 it before Installation, not after. Past Masters make the best Personal Mentors because they remember what the Chair cost and what it gave. Ask who in the room will take a mentee. Action sheet box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anyone pass. Photograph the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principles. Sheets photographed; Lodge Mentors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2400" b="1" dirty="0">
                <a:solidFill>
                  <a:srgbClr val="003668"/>
                </a:solidFill>
              </a:rPr>
              <a:t>Provincial Mentoring</a:t>
            </a:r>
            <a:endParaRPr lang="en-US" sz="2400" dirty="0"/>
          </a:p>
        </p:txBody>
      </p:sp>
      <p:sp>
        <p:nvSpPr>
          <p:cNvPr id="3" name="Text 1"/>
          <p:cNvSpPr/>
          <p:nvPr/>
        </p:nvSpPr>
        <p:spPr>
          <a:xfrm>
            <a:off x="548640" y="914400"/>
            <a:ext cx="7315200" cy="320040"/>
          </a:xfrm>
          <a:prstGeom prst="rect">
            <a:avLst/>
          </a:prstGeom>
          <a:noFill/>
          <a:ln/>
        </p:spPr>
        <p:txBody>
          <a:bodyPr wrap="square" lIns="0" tIns="0" rIns="0" bIns="0" rtlCol="0" anchor="ctr"/>
          <a:lstStyle/>
          <a:p>
            <a:pPr indent="0" marL="0">
              <a:buNone/>
            </a:pPr>
            <a:r>
              <a:rPr lang="en-US" sz="1300" dirty="0">
                <a:solidFill>
                  <a:srgbClr val="06345D"/>
                </a:solidFill>
              </a:rPr>
              <a:t>Provincial Grand Lodge of Hertfordshire</a:t>
            </a:r>
            <a:endParaRPr lang="en-US" sz="1300" dirty="0"/>
          </a:p>
        </p:txBody>
      </p:sp>
      <p:sp>
        <p:nvSpPr>
          <p:cNvPr id="4" name="Text 2"/>
          <p:cNvSpPr/>
          <p:nvPr/>
        </p:nvSpPr>
        <p:spPr>
          <a:xfrm>
            <a:off x="548640" y="1188720"/>
            <a:ext cx="7315200" cy="320040"/>
          </a:xfrm>
          <a:prstGeom prst="rect">
            <a:avLst/>
          </a:prstGeom>
          <a:noFill/>
          <a:ln/>
        </p:spPr>
        <p:txBody>
          <a:bodyPr wrap="square" lIns="0" tIns="0" rIns="0" bIns="0" rtlCol="0" anchor="ctr"/>
          <a:lstStyle/>
          <a:p>
            <a:pPr indent="0" marL="0">
              <a:buNone/>
            </a:pPr>
            <a:r>
              <a:rPr lang="en-US" sz="1300" b="1" dirty="0">
                <a:solidFill>
                  <a:srgbClr val="157A7C"/>
                </a:solidFill>
              </a:rPr>
              <a:t>Prepare • Guide • Support • Enlighten</a:t>
            </a:r>
            <a:endParaRPr lang="en-US" sz="1300" dirty="0"/>
          </a:p>
        </p:txBody>
      </p:sp>
      <p:pic>
        <p:nvPicPr>
          <p:cNvPr id="5" name="Image 0" descr="../art/PGLH-Shield.png">    </p:cNvPr>
          <p:cNvPicPr>
            <a:picLocks noChangeAspect="1"/>
          </p:cNvPicPr>
          <p:nvPr/>
        </p:nvPicPr>
        <p:blipFill>
          <a:blip r:embed="rId1"/>
          <a:stretch>
            <a:fillRect/>
          </a:stretch>
        </p:blipFill>
        <p:spPr>
          <a:xfrm>
            <a:off x="10314432" y="365760"/>
            <a:ext cx="1325880" cy="1527048"/>
          </a:xfrm>
          <a:prstGeom prst="rect">
            <a:avLst/>
          </a:prstGeom>
        </p:spPr>
      </p:pic>
      <p:sp>
        <p:nvSpPr>
          <p:cNvPr id="6" name="Shape 3"/>
          <p:cNvSpPr/>
          <p:nvPr/>
        </p:nvSpPr>
        <p:spPr>
          <a:xfrm>
            <a:off x="0" y="2057400"/>
            <a:ext cx="3047238" cy="237744"/>
          </a:xfrm>
          <a:prstGeom prst="rect">
            <a:avLst/>
          </a:prstGeom>
          <a:solidFill>
            <a:srgbClr val="003668"/>
          </a:solidFill>
          <a:ln/>
        </p:spPr>
      </p:sp>
      <p:sp>
        <p:nvSpPr>
          <p:cNvPr id="7" name="Shape 4"/>
          <p:cNvSpPr/>
          <p:nvPr/>
        </p:nvSpPr>
        <p:spPr>
          <a:xfrm>
            <a:off x="3047238" y="2057400"/>
            <a:ext cx="3047238" cy="237744"/>
          </a:xfrm>
          <a:prstGeom prst="rect">
            <a:avLst/>
          </a:prstGeom>
          <a:solidFill>
            <a:srgbClr val="0A4F72"/>
          </a:solidFill>
          <a:ln/>
        </p:spPr>
      </p:sp>
      <p:sp>
        <p:nvSpPr>
          <p:cNvPr id="8" name="Shape 5"/>
          <p:cNvSpPr/>
          <p:nvPr/>
        </p:nvSpPr>
        <p:spPr>
          <a:xfrm>
            <a:off x="6094476" y="2057400"/>
            <a:ext cx="3047238" cy="237744"/>
          </a:xfrm>
          <a:prstGeom prst="rect">
            <a:avLst/>
          </a:prstGeom>
          <a:solidFill>
            <a:srgbClr val="106576"/>
          </a:solidFill>
          <a:ln/>
        </p:spPr>
      </p:sp>
      <p:sp>
        <p:nvSpPr>
          <p:cNvPr id="9" name="Shape 6"/>
          <p:cNvSpPr/>
          <p:nvPr/>
        </p:nvSpPr>
        <p:spPr>
          <a:xfrm>
            <a:off x="9141714" y="2057400"/>
            <a:ext cx="3047238" cy="237744"/>
          </a:xfrm>
          <a:prstGeom prst="rect">
            <a:avLst/>
          </a:prstGeom>
          <a:solidFill>
            <a:srgbClr val="157A7C"/>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03668"/>
        </a:solidFill>
      </p:bgPr>
    </p:bg>
    <p:spTree>
      <p:nvGrpSpPr>
        <p:cNvPr id="1" name=""/>
        <p:cNvGrpSpPr/>
        <p:nvPr/>
      </p:nvGrpSpPr>
      <p:grpSpPr>
        <a:xfrm>
          <a:off x="0" y="0"/>
          <a:ext cx="0" cy="0"/>
          <a:chOff x="0" y="0"/>
          <a:chExt cx="0" cy="0"/>
        </a:xfrm>
      </p:grpSpPr>
      <p:sp>
        <p:nvSpPr>
          <p:cNvPr id="2" name="Shape 0"/>
          <p:cNvSpPr/>
          <p:nvPr/>
        </p:nvSpPr>
        <p:spPr>
          <a:xfrm>
            <a:off x="0" y="6583680"/>
            <a:ext cx="12188952" cy="36576"/>
          </a:xfrm>
          <a:prstGeom prst="rect">
            <a:avLst/>
          </a:prstGeom>
          <a:solidFill>
            <a:srgbClr val="FFFFFF"/>
          </a:solidFill>
          <a:ln/>
        </p:spPr>
      </p:sp>
      <p:sp>
        <p:nvSpPr>
          <p:cNvPr id="3" name="Shape 1"/>
          <p:cNvSpPr/>
          <p:nvPr/>
        </p:nvSpPr>
        <p:spPr>
          <a:xfrm>
            <a:off x="0" y="6620256"/>
            <a:ext cx="3047238" cy="237744"/>
          </a:xfrm>
          <a:prstGeom prst="rect">
            <a:avLst/>
          </a:prstGeom>
          <a:solidFill>
            <a:srgbClr val="003668"/>
          </a:solidFill>
          <a:ln/>
        </p:spPr>
      </p:sp>
      <p:sp>
        <p:nvSpPr>
          <p:cNvPr id="4" name="Shape 2"/>
          <p:cNvSpPr/>
          <p:nvPr/>
        </p:nvSpPr>
        <p:spPr>
          <a:xfrm>
            <a:off x="3047238" y="6620256"/>
            <a:ext cx="3047238" cy="237744"/>
          </a:xfrm>
          <a:prstGeom prst="rect">
            <a:avLst/>
          </a:prstGeom>
          <a:solidFill>
            <a:srgbClr val="0A4F72"/>
          </a:solidFill>
          <a:ln/>
        </p:spPr>
      </p:sp>
      <p:sp>
        <p:nvSpPr>
          <p:cNvPr id="5" name="Shape 3"/>
          <p:cNvSpPr/>
          <p:nvPr/>
        </p:nvSpPr>
        <p:spPr>
          <a:xfrm>
            <a:off x="6094476" y="6620256"/>
            <a:ext cx="3047238" cy="237744"/>
          </a:xfrm>
          <a:prstGeom prst="rect">
            <a:avLst/>
          </a:prstGeom>
          <a:solidFill>
            <a:srgbClr val="106576"/>
          </a:solidFill>
          <a:ln/>
        </p:spPr>
      </p:sp>
      <p:sp>
        <p:nvSpPr>
          <p:cNvPr id="6" name="Shape 4"/>
          <p:cNvSpPr/>
          <p:nvPr/>
        </p:nvSpPr>
        <p:spPr>
          <a:xfrm>
            <a:off x="9141714" y="6620256"/>
            <a:ext cx="3047238" cy="237744"/>
          </a:xfrm>
          <a:prstGeom prst="rect">
            <a:avLst/>
          </a:prstGeom>
          <a:solidFill>
            <a:srgbClr val="157A7C"/>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48272"/>
            <a:ext cx="3047238" cy="109728"/>
          </a:xfrm>
          <a:prstGeom prst="rect">
            <a:avLst/>
          </a:prstGeom>
          <a:solidFill>
            <a:srgbClr val="003668"/>
          </a:solidFill>
          <a:ln/>
        </p:spPr>
      </p:sp>
      <p:sp>
        <p:nvSpPr>
          <p:cNvPr id="3" name="Shape 1"/>
          <p:cNvSpPr/>
          <p:nvPr/>
        </p:nvSpPr>
        <p:spPr>
          <a:xfrm>
            <a:off x="3047238" y="6748272"/>
            <a:ext cx="3047238" cy="109728"/>
          </a:xfrm>
          <a:prstGeom prst="rect">
            <a:avLst/>
          </a:prstGeom>
          <a:solidFill>
            <a:srgbClr val="0A4F72"/>
          </a:solidFill>
          <a:ln/>
        </p:spPr>
      </p:sp>
      <p:sp>
        <p:nvSpPr>
          <p:cNvPr id="4" name="Shape 2"/>
          <p:cNvSpPr/>
          <p:nvPr/>
        </p:nvSpPr>
        <p:spPr>
          <a:xfrm>
            <a:off x="6094476" y="6748272"/>
            <a:ext cx="3047238" cy="109728"/>
          </a:xfrm>
          <a:prstGeom prst="rect">
            <a:avLst/>
          </a:prstGeom>
          <a:solidFill>
            <a:srgbClr val="106576"/>
          </a:solidFill>
          <a:ln/>
        </p:spPr>
      </p:sp>
      <p:sp>
        <p:nvSpPr>
          <p:cNvPr id="5" name="Shape 3"/>
          <p:cNvSpPr/>
          <p:nvPr/>
        </p:nvSpPr>
        <p:spPr>
          <a:xfrm>
            <a:off x="9141714" y="6748272"/>
            <a:ext cx="3047238" cy="109728"/>
          </a:xfrm>
          <a:prstGeom prst="rect">
            <a:avLst/>
          </a:prstGeom>
          <a:solidFill>
            <a:srgbClr val="157A7C"/>
          </a:solidFill>
          <a:ln/>
        </p:spPr>
      </p:sp>
      <p:sp>
        <p:nvSpPr>
          <p:cNvPr id="6" name="Text 4"/>
          <p:cNvSpPr/>
          <p:nvPr/>
        </p:nvSpPr>
        <p:spPr>
          <a:xfrm>
            <a:off x="548640" y="6382512"/>
            <a:ext cx="7315200" cy="274320"/>
          </a:xfrm>
          <a:prstGeom prst="rect">
            <a:avLst/>
          </a:prstGeom>
          <a:noFill/>
          <a:ln/>
        </p:spPr>
        <p:txBody>
          <a:bodyPr wrap="square" lIns="0" tIns="0" rIns="0" bIns="0" rtlCol="0" anchor="ctr"/>
          <a:lstStyle/>
          <a:p>
            <a:pPr indent="0" marL="0">
              <a:buNone/>
            </a:pPr>
            <a:r>
              <a:rPr lang="en-US" sz="900" dirty="0">
                <a:solidFill>
                  <a:srgbClr val="06345D"/>
                </a:solidFill>
              </a:rPr>
              <a:t>Hertfordshire Provincial Mentoring  ·  The Chair and Beyond</a:t>
            </a:r>
            <a:endParaRPr lang="en-US" sz="9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2651760"/>
            <a:ext cx="10515600" cy="1188720"/>
          </a:xfrm>
          <a:prstGeom prst="rect">
            <a:avLst/>
          </a:prstGeom>
          <a:noFill/>
          <a:ln/>
        </p:spPr>
        <p:txBody>
          <a:bodyPr wrap="square" lIns="0" tIns="0" rIns="0" bIns="0" rtlCol="0" anchor="ctr"/>
          <a:lstStyle/>
          <a:p>
            <a:pPr indent="0" marL="0">
              <a:buNone/>
            </a:pPr>
            <a:r>
              <a:rPr lang="en-US" sz="5400" b="1" dirty="0">
                <a:solidFill>
                  <a:srgbClr val="003668"/>
                </a:solidFill>
              </a:rPr>
              <a:t>The Chair and Beyond</a:t>
            </a:r>
            <a:endParaRPr lang="en-US" sz="5400" dirty="0"/>
          </a:p>
        </p:txBody>
      </p:sp>
      <p:sp>
        <p:nvSpPr>
          <p:cNvPr id="3" name="Subtitle"/>
          <p:cNvSpPr txBox="1"/>
          <p:nvPr/>
        </p:nvSpPr>
        <p:spPr>
          <a:xfrm>
            <a:off x="548640" y="3840480"/>
            <a:ext cx="9601200" cy="822960"/>
          </a:xfrm>
          <a:prstGeom prst="rect">
            <a:avLst/>
          </a:prstGeom>
          <a:noFill/>
          <a:ln/>
        </p:spPr>
        <p:txBody>
          <a:bodyPr wrap="square" lIns="0" tIns="0" rIns="0" bIns="0" rtlCol="0" anchor="ctr"/>
          <a:lstStyle/>
          <a:p>
            <a:pPr indent="0" marL="0">
              <a:buNone/>
            </a:pPr>
            <a:r>
              <a:rPr lang="en-US" sz="2000" dirty="0">
                <a:solidFill>
                  <a:srgbClr val="06345D"/>
                </a:solidFill>
              </a:rPr>
              <a:t>An hour for Wardens and Masters: the things about your year that are not in the ritual book, seen through the eyes of the newest man in the room</a:t>
            </a:r>
            <a:endParaRPr lang="en-US" sz="2000" dirty="0"/>
          </a:p>
        </p:txBody>
      </p:sp>
      <p:sp>
        <p:nvSpPr>
          <p:cNvPr id="4" name="Line 3"/>
          <p:cNvSpPr txBox="1"/>
          <p:nvPr/>
        </p:nvSpPr>
        <p:spPr>
          <a:xfrm>
            <a:off x="548640" y="4937760"/>
            <a:ext cx="10058400" cy="457200"/>
          </a:xfrm>
          <a:prstGeom prst="rect">
            <a:avLst/>
          </a:prstGeom>
          <a:noFill/>
          <a:ln/>
        </p:spPr>
        <p:txBody>
          <a:bodyPr wrap="square" lIns="0" tIns="0" rIns="0" bIns="0" rtlCol="0" anchor="ctr"/>
          <a:lstStyle/>
          <a:p>
            <a:pPr indent="0" marL="0">
              <a:buNone/>
            </a:pPr>
            <a:r>
              <a:rPr lang="en-US" sz="1600" b="1" dirty="0">
                <a:solidFill>
                  <a:srgbClr val="157A7C"/>
                </a:solidFill>
              </a:rPr>
              <a:t>Delivered by W Bro Wes Pierce, Deputy Provincial Grand Mentor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hour</a:t>
            </a:r>
            <a:endParaRPr lang="en-US" sz="3200" dirty="0"/>
          </a:p>
        </p:txBody>
      </p:sp>
      <p:sp>
        <p:nvSpPr>
          <p:cNvPr id="3" name="Numbered 1"/>
          <p:cNvSpPr/>
          <p:nvPr/>
        </p:nvSpPr>
        <p:spPr>
          <a:xfrm>
            <a:off x="548640" y="1371600"/>
            <a:ext cx="3520440" cy="2103120"/>
          </a:xfrm>
          <a:prstGeom prst="roundRect">
            <a:avLst>
              <a:gd name="adj" fmla="val 3478"/>
            </a:avLst>
          </a:prstGeom>
          <a:solidFill>
            <a:srgbClr val="F2F7FC"/>
          </a:solidFill>
          <a:ln w="12700">
            <a:solidFill>
              <a:srgbClr val="F2F7FC"/>
            </a:solidFill>
            <a:prstDash val="solid"/>
          </a:ln>
        </p:spPr>
      </p:sp>
      <p:sp>
        <p:nvSpPr>
          <p:cNvPr id="4" name="Circle 1"/>
          <p:cNvSpPr/>
          <p:nvPr/>
        </p:nvSpPr>
        <p:spPr>
          <a:xfrm>
            <a:off x="777240" y="1572768"/>
            <a:ext cx="548640" cy="548640"/>
          </a:xfrm>
          <a:prstGeom prst="ellipse">
            <a:avLst/>
          </a:prstGeom>
          <a:solidFill>
            <a:srgbClr val="003668"/>
          </a:solidFill>
          <a:ln w="12700">
            <a:solidFill>
              <a:srgbClr val="003668"/>
            </a:solidFill>
            <a:prstDash val="solid"/>
          </a:ln>
        </p:spPr>
      </p:sp>
      <p:sp>
        <p:nvSpPr>
          <p:cNvPr id="5" name="Text 3"/>
          <p:cNvSpPr txBox="1"/>
          <p:nvPr/>
        </p:nvSpPr>
        <p:spPr>
          <a:xfrm>
            <a:off x="777240" y="1572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463040" y="1572768"/>
            <a:ext cx="2423160" cy="548640"/>
          </a:xfrm>
          <a:prstGeom prst="rect">
            <a:avLst/>
          </a:prstGeom>
          <a:noFill/>
          <a:ln/>
        </p:spPr>
        <p:txBody>
          <a:bodyPr wrap="square" lIns="0" tIns="0" rIns="0" bIns="0" rtlCol="0" anchor="ctr"/>
          <a:lstStyle/>
          <a:p>
            <a:pPr indent="0" marL="0">
              <a:buNone/>
            </a:pPr>
            <a:r>
              <a:rPr lang="en-US" sz="1600" b="1" dirty="0">
                <a:solidFill>
                  <a:srgbClr val="003668"/>
                </a:solidFill>
              </a:rPr>
              <a:t>Why you</a:t>
            </a:r>
            <a:endParaRPr lang="en-US" sz="1600" dirty="0"/>
          </a:p>
        </p:txBody>
      </p:sp>
      <p:sp>
        <p:nvSpPr>
          <p:cNvPr id="7" name="Text 5"/>
          <p:cNvSpPr txBox="1"/>
          <p:nvPr/>
        </p:nvSpPr>
        <p:spPr>
          <a:xfrm>
            <a:off x="777240" y="2240280"/>
            <a:ext cx="3063240" cy="1097280"/>
          </a:xfrm>
          <a:prstGeom prst="rect">
            <a:avLst/>
          </a:prstGeom>
          <a:noFill/>
          <a:ln/>
        </p:spPr>
        <p:txBody>
          <a:bodyPr wrap="square" lIns="0" tIns="0" rIns="0" bIns="0" rtlCol="0" anchor="t"/>
          <a:lstStyle/>
          <a:p>
            <a:pPr indent="0" marL="0">
              <a:buNone/>
            </a:pPr>
            <a:r>
              <a:rPr lang="en-US" sz="1600" dirty="0">
                <a:solidFill>
                  <a:srgbClr val="1E2329"/>
                </a:solidFill>
              </a:rPr>
              <a:t>7 min</a:t>
            </a:r>
            <a:endParaRPr lang="en-US" sz="1600" dirty="0"/>
          </a:p>
        </p:txBody>
      </p:sp>
      <p:sp>
        <p:nvSpPr>
          <p:cNvPr id="8" name="Numbered 2"/>
          <p:cNvSpPr/>
          <p:nvPr/>
        </p:nvSpPr>
        <p:spPr>
          <a:xfrm>
            <a:off x="4297680" y="1371600"/>
            <a:ext cx="3520440" cy="2103120"/>
          </a:xfrm>
          <a:prstGeom prst="roundRect">
            <a:avLst>
              <a:gd name="adj" fmla="val 3478"/>
            </a:avLst>
          </a:prstGeom>
          <a:solidFill>
            <a:srgbClr val="F2F7FC"/>
          </a:solidFill>
          <a:ln w="12700">
            <a:solidFill>
              <a:srgbClr val="F2F7FC"/>
            </a:solidFill>
            <a:prstDash val="solid"/>
          </a:ln>
        </p:spPr>
      </p:sp>
      <p:sp>
        <p:nvSpPr>
          <p:cNvPr id="9" name="Circle 2"/>
          <p:cNvSpPr/>
          <p:nvPr/>
        </p:nvSpPr>
        <p:spPr>
          <a:xfrm>
            <a:off x="4526280" y="1572768"/>
            <a:ext cx="548640" cy="548640"/>
          </a:xfrm>
          <a:prstGeom prst="ellipse">
            <a:avLst/>
          </a:prstGeom>
          <a:solidFill>
            <a:srgbClr val="0A4F72"/>
          </a:solidFill>
          <a:ln w="12700">
            <a:solidFill>
              <a:srgbClr val="0A4F72"/>
            </a:solidFill>
            <a:prstDash val="solid"/>
          </a:ln>
        </p:spPr>
      </p:sp>
      <p:sp>
        <p:nvSpPr>
          <p:cNvPr id="10" name="Text 8"/>
          <p:cNvSpPr txBox="1"/>
          <p:nvPr/>
        </p:nvSpPr>
        <p:spPr>
          <a:xfrm>
            <a:off x="4526280" y="1572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Text 9"/>
          <p:cNvSpPr txBox="1"/>
          <p:nvPr/>
        </p:nvSpPr>
        <p:spPr>
          <a:xfrm>
            <a:off x="5212080" y="1572768"/>
            <a:ext cx="2423160" cy="548640"/>
          </a:xfrm>
          <a:prstGeom prst="rect">
            <a:avLst/>
          </a:prstGeom>
          <a:noFill/>
          <a:ln/>
        </p:spPr>
        <p:txBody>
          <a:bodyPr wrap="square" lIns="0" tIns="0" rIns="0" bIns="0" rtlCol="0" anchor="ctr"/>
          <a:lstStyle/>
          <a:p>
            <a:pPr indent="0" marL="0">
              <a:buNone/>
            </a:pPr>
            <a:r>
              <a:rPr lang="en-US" sz="1600" b="1" dirty="0">
                <a:solidFill>
                  <a:srgbClr val="0A4F72"/>
                </a:solidFill>
              </a:rPr>
              <a:t>Your year through a new man’s eyes</a:t>
            </a:r>
            <a:endParaRPr lang="en-US" sz="1600" dirty="0"/>
          </a:p>
        </p:txBody>
      </p:sp>
      <p:sp>
        <p:nvSpPr>
          <p:cNvPr id="12" name="Text 10"/>
          <p:cNvSpPr txBox="1"/>
          <p:nvPr/>
        </p:nvSpPr>
        <p:spPr>
          <a:xfrm>
            <a:off x="4526280" y="2240280"/>
            <a:ext cx="3063240" cy="1097280"/>
          </a:xfrm>
          <a:prstGeom prst="rect">
            <a:avLst/>
          </a:prstGeom>
          <a:noFill/>
          <a:ln/>
        </p:spPr>
        <p:txBody>
          <a:bodyPr wrap="square" lIns="0" tIns="0" rIns="0" bIns="0" rtlCol="0" anchor="t"/>
          <a:lstStyle/>
          <a:p>
            <a:pPr indent="0" marL="0">
              <a:buNone/>
            </a:pPr>
            <a:r>
              <a:rPr lang="en-US" sz="1600" dirty="0">
                <a:solidFill>
                  <a:srgbClr val="1E2329"/>
                </a:solidFill>
              </a:rPr>
              <a:t>10 min</a:t>
            </a:r>
            <a:endParaRPr lang="en-US" sz="1600" dirty="0"/>
          </a:p>
        </p:txBody>
      </p:sp>
      <p:sp>
        <p:nvSpPr>
          <p:cNvPr id="13" name="Numbered 3"/>
          <p:cNvSpPr/>
          <p:nvPr/>
        </p:nvSpPr>
        <p:spPr>
          <a:xfrm>
            <a:off x="8046720" y="1371600"/>
            <a:ext cx="3520440" cy="2103120"/>
          </a:xfrm>
          <a:prstGeom prst="roundRect">
            <a:avLst>
              <a:gd name="adj" fmla="val 3478"/>
            </a:avLst>
          </a:prstGeom>
          <a:solidFill>
            <a:srgbClr val="F2F7FC"/>
          </a:solidFill>
          <a:ln w="12700">
            <a:solidFill>
              <a:srgbClr val="F2F7FC"/>
            </a:solidFill>
            <a:prstDash val="solid"/>
          </a:ln>
        </p:spPr>
      </p:sp>
      <p:sp>
        <p:nvSpPr>
          <p:cNvPr id="14" name="Circle 3"/>
          <p:cNvSpPr/>
          <p:nvPr/>
        </p:nvSpPr>
        <p:spPr>
          <a:xfrm>
            <a:off x="8275320" y="1572768"/>
            <a:ext cx="548640" cy="548640"/>
          </a:xfrm>
          <a:prstGeom prst="ellipse">
            <a:avLst/>
          </a:prstGeom>
          <a:solidFill>
            <a:srgbClr val="106576"/>
          </a:solidFill>
          <a:ln w="12700">
            <a:solidFill>
              <a:srgbClr val="106576"/>
            </a:solidFill>
            <a:prstDash val="solid"/>
          </a:ln>
        </p:spPr>
      </p:sp>
      <p:sp>
        <p:nvSpPr>
          <p:cNvPr id="15" name="Text 13"/>
          <p:cNvSpPr txBox="1"/>
          <p:nvPr/>
        </p:nvSpPr>
        <p:spPr>
          <a:xfrm>
            <a:off x="8275320" y="1572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6" name="Text 14"/>
          <p:cNvSpPr txBox="1"/>
          <p:nvPr/>
        </p:nvSpPr>
        <p:spPr>
          <a:xfrm>
            <a:off x="8961120" y="1572768"/>
            <a:ext cx="2423160" cy="548640"/>
          </a:xfrm>
          <a:prstGeom prst="rect">
            <a:avLst/>
          </a:prstGeom>
          <a:noFill/>
          <a:ln/>
        </p:spPr>
        <p:txBody>
          <a:bodyPr wrap="square" lIns="0" tIns="0" rIns="0" bIns="0" rtlCol="0" anchor="ctr"/>
          <a:lstStyle/>
          <a:p>
            <a:pPr indent="0" marL="0">
              <a:buNone/>
            </a:pPr>
            <a:r>
              <a:rPr lang="en-US" sz="1600" b="1" dirty="0">
                <a:solidFill>
                  <a:srgbClr val="106576"/>
                </a:solidFill>
              </a:rPr>
              <a:t>Exercise: the office queue</a:t>
            </a:r>
            <a:endParaRPr lang="en-US" sz="1600" dirty="0"/>
          </a:p>
        </p:txBody>
      </p:sp>
      <p:sp>
        <p:nvSpPr>
          <p:cNvPr id="17" name="Text 15"/>
          <p:cNvSpPr txBox="1"/>
          <p:nvPr/>
        </p:nvSpPr>
        <p:spPr>
          <a:xfrm>
            <a:off x="8275320" y="2240280"/>
            <a:ext cx="3063240" cy="1097280"/>
          </a:xfrm>
          <a:prstGeom prst="rect">
            <a:avLst/>
          </a:prstGeom>
          <a:noFill/>
          <a:ln/>
        </p:spPr>
        <p:txBody>
          <a:bodyPr wrap="square" lIns="0" tIns="0" rIns="0" bIns="0" rtlCol="0" anchor="t"/>
          <a:lstStyle/>
          <a:p>
            <a:pPr indent="0" marL="0">
              <a:buNone/>
            </a:pPr>
            <a:r>
              <a:rPr lang="en-US" sz="1600" dirty="0">
                <a:solidFill>
                  <a:srgbClr val="1E2329"/>
                </a:solidFill>
              </a:rPr>
              <a:t>8 min</a:t>
            </a:r>
            <a:endParaRPr lang="en-US" sz="1600" dirty="0"/>
          </a:p>
        </p:txBody>
      </p:sp>
      <p:sp>
        <p:nvSpPr>
          <p:cNvPr id="18" name="Numbered 4"/>
          <p:cNvSpPr/>
          <p:nvPr/>
        </p:nvSpPr>
        <p:spPr>
          <a:xfrm>
            <a:off x="548640" y="3657600"/>
            <a:ext cx="3520440" cy="2103120"/>
          </a:xfrm>
          <a:prstGeom prst="roundRect">
            <a:avLst>
              <a:gd name="adj" fmla="val 3478"/>
            </a:avLst>
          </a:prstGeom>
          <a:solidFill>
            <a:srgbClr val="F2F7FC"/>
          </a:solidFill>
          <a:ln w="12700">
            <a:solidFill>
              <a:srgbClr val="F2F7FC"/>
            </a:solidFill>
            <a:prstDash val="solid"/>
          </a:ln>
        </p:spPr>
      </p:sp>
      <p:sp>
        <p:nvSpPr>
          <p:cNvPr id="19" name="Circle 4"/>
          <p:cNvSpPr/>
          <p:nvPr/>
        </p:nvSpPr>
        <p:spPr>
          <a:xfrm>
            <a:off x="777240" y="3858768"/>
            <a:ext cx="548640" cy="548640"/>
          </a:xfrm>
          <a:prstGeom prst="ellipse">
            <a:avLst/>
          </a:prstGeom>
          <a:solidFill>
            <a:srgbClr val="157A7C"/>
          </a:solidFill>
          <a:ln w="12700">
            <a:solidFill>
              <a:srgbClr val="157A7C"/>
            </a:solidFill>
            <a:prstDash val="solid"/>
          </a:ln>
        </p:spPr>
      </p:sp>
      <p:sp>
        <p:nvSpPr>
          <p:cNvPr id="20" name="Text 18"/>
          <p:cNvSpPr txBox="1"/>
          <p:nvPr/>
        </p:nvSpPr>
        <p:spPr>
          <a:xfrm>
            <a:off x="777240" y="3858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1" name="Text 19"/>
          <p:cNvSpPr txBox="1"/>
          <p:nvPr/>
        </p:nvSpPr>
        <p:spPr>
          <a:xfrm>
            <a:off x="1463040" y="3858768"/>
            <a:ext cx="2423160" cy="548640"/>
          </a:xfrm>
          <a:prstGeom prst="rect">
            <a:avLst/>
          </a:prstGeom>
          <a:noFill/>
          <a:ln/>
        </p:spPr>
        <p:txBody>
          <a:bodyPr wrap="square" lIns="0" tIns="0" rIns="0" bIns="0" rtlCol="0" anchor="ctr"/>
          <a:lstStyle/>
          <a:p>
            <a:pPr indent="0" marL="0">
              <a:buNone/>
            </a:pPr>
            <a:r>
              <a:rPr lang="en-US" sz="1600" b="1" dirty="0">
                <a:solidFill>
                  <a:srgbClr val="157A7C"/>
                </a:solidFill>
              </a:rPr>
              <a:t>Running a happy year</a:t>
            </a:r>
            <a:endParaRPr lang="en-US" sz="1600" dirty="0"/>
          </a:p>
        </p:txBody>
      </p:sp>
      <p:sp>
        <p:nvSpPr>
          <p:cNvPr id="22" name="Text 20"/>
          <p:cNvSpPr txBox="1"/>
          <p:nvPr/>
        </p:nvSpPr>
        <p:spPr>
          <a:xfrm>
            <a:off x="777240" y="4526280"/>
            <a:ext cx="3063240" cy="1097280"/>
          </a:xfrm>
          <a:prstGeom prst="rect">
            <a:avLst/>
          </a:prstGeom>
          <a:noFill/>
          <a:ln/>
        </p:spPr>
        <p:txBody>
          <a:bodyPr wrap="square" lIns="0" tIns="0" rIns="0" bIns="0" rtlCol="0" anchor="t"/>
          <a:lstStyle/>
          <a:p>
            <a:pPr indent="0" marL="0">
              <a:buNone/>
            </a:pPr>
            <a:r>
              <a:rPr lang="en-US" sz="1600" dirty="0">
                <a:solidFill>
                  <a:srgbClr val="1E2329"/>
                </a:solidFill>
              </a:rPr>
              <a:t>10 min</a:t>
            </a:r>
            <a:endParaRPr lang="en-US" sz="1600" dirty="0"/>
          </a:p>
        </p:txBody>
      </p:sp>
      <p:sp>
        <p:nvSpPr>
          <p:cNvPr id="23" name="Numbered 5"/>
          <p:cNvSpPr/>
          <p:nvPr/>
        </p:nvSpPr>
        <p:spPr>
          <a:xfrm>
            <a:off x="4297680" y="3657600"/>
            <a:ext cx="3520440" cy="2103120"/>
          </a:xfrm>
          <a:prstGeom prst="roundRect">
            <a:avLst>
              <a:gd name="adj" fmla="val 3478"/>
            </a:avLst>
          </a:prstGeom>
          <a:solidFill>
            <a:srgbClr val="F2F7FC"/>
          </a:solidFill>
          <a:ln w="12700">
            <a:solidFill>
              <a:srgbClr val="F2F7FC"/>
            </a:solidFill>
            <a:prstDash val="solid"/>
          </a:ln>
        </p:spPr>
      </p:sp>
      <p:sp>
        <p:nvSpPr>
          <p:cNvPr id="24" name="Circle 5"/>
          <p:cNvSpPr/>
          <p:nvPr/>
        </p:nvSpPr>
        <p:spPr>
          <a:xfrm>
            <a:off x="4526280" y="3858768"/>
            <a:ext cx="548640" cy="548640"/>
          </a:xfrm>
          <a:prstGeom prst="ellipse">
            <a:avLst/>
          </a:prstGeom>
          <a:solidFill>
            <a:srgbClr val="06345D"/>
          </a:solidFill>
          <a:ln w="12700">
            <a:solidFill>
              <a:srgbClr val="06345D"/>
            </a:solidFill>
            <a:prstDash val="solid"/>
          </a:ln>
        </p:spPr>
      </p:sp>
      <p:sp>
        <p:nvSpPr>
          <p:cNvPr id="25" name="Text 23"/>
          <p:cNvSpPr txBox="1"/>
          <p:nvPr/>
        </p:nvSpPr>
        <p:spPr>
          <a:xfrm>
            <a:off x="4526280" y="3858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6" name="Text 24"/>
          <p:cNvSpPr txBox="1"/>
          <p:nvPr/>
        </p:nvSpPr>
        <p:spPr>
          <a:xfrm>
            <a:off x="5212080" y="3858768"/>
            <a:ext cx="2423160" cy="548640"/>
          </a:xfrm>
          <a:prstGeom prst="rect">
            <a:avLst/>
          </a:prstGeom>
          <a:noFill/>
          <a:ln/>
        </p:spPr>
        <p:txBody>
          <a:bodyPr wrap="square" lIns="0" tIns="0" rIns="0" bIns="0" rtlCol="0" anchor="ctr"/>
          <a:lstStyle/>
          <a:p>
            <a:pPr indent="0" marL="0">
              <a:buNone/>
            </a:pPr>
            <a:r>
              <a:rPr lang="en-US" sz="1600" b="1" dirty="0">
                <a:solidFill>
                  <a:srgbClr val="06345D"/>
                </a:solidFill>
              </a:rPr>
              <a:t>For the Wardens: two years’ notice</a:t>
            </a:r>
            <a:endParaRPr lang="en-US" sz="1600" dirty="0"/>
          </a:p>
        </p:txBody>
      </p:sp>
      <p:sp>
        <p:nvSpPr>
          <p:cNvPr id="27" name="Text 25"/>
          <p:cNvSpPr txBox="1"/>
          <p:nvPr/>
        </p:nvSpPr>
        <p:spPr>
          <a:xfrm>
            <a:off x="4526280" y="4526280"/>
            <a:ext cx="3063240" cy="1097280"/>
          </a:xfrm>
          <a:prstGeom prst="rect">
            <a:avLst/>
          </a:prstGeom>
          <a:noFill/>
          <a:ln/>
        </p:spPr>
        <p:txBody>
          <a:bodyPr wrap="square" lIns="0" tIns="0" rIns="0" bIns="0" rtlCol="0" anchor="t"/>
          <a:lstStyle/>
          <a:p>
            <a:pPr indent="0" marL="0">
              <a:buNone/>
            </a:pPr>
            <a:r>
              <a:rPr lang="en-US" sz="1600" dirty="0">
                <a:solidFill>
                  <a:srgbClr val="1E2329"/>
                </a:solidFill>
              </a:rPr>
              <a:t>8 min</a:t>
            </a:r>
            <a:endParaRPr lang="en-US" sz="1600" dirty="0"/>
          </a:p>
        </p:txBody>
      </p:sp>
      <p:sp>
        <p:nvSpPr>
          <p:cNvPr id="28" name="Numbered 6"/>
          <p:cNvSpPr/>
          <p:nvPr/>
        </p:nvSpPr>
        <p:spPr>
          <a:xfrm>
            <a:off x="8046720" y="3657600"/>
            <a:ext cx="3520440" cy="2103120"/>
          </a:xfrm>
          <a:prstGeom prst="roundRect">
            <a:avLst>
              <a:gd name="adj" fmla="val 3478"/>
            </a:avLst>
          </a:prstGeom>
          <a:solidFill>
            <a:srgbClr val="F2F7FC"/>
          </a:solidFill>
          <a:ln w="12700">
            <a:solidFill>
              <a:srgbClr val="F2F7FC"/>
            </a:solidFill>
            <a:prstDash val="solid"/>
          </a:ln>
        </p:spPr>
      </p:sp>
      <p:sp>
        <p:nvSpPr>
          <p:cNvPr id="29" name="Circle 6"/>
          <p:cNvSpPr/>
          <p:nvPr/>
        </p:nvSpPr>
        <p:spPr>
          <a:xfrm>
            <a:off x="8275320" y="3858768"/>
            <a:ext cx="548640" cy="548640"/>
          </a:xfrm>
          <a:prstGeom prst="ellipse">
            <a:avLst/>
          </a:prstGeom>
          <a:solidFill>
            <a:srgbClr val="003668"/>
          </a:solidFill>
          <a:ln w="12700">
            <a:solidFill>
              <a:srgbClr val="003668"/>
            </a:solidFill>
            <a:prstDash val="solid"/>
          </a:ln>
        </p:spPr>
      </p:sp>
      <p:sp>
        <p:nvSpPr>
          <p:cNvPr id="30" name="Text 28"/>
          <p:cNvSpPr txBox="1"/>
          <p:nvPr/>
        </p:nvSpPr>
        <p:spPr>
          <a:xfrm>
            <a:off x="8275320" y="3858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31" name="Text 29"/>
          <p:cNvSpPr txBox="1"/>
          <p:nvPr/>
        </p:nvSpPr>
        <p:spPr>
          <a:xfrm>
            <a:off x="8961120" y="3858768"/>
            <a:ext cx="2423160" cy="548640"/>
          </a:xfrm>
          <a:prstGeom prst="rect">
            <a:avLst/>
          </a:prstGeom>
          <a:noFill/>
          <a:ln/>
        </p:spPr>
        <p:txBody>
          <a:bodyPr wrap="square" lIns="0" tIns="0" rIns="0" bIns="0" rtlCol="0" anchor="ctr"/>
          <a:lstStyle/>
          <a:p>
            <a:pPr indent="0" marL="0">
              <a:buNone/>
            </a:pPr>
            <a:r>
              <a:rPr lang="en-US" sz="1600" b="1" dirty="0">
                <a:solidFill>
                  <a:srgbClr val="003668"/>
                </a:solidFill>
              </a:rPr>
              <a:t>After the Chair, your plan, the close</a:t>
            </a:r>
            <a:endParaRPr lang="en-US" sz="1600" dirty="0"/>
          </a:p>
        </p:txBody>
      </p:sp>
      <p:sp>
        <p:nvSpPr>
          <p:cNvPr id="32" name="Text 30"/>
          <p:cNvSpPr txBox="1"/>
          <p:nvPr/>
        </p:nvSpPr>
        <p:spPr>
          <a:xfrm>
            <a:off x="8275320" y="4526280"/>
            <a:ext cx="3063240" cy="1097280"/>
          </a:xfrm>
          <a:prstGeom prst="rect">
            <a:avLst/>
          </a:prstGeom>
          <a:noFill/>
          <a:ln/>
        </p:spPr>
        <p:txBody>
          <a:bodyPr wrap="square" lIns="0" tIns="0" rIns="0" bIns="0" rtlCol="0" anchor="t"/>
          <a:lstStyle/>
          <a:p>
            <a:pPr indent="0" marL="0">
              <a:buNone/>
            </a:pPr>
            <a:r>
              <a:rPr lang="en-US" sz="1600" dirty="0">
                <a:solidFill>
                  <a:srgbClr val="1E2329"/>
                </a:solidFill>
              </a:rPr>
              <a:t>17 min</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True or false?</a:t>
            </a:r>
            <a:endParaRPr lang="en-US" sz="3200" dirty="0"/>
          </a:p>
        </p:txBody>
      </p:sp>
      <p:sp>
        <p:nvSpPr>
          <p:cNvPr id="3" name="Statement 1"/>
          <p:cNvSpPr/>
          <p:nvPr/>
        </p:nvSpPr>
        <p:spPr>
          <a:xfrm>
            <a:off x="548640" y="1371600"/>
            <a:ext cx="11064240" cy="2011680"/>
          </a:xfrm>
          <a:prstGeom prst="roundRect">
            <a:avLst>
              <a:gd name="adj" fmla="val 3636"/>
            </a:avLst>
          </a:prstGeom>
          <a:solidFill>
            <a:srgbClr val="F2F7FC"/>
          </a:solidFill>
          <a:ln w="12700">
            <a:solidFill>
              <a:srgbClr val="F2F7FC"/>
            </a:solidFill>
            <a:prstDash val="solid"/>
          </a:ln>
        </p:spPr>
      </p:sp>
      <p:sp>
        <p:nvSpPr>
          <p:cNvPr id="4" name="Q circle 1"/>
          <p:cNvSpPr/>
          <p:nvPr/>
        </p:nvSpPr>
        <p:spPr>
          <a:xfrm>
            <a:off x="868680" y="2057400"/>
            <a:ext cx="640080" cy="640080"/>
          </a:xfrm>
          <a:prstGeom prst="ellipse">
            <a:avLst/>
          </a:prstGeom>
          <a:solidFill>
            <a:srgbClr val="003668"/>
          </a:solidFill>
          <a:ln w="12700">
            <a:solidFill>
              <a:srgbClr val="003668"/>
            </a:solidFill>
            <a:prstDash val="solid"/>
          </a:ln>
        </p:spPr>
      </p:sp>
      <p:sp>
        <p:nvSpPr>
          <p:cNvPr id="5" name="Text 3"/>
          <p:cNvSpPr txBox="1"/>
          <p:nvPr/>
        </p:nvSpPr>
        <p:spPr>
          <a:xfrm>
            <a:off x="868680" y="20574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1783080" y="1371600"/>
            <a:ext cx="9601200" cy="2011680"/>
          </a:xfrm>
          <a:prstGeom prst="rect">
            <a:avLst/>
          </a:prstGeom>
          <a:noFill/>
          <a:ln/>
        </p:spPr>
        <p:txBody>
          <a:bodyPr wrap="square" lIns="0" tIns="0" rIns="0" bIns="0" rtlCol="0" anchor="ctr"/>
          <a:lstStyle/>
          <a:p>
            <a:pPr indent="0" marL="0">
              <a:buNone/>
            </a:pPr>
            <a:r>
              <a:rPr lang="en-US" sz="2400" b="1" dirty="0">
                <a:solidFill>
                  <a:srgbClr val="06345D"/>
                </a:solidFill>
              </a:rPr>
              <a:t>The Secretary accepts a resignation on the Lodge’s behalf.</a:t>
            </a:r>
            <a:endParaRPr lang="en-US" sz="2400" dirty="0"/>
          </a:p>
        </p:txBody>
      </p:sp>
      <p:sp>
        <p:nvSpPr>
          <p:cNvPr id="7" name="Statement 2"/>
          <p:cNvSpPr/>
          <p:nvPr/>
        </p:nvSpPr>
        <p:spPr>
          <a:xfrm>
            <a:off x="548640" y="3611880"/>
            <a:ext cx="11064240" cy="2011680"/>
          </a:xfrm>
          <a:prstGeom prst="roundRect">
            <a:avLst>
              <a:gd name="adj" fmla="val 3636"/>
            </a:avLst>
          </a:prstGeom>
          <a:solidFill>
            <a:srgbClr val="F2F7FC"/>
          </a:solidFill>
          <a:ln w="12700">
            <a:solidFill>
              <a:srgbClr val="F2F7FC"/>
            </a:solidFill>
            <a:prstDash val="solid"/>
          </a:ln>
        </p:spPr>
      </p:sp>
      <p:sp>
        <p:nvSpPr>
          <p:cNvPr id="8" name="Q circle 2"/>
          <p:cNvSpPr/>
          <p:nvPr/>
        </p:nvSpPr>
        <p:spPr>
          <a:xfrm>
            <a:off x="868680" y="4297680"/>
            <a:ext cx="640080" cy="640080"/>
          </a:xfrm>
          <a:prstGeom prst="ellipse">
            <a:avLst/>
          </a:prstGeom>
          <a:solidFill>
            <a:srgbClr val="0A4F72"/>
          </a:solidFill>
          <a:ln w="12700">
            <a:solidFill>
              <a:srgbClr val="0A4F72"/>
            </a:solidFill>
            <a:prstDash val="solid"/>
          </a:ln>
        </p:spPr>
      </p:sp>
      <p:sp>
        <p:nvSpPr>
          <p:cNvPr id="9" name="Text 7"/>
          <p:cNvSpPr txBox="1"/>
          <p:nvPr/>
        </p:nvSpPr>
        <p:spPr>
          <a:xfrm>
            <a:off x="868680" y="4297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0" name="Text 8"/>
          <p:cNvSpPr txBox="1"/>
          <p:nvPr/>
        </p:nvSpPr>
        <p:spPr>
          <a:xfrm>
            <a:off x="1783080" y="3611880"/>
            <a:ext cx="9601200" cy="2011680"/>
          </a:xfrm>
          <a:prstGeom prst="rect">
            <a:avLst/>
          </a:prstGeom>
          <a:noFill/>
          <a:ln/>
        </p:spPr>
        <p:txBody>
          <a:bodyPr wrap="square" lIns="0" tIns="0" rIns="0" bIns="0" rtlCol="0" anchor="ctr"/>
          <a:lstStyle/>
          <a:p>
            <a:pPr indent="0" marL="0">
              <a:buNone/>
            </a:pPr>
            <a:r>
              <a:rPr lang="en-US" sz="2400" b="1" dirty="0">
                <a:solidFill>
                  <a:srgbClr val="06345D"/>
                </a:solidFill>
              </a:rPr>
              <a:t>The Immediate Past Master is an officer of the Lodge.</a:t>
            </a:r>
            <a:endParaRPr lang="en-US" sz="2400" dirty="0"/>
          </a:p>
        </p:txBody>
      </p:sp>
      <p:sp>
        <p:nvSpPr>
          <p:cNvPr id="11" name="Prompt"/>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500" b="1" dirty="0">
                <a:solidFill>
                  <a:srgbClr val="157A7C"/>
                </a:solidFill>
              </a:rPr>
              <a:t>Hands up for true. Then the answer.</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answers</a:t>
            </a:r>
            <a:endParaRPr lang="en-US" sz="3200" dirty="0"/>
          </a:p>
        </p:txBody>
      </p:sp>
      <p:sp>
        <p:nvSpPr>
          <p:cNvPr id="3" name="Answer 1"/>
          <p:cNvSpPr/>
          <p:nvPr/>
        </p:nvSpPr>
        <p:spPr>
          <a:xfrm>
            <a:off x="548640" y="1371600"/>
            <a:ext cx="11064240" cy="2011680"/>
          </a:xfrm>
          <a:prstGeom prst="roundRect">
            <a:avLst>
              <a:gd name="adj" fmla="val 3636"/>
            </a:avLst>
          </a:prstGeom>
          <a:solidFill>
            <a:srgbClr val="F2F7FC"/>
          </a:solidFill>
          <a:ln w="12700">
            <a:solidFill>
              <a:srgbClr val="F2F7FC"/>
            </a:solidFill>
            <a:prstDash val="solid"/>
          </a:ln>
        </p:spPr>
      </p:sp>
      <p:sp>
        <p:nvSpPr>
          <p:cNvPr id="4" name="Badge 1"/>
          <p:cNvSpPr/>
          <p:nvPr/>
        </p:nvSpPr>
        <p:spPr>
          <a:xfrm>
            <a:off x="868680" y="1600200"/>
            <a:ext cx="1234440" cy="457200"/>
          </a:xfrm>
          <a:prstGeom prst="roundRect">
            <a:avLst>
              <a:gd name="adj" fmla="val 20000"/>
            </a:avLst>
          </a:prstGeom>
          <a:solidFill>
            <a:srgbClr val="0A4F72"/>
          </a:solidFill>
          <a:ln w="12700">
            <a:solidFill>
              <a:srgbClr val="0A4F72"/>
            </a:solidFill>
            <a:prstDash val="solid"/>
          </a:ln>
        </p:spPr>
      </p:sp>
      <p:sp>
        <p:nvSpPr>
          <p:cNvPr id="5" name="Text 3"/>
          <p:cNvSpPr txBox="1"/>
          <p:nvPr/>
        </p:nvSpPr>
        <p:spPr>
          <a:xfrm>
            <a:off x="868680" y="1600200"/>
            <a:ext cx="1234440" cy="457200"/>
          </a:xfrm>
          <a:prstGeom prst="rect">
            <a:avLst/>
          </a:prstGeom>
          <a:noFill/>
          <a:ln/>
        </p:spPr>
        <p:txBody>
          <a:bodyPr wrap="square" lIns="0" tIns="0" rIns="0" bIns="0" rtlCol="0" anchor="ctr"/>
          <a:lstStyle/>
          <a:p>
            <a:pPr algn="ctr" indent="0" marL="0">
              <a:buNone/>
            </a:pPr>
            <a:r>
              <a:rPr lang="en-US" sz="1500" b="1" dirty="0">
                <a:solidFill>
                  <a:srgbClr val="FFFFFF"/>
                </a:solidFill>
              </a:rPr>
              <a:t>FALSE</a:t>
            </a:r>
            <a:endParaRPr lang="en-US" sz="1500" dirty="0"/>
          </a:p>
        </p:txBody>
      </p:sp>
      <p:sp>
        <p:nvSpPr>
          <p:cNvPr id="6" name="Text 4"/>
          <p:cNvSpPr txBox="1"/>
          <p:nvPr/>
        </p:nvSpPr>
        <p:spPr>
          <a:xfrm>
            <a:off x="2286000" y="1572768"/>
            <a:ext cx="9052560" cy="512064"/>
          </a:xfrm>
          <a:prstGeom prst="rect">
            <a:avLst/>
          </a:prstGeom>
          <a:noFill/>
          <a:ln/>
        </p:spPr>
        <p:txBody>
          <a:bodyPr wrap="square" lIns="0" tIns="0" rIns="0" bIns="0" rtlCol="0" anchor="ctr"/>
          <a:lstStyle/>
          <a:p>
            <a:pPr indent="0" marL="0">
              <a:buNone/>
            </a:pPr>
            <a:r>
              <a:rPr lang="en-US" sz="1600" b="1" dirty="0">
                <a:solidFill>
                  <a:srgbClr val="06345D"/>
                </a:solidFill>
              </a:rPr>
              <a:t>The Secretary accepts a resignation on the Lodge’s behalf.</a:t>
            </a:r>
            <a:endParaRPr lang="en-US" sz="1600" dirty="0"/>
          </a:p>
        </p:txBody>
      </p:sp>
      <p:sp>
        <p:nvSpPr>
          <p:cNvPr id="7" name="Text 5"/>
          <p:cNvSpPr txBox="1"/>
          <p:nvPr/>
        </p:nvSpPr>
        <p:spPr>
          <a:xfrm>
            <a:off x="868680" y="2194560"/>
            <a:ext cx="10424160" cy="868680"/>
          </a:xfrm>
          <a:prstGeom prst="rect">
            <a:avLst/>
          </a:prstGeom>
          <a:noFill/>
          <a:ln/>
        </p:spPr>
        <p:txBody>
          <a:bodyPr wrap="square" lIns="0" tIns="0" rIns="0" bIns="0" rtlCol="0" anchor="t"/>
          <a:lstStyle/>
          <a:p>
            <a:pPr indent="0" marL="0">
              <a:buNone/>
            </a:pPr>
            <a:r>
              <a:rPr lang="en-US" sz="1400" dirty="0">
                <a:solidFill>
                  <a:srgbClr val="1E2329"/>
                </a:solidFill>
              </a:rPr>
              <a:t>He has no power to. He acknowledges receipt only, and the man then has sixty days to withdraw it; in a Hermes Province the sixty days run from the day his email arrives. Lengthened from 21 days in 2015 so that someone had time to have the conversation. Said aloud at the Risings, a resignation is irrevocable unless the Lodge votes to invite withdrawal on the spot.</a:t>
            </a:r>
            <a:endParaRPr lang="en-US" sz="1400" dirty="0"/>
          </a:p>
        </p:txBody>
      </p:sp>
      <p:sp>
        <p:nvSpPr>
          <p:cNvPr id="8" name="Text 6"/>
          <p:cNvSpPr txBox="1"/>
          <p:nvPr/>
        </p:nvSpPr>
        <p:spPr>
          <a:xfrm>
            <a:off x="868680" y="3035808"/>
            <a:ext cx="10424160" cy="274320"/>
          </a:xfrm>
          <a:prstGeom prst="rect">
            <a:avLst/>
          </a:prstGeom>
          <a:noFill/>
          <a:ln/>
        </p:spPr>
        <p:txBody>
          <a:bodyPr wrap="square" lIns="0" tIns="0" rIns="0" bIns="0" rtlCol="0" anchor="t"/>
          <a:lstStyle/>
          <a:p>
            <a:pPr indent="0" marL="0">
              <a:buNone/>
            </a:pPr>
            <a:r>
              <a:rPr lang="en-US" sz="1100" i="1" dirty="0">
                <a:solidFill>
                  <a:srgbClr val="0A4F72"/>
                </a:solidFill>
              </a:rPr>
              <a:t>Rule 183; UGLE Members’ Pathway, Resignation: the opportunity to reconsider; PGL Herts Secretaries’ Handbook</a:t>
            </a:r>
            <a:endParaRPr lang="en-US" sz="1100" dirty="0"/>
          </a:p>
        </p:txBody>
      </p:sp>
      <p:sp>
        <p:nvSpPr>
          <p:cNvPr id="9" name="Answer 2"/>
          <p:cNvSpPr/>
          <p:nvPr/>
        </p:nvSpPr>
        <p:spPr>
          <a:xfrm>
            <a:off x="548640" y="3611880"/>
            <a:ext cx="11064240" cy="2011680"/>
          </a:xfrm>
          <a:prstGeom prst="roundRect">
            <a:avLst>
              <a:gd name="adj" fmla="val 3636"/>
            </a:avLst>
          </a:prstGeom>
          <a:solidFill>
            <a:srgbClr val="F2F7FC"/>
          </a:solidFill>
          <a:ln w="12700">
            <a:solidFill>
              <a:srgbClr val="F2F7FC"/>
            </a:solidFill>
            <a:prstDash val="solid"/>
          </a:ln>
        </p:spPr>
      </p:sp>
      <p:sp>
        <p:nvSpPr>
          <p:cNvPr id="10" name="Badge 2"/>
          <p:cNvSpPr/>
          <p:nvPr/>
        </p:nvSpPr>
        <p:spPr>
          <a:xfrm>
            <a:off x="868680" y="3840480"/>
            <a:ext cx="1234440" cy="457200"/>
          </a:xfrm>
          <a:prstGeom prst="roundRect">
            <a:avLst>
              <a:gd name="adj" fmla="val 20000"/>
            </a:avLst>
          </a:prstGeom>
          <a:solidFill>
            <a:srgbClr val="0A4F72"/>
          </a:solidFill>
          <a:ln w="12700">
            <a:solidFill>
              <a:srgbClr val="0A4F72"/>
            </a:solidFill>
            <a:prstDash val="solid"/>
          </a:ln>
        </p:spPr>
      </p:sp>
      <p:sp>
        <p:nvSpPr>
          <p:cNvPr id="11" name="Text 9"/>
          <p:cNvSpPr txBox="1"/>
          <p:nvPr/>
        </p:nvSpPr>
        <p:spPr>
          <a:xfrm>
            <a:off x="868680" y="3840480"/>
            <a:ext cx="1234440" cy="457200"/>
          </a:xfrm>
          <a:prstGeom prst="rect">
            <a:avLst/>
          </a:prstGeom>
          <a:noFill/>
          <a:ln/>
        </p:spPr>
        <p:txBody>
          <a:bodyPr wrap="square" lIns="0" tIns="0" rIns="0" bIns="0" rtlCol="0" anchor="ctr"/>
          <a:lstStyle/>
          <a:p>
            <a:pPr algn="ctr" indent="0" marL="0">
              <a:buNone/>
            </a:pPr>
            <a:r>
              <a:rPr lang="en-US" sz="1500" b="1" dirty="0">
                <a:solidFill>
                  <a:srgbClr val="FFFFFF"/>
                </a:solidFill>
              </a:rPr>
              <a:t>FALSE</a:t>
            </a:r>
            <a:endParaRPr lang="en-US" sz="1500" dirty="0"/>
          </a:p>
        </p:txBody>
      </p:sp>
      <p:sp>
        <p:nvSpPr>
          <p:cNvPr id="12" name="Text 10"/>
          <p:cNvSpPr txBox="1"/>
          <p:nvPr/>
        </p:nvSpPr>
        <p:spPr>
          <a:xfrm>
            <a:off x="2286000" y="3813048"/>
            <a:ext cx="9052560" cy="512064"/>
          </a:xfrm>
          <a:prstGeom prst="rect">
            <a:avLst/>
          </a:prstGeom>
          <a:noFill/>
          <a:ln/>
        </p:spPr>
        <p:txBody>
          <a:bodyPr wrap="square" lIns="0" tIns="0" rIns="0" bIns="0" rtlCol="0" anchor="ctr"/>
          <a:lstStyle/>
          <a:p>
            <a:pPr indent="0" marL="0">
              <a:buNone/>
            </a:pPr>
            <a:r>
              <a:rPr lang="en-US" sz="1600" b="1" dirty="0">
                <a:solidFill>
                  <a:srgbClr val="06345D"/>
                </a:solidFill>
              </a:rPr>
              <a:t>The Immediate Past Master is an officer of the Lodge.</a:t>
            </a:r>
            <a:endParaRPr lang="en-US" sz="1600" dirty="0"/>
          </a:p>
        </p:txBody>
      </p:sp>
      <p:sp>
        <p:nvSpPr>
          <p:cNvPr id="13" name="Text 11"/>
          <p:cNvSpPr txBox="1"/>
          <p:nvPr/>
        </p:nvSpPr>
        <p:spPr>
          <a:xfrm>
            <a:off x="868680" y="4434840"/>
            <a:ext cx="10424160" cy="868680"/>
          </a:xfrm>
          <a:prstGeom prst="rect">
            <a:avLst/>
          </a:prstGeom>
          <a:noFill/>
          <a:ln/>
        </p:spPr>
        <p:txBody>
          <a:bodyPr wrap="square" lIns="0" tIns="0" rIns="0" bIns="0" rtlCol="0" anchor="t"/>
          <a:lstStyle/>
          <a:p>
            <a:pPr indent="0" marL="0">
              <a:buNone/>
            </a:pPr>
            <a:r>
              <a:rPr lang="en-US" sz="1400" dirty="0">
                <a:solidFill>
                  <a:srgbClr val="1E2329"/>
                </a:solidFill>
              </a:rPr>
              <a:t>He is not; the Handbook’s precedence list says so in terms. Constitutionally the year after the Chair comes with a seat and no role at all, unless the Lodge gives him one. That is the whole of “Included, Involved, Interested” in one fact.</a:t>
            </a:r>
            <a:endParaRPr lang="en-US" sz="1400" dirty="0"/>
          </a:p>
        </p:txBody>
      </p:sp>
      <p:sp>
        <p:nvSpPr>
          <p:cNvPr id="14" name="Text 12"/>
          <p:cNvSpPr txBox="1"/>
          <p:nvPr/>
        </p:nvSpPr>
        <p:spPr>
          <a:xfrm>
            <a:off x="868680" y="5276088"/>
            <a:ext cx="10424160" cy="274320"/>
          </a:xfrm>
          <a:prstGeom prst="rect">
            <a:avLst/>
          </a:prstGeom>
          <a:noFill/>
          <a:ln/>
        </p:spPr>
        <p:txBody>
          <a:bodyPr wrap="square" lIns="0" tIns="0" rIns="0" bIns="0" rtlCol="0" anchor="t"/>
          <a:lstStyle/>
          <a:p>
            <a:pPr indent="0" marL="0">
              <a:buNone/>
            </a:pPr>
            <a:r>
              <a:rPr lang="en-US" sz="1100" i="1" dirty="0">
                <a:solidFill>
                  <a:srgbClr val="0A4F72"/>
                </a:solidFill>
              </a:rPr>
              <a:t>PGL Herts Secretaries’ Handbook, Precedence</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newest man in the room</a:t>
            </a:r>
            <a:endParaRPr lang="en-US" sz="3200" dirty="0"/>
          </a:p>
        </p:txBody>
      </p:sp>
      <p:sp>
        <p:nvSpPr>
          <p:cNvPr id="3" name="Question band"/>
          <p:cNvSpPr/>
          <p:nvPr/>
        </p:nvSpPr>
        <p:spPr>
          <a:xfrm>
            <a:off x="548640" y="1371600"/>
            <a:ext cx="11064240" cy="2103120"/>
          </a:xfrm>
          <a:prstGeom prst="roundRect">
            <a:avLst>
              <a:gd name="adj" fmla="val 3478"/>
            </a:avLst>
          </a:prstGeom>
          <a:solidFill>
            <a:srgbClr val="003668"/>
          </a:solidFill>
          <a:ln w="12700">
            <a:solidFill>
              <a:srgbClr val="003668"/>
            </a:solidFill>
            <a:prstDash val="solid"/>
          </a:ln>
        </p:spPr>
      </p:sp>
      <p:sp>
        <p:nvSpPr>
          <p:cNvPr id="4" name="Question"/>
          <p:cNvSpPr txBox="1"/>
          <p:nvPr/>
        </p:nvSpPr>
        <p:spPr>
          <a:xfrm>
            <a:off x="914400" y="1371600"/>
            <a:ext cx="10332720" cy="2103120"/>
          </a:xfrm>
          <a:prstGeom prst="rect">
            <a:avLst/>
          </a:prstGeom>
          <a:noFill/>
          <a:ln/>
        </p:spPr>
        <p:txBody>
          <a:bodyPr wrap="square" lIns="0" tIns="0" rIns="0" bIns="0" rtlCol="0" anchor="ctr"/>
          <a:lstStyle/>
          <a:p>
            <a:pPr indent="0" marL="0">
              <a:buNone/>
            </a:pPr>
            <a:r>
              <a:rPr lang="en-US" sz="2400" b="1" dirty="0">
                <a:solidFill>
                  <a:srgbClr val="FFFFFF"/>
                </a:solidFill>
              </a:rPr>
              <a:t>Who was initiated most recently into a Lodge represented here? Who is his Personal Mentor? What is his next ceremony?</a:t>
            </a:r>
            <a:endParaRPr lang="en-US" sz="2400" dirty="0"/>
          </a:p>
        </p:txBody>
      </p:sp>
      <p:sp>
        <p:nvSpPr>
          <p:cNvPr id="5" name="Card His whole impression of Freemasonry"/>
          <p:cNvSpPr/>
          <p:nvPr/>
        </p:nvSpPr>
        <p:spPr>
          <a:xfrm>
            <a:off x="548640" y="3703320"/>
            <a:ext cx="5440680" cy="2148840"/>
          </a:xfrm>
          <a:prstGeom prst="roundRect">
            <a:avLst>
              <a:gd name="adj" fmla="val 3404"/>
            </a:avLst>
          </a:prstGeom>
          <a:solidFill>
            <a:srgbClr val="F2F7FC"/>
          </a:solidFill>
          <a:ln w="12700">
            <a:solidFill>
              <a:srgbClr val="F2F7FC"/>
            </a:solidFill>
            <a:prstDash val="solid"/>
          </a:ln>
        </p:spPr>
      </p:sp>
      <p:pic>
        <p:nvPicPr>
          <p:cNvPr id="6" name="Image 0" descr="preencoded.png">    </p:cNvPr>
          <p:cNvPicPr>
            <a:picLocks noChangeAspect="1"/>
          </p:cNvPicPr>
          <p:nvPr/>
        </p:nvPicPr>
        <p:blipFill>
          <a:blip r:embed="rId1"/>
          <a:stretch>
            <a:fillRect/>
          </a:stretch>
        </p:blipFill>
        <p:spPr>
          <a:xfrm>
            <a:off x="749808" y="3886200"/>
            <a:ext cx="384048" cy="384048"/>
          </a:xfrm>
          <a:prstGeom prst="rect">
            <a:avLst/>
          </a:prstGeom>
        </p:spPr>
      </p:pic>
      <p:sp>
        <p:nvSpPr>
          <p:cNvPr id="7" name="Text 4"/>
          <p:cNvSpPr txBox="1"/>
          <p:nvPr/>
        </p:nvSpPr>
        <p:spPr>
          <a:xfrm>
            <a:off x="1261872" y="386791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His whole impression of Freemasonry</a:t>
            </a:r>
            <a:endParaRPr lang="en-US" sz="1600" dirty="0"/>
          </a:p>
        </p:txBody>
      </p:sp>
      <p:sp>
        <p:nvSpPr>
          <p:cNvPr id="8" name="Text 5"/>
          <p:cNvSpPr txBox="1"/>
          <p:nvPr/>
        </p:nvSpPr>
        <p:spPr>
          <a:xfrm>
            <a:off x="777240" y="4325112"/>
            <a:ext cx="4983480" cy="1417320"/>
          </a:xfrm>
          <a:prstGeom prst="rect">
            <a:avLst/>
          </a:prstGeom>
          <a:noFill/>
          <a:ln/>
        </p:spPr>
        <p:txBody>
          <a:bodyPr wrap="square" lIns="0" tIns="0" rIns="0" bIns="0" rtlCol="0" anchor="t"/>
          <a:lstStyle/>
          <a:p>
            <a:pPr indent="0" marL="0">
              <a:buNone/>
            </a:pPr>
            <a:r>
              <a:rPr lang="en-US" sz="1500" dirty="0">
                <a:solidFill>
                  <a:srgbClr val="1E2329"/>
                </a:solidFill>
              </a:rPr>
              <a:t>will be formed in somebody’s year in the Chair. What he sees, who sits with him, whether anyone rings when he misses a meeting. That year is yours.</a:t>
            </a:r>
            <a:endParaRPr lang="en-US" sz="1500" dirty="0"/>
          </a:p>
        </p:txBody>
      </p:sp>
      <p:sp>
        <p:nvSpPr>
          <p:cNvPr id="9" name="Card If you cannot answer"/>
          <p:cNvSpPr/>
          <p:nvPr/>
        </p:nvSpPr>
        <p:spPr>
          <a:xfrm>
            <a:off x="6172200" y="3703320"/>
            <a:ext cx="5440680" cy="2148840"/>
          </a:xfrm>
          <a:prstGeom prst="roundRect">
            <a:avLst>
              <a:gd name="adj" fmla="val 3404"/>
            </a:avLst>
          </a:prstGeom>
          <a:solidFill>
            <a:srgbClr val="E6F2F2"/>
          </a:solidFill>
          <a:ln w="12700">
            <a:solidFill>
              <a:srgbClr val="E6F2F2"/>
            </a:solidFill>
            <a:prstDash val="solid"/>
          </a:ln>
        </p:spPr>
      </p:sp>
      <p:pic>
        <p:nvPicPr>
          <p:cNvPr id="10" name="Image 1" descr="preencoded.png">    </p:cNvPr>
          <p:cNvPicPr>
            <a:picLocks noChangeAspect="1"/>
          </p:cNvPicPr>
          <p:nvPr/>
        </p:nvPicPr>
        <p:blipFill>
          <a:blip r:embed="rId2"/>
          <a:stretch>
            <a:fillRect/>
          </a:stretch>
        </p:blipFill>
        <p:spPr>
          <a:xfrm>
            <a:off x="6373368" y="3886200"/>
            <a:ext cx="384048" cy="384048"/>
          </a:xfrm>
          <a:prstGeom prst="rect">
            <a:avLst/>
          </a:prstGeom>
        </p:spPr>
      </p:pic>
      <p:sp>
        <p:nvSpPr>
          <p:cNvPr id="11" name="Text 7"/>
          <p:cNvSpPr txBox="1"/>
          <p:nvPr/>
        </p:nvSpPr>
        <p:spPr>
          <a:xfrm>
            <a:off x="6885432" y="386791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If you cannot answer</a:t>
            </a:r>
            <a:endParaRPr lang="en-US" sz="1600" dirty="0"/>
          </a:p>
        </p:txBody>
      </p:sp>
      <p:sp>
        <p:nvSpPr>
          <p:cNvPr id="12" name="Text 8"/>
          <p:cNvSpPr txBox="1"/>
          <p:nvPr/>
        </p:nvSpPr>
        <p:spPr>
          <a:xfrm>
            <a:off x="6400800" y="4325112"/>
            <a:ext cx="4983480" cy="1417320"/>
          </a:xfrm>
          <a:prstGeom prst="rect">
            <a:avLst/>
          </a:prstGeom>
          <a:noFill/>
          <a:ln/>
        </p:spPr>
        <p:txBody>
          <a:bodyPr wrap="square" lIns="0" tIns="0" rIns="0" bIns="0" rtlCol="0" anchor="t"/>
          <a:lstStyle/>
          <a:p>
            <a:pPr indent="0" marL="0">
              <a:buNone/>
            </a:pPr>
            <a:r>
              <a:rPr lang="en-US" sz="1500" dirty="0">
                <a:solidFill>
                  <a:srgbClr val="1E2329"/>
                </a:solidFill>
              </a:rPr>
              <a:t>that is the first action on your sheet. Every Master should know the newest man by name, his mentor, and his next step.</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Two windows, and you are standing in both</a:t>
            </a:r>
            <a:endParaRPr lang="en-US" sz="3200" dirty="0"/>
          </a:p>
        </p:txBody>
      </p:sp>
      <p:sp>
        <p:nvSpPr>
          <p:cNvPr id="3" name="Window 1"/>
          <p:cNvSpPr/>
          <p:nvPr/>
        </p:nvSpPr>
        <p:spPr>
          <a:xfrm>
            <a:off x="548640" y="1371600"/>
            <a:ext cx="5440680" cy="2011680"/>
          </a:xfrm>
          <a:prstGeom prst="roundRect">
            <a:avLst>
              <a:gd name="adj" fmla="val 3636"/>
            </a:avLst>
          </a:prstGeom>
          <a:solidFill>
            <a:srgbClr val="0A4F72"/>
          </a:solidFill>
          <a:ln w="12700">
            <a:solidFill>
              <a:srgbClr val="0A4F72"/>
            </a:solidFill>
            <a:prstDash val="solid"/>
          </a:ln>
        </p:spPr>
      </p:sp>
      <p:sp>
        <p:nvSpPr>
          <p:cNvPr id="4" name="Text 2"/>
          <p:cNvSpPr txBox="1"/>
          <p:nvPr/>
        </p:nvSpPr>
        <p:spPr>
          <a:xfrm>
            <a:off x="868680" y="1371600"/>
            <a:ext cx="4846320" cy="2011680"/>
          </a:xfrm>
          <a:prstGeom prst="rect">
            <a:avLst/>
          </a:prstGeom>
          <a:noFill/>
          <a:ln/>
        </p:spPr>
        <p:txBody>
          <a:bodyPr wrap="square" lIns="0" tIns="0" rIns="0" bIns="0" rtlCol="0" anchor="ctr"/>
          <a:lstStyle/>
          <a:p>
            <a:pPr indent="0" marL="0">
              <a:buNone/>
            </a:pPr>
            <a:r>
              <a:rPr lang="en-US" sz="1400" b="1" dirty="0">
                <a:solidFill>
                  <a:srgbClr val="8FD3D1"/>
                </a:solidFill>
              </a:rPr>
              <a:t>Risk window 1
</a:t>
            </a:r>
            <a:pPr indent="0" marL="0">
              <a:buNone/>
            </a:pPr>
            <a:r>
              <a:rPr lang="en-US" sz="2200" b="1" dirty="0">
                <a:solidFill>
                  <a:srgbClr val="FFFFFF"/>
                </a:solidFill>
              </a:rPr>
              <a:t>The first two years, often before Raising</a:t>
            </a:r>
            <a:endParaRPr lang="en-US" sz="1400" dirty="0"/>
          </a:p>
        </p:txBody>
      </p:sp>
      <p:sp>
        <p:nvSpPr>
          <p:cNvPr id="5" name="Window 2"/>
          <p:cNvSpPr/>
          <p:nvPr/>
        </p:nvSpPr>
        <p:spPr>
          <a:xfrm>
            <a:off x="6172200" y="1371600"/>
            <a:ext cx="5440680" cy="2011680"/>
          </a:xfrm>
          <a:prstGeom prst="roundRect">
            <a:avLst>
              <a:gd name="adj" fmla="val 3636"/>
            </a:avLst>
          </a:prstGeom>
          <a:solidFill>
            <a:srgbClr val="06345D"/>
          </a:solidFill>
          <a:ln w="12700">
            <a:solidFill>
              <a:srgbClr val="06345D"/>
            </a:solidFill>
            <a:prstDash val="solid"/>
          </a:ln>
        </p:spPr>
      </p:sp>
      <p:sp>
        <p:nvSpPr>
          <p:cNvPr id="6" name="Text 4"/>
          <p:cNvSpPr txBox="1"/>
          <p:nvPr/>
        </p:nvSpPr>
        <p:spPr>
          <a:xfrm>
            <a:off x="6492240" y="1371600"/>
            <a:ext cx="4846320" cy="2011680"/>
          </a:xfrm>
          <a:prstGeom prst="rect">
            <a:avLst/>
          </a:prstGeom>
          <a:noFill/>
          <a:ln/>
        </p:spPr>
        <p:txBody>
          <a:bodyPr wrap="square" lIns="0" tIns="0" rIns="0" bIns="0" rtlCol="0" anchor="ctr"/>
          <a:lstStyle/>
          <a:p>
            <a:pPr indent="0" marL="0">
              <a:buNone/>
            </a:pPr>
            <a:r>
              <a:rPr lang="en-US" sz="1400" b="1" dirty="0">
                <a:solidFill>
                  <a:srgbClr val="8FD3D1"/>
                </a:solidFill>
              </a:rPr>
              <a:t>Risk window 2
</a:t>
            </a:r>
            <a:pPr indent="0" marL="0">
              <a:buNone/>
            </a:pPr>
            <a:r>
              <a:rPr lang="en-US" sz="2200" b="1" dirty="0">
                <a:solidFill>
                  <a:srgbClr val="FFFFFF"/>
                </a:solidFill>
              </a:rPr>
              <a:t>The year after the Chair</a:t>
            </a:r>
            <a:endParaRPr lang="en-US" sz="1400" dirty="0"/>
          </a:p>
        </p:txBody>
      </p:sp>
      <p:sp>
        <p:nvSpPr>
          <p:cNvPr id="7" name="Card Your new members are in the first"/>
          <p:cNvSpPr/>
          <p:nvPr/>
        </p:nvSpPr>
        <p:spPr>
          <a:xfrm>
            <a:off x="548640" y="3611880"/>
            <a:ext cx="5440680" cy="2240280"/>
          </a:xfrm>
          <a:prstGeom prst="roundRect">
            <a:avLst>
              <a:gd name="adj" fmla="val 3265"/>
            </a:avLst>
          </a:prstGeom>
          <a:solidFill>
            <a:srgbClr val="F2F7FC"/>
          </a:solidFill>
          <a:ln w="12700">
            <a:solidFill>
              <a:srgbClr val="F2F7FC"/>
            </a:solidFill>
            <a:prstDash val="solid"/>
          </a:ln>
        </p:spPr>
      </p:sp>
      <p:pic>
        <p:nvPicPr>
          <p:cNvPr id="8" name="Image 0" descr="preencoded.png">    </p:cNvPr>
          <p:cNvPicPr>
            <a:picLocks noChangeAspect="1"/>
          </p:cNvPicPr>
          <p:nvPr/>
        </p:nvPicPr>
        <p:blipFill>
          <a:blip r:embed="rId1"/>
          <a:stretch>
            <a:fillRect/>
          </a:stretch>
        </p:blipFill>
        <p:spPr>
          <a:xfrm>
            <a:off x="749808" y="3794760"/>
            <a:ext cx="384048" cy="384048"/>
          </a:xfrm>
          <a:prstGeom prst="rect">
            <a:avLst/>
          </a:prstGeom>
        </p:spPr>
      </p:pic>
      <p:sp>
        <p:nvSpPr>
          <p:cNvPr id="9" name="Text 6"/>
          <p:cNvSpPr txBox="1"/>
          <p:nvPr/>
        </p:nvSpPr>
        <p:spPr>
          <a:xfrm>
            <a:off x="1261872" y="377647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Your new members are in the first</a:t>
            </a:r>
            <a:endParaRPr lang="en-US" sz="1600" dirty="0"/>
          </a:p>
        </p:txBody>
      </p:sp>
      <p:sp>
        <p:nvSpPr>
          <p:cNvPr id="10" name="Text 7"/>
          <p:cNvSpPr txBox="1"/>
          <p:nvPr/>
        </p:nvSpPr>
        <p:spPr>
          <a:xfrm>
            <a:off x="777240" y="4233672"/>
            <a:ext cx="4983480" cy="1508760"/>
          </a:xfrm>
          <a:prstGeom prst="rect">
            <a:avLst/>
          </a:prstGeom>
          <a:noFill/>
          <a:ln/>
        </p:spPr>
        <p:txBody>
          <a:bodyPr wrap="square" lIns="0" tIns="0" rIns="0" bIns="0" rtlCol="0" anchor="t"/>
          <a:lstStyle/>
          <a:p>
            <a:pPr indent="0" marL="0">
              <a:buNone/>
            </a:pPr>
            <a:r>
              <a:rPr lang="en-US" sz="1500" dirty="0">
                <a:solidFill>
                  <a:srgbClr val="1E2329"/>
                </a:solidFill>
              </a:rPr>
              <a:t>Every Initiate, Fellow Craft and newly raised Brother in your year. Their mentors do the work; you set whether the Lodge lets them.</a:t>
            </a:r>
            <a:endParaRPr lang="en-US" sz="1500" dirty="0"/>
          </a:p>
        </p:txBody>
      </p:sp>
      <p:sp>
        <p:nvSpPr>
          <p:cNvPr id="11" name="Card You are about to enter the second"/>
          <p:cNvSpPr/>
          <p:nvPr/>
        </p:nvSpPr>
        <p:spPr>
          <a:xfrm>
            <a:off x="6172200" y="3611880"/>
            <a:ext cx="5440680" cy="2240280"/>
          </a:xfrm>
          <a:prstGeom prst="roundRect">
            <a:avLst>
              <a:gd name="adj" fmla="val 3265"/>
            </a:avLst>
          </a:prstGeom>
          <a:solidFill>
            <a:srgbClr val="F2F7FC"/>
          </a:solidFill>
          <a:ln w="12700">
            <a:solidFill>
              <a:srgbClr val="F2F7FC"/>
            </a:solidFill>
            <a:prstDash val="solid"/>
          </a:ln>
        </p:spPr>
      </p:sp>
      <p:pic>
        <p:nvPicPr>
          <p:cNvPr id="12" name="Image 1" descr="preencoded.png">    </p:cNvPr>
          <p:cNvPicPr>
            <a:picLocks noChangeAspect="1"/>
          </p:cNvPicPr>
          <p:nvPr/>
        </p:nvPicPr>
        <p:blipFill>
          <a:blip r:embed="rId2"/>
          <a:stretch>
            <a:fillRect/>
          </a:stretch>
        </p:blipFill>
        <p:spPr>
          <a:xfrm>
            <a:off x="6373368" y="3794760"/>
            <a:ext cx="384048" cy="384048"/>
          </a:xfrm>
          <a:prstGeom prst="rect">
            <a:avLst/>
          </a:prstGeom>
        </p:spPr>
      </p:pic>
      <p:sp>
        <p:nvSpPr>
          <p:cNvPr id="13" name="Text 9"/>
          <p:cNvSpPr txBox="1"/>
          <p:nvPr/>
        </p:nvSpPr>
        <p:spPr>
          <a:xfrm>
            <a:off x="6885432" y="377647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You are about to enter the second</a:t>
            </a:r>
            <a:endParaRPr lang="en-US" sz="1600" dirty="0"/>
          </a:p>
        </p:txBody>
      </p:sp>
      <p:sp>
        <p:nvSpPr>
          <p:cNvPr id="14" name="Text 10"/>
          <p:cNvSpPr txBox="1"/>
          <p:nvPr/>
        </p:nvSpPr>
        <p:spPr>
          <a:xfrm>
            <a:off x="6400800" y="4233672"/>
            <a:ext cx="4983480" cy="1508760"/>
          </a:xfrm>
          <a:prstGeom prst="rect">
            <a:avLst/>
          </a:prstGeom>
          <a:noFill/>
          <a:ln/>
        </p:spPr>
        <p:txBody>
          <a:bodyPr wrap="square" lIns="0" tIns="0" rIns="0" bIns="0" rtlCol="0" anchor="t"/>
          <a:lstStyle/>
          <a:p>
            <a:pPr indent="0" marL="0">
              <a:buNone/>
            </a:pPr>
            <a:r>
              <a:rPr lang="en-US" sz="1500" dirty="0">
                <a:solidFill>
                  <a:srgbClr val="1E2329"/>
                </a:solidFill>
              </a:rPr>
              <a:t>The Immediate Past Master’s year decides whether a Lodge keeps its Past Masters. Plan it from Installation day, not after.</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True or false?</a:t>
            </a:r>
            <a:endParaRPr lang="en-US" sz="3200" dirty="0"/>
          </a:p>
        </p:txBody>
      </p:sp>
      <p:sp>
        <p:nvSpPr>
          <p:cNvPr id="3" name="Statement 1"/>
          <p:cNvSpPr/>
          <p:nvPr/>
        </p:nvSpPr>
        <p:spPr>
          <a:xfrm>
            <a:off x="548640" y="1371600"/>
            <a:ext cx="11064240" cy="2011680"/>
          </a:xfrm>
          <a:prstGeom prst="roundRect">
            <a:avLst>
              <a:gd name="adj" fmla="val 3636"/>
            </a:avLst>
          </a:prstGeom>
          <a:solidFill>
            <a:srgbClr val="F2F7FC"/>
          </a:solidFill>
          <a:ln w="12700">
            <a:solidFill>
              <a:srgbClr val="F2F7FC"/>
            </a:solidFill>
            <a:prstDash val="solid"/>
          </a:ln>
        </p:spPr>
      </p:sp>
      <p:sp>
        <p:nvSpPr>
          <p:cNvPr id="4" name="Q circle 1"/>
          <p:cNvSpPr/>
          <p:nvPr/>
        </p:nvSpPr>
        <p:spPr>
          <a:xfrm>
            <a:off x="868680" y="2057400"/>
            <a:ext cx="640080" cy="640080"/>
          </a:xfrm>
          <a:prstGeom prst="ellipse">
            <a:avLst/>
          </a:prstGeom>
          <a:solidFill>
            <a:srgbClr val="003668"/>
          </a:solidFill>
          <a:ln w="12700">
            <a:solidFill>
              <a:srgbClr val="003668"/>
            </a:solidFill>
            <a:prstDash val="solid"/>
          </a:ln>
        </p:spPr>
      </p:sp>
      <p:sp>
        <p:nvSpPr>
          <p:cNvPr id="5" name="Text 3"/>
          <p:cNvSpPr txBox="1"/>
          <p:nvPr/>
        </p:nvSpPr>
        <p:spPr>
          <a:xfrm>
            <a:off x="868680" y="20574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1783080" y="1371600"/>
            <a:ext cx="9601200" cy="2011680"/>
          </a:xfrm>
          <a:prstGeom prst="rect">
            <a:avLst/>
          </a:prstGeom>
          <a:noFill/>
          <a:ln/>
        </p:spPr>
        <p:txBody>
          <a:bodyPr wrap="square" lIns="0" tIns="0" rIns="0" bIns="0" rtlCol="0" anchor="ctr"/>
          <a:lstStyle/>
          <a:p>
            <a:pPr indent="0" marL="0">
              <a:buNone/>
            </a:pPr>
            <a:r>
              <a:rPr lang="en-US" sz="2400" b="1" dirty="0">
                <a:solidFill>
                  <a:srgbClr val="06345D"/>
                </a:solidFill>
              </a:rPr>
              <a:t>A Lodge must leave at least four weeks between a candidate’s degrees.</a:t>
            </a:r>
            <a:endParaRPr lang="en-US" sz="2400" dirty="0"/>
          </a:p>
        </p:txBody>
      </p:sp>
      <p:sp>
        <p:nvSpPr>
          <p:cNvPr id="7" name="Statement 2"/>
          <p:cNvSpPr/>
          <p:nvPr/>
        </p:nvSpPr>
        <p:spPr>
          <a:xfrm>
            <a:off x="548640" y="3611880"/>
            <a:ext cx="11064240" cy="2011680"/>
          </a:xfrm>
          <a:prstGeom prst="roundRect">
            <a:avLst>
              <a:gd name="adj" fmla="val 3636"/>
            </a:avLst>
          </a:prstGeom>
          <a:solidFill>
            <a:srgbClr val="F2F7FC"/>
          </a:solidFill>
          <a:ln w="12700">
            <a:solidFill>
              <a:srgbClr val="F2F7FC"/>
            </a:solidFill>
            <a:prstDash val="solid"/>
          </a:ln>
        </p:spPr>
      </p:sp>
      <p:sp>
        <p:nvSpPr>
          <p:cNvPr id="8" name="Q circle 2"/>
          <p:cNvSpPr/>
          <p:nvPr/>
        </p:nvSpPr>
        <p:spPr>
          <a:xfrm>
            <a:off x="868680" y="4297680"/>
            <a:ext cx="640080" cy="640080"/>
          </a:xfrm>
          <a:prstGeom prst="ellipse">
            <a:avLst/>
          </a:prstGeom>
          <a:solidFill>
            <a:srgbClr val="0A4F72"/>
          </a:solidFill>
          <a:ln w="12700">
            <a:solidFill>
              <a:srgbClr val="0A4F72"/>
            </a:solidFill>
            <a:prstDash val="solid"/>
          </a:ln>
        </p:spPr>
      </p:sp>
      <p:sp>
        <p:nvSpPr>
          <p:cNvPr id="9" name="Text 7"/>
          <p:cNvSpPr txBox="1"/>
          <p:nvPr/>
        </p:nvSpPr>
        <p:spPr>
          <a:xfrm>
            <a:off x="868680" y="4297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0" name="Text 8"/>
          <p:cNvSpPr txBox="1"/>
          <p:nvPr/>
        </p:nvSpPr>
        <p:spPr>
          <a:xfrm>
            <a:off x="1783080" y="3611880"/>
            <a:ext cx="9601200" cy="2011680"/>
          </a:xfrm>
          <a:prstGeom prst="rect">
            <a:avLst/>
          </a:prstGeom>
          <a:noFill/>
          <a:ln/>
        </p:spPr>
        <p:txBody>
          <a:bodyPr wrap="square" lIns="0" tIns="0" rIns="0" bIns="0" rtlCol="0" anchor="ctr"/>
          <a:lstStyle/>
          <a:p>
            <a:pPr indent="0" marL="0">
              <a:buNone/>
            </a:pPr>
            <a:r>
              <a:rPr lang="en-US" sz="2400" b="1" dirty="0">
                <a:solidFill>
                  <a:srgbClr val="06345D"/>
                </a:solidFill>
              </a:rPr>
              <a:t>The Secretary may hold a Grand Lodge Certificate back until the Brother next attends.</a:t>
            </a:r>
            <a:endParaRPr lang="en-US" sz="2400" dirty="0"/>
          </a:p>
        </p:txBody>
      </p:sp>
      <p:sp>
        <p:nvSpPr>
          <p:cNvPr id="11" name="Prompt"/>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500" b="1" dirty="0">
                <a:solidFill>
                  <a:srgbClr val="157A7C"/>
                </a:solidFill>
              </a:rPr>
              <a:t>Hands up for true. Then the answer.</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answers</a:t>
            </a:r>
            <a:endParaRPr lang="en-US" sz="3200" dirty="0"/>
          </a:p>
        </p:txBody>
      </p:sp>
      <p:sp>
        <p:nvSpPr>
          <p:cNvPr id="3" name="Answer 1"/>
          <p:cNvSpPr/>
          <p:nvPr/>
        </p:nvSpPr>
        <p:spPr>
          <a:xfrm>
            <a:off x="548640" y="1371600"/>
            <a:ext cx="11064240" cy="2011680"/>
          </a:xfrm>
          <a:prstGeom prst="roundRect">
            <a:avLst>
              <a:gd name="adj" fmla="val 3636"/>
            </a:avLst>
          </a:prstGeom>
          <a:solidFill>
            <a:srgbClr val="F2F7FC"/>
          </a:solidFill>
          <a:ln w="12700">
            <a:solidFill>
              <a:srgbClr val="F2F7FC"/>
            </a:solidFill>
            <a:prstDash val="solid"/>
          </a:ln>
        </p:spPr>
      </p:sp>
      <p:sp>
        <p:nvSpPr>
          <p:cNvPr id="4" name="Badge 1"/>
          <p:cNvSpPr/>
          <p:nvPr/>
        </p:nvSpPr>
        <p:spPr>
          <a:xfrm>
            <a:off x="868680" y="1600200"/>
            <a:ext cx="1234440" cy="457200"/>
          </a:xfrm>
          <a:prstGeom prst="roundRect">
            <a:avLst>
              <a:gd name="adj" fmla="val 20000"/>
            </a:avLst>
          </a:prstGeom>
          <a:solidFill>
            <a:srgbClr val="157A7C"/>
          </a:solidFill>
          <a:ln w="12700">
            <a:solidFill>
              <a:srgbClr val="157A7C"/>
            </a:solidFill>
            <a:prstDash val="solid"/>
          </a:ln>
        </p:spPr>
      </p:sp>
      <p:sp>
        <p:nvSpPr>
          <p:cNvPr id="5" name="Text 3"/>
          <p:cNvSpPr txBox="1"/>
          <p:nvPr/>
        </p:nvSpPr>
        <p:spPr>
          <a:xfrm>
            <a:off x="868680" y="1600200"/>
            <a:ext cx="1234440" cy="457200"/>
          </a:xfrm>
          <a:prstGeom prst="rect">
            <a:avLst/>
          </a:prstGeom>
          <a:noFill/>
          <a:ln/>
        </p:spPr>
        <p:txBody>
          <a:bodyPr wrap="square" lIns="0" tIns="0" rIns="0" bIns="0" rtlCol="0" anchor="ctr"/>
          <a:lstStyle/>
          <a:p>
            <a:pPr algn="ctr" indent="0" marL="0">
              <a:buNone/>
            </a:pPr>
            <a:r>
              <a:rPr lang="en-US" sz="1500" b="1" dirty="0">
                <a:solidFill>
                  <a:srgbClr val="FFFFFF"/>
                </a:solidFill>
              </a:rPr>
              <a:t>TRUE</a:t>
            </a:r>
            <a:endParaRPr lang="en-US" sz="1500" dirty="0"/>
          </a:p>
        </p:txBody>
      </p:sp>
      <p:sp>
        <p:nvSpPr>
          <p:cNvPr id="6" name="Text 4"/>
          <p:cNvSpPr txBox="1"/>
          <p:nvPr/>
        </p:nvSpPr>
        <p:spPr>
          <a:xfrm>
            <a:off x="2286000" y="1572768"/>
            <a:ext cx="9052560" cy="512064"/>
          </a:xfrm>
          <a:prstGeom prst="rect">
            <a:avLst/>
          </a:prstGeom>
          <a:noFill/>
          <a:ln/>
        </p:spPr>
        <p:txBody>
          <a:bodyPr wrap="square" lIns="0" tIns="0" rIns="0" bIns="0" rtlCol="0" anchor="ctr"/>
          <a:lstStyle/>
          <a:p>
            <a:pPr indent="0" marL="0">
              <a:buNone/>
            </a:pPr>
            <a:r>
              <a:rPr lang="en-US" sz="1600" b="1" dirty="0">
                <a:solidFill>
                  <a:srgbClr val="06345D"/>
                </a:solidFill>
              </a:rPr>
              <a:t>A Lodge must leave at least four weeks between a candidate’s degrees.</a:t>
            </a:r>
            <a:endParaRPr lang="en-US" sz="1600" dirty="0"/>
          </a:p>
        </p:txBody>
      </p:sp>
      <p:sp>
        <p:nvSpPr>
          <p:cNvPr id="7" name="Text 5"/>
          <p:cNvSpPr txBox="1"/>
          <p:nvPr/>
        </p:nvSpPr>
        <p:spPr>
          <a:xfrm>
            <a:off x="868680" y="2194560"/>
            <a:ext cx="10424160" cy="868680"/>
          </a:xfrm>
          <a:prstGeom prst="rect">
            <a:avLst/>
          </a:prstGeom>
          <a:noFill/>
          <a:ln/>
        </p:spPr>
        <p:txBody>
          <a:bodyPr wrap="square" lIns="0" tIns="0" rIns="0" bIns="0" rtlCol="0" anchor="t"/>
          <a:lstStyle/>
          <a:p>
            <a:pPr indent="0" marL="0">
              <a:buNone/>
            </a:pPr>
            <a:r>
              <a:rPr lang="en-US" sz="1400" dirty="0">
                <a:solidFill>
                  <a:srgbClr val="1E2329"/>
                </a:solidFill>
              </a:rPr>
              <a:t>A minimum, not a target. The Provincial Grand Master encourages double ceremonies so that no Initiate is kept waiting, and a Degree by Request lets another Lodge pass or raise your candidate on a written request from the Master and Secretary. A man who waits a year for his Second is a man at risk.</a:t>
            </a:r>
            <a:endParaRPr lang="en-US" sz="1400" dirty="0"/>
          </a:p>
        </p:txBody>
      </p:sp>
      <p:sp>
        <p:nvSpPr>
          <p:cNvPr id="8" name="Text 6"/>
          <p:cNvSpPr txBox="1"/>
          <p:nvPr/>
        </p:nvSpPr>
        <p:spPr>
          <a:xfrm>
            <a:off x="868680" y="3035808"/>
            <a:ext cx="10424160" cy="274320"/>
          </a:xfrm>
          <a:prstGeom prst="rect">
            <a:avLst/>
          </a:prstGeom>
          <a:noFill/>
          <a:ln/>
        </p:spPr>
        <p:txBody>
          <a:bodyPr wrap="square" lIns="0" tIns="0" rIns="0" bIns="0" rtlCol="0" anchor="t"/>
          <a:lstStyle/>
          <a:p>
            <a:pPr indent="0" marL="0">
              <a:buNone/>
            </a:pPr>
            <a:r>
              <a:rPr lang="en-US" sz="1100" i="1" dirty="0">
                <a:solidFill>
                  <a:srgbClr val="0A4F72"/>
                </a:solidFill>
              </a:rPr>
              <a:t>Rules 172 and 173; PGL Herts Secretaries’ Handbook, Conferring the Degrees</a:t>
            </a:r>
            <a:endParaRPr lang="en-US" sz="1100" dirty="0"/>
          </a:p>
        </p:txBody>
      </p:sp>
      <p:sp>
        <p:nvSpPr>
          <p:cNvPr id="9" name="Answer 2"/>
          <p:cNvSpPr/>
          <p:nvPr/>
        </p:nvSpPr>
        <p:spPr>
          <a:xfrm>
            <a:off x="548640" y="3611880"/>
            <a:ext cx="11064240" cy="2011680"/>
          </a:xfrm>
          <a:prstGeom prst="roundRect">
            <a:avLst>
              <a:gd name="adj" fmla="val 3636"/>
            </a:avLst>
          </a:prstGeom>
          <a:solidFill>
            <a:srgbClr val="F2F7FC"/>
          </a:solidFill>
          <a:ln w="12700">
            <a:solidFill>
              <a:srgbClr val="F2F7FC"/>
            </a:solidFill>
            <a:prstDash val="solid"/>
          </a:ln>
        </p:spPr>
      </p:sp>
      <p:sp>
        <p:nvSpPr>
          <p:cNvPr id="10" name="Badge 2"/>
          <p:cNvSpPr/>
          <p:nvPr/>
        </p:nvSpPr>
        <p:spPr>
          <a:xfrm>
            <a:off x="868680" y="3840480"/>
            <a:ext cx="1234440" cy="457200"/>
          </a:xfrm>
          <a:prstGeom prst="roundRect">
            <a:avLst>
              <a:gd name="adj" fmla="val 20000"/>
            </a:avLst>
          </a:prstGeom>
          <a:solidFill>
            <a:srgbClr val="0A4F72"/>
          </a:solidFill>
          <a:ln w="12700">
            <a:solidFill>
              <a:srgbClr val="0A4F72"/>
            </a:solidFill>
            <a:prstDash val="solid"/>
          </a:ln>
        </p:spPr>
      </p:sp>
      <p:sp>
        <p:nvSpPr>
          <p:cNvPr id="11" name="Text 9"/>
          <p:cNvSpPr txBox="1"/>
          <p:nvPr/>
        </p:nvSpPr>
        <p:spPr>
          <a:xfrm>
            <a:off x="868680" y="3840480"/>
            <a:ext cx="1234440" cy="457200"/>
          </a:xfrm>
          <a:prstGeom prst="rect">
            <a:avLst/>
          </a:prstGeom>
          <a:noFill/>
          <a:ln/>
        </p:spPr>
        <p:txBody>
          <a:bodyPr wrap="square" lIns="0" tIns="0" rIns="0" bIns="0" rtlCol="0" anchor="ctr"/>
          <a:lstStyle/>
          <a:p>
            <a:pPr algn="ctr" indent="0" marL="0">
              <a:buNone/>
            </a:pPr>
            <a:r>
              <a:rPr lang="en-US" sz="1500" b="1" dirty="0">
                <a:solidFill>
                  <a:srgbClr val="FFFFFF"/>
                </a:solidFill>
              </a:rPr>
              <a:t>FALSE</a:t>
            </a:r>
            <a:endParaRPr lang="en-US" sz="1500" dirty="0"/>
          </a:p>
        </p:txBody>
      </p:sp>
      <p:sp>
        <p:nvSpPr>
          <p:cNvPr id="12" name="Text 10"/>
          <p:cNvSpPr txBox="1"/>
          <p:nvPr/>
        </p:nvSpPr>
        <p:spPr>
          <a:xfrm>
            <a:off x="2286000" y="3813048"/>
            <a:ext cx="9052560" cy="512064"/>
          </a:xfrm>
          <a:prstGeom prst="rect">
            <a:avLst/>
          </a:prstGeom>
          <a:noFill/>
          <a:ln/>
        </p:spPr>
        <p:txBody>
          <a:bodyPr wrap="square" lIns="0" tIns="0" rIns="0" bIns="0" rtlCol="0" anchor="ctr"/>
          <a:lstStyle/>
          <a:p>
            <a:pPr indent="0" marL="0">
              <a:buNone/>
            </a:pPr>
            <a:r>
              <a:rPr lang="en-US" sz="1600" b="1" dirty="0">
                <a:solidFill>
                  <a:srgbClr val="06345D"/>
                </a:solidFill>
              </a:rPr>
              <a:t>The Secretary may hold a Grand Lodge Certificate back until the Brother next attends.</a:t>
            </a:r>
            <a:endParaRPr lang="en-US" sz="1600" dirty="0"/>
          </a:p>
        </p:txBody>
      </p:sp>
      <p:sp>
        <p:nvSpPr>
          <p:cNvPr id="13" name="Text 11"/>
          <p:cNvSpPr txBox="1"/>
          <p:nvPr/>
        </p:nvSpPr>
        <p:spPr>
          <a:xfrm>
            <a:off x="868680" y="4434840"/>
            <a:ext cx="10424160" cy="868680"/>
          </a:xfrm>
          <a:prstGeom prst="rect">
            <a:avLst/>
          </a:prstGeom>
          <a:noFill/>
          <a:ln/>
        </p:spPr>
        <p:txBody>
          <a:bodyPr wrap="square" lIns="0" tIns="0" rIns="0" bIns="0" rtlCol="0" anchor="t"/>
          <a:lstStyle/>
          <a:p>
            <a:pPr indent="0" marL="0">
              <a:buNone/>
            </a:pPr>
            <a:r>
              <a:rPr lang="en-US" sz="1400" dirty="0">
                <a:solidFill>
                  <a:srgbClr val="1E2329"/>
                </a:solidFill>
              </a:rPr>
              <a:t>It is presented as soon as it arrives, or sent recorded delivery and minuted. It is a passport, kept with his regalia, not framed. The presentation is a moment the Master can design.</a:t>
            </a:r>
            <a:endParaRPr lang="en-US" sz="1400" dirty="0"/>
          </a:p>
        </p:txBody>
      </p:sp>
      <p:sp>
        <p:nvSpPr>
          <p:cNvPr id="14" name="Text 12"/>
          <p:cNvSpPr txBox="1"/>
          <p:nvPr/>
        </p:nvSpPr>
        <p:spPr>
          <a:xfrm>
            <a:off x="868680" y="5276088"/>
            <a:ext cx="10424160" cy="274320"/>
          </a:xfrm>
          <a:prstGeom prst="rect">
            <a:avLst/>
          </a:prstGeom>
          <a:noFill/>
          <a:ln/>
        </p:spPr>
        <p:txBody>
          <a:bodyPr wrap="square" lIns="0" tIns="0" rIns="0" bIns="0" rtlCol="0" anchor="t"/>
          <a:lstStyle/>
          <a:p>
            <a:pPr indent="0" marL="0">
              <a:buNone/>
            </a:pPr>
            <a:r>
              <a:rPr lang="en-US" sz="1100" i="1" dirty="0">
                <a:solidFill>
                  <a:srgbClr val="0A4F72"/>
                </a:solidFill>
              </a:rPr>
              <a:t>PGL Herts Secretaries’ Handbook; MetGL Mentors’ Handbook</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Your year through a new man’s eyes</a:t>
            </a:r>
            <a:endParaRPr lang="en-US" sz="3200" dirty="0"/>
          </a:p>
        </p:txBody>
      </p:sp>
      <p:sp>
        <p:nvSpPr>
          <p:cNvPr id="3" name="Numbered 1"/>
          <p:cNvSpPr/>
          <p:nvPr/>
        </p:nvSpPr>
        <p:spPr>
          <a:xfrm>
            <a:off x="548640" y="1325880"/>
            <a:ext cx="3520440" cy="1874520"/>
          </a:xfrm>
          <a:prstGeom prst="roundRect">
            <a:avLst>
              <a:gd name="adj" fmla="val 3902"/>
            </a:avLst>
          </a:prstGeom>
          <a:solidFill>
            <a:srgbClr val="F2F7FC"/>
          </a:solidFill>
          <a:ln w="12700">
            <a:solidFill>
              <a:srgbClr val="F2F7FC"/>
            </a:solidFill>
            <a:prstDash val="solid"/>
          </a:ln>
        </p:spPr>
      </p:sp>
      <p:sp>
        <p:nvSpPr>
          <p:cNvPr id="4" name="Circle 1"/>
          <p:cNvSpPr/>
          <p:nvPr/>
        </p:nvSpPr>
        <p:spPr>
          <a:xfrm>
            <a:off x="777240" y="1527048"/>
            <a:ext cx="548640" cy="548640"/>
          </a:xfrm>
          <a:prstGeom prst="ellipse">
            <a:avLst/>
          </a:prstGeom>
          <a:solidFill>
            <a:srgbClr val="003668"/>
          </a:solidFill>
          <a:ln w="12700">
            <a:solidFill>
              <a:srgbClr val="003668"/>
            </a:solidFill>
            <a:prstDash val="solid"/>
          </a:ln>
        </p:spPr>
      </p:sp>
      <p:sp>
        <p:nvSpPr>
          <p:cNvPr id="5" name="Text 3"/>
          <p:cNvSpPr txBox="1"/>
          <p:nvPr/>
        </p:nvSpPr>
        <p:spPr>
          <a:xfrm>
            <a:off x="777240" y="1527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463040" y="1527048"/>
            <a:ext cx="2423160" cy="548640"/>
          </a:xfrm>
          <a:prstGeom prst="rect">
            <a:avLst/>
          </a:prstGeom>
          <a:noFill/>
          <a:ln/>
        </p:spPr>
        <p:txBody>
          <a:bodyPr wrap="square" lIns="0" tIns="0" rIns="0" bIns="0" rtlCol="0" anchor="ctr"/>
          <a:lstStyle/>
          <a:p>
            <a:pPr indent="0" marL="0">
              <a:buNone/>
            </a:pPr>
            <a:r>
              <a:rPr lang="en-US" sz="1500" b="1" dirty="0">
                <a:solidFill>
                  <a:srgbClr val="003668"/>
                </a:solidFill>
              </a:rPr>
              <a:t>The ballot</a:t>
            </a:r>
            <a:endParaRPr lang="en-US" sz="1500" dirty="0"/>
          </a:p>
        </p:txBody>
      </p:sp>
      <p:sp>
        <p:nvSpPr>
          <p:cNvPr id="7" name="Text 5"/>
          <p:cNvSpPr txBox="1"/>
          <p:nvPr/>
        </p:nvSpPr>
        <p:spPr>
          <a:xfrm>
            <a:off x="777240" y="2194560"/>
            <a:ext cx="3063240" cy="868680"/>
          </a:xfrm>
          <a:prstGeom prst="rect">
            <a:avLst/>
          </a:prstGeom>
          <a:noFill/>
          <a:ln/>
        </p:spPr>
        <p:txBody>
          <a:bodyPr wrap="square" lIns="0" tIns="0" rIns="0" bIns="0" rtlCol="0" anchor="t"/>
          <a:lstStyle/>
          <a:p>
            <a:pPr indent="0" marL="0">
              <a:buNone/>
            </a:pPr>
            <a:r>
              <a:rPr lang="en-US" sz="1350" dirty="0">
                <a:solidFill>
                  <a:srgbClr val="1E2329"/>
                </a:solidFill>
              </a:rPr>
              <a:t>Does he know anyone before his interview?</a:t>
            </a:r>
            <a:endParaRPr lang="en-US" sz="1350" dirty="0"/>
          </a:p>
        </p:txBody>
      </p:sp>
      <p:sp>
        <p:nvSpPr>
          <p:cNvPr id="8" name="Numbered 2"/>
          <p:cNvSpPr/>
          <p:nvPr/>
        </p:nvSpPr>
        <p:spPr>
          <a:xfrm>
            <a:off x="4297680" y="1325880"/>
            <a:ext cx="3520440" cy="1874520"/>
          </a:xfrm>
          <a:prstGeom prst="roundRect">
            <a:avLst>
              <a:gd name="adj" fmla="val 3902"/>
            </a:avLst>
          </a:prstGeom>
          <a:solidFill>
            <a:srgbClr val="F2F7FC"/>
          </a:solidFill>
          <a:ln w="12700">
            <a:solidFill>
              <a:srgbClr val="F2F7FC"/>
            </a:solidFill>
            <a:prstDash val="solid"/>
          </a:ln>
        </p:spPr>
      </p:sp>
      <p:sp>
        <p:nvSpPr>
          <p:cNvPr id="9" name="Circle 2"/>
          <p:cNvSpPr/>
          <p:nvPr/>
        </p:nvSpPr>
        <p:spPr>
          <a:xfrm>
            <a:off x="4526280" y="1527048"/>
            <a:ext cx="548640" cy="548640"/>
          </a:xfrm>
          <a:prstGeom prst="ellipse">
            <a:avLst/>
          </a:prstGeom>
          <a:solidFill>
            <a:srgbClr val="0A4F72"/>
          </a:solidFill>
          <a:ln w="12700">
            <a:solidFill>
              <a:srgbClr val="0A4F72"/>
            </a:solidFill>
            <a:prstDash val="solid"/>
          </a:ln>
        </p:spPr>
      </p:sp>
      <p:sp>
        <p:nvSpPr>
          <p:cNvPr id="10" name="Text 8"/>
          <p:cNvSpPr txBox="1"/>
          <p:nvPr/>
        </p:nvSpPr>
        <p:spPr>
          <a:xfrm>
            <a:off x="4526280" y="1527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Text 9"/>
          <p:cNvSpPr txBox="1"/>
          <p:nvPr/>
        </p:nvSpPr>
        <p:spPr>
          <a:xfrm>
            <a:off x="5212080" y="1527048"/>
            <a:ext cx="2423160" cy="548640"/>
          </a:xfrm>
          <a:prstGeom prst="rect">
            <a:avLst/>
          </a:prstGeom>
          <a:noFill/>
          <a:ln/>
        </p:spPr>
        <p:txBody>
          <a:bodyPr wrap="square" lIns="0" tIns="0" rIns="0" bIns="0" rtlCol="0" anchor="ctr"/>
          <a:lstStyle/>
          <a:p>
            <a:pPr indent="0" marL="0">
              <a:buNone/>
            </a:pPr>
            <a:r>
              <a:rPr lang="en-US" sz="1500" b="1" dirty="0">
                <a:solidFill>
                  <a:srgbClr val="0A4F72"/>
                </a:solidFill>
              </a:rPr>
              <a:t>Initiation night</a:t>
            </a:r>
            <a:endParaRPr lang="en-US" sz="1500" dirty="0"/>
          </a:p>
        </p:txBody>
      </p:sp>
      <p:sp>
        <p:nvSpPr>
          <p:cNvPr id="12" name="Text 10"/>
          <p:cNvSpPr txBox="1"/>
          <p:nvPr/>
        </p:nvSpPr>
        <p:spPr>
          <a:xfrm>
            <a:off x="4526280" y="2194560"/>
            <a:ext cx="3063240" cy="868680"/>
          </a:xfrm>
          <a:prstGeom prst="rect">
            <a:avLst/>
          </a:prstGeom>
          <a:noFill/>
          <a:ln/>
        </p:spPr>
        <p:txBody>
          <a:bodyPr wrap="square" lIns="0" tIns="0" rIns="0" bIns="0" rtlCol="0" anchor="t"/>
          <a:lstStyle/>
          <a:p>
            <a:pPr indent="0" marL="0">
              <a:buNone/>
            </a:pPr>
            <a:r>
              <a:rPr lang="en-US" sz="1350" dirty="0">
                <a:solidFill>
                  <a:srgbClr val="1E2329"/>
                </a:solidFill>
              </a:rPr>
              <a:t>Mentor beside him; Tyler and Junior Deacon introduced; never dines alone</a:t>
            </a:r>
            <a:endParaRPr lang="en-US" sz="1350" dirty="0"/>
          </a:p>
        </p:txBody>
      </p:sp>
      <p:sp>
        <p:nvSpPr>
          <p:cNvPr id="13" name="Numbered 3"/>
          <p:cNvSpPr/>
          <p:nvPr/>
        </p:nvSpPr>
        <p:spPr>
          <a:xfrm>
            <a:off x="8046720" y="1325880"/>
            <a:ext cx="3520440" cy="1874520"/>
          </a:xfrm>
          <a:prstGeom prst="roundRect">
            <a:avLst>
              <a:gd name="adj" fmla="val 3902"/>
            </a:avLst>
          </a:prstGeom>
          <a:solidFill>
            <a:srgbClr val="F2F7FC"/>
          </a:solidFill>
          <a:ln w="12700">
            <a:solidFill>
              <a:srgbClr val="F2F7FC"/>
            </a:solidFill>
            <a:prstDash val="solid"/>
          </a:ln>
        </p:spPr>
      </p:sp>
      <p:sp>
        <p:nvSpPr>
          <p:cNvPr id="14" name="Circle 3"/>
          <p:cNvSpPr/>
          <p:nvPr/>
        </p:nvSpPr>
        <p:spPr>
          <a:xfrm>
            <a:off x="8275320" y="1527048"/>
            <a:ext cx="548640" cy="548640"/>
          </a:xfrm>
          <a:prstGeom prst="ellipse">
            <a:avLst/>
          </a:prstGeom>
          <a:solidFill>
            <a:srgbClr val="106576"/>
          </a:solidFill>
          <a:ln w="12700">
            <a:solidFill>
              <a:srgbClr val="106576"/>
            </a:solidFill>
            <a:prstDash val="solid"/>
          </a:ln>
        </p:spPr>
      </p:sp>
      <p:sp>
        <p:nvSpPr>
          <p:cNvPr id="15" name="Text 13"/>
          <p:cNvSpPr txBox="1"/>
          <p:nvPr/>
        </p:nvSpPr>
        <p:spPr>
          <a:xfrm>
            <a:off x="8275320" y="1527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6" name="Text 14"/>
          <p:cNvSpPr txBox="1"/>
          <p:nvPr/>
        </p:nvSpPr>
        <p:spPr>
          <a:xfrm>
            <a:off x="8961120" y="1527048"/>
            <a:ext cx="2423160" cy="548640"/>
          </a:xfrm>
          <a:prstGeom prst="rect">
            <a:avLst/>
          </a:prstGeom>
          <a:noFill/>
          <a:ln/>
        </p:spPr>
        <p:txBody>
          <a:bodyPr wrap="square" lIns="0" tIns="0" rIns="0" bIns="0" rtlCol="0" anchor="ctr"/>
          <a:lstStyle/>
          <a:p>
            <a:pPr indent="0" marL="0">
              <a:buNone/>
            </a:pPr>
            <a:r>
              <a:rPr lang="en-US" sz="1500" b="1" dirty="0">
                <a:solidFill>
                  <a:srgbClr val="106576"/>
                </a:solidFill>
              </a:rPr>
              <a:t>The second meeting</a:t>
            </a:r>
            <a:endParaRPr lang="en-US" sz="1500" dirty="0"/>
          </a:p>
        </p:txBody>
      </p:sp>
      <p:sp>
        <p:nvSpPr>
          <p:cNvPr id="17" name="Text 15"/>
          <p:cNvSpPr txBox="1"/>
          <p:nvPr/>
        </p:nvSpPr>
        <p:spPr>
          <a:xfrm>
            <a:off x="8275320" y="2194560"/>
            <a:ext cx="3063240" cy="868680"/>
          </a:xfrm>
          <a:prstGeom prst="rect">
            <a:avLst/>
          </a:prstGeom>
          <a:noFill/>
          <a:ln/>
        </p:spPr>
        <p:txBody>
          <a:bodyPr wrap="square" lIns="0" tIns="0" rIns="0" bIns="0" rtlCol="0" anchor="t"/>
          <a:lstStyle/>
          <a:p>
            <a:pPr indent="0" marL="0">
              <a:buNone/>
            </a:pPr>
            <a:r>
              <a:rPr lang="en-US" sz="1350" dirty="0">
                <a:solidFill>
                  <a:srgbClr val="1E2329"/>
                </a:solidFill>
              </a:rPr>
              <a:t>Mostly business, and nobody told him. The moment most often left to chance</a:t>
            </a:r>
            <a:endParaRPr lang="en-US" sz="1350" dirty="0"/>
          </a:p>
        </p:txBody>
      </p:sp>
      <p:sp>
        <p:nvSpPr>
          <p:cNvPr id="18" name="Numbered 4"/>
          <p:cNvSpPr/>
          <p:nvPr/>
        </p:nvSpPr>
        <p:spPr>
          <a:xfrm>
            <a:off x="548640" y="3383280"/>
            <a:ext cx="3520440" cy="1874520"/>
          </a:xfrm>
          <a:prstGeom prst="roundRect">
            <a:avLst>
              <a:gd name="adj" fmla="val 3902"/>
            </a:avLst>
          </a:prstGeom>
          <a:solidFill>
            <a:srgbClr val="F2F7FC"/>
          </a:solidFill>
          <a:ln w="12700">
            <a:solidFill>
              <a:srgbClr val="F2F7FC"/>
            </a:solidFill>
            <a:prstDash val="solid"/>
          </a:ln>
        </p:spPr>
      </p:sp>
      <p:sp>
        <p:nvSpPr>
          <p:cNvPr id="19" name="Circle 4"/>
          <p:cNvSpPr/>
          <p:nvPr/>
        </p:nvSpPr>
        <p:spPr>
          <a:xfrm>
            <a:off x="777240" y="3584448"/>
            <a:ext cx="548640" cy="548640"/>
          </a:xfrm>
          <a:prstGeom prst="ellipse">
            <a:avLst/>
          </a:prstGeom>
          <a:solidFill>
            <a:srgbClr val="157A7C"/>
          </a:solidFill>
          <a:ln w="12700">
            <a:solidFill>
              <a:srgbClr val="157A7C"/>
            </a:solidFill>
            <a:prstDash val="solid"/>
          </a:ln>
        </p:spPr>
      </p:sp>
      <p:sp>
        <p:nvSpPr>
          <p:cNvPr id="20" name="Text 18"/>
          <p:cNvSpPr txBox="1"/>
          <p:nvPr/>
        </p:nvSpPr>
        <p:spPr>
          <a:xfrm>
            <a:off x="777240" y="35844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1" name="Text 19"/>
          <p:cNvSpPr txBox="1"/>
          <p:nvPr/>
        </p:nvSpPr>
        <p:spPr>
          <a:xfrm>
            <a:off x="1463040" y="3584448"/>
            <a:ext cx="2423160" cy="548640"/>
          </a:xfrm>
          <a:prstGeom prst="rect">
            <a:avLst/>
          </a:prstGeom>
          <a:noFill/>
          <a:ln/>
        </p:spPr>
        <p:txBody>
          <a:bodyPr wrap="square" lIns="0" tIns="0" rIns="0" bIns="0" rtlCol="0" anchor="ctr"/>
          <a:lstStyle/>
          <a:p>
            <a:pPr indent="0" marL="0">
              <a:buNone/>
            </a:pPr>
            <a:r>
              <a:rPr lang="en-US" sz="1500" b="1" dirty="0">
                <a:solidFill>
                  <a:srgbClr val="157A7C"/>
                </a:solidFill>
              </a:rPr>
              <a:t>Nights he cannot attend</a:t>
            </a:r>
            <a:endParaRPr lang="en-US" sz="1500" dirty="0"/>
          </a:p>
        </p:txBody>
      </p:sp>
      <p:sp>
        <p:nvSpPr>
          <p:cNvPr id="22" name="Text 20"/>
          <p:cNvSpPr txBox="1"/>
          <p:nvPr/>
        </p:nvSpPr>
        <p:spPr>
          <a:xfrm>
            <a:off x="777240" y="4251960"/>
            <a:ext cx="3063240" cy="868680"/>
          </a:xfrm>
          <a:prstGeom prst="rect">
            <a:avLst/>
          </a:prstGeom>
          <a:noFill/>
          <a:ln/>
        </p:spPr>
        <p:txBody>
          <a:bodyPr wrap="square" lIns="0" tIns="0" rIns="0" bIns="0" rtlCol="0" anchor="t"/>
          <a:lstStyle/>
          <a:p>
            <a:pPr indent="0" marL="0">
              <a:buNone/>
            </a:pPr>
            <a:r>
              <a:rPr lang="en-US" sz="1350" dirty="0">
                <a:solidFill>
                  <a:srgbClr val="1E2329"/>
                </a:solidFill>
              </a:rPr>
              <a:t>Higher degrees. Companionship and learning, or dead time?</a:t>
            </a:r>
            <a:endParaRPr lang="en-US" sz="1350" dirty="0"/>
          </a:p>
        </p:txBody>
      </p:sp>
      <p:sp>
        <p:nvSpPr>
          <p:cNvPr id="23" name="Numbered 5"/>
          <p:cNvSpPr/>
          <p:nvPr/>
        </p:nvSpPr>
        <p:spPr>
          <a:xfrm>
            <a:off x="4297680" y="3383280"/>
            <a:ext cx="3520440" cy="1874520"/>
          </a:xfrm>
          <a:prstGeom prst="roundRect">
            <a:avLst>
              <a:gd name="adj" fmla="val 3902"/>
            </a:avLst>
          </a:prstGeom>
          <a:solidFill>
            <a:srgbClr val="F2F7FC"/>
          </a:solidFill>
          <a:ln w="12700">
            <a:solidFill>
              <a:srgbClr val="F2F7FC"/>
            </a:solidFill>
            <a:prstDash val="solid"/>
          </a:ln>
        </p:spPr>
      </p:sp>
      <p:sp>
        <p:nvSpPr>
          <p:cNvPr id="24" name="Circle 5"/>
          <p:cNvSpPr/>
          <p:nvPr/>
        </p:nvSpPr>
        <p:spPr>
          <a:xfrm>
            <a:off x="4526280" y="3584448"/>
            <a:ext cx="548640" cy="548640"/>
          </a:xfrm>
          <a:prstGeom prst="ellipse">
            <a:avLst/>
          </a:prstGeom>
          <a:solidFill>
            <a:srgbClr val="06345D"/>
          </a:solidFill>
          <a:ln w="12700">
            <a:solidFill>
              <a:srgbClr val="06345D"/>
            </a:solidFill>
            <a:prstDash val="solid"/>
          </a:ln>
        </p:spPr>
      </p:sp>
      <p:sp>
        <p:nvSpPr>
          <p:cNvPr id="25" name="Text 23"/>
          <p:cNvSpPr txBox="1"/>
          <p:nvPr/>
        </p:nvSpPr>
        <p:spPr>
          <a:xfrm>
            <a:off x="4526280" y="35844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6" name="Text 24"/>
          <p:cNvSpPr txBox="1"/>
          <p:nvPr/>
        </p:nvSpPr>
        <p:spPr>
          <a:xfrm>
            <a:off x="5212080" y="3584448"/>
            <a:ext cx="2423160" cy="548640"/>
          </a:xfrm>
          <a:prstGeom prst="rect">
            <a:avLst/>
          </a:prstGeom>
          <a:noFill/>
          <a:ln/>
        </p:spPr>
        <p:txBody>
          <a:bodyPr wrap="square" lIns="0" tIns="0" rIns="0" bIns="0" rtlCol="0" anchor="ctr"/>
          <a:lstStyle/>
          <a:p>
            <a:pPr indent="0" marL="0">
              <a:buNone/>
            </a:pPr>
            <a:r>
              <a:rPr lang="en-US" sz="1500" b="1" dirty="0">
                <a:solidFill>
                  <a:srgbClr val="06345D"/>
                </a:solidFill>
              </a:rPr>
              <a:t>His Passing</a:t>
            </a:r>
            <a:endParaRPr lang="en-US" sz="1500" dirty="0"/>
          </a:p>
        </p:txBody>
      </p:sp>
      <p:sp>
        <p:nvSpPr>
          <p:cNvPr id="27" name="Text 25"/>
          <p:cNvSpPr txBox="1"/>
          <p:nvPr/>
        </p:nvSpPr>
        <p:spPr>
          <a:xfrm>
            <a:off x="4526280" y="4251960"/>
            <a:ext cx="3063240" cy="868680"/>
          </a:xfrm>
          <a:prstGeom prst="rect">
            <a:avLst/>
          </a:prstGeom>
          <a:noFill/>
          <a:ln/>
        </p:spPr>
        <p:txBody>
          <a:bodyPr wrap="square" lIns="0" tIns="0" rIns="0" bIns="0" rtlCol="0" anchor="t"/>
          <a:lstStyle/>
          <a:p>
            <a:pPr indent="0" marL="0">
              <a:buNone/>
            </a:pPr>
            <a:r>
              <a:rPr lang="en-US" sz="1350" dirty="0">
                <a:solidFill>
                  <a:srgbClr val="1E2329"/>
                </a:solidFill>
              </a:rPr>
              <a:t>At his pace, never the calendar’s</a:t>
            </a:r>
            <a:endParaRPr lang="en-US" sz="1350" dirty="0"/>
          </a:p>
        </p:txBody>
      </p:sp>
      <p:sp>
        <p:nvSpPr>
          <p:cNvPr id="28" name="Numbered 6"/>
          <p:cNvSpPr/>
          <p:nvPr/>
        </p:nvSpPr>
        <p:spPr>
          <a:xfrm>
            <a:off x="8046720" y="3383280"/>
            <a:ext cx="3520440" cy="1874520"/>
          </a:xfrm>
          <a:prstGeom prst="roundRect">
            <a:avLst>
              <a:gd name="adj" fmla="val 3902"/>
            </a:avLst>
          </a:prstGeom>
          <a:solidFill>
            <a:srgbClr val="F2F7FC"/>
          </a:solidFill>
          <a:ln w="12700">
            <a:solidFill>
              <a:srgbClr val="F2F7FC"/>
            </a:solidFill>
            <a:prstDash val="solid"/>
          </a:ln>
        </p:spPr>
      </p:sp>
      <p:sp>
        <p:nvSpPr>
          <p:cNvPr id="29" name="Circle 6"/>
          <p:cNvSpPr/>
          <p:nvPr/>
        </p:nvSpPr>
        <p:spPr>
          <a:xfrm>
            <a:off x="8275320" y="3584448"/>
            <a:ext cx="548640" cy="548640"/>
          </a:xfrm>
          <a:prstGeom prst="ellipse">
            <a:avLst/>
          </a:prstGeom>
          <a:solidFill>
            <a:srgbClr val="003668"/>
          </a:solidFill>
          <a:ln w="12700">
            <a:solidFill>
              <a:srgbClr val="003668"/>
            </a:solidFill>
            <a:prstDash val="solid"/>
          </a:ln>
        </p:spPr>
      </p:sp>
      <p:sp>
        <p:nvSpPr>
          <p:cNvPr id="30" name="Text 28"/>
          <p:cNvSpPr txBox="1"/>
          <p:nvPr/>
        </p:nvSpPr>
        <p:spPr>
          <a:xfrm>
            <a:off x="8275320" y="35844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31" name="Text 29"/>
          <p:cNvSpPr txBox="1"/>
          <p:nvPr/>
        </p:nvSpPr>
        <p:spPr>
          <a:xfrm>
            <a:off x="8961120" y="3584448"/>
            <a:ext cx="2423160" cy="548640"/>
          </a:xfrm>
          <a:prstGeom prst="rect">
            <a:avLst/>
          </a:prstGeom>
          <a:noFill/>
          <a:ln/>
        </p:spPr>
        <p:txBody>
          <a:bodyPr wrap="square" lIns="0" tIns="0" rIns="0" bIns="0" rtlCol="0" anchor="ctr"/>
          <a:lstStyle/>
          <a:p>
            <a:pPr indent="0" marL="0">
              <a:buNone/>
            </a:pPr>
            <a:r>
              <a:rPr lang="en-US" sz="1500" b="1" dirty="0">
                <a:solidFill>
                  <a:srgbClr val="003668"/>
                </a:solidFill>
              </a:rPr>
              <a:t>The summer break</a:t>
            </a:r>
            <a:endParaRPr lang="en-US" sz="1500" dirty="0"/>
          </a:p>
        </p:txBody>
      </p:sp>
      <p:sp>
        <p:nvSpPr>
          <p:cNvPr id="32" name="Text 30"/>
          <p:cNvSpPr txBox="1"/>
          <p:nvPr/>
        </p:nvSpPr>
        <p:spPr>
          <a:xfrm>
            <a:off x="8275320" y="4251960"/>
            <a:ext cx="3063240" cy="868680"/>
          </a:xfrm>
          <a:prstGeom prst="rect">
            <a:avLst/>
          </a:prstGeom>
          <a:noFill/>
          <a:ln/>
        </p:spPr>
        <p:txBody>
          <a:bodyPr wrap="square" lIns="0" tIns="0" rIns="0" bIns="0" rtlCol="0" anchor="t"/>
          <a:lstStyle/>
          <a:p>
            <a:pPr indent="0" marL="0">
              <a:buNone/>
            </a:pPr>
            <a:r>
              <a:rPr lang="en-US" sz="1350" dirty="0">
                <a:solidFill>
                  <a:srgbClr val="1E2329"/>
                </a:solidFill>
              </a:rPr>
              <a:t>Spring Initiates: deliberate contact, or silence until autumn</a:t>
            </a:r>
            <a:endParaRPr lang="en-US" sz="1350" dirty="0"/>
          </a:p>
        </p:txBody>
      </p:sp>
      <p:sp>
        <p:nvSpPr>
          <p:cNvPr id="33" name="Ask"/>
          <p:cNvSpPr txBox="1"/>
          <p:nvPr/>
        </p:nvSpPr>
        <p:spPr>
          <a:xfrm>
            <a:off x="548640" y="5486400"/>
            <a:ext cx="10972800" cy="411480"/>
          </a:xfrm>
          <a:prstGeom prst="rect">
            <a:avLst/>
          </a:prstGeom>
          <a:noFill/>
          <a:ln/>
        </p:spPr>
        <p:txBody>
          <a:bodyPr wrap="square" lIns="0" tIns="0" rIns="0" bIns="0" rtlCol="0" anchor="ctr"/>
          <a:lstStyle/>
          <a:p>
            <a:pPr indent="0" marL="0">
              <a:buNone/>
            </a:pPr>
            <a:r>
              <a:rPr lang="en-US" sz="1600" b="1" dirty="0">
                <a:solidFill>
                  <a:srgbClr val="157A7C"/>
                </a:solidFill>
              </a:rPr>
              <a:t>Which of these does your Lodge design, and which does it leave to chance?</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Five things only the Master can do</a:t>
            </a:r>
            <a:endParaRPr lang="en-US" sz="3200" dirty="0"/>
          </a:p>
        </p:txBody>
      </p:sp>
      <p:sp>
        <p:nvSpPr>
          <p:cNvPr id="3" name="Numbered 1"/>
          <p:cNvSpPr/>
          <p:nvPr/>
        </p:nvSpPr>
        <p:spPr>
          <a:xfrm>
            <a:off x="548640" y="1325880"/>
            <a:ext cx="3520440" cy="2103120"/>
          </a:xfrm>
          <a:prstGeom prst="roundRect">
            <a:avLst>
              <a:gd name="adj" fmla="val 3478"/>
            </a:avLst>
          </a:prstGeom>
          <a:solidFill>
            <a:srgbClr val="F2F7FC"/>
          </a:solidFill>
          <a:ln w="12700">
            <a:solidFill>
              <a:srgbClr val="F2F7FC"/>
            </a:solidFill>
            <a:prstDash val="solid"/>
          </a:ln>
        </p:spPr>
      </p:sp>
      <p:sp>
        <p:nvSpPr>
          <p:cNvPr id="4" name="Circle 1"/>
          <p:cNvSpPr/>
          <p:nvPr/>
        </p:nvSpPr>
        <p:spPr>
          <a:xfrm>
            <a:off x="777240" y="1527048"/>
            <a:ext cx="548640" cy="548640"/>
          </a:xfrm>
          <a:prstGeom prst="ellipse">
            <a:avLst/>
          </a:prstGeom>
          <a:solidFill>
            <a:srgbClr val="003668"/>
          </a:solidFill>
          <a:ln w="12700">
            <a:solidFill>
              <a:srgbClr val="003668"/>
            </a:solidFill>
            <a:prstDash val="solid"/>
          </a:ln>
        </p:spPr>
      </p:sp>
      <p:sp>
        <p:nvSpPr>
          <p:cNvPr id="5" name="Text 3"/>
          <p:cNvSpPr txBox="1"/>
          <p:nvPr/>
        </p:nvSpPr>
        <p:spPr>
          <a:xfrm>
            <a:off x="777240" y="1527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463040" y="1527048"/>
            <a:ext cx="2423160" cy="548640"/>
          </a:xfrm>
          <a:prstGeom prst="rect">
            <a:avLst/>
          </a:prstGeom>
          <a:noFill/>
          <a:ln/>
        </p:spPr>
        <p:txBody>
          <a:bodyPr wrap="square" lIns="0" tIns="0" rIns="0" bIns="0" rtlCol="0" anchor="ctr"/>
          <a:lstStyle/>
          <a:p>
            <a:pPr indent="0" marL="0">
              <a:buNone/>
            </a:pPr>
            <a:r>
              <a:rPr lang="en-US" sz="1450" b="1" dirty="0">
                <a:solidFill>
                  <a:srgbClr val="003668"/>
                </a:solidFill>
              </a:rPr>
              <a:t>Set the tone</a:t>
            </a:r>
            <a:endParaRPr lang="en-US" sz="1450" dirty="0"/>
          </a:p>
        </p:txBody>
      </p:sp>
      <p:sp>
        <p:nvSpPr>
          <p:cNvPr id="7" name="Text 5"/>
          <p:cNvSpPr txBox="1"/>
          <p:nvPr/>
        </p:nvSpPr>
        <p:spPr>
          <a:xfrm>
            <a:off x="777240" y="2194560"/>
            <a:ext cx="3063240" cy="1097280"/>
          </a:xfrm>
          <a:prstGeom prst="rect">
            <a:avLst/>
          </a:prstGeom>
          <a:noFill/>
          <a:ln/>
        </p:spPr>
        <p:txBody>
          <a:bodyPr wrap="square" lIns="0" tIns="0" rIns="0" bIns="0" rtlCol="0" anchor="t"/>
          <a:lstStyle/>
          <a:p>
            <a:pPr indent="0" marL="0">
              <a:buNone/>
            </a:pPr>
            <a:r>
              <a:rPr lang="en-US" sz="1250" dirty="0">
                <a:solidFill>
                  <a:srgbClr val="1E2329"/>
                </a:solidFill>
              </a:rPr>
              <a:t>The culture of the Lodge for a year is yours. What you laugh at, who you sit with, how you speak to the newest member: the Lodge copies it.</a:t>
            </a:r>
            <a:endParaRPr lang="en-US" sz="1250" dirty="0"/>
          </a:p>
        </p:txBody>
      </p:sp>
      <p:sp>
        <p:nvSpPr>
          <p:cNvPr id="8" name="Numbered 2"/>
          <p:cNvSpPr/>
          <p:nvPr/>
        </p:nvSpPr>
        <p:spPr>
          <a:xfrm>
            <a:off x="4297680" y="1325880"/>
            <a:ext cx="3520440" cy="2103120"/>
          </a:xfrm>
          <a:prstGeom prst="roundRect">
            <a:avLst>
              <a:gd name="adj" fmla="val 3478"/>
            </a:avLst>
          </a:prstGeom>
          <a:solidFill>
            <a:srgbClr val="F2F7FC"/>
          </a:solidFill>
          <a:ln w="12700">
            <a:solidFill>
              <a:srgbClr val="F2F7FC"/>
            </a:solidFill>
            <a:prstDash val="solid"/>
          </a:ln>
        </p:spPr>
      </p:sp>
      <p:sp>
        <p:nvSpPr>
          <p:cNvPr id="9" name="Circle 2"/>
          <p:cNvSpPr/>
          <p:nvPr/>
        </p:nvSpPr>
        <p:spPr>
          <a:xfrm>
            <a:off x="4526280" y="1527048"/>
            <a:ext cx="548640" cy="548640"/>
          </a:xfrm>
          <a:prstGeom prst="ellipse">
            <a:avLst/>
          </a:prstGeom>
          <a:solidFill>
            <a:srgbClr val="0A4F72"/>
          </a:solidFill>
          <a:ln w="12700">
            <a:solidFill>
              <a:srgbClr val="0A4F72"/>
            </a:solidFill>
            <a:prstDash val="solid"/>
          </a:ln>
        </p:spPr>
      </p:sp>
      <p:sp>
        <p:nvSpPr>
          <p:cNvPr id="10" name="Text 8"/>
          <p:cNvSpPr txBox="1"/>
          <p:nvPr/>
        </p:nvSpPr>
        <p:spPr>
          <a:xfrm>
            <a:off x="4526280" y="1527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Text 9"/>
          <p:cNvSpPr txBox="1"/>
          <p:nvPr/>
        </p:nvSpPr>
        <p:spPr>
          <a:xfrm>
            <a:off x="5212080" y="1527048"/>
            <a:ext cx="2423160" cy="548640"/>
          </a:xfrm>
          <a:prstGeom prst="rect">
            <a:avLst/>
          </a:prstGeom>
          <a:noFill/>
          <a:ln/>
        </p:spPr>
        <p:txBody>
          <a:bodyPr wrap="square" lIns="0" tIns="0" rIns="0" bIns="0" rtlCol="0" anchor="ctr"/>
          <a:lstStyle/>
          <a:p>
            <a:pPr indent="0" marL="0">
              <a:buNone/>
            </a:pPr>
            <a:r>
              <a:rPr lang="en-US" sz="1450" b="1" dirty="0">
                <a:solidFill>
                  <a:srgbClr val="0A4F72"/>
                </a:solidFill>
              </a:rPr>
              <a:t>Hear the Lodge Mentor’s report</a:t>
            </a:r>
            <a:endParaRPr lang="en-US" sz="1450" dirty="0"/>
          </a:p>
        </p:txBody>
      </p:sp>
      <p:sp>
        <p:nvSpPr>
          <p:cNvPr id="12" name="Text 10"/>
          <p:cNvSpPr txBox="1"/>
          <p:nvPr/>
        </p:nvSpPr>
        <p:spPr>
          <a:xfrm>
            <a:off x="4526280" y="2194560"/>
            <a:ext cx="3063240" cy="1097280"/>
          </a:xfrm>
          <a:prstGeom prst="rect">
            <a:avLst/>
          </a:prstGeom>
          <a:noFill/>
          <a:ln/>
        </p:spPr>
        <p:txBody>
          <a:bodyPr wrap="square" lIns="0" tIns="0" rIns="0" bIns="0" rtlCol="0" anchor="t"/>
          <a:lstStyle/>
          <a:p>
            <a:pPr indent="0" marL="0">
              <a:buNone/>
            </a:pPr>
            <a:r>
              <a:rPr lang="en-US" sz="1250" dirty="0">
                <a:solidFill>
                  <a:srgbClr val="1E2329"/>
                </a:solidFill>
              </a:rPr>
              <a:t>On the Committee agenda, with the same weight as the Treasurer’s. Who has a mentor and a Plan; who has been missed; what the Lodge could change.</a:t>
            </a:r>
            <a:endParaRPr lang="en-US" sz="1250" dirty="0"/>
          </a:p>
        </p:txBody>
      </p:sp>
      <p:sp>
        <p:nvSpPr>
          <p:cNvPr id="13" name="Numbered 3"/>
          <p:cNvSpPr/>
          <p:nvPr/>
        </p:nvSpPr>
        <p:spPr>
          <a:xfrm>
            <a:off x="8046720" y="1325880"/>
            <a:ext cx="3520440" cy="2103120"/>
          </a:xfrm>
          <a:prstGeom prst="roundRect">
            <a:avLst>
              <a:gd name="adj" fmla="val 3478"/>
            </a:avLst>
          </a:prstGeom>
          <a:solidFill>
            <a:srgbClr val="F2F7FC"/>
          </a:solidFill>
          <a:ln w="12700">
            <a:solidFill>
              <a:srgbClr val="F2F7FC"/>
            </a:solidFill>
            <a:prstDash val="solid"/>
          </a:ln>
        </p:spPr>
      </p:sp>
      <p:sp>
        <p:nvSpPr>
          <p:cNvPr id="14" name="Circle 3"/>
          <p:cNvSpPr/>
          <p:nvPr/>
        </p:nvSpPr>
        <p:spPr>
          <a:xfrm>
            <a:off x="8275320" y="1527048"/>
            <a:ext cx="548640" cy="548640"/>
          </a:xfrm>
          <a:prstGeom prst="ellipse">
            <a:avLst/>
          </a:prstGeom>
          <a:solidFill>
            <a:srgbClr val="106576"/>
          </a:solidFill>
          <a:ln w="12700">
            <a:solidFill>
              <a:srgbClr val="106576"/>
            </a:solidFill>
            <a:prstDash val="solid"/>
          </a:ln>
        </p:spPr>
      </p:sp>
      <p:sp>
        <p:nvSpPr>
          <p:cNvPr id="15" name="Text 13"/>
          <p:cNvSpPr txBox="1"/>
          <p:nvPr/>
        </p:nvSpPr>
        <p:spPr>
          <a:xfrm>
            <a:off x="8275320" y="1527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6" name="Text 14"/>
          <p:cNvSpPr txBox="1"/>
          <p:nvPr/>
        </p:nvSpPr>
        <p:spPr>
          <a:xfrm>
            <a:off x="8961120" y="1527048"/>
            <a:ext cx="2423160" cy="548640"/>
          </a:xfrm>
          <a:prstGeom prst="rect">
            <a:avLst/>
          </a:prstGeom>
          <a:noFill/>
          <a:ln/>
        </p:spPr>
        <p:txBody>
          <a:bodyPr wrap="square" lIns="0" tIns="0" rIns="0" bIns="0" rtlCol="0" anchor="ctr"/>
          <a:lstStyle/>
          <a:p>
            <a:pPr indent="0" marL="0">
              <a:buNone/>
            </a:pPr>
            <a:r>
              <a:rPr lang="en-US" sz="1450" b="1" dirty="0">
                <a:solidFill>
                  <a:srgbClr val="106576"/>
                </a:solidFill>
              </a:rPr>
              <a:t>Brief the Lodge on mentoring</a:t>
            </a:r>
            <a:endParaRPr lang="en-US" sz="1450" dirty="0"/>
          </a:p>
        </p:txBody>
      </p:sp>
      <p:sp>
        <p:nvSpPr>
          <p:cNvPr id="17" name="Text 15"/>
          <p:cNvSpPr txBox="1"/>
          <p:nvPr/>
        </p:nvSpPr>
        <p:spPr>
          <a:xfrm>
            <a:off x="8275320" y="2194560"/>
            <a:ext cx="3063240" cy="1097280"/>
          </a:xfrm>
          <a:prstGeom prst="rect">
            <a:avLst/>
          </a:prstGeom>
          <a:noFill/>
          <a:ln/>
        </p:spPr>
        <p:txBody>
          <a:bodyPr wrap="square" lIns="0" tIns="0" rIns="0" bIns="0" rtlCol="0" anchor="t"/>
          <a:lstStyle/>
          <a:p>
            <a:pPr indent="0" marL="0">
              <a:buNone/>
            </a:pPr>
            <a:r>
              <a:rPr lang="en-US" sz="1250" dirty="0">
                <a:solidFill>
                  <a:srgbClr val="1E2329"/>
                </a:solidFill>
              </a:rPr>
              <a:t>Once in your year, in open Lodge. The Lodge Mentor has the presentation. We are all mentors to others.</a:t>
            </a:r>
            <a:endParaRPr lang="en-US" sz="1250" dirty="0"/>
          </a:p>
        </p:txBody>
      </p:sp>
      <p:sp>
        <p:nvSpPr>
          <p:cNvPr id="18" name="Numbered 4"/>
          <p:cNvSpPr/>
          <p:nvPr/>
        </p:nvSpPr>
        <p:spPr>
          <a:xfrm>
            <a:off x="548640" y="3611880"/>
            <a:ext cx="3520440" cy="2103120"/>
          </a:xfrm>
          <a:prstGeom prst="roundRect">
            <a:avLst>
              <a:gd name="adj" fmla="val 3478"/>
            </a:avLst>
          </a:prstGeom>
          <a:solidFill>
            <a:srgbClr val="F2F7FC"/>
          </a:solidFill>
          <a:ln w="12700">
            <a:solidFill>
              <a:srgbClr val="F2F7FC"/>
            </a:solidFill>
            <a:prstDash val="solid"/>
          </a:ln>
        </p:spPr>
      </p:sp>
      <p:sp>
        <p:nvSpPr>
          <p:cNvPr id="19" name="Circle 4"/>
          <p:cNvSpPr/>
          <p:nvPr/>
        </p:nvSpPr>
        <p:spPr>
          <a:xfrm>
            <a:off x="777240" y="3813048"/>
            <a:ext cx="548640" cy="548640"/>
          </a:xfrm>
          <a:prstGeom prst="ellipse">
            <a:avLst/>
          </a:prstGeom>
          <a:solidFill>
            <a:srgbClr val="157A7C"/>
          </a:solidFill>
          <a:ln w="12700">
            <a:solidFill>
              <a:srgbClr val="157A7C"/>
            </a:solidFill>
            <a:prstDash val="solid"/>
          </a:ln>
        </p:spPr>
      </p:sp>
      <p:sp>
        <p:nvSpPr>
          <p:cNvPr id="20" name="Text 18"/>
          <p:cNvSpPr txBox="1"/>
          <p:nvPr/>
        </p:nvSpPr>
        <p:spPr>
          <a:xfrm>
            <a:off x="777240" y="3813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1" name="Text 19"/>
          <p:cNvSpPr txBox="1"/>
          <p:nvPr/>
        </p:nvSpPr>
        <p:spPr>
          <a:xfrm>
            <a:off x="1463040" y="3813048"/>
            <a:ext cx="2423160" cy="548640"/>
          </a:xfrm>
          <a:prstGeom prst="rect">
            <a:avLst/>
          </a:prstGeom>
          <a:noFill/>
          <a:ln/>
        </p:spPr>
        <p:txBody>
          <a:bodyPr wrap="square" lIns="0" tIns="0" rIns="0" bIns="0" rtlCol="0" anchor="ctr"/>
          <a:lstStyle/>
          <a:p>
            <a:pPr indent="0" marL="0">
              <a:buNone/>
            </a:pPr>
            <a:r>
              <a:rPr lang="en-US" sz="1450" b="1" dirty="0">
                <a:solidFill>
                  <a:srgbClr val="157A7C"/>
                </a:solidFill>
              </a:rPr>
              <a:t>Protect juniors from pressure</a:t>
            </a:r>
            <a:endParaRPr lang="en-US" sz="1450" dirty="0"/>
          </a:p>
        </p:txBody>
      </p:sp>
      <p:sp>
        <p:nvSpPr>
          <p:cNvPr id="22" name="Text 20"/>
          <p:cNvSpPr txBox="1"/>
          <p:nvPr/>
        </p:nvSpPr>
        <p:spPr>
          <a:xfrm>
            <a:off x="777240" y="4480560"/>
            <a:ext cx="3063240" cy="1097280"/>
          </a:xfrm>
          <a:prstGeom prst="rect">
            <a:avLst/>
          </a:prstGeom>
          <a:noFill/>
          <a:ln/>
        </p:spPr>
        <p:txBody>
          <a:bodyPr wrap="square" lIns="0" tIns="0" rIns="0" bIns="0" rtlCol="0" anchor="t"/>
          <a:lstStyle/>
          <a:p>
            <a:pPr indent="0" marL="0">
              <a:buNone/>
            </a:pPr>
            <a:r>
              <a:rPr lang="en-US" sz="1250" dirty="0">
                <a:solidFill>
                  <a:srgbClr val="1E2329"/>
                </a:solidFill>
              </a:rPr>
              <a:t>No office before ready; no ritual beyond ability; no Chapter sales pitch at the bar. And no capable man left waiting.</a:t>
            </a:r>
            <a:endParaRPr lang="en-US" sz="1250" dirty="0"/>
          </a:p>
        </p:txBody>
      </p:sp>
      <p:sp>
        <p:nvSpPr>
          <p:cNvPr id="23" name="Numbered 5"/>
          <p:cNvSpPr/>
          <p:nvPr/>
        </p:nvSpPr>
        <p:spPr>
          <a:xfrm>
            <a:off x="4297680" y="3611880"/>
            <a:ext cx="3520440" cy="2103120"/>
          </a:xfrm>
          <a:prstGeom prst="roundRect">
            <a:avLst>
              <a:gd name="adj" fmla="val 3478"/>
            </a:avLst>
          </a:prstGeom>
          <a:solidFill>
            <a:srgbClr val="F2F7FC"/>
          </a:solidFill>
          <a:ln w="12700">
            <a:solidFill>
              <a:srgbClr val="F2F7FC"/>
            </a:solidFill>
            <a:prstDash val="solid"/>
          </a:ln>
        </p:spPr>
      </p:sp>
      <p:sp>
        <p:nvSpPr>
          <p:cNvPr id="24" name="Circle 5"/>
          <p:cNvSpPr/>
          <p:nvPr/>
        </p:nvSpPr>
        <p:spPr>
          <a:xfrm>
            <a:off x="4526280" y="3813048"/>
            <a:ext cx="548640" cy="548640"/>
          </a:xfrm>
          <a:prstGeom prst="ellipse">
            <a:avLst/>
          </a:prstGeom>
          <a:solidFill>
            <a:srgbClr val="06345D"/>
          </a:solidFill>
          <a:ln w="12700">
            <a:solidFill>
              <a:srgbClr val="06345D"/>
            </a:solidFill>
            <a:prstDash val="solid"/>
          </a:ln>
        </p:spPr>
      </p:sp>
      <p:sp>
        <p:nvSpPr>
          <p:cNvPr id="25" name="Text 23"/>
          <p:cNvSpPr txBox="1"/>
          <p:nvPr/>
        </p:nvSpPr>
        <p:spPr>
          <a:xfrm>
            <a:off x="4526280" y="3813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6" name="Text 24"/>
          <p:cNvSpPr txBox="1"/>
          <p:nvPr/>
        </p:nvSpPr>
        <p:spPr>
          <a:xfrm>
            <a:off x="5212080" y="3813048"/>
            <a:ext cx="2423160" cy="548640"/>
          </a:xfrm>
          <a:prstGeom prst="rect">
            <a:avLst/>
          </a:prstGeom>
          <a:noFill/>
          <a:ln/>
        </p:spPr>
        <p:txBody>
          <a:bodyPr wrap="square" lIns="0" tIns="0" rIns="0" bIns="0" rtlCol="0" anchor="ctr"/>
          <a:lstStyle/>
          <a:p>
            <a:pPr indent="0" marL="0">
              <a:buNone/>
            </a:pPr>
            <a:r>
              <a:rPr lang="en-US" sz="1450" b="1" dirty="0">
                <a:solidFill>
                  <a:srgbClr val="06345D"/>
                </a:solidFill>
              </a:rPr>
              <a:t>Own the Step 3 conversation</a:t>
            </a:r>
            <a:endParaRPr lang="en-US" sz="1450" dirty="0"/>
          </a:p>
        </p:txBody>
      </p:sp>
      <p:sp>
        <p:nvSpPr>
          <p:cNvPr id="27" name="Text 25"/>
          <p:cNvSpPr txBox="1"/>
          <p:nvPr/>
        </p:nvSpPr>
        <p:spPr>
          <a:xfrm>
            <a:off x="4526280" y="4480560"/>
            <a:ext cx="3063240" cy="1097280"/>
          </a:xfrm>
          <a:prstGeom prst="rect">
            <a:avLst/>
          </a:prstGeom>
          <a:noFill/>
          <a:ln/>
        </p:spPr>
        <p:txBody>
          <a:bodyPr wrap="square" lIns="0" tIns="0" rIns="0" bIns="0" rtlCol="0" anchor="t"/>
          <a:lstStyle/>
          <a:p>
            <a:pPr indent="0" marL="0">
              <a:buNone/>
            </a:pPr>
            <a:r>
              <a:rPr lang="en-US" sz="1250" dirty="0">
                <a:solidFill>
                  <a:srgbClr val="1E2329"/>
                </a:solidFill>
              </a:rPr>
              <a:t>When a member is drifting and it touches Lodge culture, office or another member, the Master has the conversation. Almoner alongside for welfare.</a:t>
            </a:r>
            <a:endParaRPr lang="en-US" sz="1250" dirty="0"/>
          </a:p>
        </p:txBody>
      </p:sp>
      <p:sp>
        <p:nvSpPr>
          <p:cNvPr id="28" name="Card The right question"/>
          <p:cNvSpPr/>
          <p:nvPr/>
        </p:nvSpPr>
        <p:spPr>
          <a:xfrm>
            <a:off x="8046720" y="3611880"/>
            <a:ext cx="3520440" cy="2103120"/>
          </a:xfrm>
          <a:prstGeom prst="roundRect">
            <a:avLst>
              <a:gd name="adj" fmla="val 3478"/>
            </a:avLst>
          </a:prstGeom>
          <a:solidFill>
            <a:srgbClr val="E6F2F2"/>
          </a:solidFill>
          <a:ln w="12700">
            <a:solidFill>
              <a:srgbClr val="E6F2F2"/>
            </a:solidFill>
            <a:prstDash val="solid"/>
          </a:ln>
        </p:spPr>
      </p:sp>
      <p:pic>
        <p:nvPicPr>
          <p:cNvPr id="29" name="Image 0" descr="preencoded.png">    </p:cNvPr>
          <p:cNvPicPr>
            <a:picLocks noChangeAspect="1"/>
          </p:cNvPicPr>
          <p:nvPr/>
        </p:nvPicPr>
        <p:blipFill>
          <a:blip r:embed="rId1"/>
          <a:stretch>
            <a:fillRect/>
          </a:stretch>
        </p:blipFill>
        <p:spPr>
          <a:xfrm>
            <a:off x="8247888" y="3794760"/>
            <a:ext cx="384048" cy="384048"/>
          </a:xfrm>
          <a:prstGeom prst="rect">
            <a:avLst/>
          </a:prstGeom>
        </p:spPr>
      </p:pic>
      <p:sp>
        <p:nvSpPr>
          <p:cNvPr id="30" name="Text 27"/>
          <p:cNvSpPr txBox="1"/>
          <p:nvPr/>
        </p:nvSpPr>
        <p:spPr>
          <a:xfrm>
            <a:off x="8759952" y="3776472"/>
            <a:ext cx="2606040" cy="411480"/>
          </a:xfrm>
          <a:prstGeom prst="rect">
            <a:avLst/>
          </a:prstGeom>
          <a:noFill/>
          <a:ln/>
        </p:spPr>
        <p:txBody>
          <a:bodyPr wrap="square" lIns="0" tIns="0" rIns="0" bIns="0" rtlCol="0" anchor="ctr"/>
          <a:lstStyle/>
          <a:p>
            <a:pPr indent="0" marL="0">
              <a:buNone/>
            </a:pPr>
            <a:r>
              <a:rPr lang="en-US" sz="1600" b="1" dirty="0">
                <a:solidFill>
                  <a:srgbClr val="003668"/>
                </a:solidFill>
              </a:rPr>
              <a:t>The right question</a:t>
            </a:r>
            <a:endParaRPr lang="en-US" sz="1600" dirty="0"/>
          </a:p>
        </p:txBody>
      </p:sp>
      <p:sp>
        <p:nvSpPr>
          <p:cNvPr id="31" name="Text 28"/>
          <p:cNvSpPr txBox="1"/>
          <p:nvPr/>
        </p:nvSpPr>
        <p:spPr>
          <a:xfrm>
            <a:off x="8275320" y="4233672"/>
            <a:ext cx="3063240" cy="1371600"/>
          </a:xfrm>
          <a:prstGeom prst="rect">
            <a:avLst/>
          </a:prstGeom>
          <a:noFill/>
          <a:ln/>
        </p:spPr>
        <p:txBody>
          <a:bodyPr wrap="square" lIns="0" tIns="0" rIns="0" bIns="0" rtlCol="0" anchor="t"/>
          <a:lstStyle/>
          <a:p>
            <a:pPr indent="0" marL="0">
              <a:buNone/>
            </a:pPr>
            <a:r>
              <a:rPr lang="en-US" sz="1500" dirty="0">
                <a:solidFill>
                  <a:srgbClr val="1E2329"/>
                </a:solidFill>
              </a:rPr>
              <a:t>Always “How can we help?”, never “Why weren’t you there?”</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True or false?</a:t>
            </a:r>
            <a:endParaRPr lang="en-US" sz="3200" dirty="0"/>
          </a:p>
        </p:txBody>
      </p:sp>
      <p:sp>
        <p:nvSpPr>
          <p:cNvPr id="3" name="Statement 1"/>
          <p:cNvSpPr/>
          <p:nvPr/>
        </p:nvSpPr>
        <p:spPr>
          <a:xfrm>
            <a:off x="548640" y="1371600"/>
            <a:ext cx="11064240" cy="2011680"/>
          </a:xfrm>
          <a:prstGeom prst="roundRect">
            <a:avLst>
              <a:gd name="adj" fmla="val 3636"/>
            </a:avLst>
          </a:prstGeom>
          <a:solidFill>
            <a:srgbClr val="F2F7FC"/>
          </a:solidFill>
          <a:ln w="12700">
            <a:solidFill>
              <a:srgbClr val="F2F7FC"/>
            </a:solidFill>
            <a:prstDash val="solid"/>
          </a:ln>
        </p:spPr>
      </p:sp>
      <p:sp>
        <p:nvSpPr>
          <p:cNvPr id="4" name="Q circle 1"/>
          <p:cNvSpPr/>
          <p:nvPr/>
        </p:nvSpPr>
        <p:spPr>
          <a:xfrm>
            <a:off x="868680" y="2057400"/>
            <a:ext cx="640080" cy="640080"/>
          </a:xfrm>
          <a:prstGeom prst="ellipse">
            <a:avLst/>
          </a:prstGeom>
          <a:solidFill>
            <a:srgbClr val="003668"/>
          </a:solidFill>
          <a:ln w="12700">
            <a:solidFill>
              <a:srgbClr val="003668"/>
            </a:solidFill>
            <a:prstDash val="solid"/>
          </a:ln>
        </p:spPr>
      </p:sp>
      <p:sp>
        <p:nvSpPr>
          <p:cNvPr id="5" name="Text 3"/>
          <p:cNvSpPr txBox="1"/>
          <p:nvPr/>
        </p:nvSpPr>
        <p:spPr>
          <a:xfrm>
            <a:off x="868680" y="20574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1783080" y="1371600"/>
            <a:ext cx="9601200" cy="2011680"/>
          </a:xfrm>
          <a:prstGeom prst="rect">
            <a:avLst/>
          </a:prstGeom>
          <a:noFill/>
          <a:ln/>
        </p:spPr>
        <p:txBody>
          <a:bodyPr wrap="square" lIns="0" tIns="0" rIns="0" bIns="0" rtlCol="0" anchor="ctr"/>
          <a:lstStyle/>
          <a:p>
            <a:pPr indent="0" marL="0">
              <a:buNone/>
            </a:pPr>
            <a:r>
              <a:rPr lang="en-US" sz="2400" b="1" dirty="0">
                <a:solidFill>
                  <a:srgbClr val="06345D"/>
                </a:solidFill>
              </a:rPr>
              <a:t>A Warden invested a meeting late can still be elected Master the following year.</a:t>
            </a:r>
            <a:endParaRPr lang="en-US" sz="2400" dirty="0"/>
          </a:p>
        </p:txBody>
      </p:sp>
      <p:sp>
        <p:nvSpPr>
          <p:cNvPr id="7" name="Statement 2"/>
          <p:cNvSpPr/>
          <p:nvPr/>
        </p:nvSpPr>
        <p:spPr>
          <a:xfrm>
            <a:off x="548640" y="3611880"/>
            <a:ext cx="11064240" cy="2011680"/>
          </a:xfrm>
          <a:prstGeom prst="roundRect">
            <a:avLst>
              <a:gd name="adj" fmla="val 3636"/>
            </a:avLst>
          </a:prstGeom>
          <a:solidFill>
            <a:srgbClr val="F2F7FC"/>
          </a:solidFill>
          <a:ln w="12700">
            <a:solidFill>
              <a:srgbClr val="F2F7FC"/>
            </a:solidFill>
            <a:prstDash val="solid"/>
          </a:ln>
        </p:spPr>
      </p:sp>
      <p:sp>
        <p:nvSpPr>
          <p:cNvPr id="8" name="Q circle 2"/>
          <p:cNvSpPr/>
          <p:nvPr/>
        </p:nvSpPr>
        <p:spPr>
          <a:xfrm>
            <a:off x="868680" y="4297680"/>
            <a:ext cx="640080" cy="640080"/>
          </a:xfrm>
          <a:prstGeom prst="ellipse">
            <a:avLst/>
          </a:prstGeom>
          <a:solidFill>
            <a:srgbClr val="0A4F72"/>
          </a:solidFill>
          <a:ln w="12700">
            <a:solidFill>
              <a:srgbClr val="0A4F72"/>
            </a:solidFill>
            <a:prstDash val="solid"/>
          </a:ln>
        </p:spPr>
      </p:sp>
      <p:sp>
        <p:nvSpPr>
          <p:cNvPr id="9" name="Text 7"/>
          <p:cNvSpPr txBox="1"/>
          <p:nvPr/>
        </p:nvSpPr>
        <p:spPr>
          <a:xfrm>
            <a:off x="868680" y="4297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0" name="Text 8"/>
          <p:cNvSpPr txBox="1"/>
          <p:nvPr/>
        </p:nvSpPr>
        <p:spPr>
          <a:xfrm>
            <a:off x="1783080" y="3611880"/>
            <a:ext cx="9601200" cy="2011680"/>
          </a:xfrm>
          <a:prstGeom prst="rect">
            <a:avLst/>
          </a:prstGeom>
          <a:noFill/>
          <a:ln/>
        </p:spPr>
        <p:txBody>
          <a:bodyPr wrap="square" lIns="0" tIns="0" rIns="0" bIns="0" rtlCol="0" anchor="ctr"/>
          <a:lstStyle/>
          <a:p>
            <a:pPr indent="0" marL="0">
              <a:buNone/>
            </a:pPr>
            <a:r>
              <a:rPr lang="en-US" sz="2400" b="1" dirty="0">
                <a:solidFill>
                  <a:srgbClr val="06345D"/>
                </a:solidFill>
              </a:rPr>
              <a:t>A Master may serve two years running in the same Lodge.</a:t>
            </a:r>
            <a:endParaRPr lang="en-US" sz="2400" dirty="0"/>
          </a:p>
        </p:txBody>
      </p:sp>
      <p:sp>
        <p:nvSpPr>
          <p:cNvPr id="11" name="Prompt"/>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500" b="1" dirty="0">
                <a:solidFill>
                  <a:srgbClr val="157A7C"/>
                </a:solidFill>
              </a:rPr>
              <a:t>Hands up for true. Then the answer.</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answers</a:t>
            </a:r>
            <a:endParaRPr lang="en-US" sz="3200" dirty="0"/>
          </a:p>
        </p:txBody>
      </p:sp>
      <p:sp>
        <p:nvSpPr>
          <p:cNvPr id="3" name="Answer 1"/>
          <p:cNvSpPr/>
          <p:nvPr/>
        </p:nvSpPr>
        <p:spPr>
          <a:xfrm>
            <a:off x="548640" y="1371600"/>
            <a:ext cx="11064240" cy="2011680"/>
          </a:xfrm>
          <a:prstGeom prst="roundRect">
            <a:avLst>
              <a:gd name="adj" fmla="val 3636"/>
            </a:avLst>
          </a:prstGeom>
          <a:solidFill>
            <a:srgbClr val="F2F7FC"/>
          </a:solidFill>
          <a:ln w="12700">
            <a:solidFill>
              <a:srgbClr val="F2F7FC"/>
            </a:solidFill>
            <a:prstDash val="solid"/>
          </a:ln>
        </p:spPr>
      </p:sp>
      <p:sp>
        <p:nvSpPr>
          <p:cNvPr id="4" name="Badge 1"/>
          <p:cNvSpPr/>
          <p:nvPr/>
        </p:nvSpPr>
        <p:spPr>
          <a:xfrm>
            <a:off x="868680" y="1600200"/>
            <a:ext cx="1234440" cy="457200"/>
          </a:xfrm>
          <a:prstGeom prst="roundRect">
            <a:avLst>
              <a:gd name="adj" fmla="val 20000"/>
            </a:avLst>
          </a:prstGeom>
          <a:solidFill>
            <a:srgbClr val="0A4F72"/>
          </a:solidFill>
          <a:ln w="12700">
            <a:solidFill>
              <a:srgbClr val="0A4F72"/>
            </a:solidFill>
            <a:prstDash val="solid"/>
          </a:ln>
        </p:spPr>
      </p:sp>
      <p:sp>
        <p:nvSpPr>
          <p:cNvPr id="5" name="Text 3"/>
          <p:cNvSpPr txBox="1"/>
          <p:nvPr/>
        </p:nvSpPr>
        <p:spPr>
          <a:xfrm>
            <a:off x="868680" y="1600200"/>
            <a:ext cx="1234440" cy="457200"/>
          </a:xfrm>
          <a:prstGeom prst="rect">
            <a:avLst/>
          </a:prstGeom>
          <a:noFill/>
          <a:ln/>
        </p:spPr>
        <p:txBody>
          <a:bodyPr wrap="square" lIns="0" tIns="0" rIns="0" bIns="0" rtlCol="0" anchor="ctr"/>
          <a:lstStyle/>
          <a:p>
            <a:pPr algn="ctr" indent="0" marL="0">
              <a:buNone/>
            </a:pPr>
            <a:r>
              <a:rPr lang="en-US" sz="1500" b="1" dirty="0">
                <a:solidFill>
                  <a:srgbClr val="FFFFFF"/>
                </a:solidFill>
              </a:rPr>
              <a:t>FALSE</a:t>
            </a:r>
            <a:endParaRPr lang="en-US" sz="1500" dirty="0"/>
          </a:p>
        </p:txBody>
      </p:sp>
      <p:sp>
        <p:nvSpPr>
          <p:cNvPr id="6" name="Text 4"/>
          <p:cNvSpPr txBox="1"/>
          <p:nvPr/>
        </p:nvSpPr>
        <p:spPr>
          <a:xfrm>
            <a:off x="2286000" y="1572768"/>
            <a:ext cx="9052560" cy="512064"/>
          </a:xfrm>
          <a:prstGeom prst="rect">
            <a:avLst/>
          </a:prstGeom>
          <a:noFill/>
          <a:ln/>
        </p:spPr>
        <p:txBody>
          <a:bodyPr wrap="square" lIns="0" tIns="0" rIns="0" bIns="0" rtlCol="0" anchor="ctr"/>
          <a:lstStyle/>
          <a:p>
            <a:pPr indent="0" marL="0">
              <a:buNone/>
            </a:pPr>
            <a:r>
              <a:rPr lang="en-US" sz="1600" b="1" dirty="0">
                <a:solidFill>
                  <a:srgbClr val="06345D"/>
                </a:solidFill>
              </a:rPr>
              <a:t>A Warden invested a meeting late can still be elected Master the following year.</a:t>
            </a:r>
            <a:endParaRPr lang="en-US" sz="1600" dirty="0"/>
          </a:p>
        </p:txBody>
      </p:sp>
      <p:sp>
        <p:nvSpPr>
          <p:cNvPr id="7" name="Text 5"/>
          <p:cNvSpPr txBox="1"/>
          <p:nvPr/>
        </p:nvSpPr>
        <p:spPr>
          <a:xfrm>
            <a:off x="868680" y="2194560"/>
            <a:ext cx="10424160" cy="868680"/>
          </a:xfrm>
          <a:prstGeom prst="rect">
            <a:avLst/>
          </a:prstGeom>
          <a:noFill/>
          <a:ln/>
        </p:spPr>
        <p:txBody>
          <a:bodyPr wrap="square" lIns="0" tIns="0" rIns="0" bIns="0" rtlCol="0" anchor="t"/>
          <a:lstStyle/>
          <a:p>
            <a:pPr indent="0" marL="0">
              <a:buNone/>
            </a:pPr>
            <a:r>
              <a:rPr lang="en-US" sz="1400" dirty="0">
                <a:solidFill>
                  <a:srgbClr val="1E2329"/>
                </a:solidFill>
              </a:rPr>
              <a:t>Not without a dispensation. A Warden must serve a full year, Installation to Installation, to be eligible for the Chair. The office queue has to allow for it.</a:t>
            </a:r>
            <a:endParaRPr lang="en-US" sz="1400" dirty="0"/>
          </a:p>
        </p:txBody>
      </p:sp>
      <p:sp>
        <p:nvSpPr>
          <p:cNvPr id="8" name="Text 6"/>
          <p:cNvSpPr txBox="1"/>
          <p:nvPr/>
        </p:nvSpPr>
        <p:spPr>
          <a:xfrm>
            <a:off x="868680" y="3035808"/>
            <a:ext cx="10424160" cy="274320"/>
          </a:xfrm>
          <a:prstGeom prst="rect">
            <a:avLst/>
          </a:prstGeom>
          <a:noFill/>
          <a:ln/>
        </p:spPr>
        <p:txBody>
          <a:bodyPr wrap="square" lIns="0" tIns="0" rIns="0" bIns="0" rtlCol="0" anchor="t"/>
          <a:lstStyle/>
          <a:p>
            <a:pPr indent="0" marL="0">
              <a:buNone/>
            </a:pPr>
            <a:r>
              <a:rPr lang="en-US" sz="1100" i="1" dirty="0">
                <a:solidFill>
                  <a:srgbClr val="0A4F72"/>
                </a:solidFill>
              </a:rPr>
              <a:t>Rules 105a and 109</a:t>
            </a:r>
            <a:endParaRPr lang="en-US" sz="1100" dirty="0"/>
          </a:p>
        </p:txBody>
      </p:sp>
      <p:sp>
        <p:nvSpPr>
          <p:cNvPr id="9" name="Answer 2"/>
          <p:cNvSpPr/>
          <p:nvPr/>
        </p:nvSpPr>
        <p:spPr>
          <a:xfrm>
            <a:off x="548640" y="3611880"/>
            <a:ext cx="11064240" cy="2011680"/>
          </a:xfrm>
          <a:prstGeom prst="roundRect">
            <a:avLst>
              <a:gd name="adj" fmla="val 3636"/>
            </a:avLst>
          </a:prstGeom>
          <a:solidFill>
            <a:srgbClr val="F2F7FC"/>
          </a:solidFill>
          <a:ln w="12700">
            <a:solidFill>
              <a:srgbClr val="F2F7FC"/>
            </a:solidFill>
            <a:prstDash val="solid"/>
          </a:ln>
        </p:spPr>
      </p:sp>
      <p:sp>
        <p:nvSpPr>
          <p:cNvPr id="10" name="Badge 2"/>
          <p:cNvSpPr/>
          <p:nvPr/>
        </p:nvSpPr>
        <p:spPr>
          <a:xfrm>
            <a:off x="868680" y="3840480"/>
            <a:ext cx="1234440" cy="457200"/>
          </a:xfrm>
          <a:prstGeom prst="roundRect">
            <a:avLst>
              <a:gd name="adj" fmla="val 20000"/>
            </a:avLst>
          </a:prstGeom>
          <a:solidFill>
            <a:srgbClr val="157A7C"/>
          </a:solidFill>
          <a:ln w="12700">
            <a:solidFill>
              <a:srgbClr val="157A7C"/>
            </a:solidFill>
            <a:prstDash val="solid"/>
          </a:ln>
        </p:spPr>
      </p:sp>
      <p:sp>
        <p:nvSpPr>
          <p:cNvPr id="11" name="Text 9"/>
          <p:cNvSpPr txBox="1"/>
          <p:nvPr/>
        </p:nvSpPr>
        <p:spPr>
          <a:xfrm>
            <a:off x="868680" y="3840480"/>
            <a:ext cx="1234440" cy="457200"/>
          </a:xfrm>
          <a:prstGeom prst="rect">
            <a:avLst/>
          </a:prstGeom>
          <a:noFill/>
          <a:ln/>
        </p:spPr>
        <p:txBody>
          <a:bodyPr wrap="square" lIns="0" tIns="0" rIns="0" bIns="0" rtlCol="0" anchor="ctr"/>
          <a:lstStyle/>
          <a:p>
            <a:pPr algn="ctr" indent="0" marL="0">
              <a:buNone/>
            </a:pPr>
            <a:r>
              <a:rPr lang="en-US" sz="1500" b="1" dirty="0">
                <a:solidFill>
                  <a:srgbClr val="FFFFFF"/>
                </a:solidFill>
              </a:rPr>
              <a:t>TRUE</a:t>
            </a:r>
            <a:endParaRPr lang="en-US" sz="1500" dirty="0"/>
          </a:p>
        </p:txBody>
      </p:sp>
      <p:sp>
        <p:nvSpPr>
          <p:cNvPr id="12" name="Text 10"/>
          <p:cNvSpPr txBox="1"/>
          <p:nvPr/>
        </p:nvSpPr>
        <p:spPr>
          <a:xfrm>
            <a:off x="2286000" y="3813048"/>
            <a:ext cx="9052560" cy="512064"/>
          </a:xfrm>
          <a:prstGeom prst="rect">
            <a:avLst/>
          </a:prstGeom>
          <a:noFill/>
          <a:ln/>
        </p:spPr>
        <p:txBody>
          <a:bodyPr wrap="square" lIns="0" tIns="0" rIns="0" bIns="0" rtlCol="0" anchor="ctr"/>
          <a:lstStyle/>
          <a:p>
            <a:pPr indent="0" marL="0">
              <a:buNone/>
            </a:pPr>
            <a:r>
              <a:rPr lang="en-US" sz="1600" b="1" dirty="0">
                <a:solidFill>
                  <a:srgbClr val="06345D"/>
                </a:solidFill>
              </a:rPr>
              <a:t>A Master may serve two years running in the same Lodge.</a:t>
            </a:r>
            <a:endParaRPr lang="en-US" sz="1600" dirty="0"/>
          </a:p>
        </p:txBody>
      </p:sp>
      <p:sp>
        <p:nvSpPr>
          <p:cNvPr id="13" name="Text 11"/>
          <p:cNvSpPr txBox="1"/>
          <p:nvPr/>
        </p:nvSpPr>
        <p:spPr>
          <a:xfrm>
            <a:off x="868680" y="4434840"/>
            <a:ext cx="10424160" cy="868680"/>
          </a:xfrm>
          <a:prstGeom prst="rect">
            <a:avLst/>
          </a:prstGeom>
          <a:noFill/>
          <a:ln/>
        </p:spPr>
        <p:txBody>
          <a:bodyPr wrap="square" lIns="0" tIns="0" rIns="0" bIns="0" rtlCol="0" anchor="t"/>
          <a:lstStyle/>
          <a:p>
            <a:pPr indent="0" marL="0">
              <a:buNone/>
            </a:pPr>
            <a:r>
              <a:rPr lang="en-US" sz="1400" dirty="0">
                <a:solidFill>
                  <a:srgbClr val="1E2329"/>
                </a:solidFill>
              </a:rPr>
              <a:t>He is proclaimed, not installed again; the Address to the Master is not given; and he receives no Past Master’s jewel until he has installed his successor. He may not be Master of two Lodges at once without a dispensation.</a:t>
            </a:r>
            <a:endParaRPr lang="en-US" sz="1400" dirty="0"/>
          </a:p>
        </p:txBody>
      </p:sp>
      <p:sp>
        <p:nvSpPr>
          <p:cNvPr id="14" name="Text 12"/>
          <p:cNvSpPr txBox="1"/>
          <p:nvPr/>
        </p:nvSpPr>
        <p:spPr>
          <a:xfrm>
            <a:off x="868680" y="5276088"/>
            <a:ext cx="10424160" cy="274320"/>
          </a:xfrm>
          <a:prstGeom prst="rect">
            <a:avLst/>
          </a:prstGeom>
          <a:noFill/>
          <a:ln/>
        </p:spPr>
        <p:txBody>
          <a:bodyPr wrap="square" lIns="0" tIns="0" rIns="0" bIns="0" rtlCol="0" anchor="t"/>
          <a:lstStyle/>
          <a:p>
            <a:pPr indent="0" marL="0">
              <a:buNone/>
            </a:pPr>
            <a:r>
              <a:rPr lang="en-US" sz="1100" i="1" dirty="0">
                <a:solidFill>
                  <a:srgbClr val="0A4F72"/>
                </a:solidFill>
              </a:rPr>
              <a:t>Rules 107 and 115; PGL Herts Secretaries’ Handbook, Master continuing in office</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Exercise: the office queue</a:t>
            </a:r>
            <a:endParaRPr lang="en-US" sz="3200" dirty="0"/>
          </a:p>
        </p:txBody>
      </p:sp>
      <p:sp>
        <p:nvSpPr>
          <p:cNvPr id="3" name="Timer"/>
          <p:cNvSpPr/>
          <p:nvPr/>
        </p:nvSpPr>
        <p:spPr>
          <a:xfrm>
            <a:off x="9537192" y="457200"/>
            <a:ext cx="2103120" cy="548640"/>
          </a:xfrm>
          <a:prstGeom prst="roundRect">
            <a:avLst>
              <a:gd name="adj" fmla="val 13333"/>
            </a:avLst>
          </a:prstGeom>
          <a:solidFill>
            <a:srgbClr val="157A7C"/>
          </a:solidFill>
          <a:ln w="12700">
            <a:solidFill>
              <a:srgbClr val="157A7C"/>
            </a:solidFill>
            <a:prstDash val="solid"/>
          </a:ln>
        </p:spPr>
      </p:sp>
      <p:sp>
        <p:nvSpPr>
          <p:cNvPr id="4" name="Text 2"/>
          <p:cNvSpPr txBox="1"/>
          <p:nvPr/>
        </p:nvSpPr>
        <p:spPr>
          <a:xfrm>
            <a:off x="9537192" y="457200"/>
            <a:ext cx="2103120" cy="548640"/>
          </a:xfrm>
          <a:prstGeom prst="rect">
            <a:avLst/>
          </a:prstGeom>
          <a:noFill/>
          <a:ln/>
        </p:spPr>
        <p:txBody>
          <a:bodyPr wrap="square" lIns="0" tIns="0" rIns="0" bIns="0" rtlCol="0" anchor="ctr"/>
          <a:lstStyle/>
          <a:p>
            <a:pPr algn="ctr" indent="0" marL="0">
              <a:buNone/>
            </a:pPr>
            <a:r>
              <a:rPr lang="en-US" sz="1500" b="1" dirty="0">
                <a:solidFill>
                  <a:srgbClr val="FFFFFF"/>
                </a:solidFill>
              </a:rPr>
              <a:t>On your own · 4 min</a:t>
            </a:r>
            <a:endParaRPr lang="en-US" sz="1500" dirty="0"/>
          </a:p>
        </p:txBody>
      </p:sp>
      <p:sp>
        <p:nvSpPr>
          <p:cNvPr id="5" name="Exercise band"/>
          <p:cNvSpPr/>
          <p:nvPr/>
        </p:nvSpPr>
        <p:spPr>
          <a:xfrm>
            <a:off x="548640" y="1371600"/>
            <a:ext cx="11064240" cy="1737360"/>
          </a:xfrm>
          <a:prstGeom prst="roundRect">
            <a:avLst>
              <a:gd name="adj" fmla="val 4211"/>
            </a:avLst>
          </a:prstGeom>
          <a:solidFill>
            <a:srgbClr val="003668"/>
          </a:solidFill>
          <a:ln w="12700">
            <a:solidFill>
              <a:srgbClr val="003668"/>
            </a:solidFill>
            <a:prstDash val="solid"/>
          </a:ln>
        </p:spPr>
      </p:sp>
      <p:sp>
        <p:nvSpPr>
          <p:cNvPr id="6" name="Exercise text"/>
          <p:cNvSpPr txBox="1"/>
          <p:nvPr/>
        </p:nvSpPr>
        <p:spPr>
          <a:xfrm>
            <a:off x="914400" y="1371600"/>
            <a:ext cx="10332720" cy="1737360"/>
          </a:xfrm>
          <a:prstGeom prst="rect">
            <a:avLst/>
          </a:prstGeom>
          <a:noFill/>
          <a:ln/>
        </p:spPr>
        <p:txBody>
          <a:bodyPr wrap="square" lIns="0" tIns="0" rIns="0" bIns="0" rtlCol="0" anchor="ctr"/>
          <a:lstStyle/>
          <a:p>
            <a:pPr indent="0" marL="0">
              <a:buNone/>
            </a:pPr>
            <a:r>
              <a:rPr lang="en-US" sz="2200" b="1" dirty="0">
                <a:solidFill>
                  <a:srgbClr val="FFFFFF"/>
                </a:solidFill>
              </a:rPr>
              <a:t>Map your progressive officers for the next three years. Mark two men: one at risk of being pushed before he is ready, and one capable man left waiting.</a:t>
            </a:r>
            <a:endParaRPr lang="en-US" sz="2200" dirty="0"/>
          </a:p>
        </p:txBody>
      </p:sp>
      <p:sp>
        <p:nvSpPr>
          <p:cNvPr id="7" name="Card Pushed too hard"/>
          <p:cNvSpPr/>
          <p:nvPr/>
        </p:nvSpPr>
        <p:spPr>
          <a:xfrm>
            <a:off x="548640" y="3337560"/>
            <a:ext cx="5440680" cy="2514600"/>
          </a:xfrm>
          <a:prstGeom prst="roundRect">
            <a:avLst>
              <a:gd name="adj" fmla="val 2909"/>
            </a:avLst>
          </a:prstGeom>
          <a:solidFill>
            <a:srgbClr val="F2F7FC"/>
          </a:solidFill>
          <a:ln w="12700">
            <a:solidFill>
              <a:srgbClr val="F2F7FC"/>
            </a:solidFill>
            <a:prstDash val="solid"/>
          </a:ln>
        </p:spPr>
      </p:sp>
      <p:pic>
        <p:nvPicPr>
          <p:cNvPr id="8" name="Image 0" descr="preencoded.png">    </p:cNvPr>
          <p:cNvPicPr>
            <a:picLocks noChangeAspect="1"/>
          </p:cNvPicPr>
          <p:nvPr/>
        </p:nvPicPr>
        <p:blipFill>
          <a:blip r:embed="rId1"/>
          <a:stretch>
            <a:fillRect/>
          </a:stretch>
        </p:blipFill>
        <p:spPr>
          <a:xfrm>
            <a:off x="749808" y="3520440"/>
            <a:ext cx="384048" cy="384048"/>
          </a:xfrm>
          <a:prstGeom prst="rect">
            <a:avLst/>
          </a:prstGeom>
        </p:spPr>
      </p:pic>
      <p:sp>
        <p:nvSpPr>
          <p:cNvPr id="9" name="Text 6"/>
          <p:cNvSpPr txBox="1"/>
          <p:nvPr/>
        </p:nvSpPr>
        <p:spPr>
          <a:xfrm>
            <a:off x="1261872" y="3502152"/>
            <a:ext cx="4526280" cy="411480"/>
          </a:xfrm>
          <a:prstGeom prst="rect">
            <a:avLst/>
          </a:prstGeom>
          <a:noFill/>
          <a:ln/>
        </p:spPr>
        <p:txBody>
          <a:bodyPr wrap="square" lIns="0" tIns="0" rIns="0" bIns="0" rtlCol="0" anchor="ctr"/>
          <a:lstStyle/>
          <a:p>
            <a:pPr indent="0" marL="0">
              <a:buNone/>
            </a:pPr>
            <a:r>
              <a:rPr lang="en-US" sz="1600" b="1" dirty="0">
                <a:solidFill>
                  <a:srgbClr val="0A4F72"/>
                </a:solidFill>
              </a:rPr>
              <a:t>Pushed too hard</a:t>
            </a:r>
            <a:endParaRPr lang="en-US" sz="1600" dirty="0"/>
          </a:p>
        </p:txBody>
      </p:sp>
      <p:sp>
        <p:nvSpPr>
          <p:cNvPr id="10" name="Text 7"/>
          <p:cNvSpPr txBox="1"/>
          <p:nvPr/>
        </p:nvSpPr>
        <p:spPr>
          <a:xfrm>
            <a:off x="777240" y="3959352"/>
            <a:ext cx="4983480" cy="17830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Office before he feels ready or confident</a:t>
            </a:r>
            <a:endParaRPr lang="en-US" sz="1400" dirty="0"/>
          </a:p>
          <a:p>
            <a:pPr marL="203200" indent="-203200">
              <a:spcAft>
                <a:spcPts val="400"/>
              </a:spcAft>
              <a:buSzPct val="100000"/>
              <a:buChar char="■"/>
            </a:pPr>
            <a:r>
              <a:rPr lang="en-US" sz="1400" dirty="0">
                <a:solidFill>
                  <a:srgbClr val="1E2329"/>
                </a:solidFill>
              </a:rPr>
              <a:t>Ritual beyond his current ability</a:t>
            </a:r>
            <a:endParaRPr lang="en-US" sz="1400" dirty="0"/>
          </a:p>
          <a:p>
            <a:pPr marL="203200" indent="-203200">
              <a:spcAft>
                <a:spcPts val="400"/>
              </a:spcAft>
              <a:buSzPct val="100000"/>
              <a:buChar char="■"/>
            </a:pPr>
            <a:r>
              <a:rPr lang="en-US" sz="1400" dirty="0">
                <a:solidFill>
                  <a:srgbClr val="1E2329"/>
                </a:solidFill>
              </a:rPr>
              <a:t>Progression faster than he wishes</a:t>
            </a:r>
            <a:endParaRPr lang="en-US" sz="1400" dirty="0"/>
          </a:p>
          <a:p>
            <a:pPr marL="203200" indent="-203200">
              <a:spcAft>
                <a:spcPts val="400"/>
              </a:spcAft>
              <a:buSzPct val="100000"/>
              <a:buChar char="■"/>
            </a:pPr>
            <a:r>
              <a:rPr lang="en-US" sz="1400" dirty="0">
                <a:solidFill>
                  <a:srgbClr val="1E2329"/>
                </a:solidFill>
              </a:rPr>
              <a:t>Anything that makes him feel inadequate or judged</a:t>
            </a:r>
            <a:endParaRPr lang="en-US" sz="1400" dirty="0"/>
          </a:p>
        </p:txBody>
      </p:sp>
      <p:sp>
        <p:nvSpPr>
          <p:cNvPr id="11" name="Card Left waiting"/>
          <p:cNvSpPr/>
          <p:nvPr/>
        </p:nvSpPr>
        <p:spPr>
          <a:xfrm>
            <a:off x="6172200" y="3337560"/>
            <a:ext cx="5440680" cy="2514600"/>
          </a:xfrm>
          <a:prstGeom prst="roundRect">
            <a:avLst>
              <a:gd name="adj" fmla="val 2909"/>
            </a:avLst>
          </a:prstGeom>
          <a:solidFill>
            <a:srgbClr val="F2F7FC"/>
          </a:solidFill>
          <a:ln w="12700">
            <a:solidFill>
              <a:srgbClr val="F2F7FC"/>
            </a:solidFill>
            <a:prstDash val="solid"/>
          </a:ln>
        </p:spPr>
      </p:sp>
      <p:pic>
        <p:nvPicPr>
          <p:cNvPr id="12" name="Image 1" descr="preencoded.png">    </p:cNvPr>
          <p:cNvPicPr>
            <a:picLocks noChangeAspect="1"/>
          </p:cNvPicPr>
          <p:nvPr/>
        </p:nvPicPr>
        <p:blipFill>
          <a:blip r:embed="rId2"/>
          <a:stretch>
            <a:fillRect/>
          </a:stretch>
        </p:blipFill>
        <p:spPr>
          <a:xfrm>
            <a:off x="6373368" y="3520440"/>
            <a:ext cx="384048" cy="384048"/>
          </a:xfrm>
          <a:prstGeom prst="rect">
            <a:avLst/>
          </a:prstGeom>
        </p:spPr>
      </p:pic>
      <p:sp>
        <p:nvSpPr>
          <p:cNvPr id="13" name="Text 9"/>
          <p:cNvSpPr txBox="1"/>
          <p:nvPr/>
        </p:nvSpPr>
        <p:spPr>
          <a:xfrm>
            <a:off x="6885432" y="350215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Left waiting</a:t>
            </a:r>
            <a:endParaRPr lang="en-US" sz="1600" dirty="0"/>
          </a:p>
        </p:txBody>
      </p:sp>
      <p:sp>
        <p:nvSpPr>
          <p:cNvPr id="14" name="Text 10"/>
          <p:cNvSpPr txBox="1"/>
          <p:nvPr/>
        </p:nvSpPr>
        <p:spPr>
          <a:xfrm>
            <a:off x="6400800" y="3959352"/>
            <a:ext cx="4983480" cy="17830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A capable Brother years from a first office behind a long queue</a:t>
            </a:r>
            <a:endParaRPr lang="en-US" sz="1400" dirty="0"/>
          </a:p>
          <a:p>
            <a:pPr marL="203200" indent="-203200">
              <a:spcAft>
                <a:spcPts val="400"/>
              </a:spcAft>
              <a:buSzPct val="100000"/>
              <a:buChar char="■"/>
            </a:pPr>
            <a:r>
              <a:rPr lang="en-US" sz="1400" dirty="0">
                <a:solidFill>
                  <a:srgbClr val="1E2329"/>
                </a:solidFill>
              </a:rPr>
              <a:t>A Brother never asked: to visit, to take a small piece, to help</a:t>
            </a:r>
            <a:endParaRPr lang="en-US" sz="1400" dirty="0"/>
          </a:p>
          <a:p>
            <a:pPr marL="203200" indent="-203200">
              <a:spcAft>
                <a:spcPts val="400"/>
              </a:spcAft>
              <a:buSzPct val="100000"/>
              <a:buChar char="■"/>
            </a:pPr>
            <a:r>
              <a:rPr lang="en-US" sz="1400" dirty="0">
                <a:solidFill>
                  <a:srgbClr val="1E2329"/>
                </a:solidFill>
              </a:rPr>
              <a:t>A Past Master with nothing to do</a:t>
            </a:r>
            <a:endParaRPr lang="en-US" sz="1400" dirty="0"/>
          </a:p>
          <a:p>
            <a:pPr marL="203200" indent="-203200">
              <a:spcAft>
                <a:spcPts val="400"/>
              </a:spcAft>
              <a:buSzPct val="100000"/>
              <a:buChar char="■"/>
            </a:pPr>
            <a:r>
              <a:rPr lang="en-US" sz="1400" dirty="0">
                <a:solidFill>
                  <a:srgbClr val="1E2329"/>
                </a:solidFill>
              </a:rPr>
              <a:t>A bored Brother leaves as surely as a frightened one</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True or false?</a:t>
            </a:r>
            <a:endParaRPr lang="en-US" sz="3200" dirty="0"/>
          </a:p>
        </p:txBody>
      </p:sp>
      <p:sp>
        <p:nvSpPr>
          <p:cNvPr id="3" name="Statement 1"/>
          <p:cNvSpPr/>
          <p:nvPr/>
        </p:nvSpPr>
        <p:spPr>
          <a:xfrm>
            <a:off x="548640" y="1371600"/>
            <a:ext cx="11064240" cy="2011680"/>
          </a:xfrm>
          <a:prstGeom prst="roundRect">
            <a:avLst>
              <a:gd name="adj" fmla="val 3636"/>
            </a:avLst>
          </a:prstGeom>
          <a:solidFill>
            <a:srgbClr val="F2F7FC"/>
          </a:solidFill>
          <a:ln w="12700">
            <a:solidFill>
              <a:srgbClr val="F2F7FC"/>
            </a:solidFill>
            <a:prstDash val="solid"/>
          </a:ln>
        </p:spPr>
      </p:sp>
      <p:sp>
        <p:nvSpPr>
          <p:cNvPr id="4" name="Q circle 1"/>
          <p:cNvSpPr/>
          <p:nvPr/>
        </p:nvSpPr>
        <p:spPr>
          <a:xfrm>
            <a:off x="868680" y="2057400"/>
            <a:ext cx="640080" cy="640080"/>
          </a:xfrm>
          <a:prstGeom prst="ellipse">
            <a:avLst/>
          </a:prstGeom>
          <a:solidFill>
            <a:srgbClr val="003668"/>
          </a:solidFill>
          <a:ln w="12700">
            <a:solidFill>
              <a:srgbClr val="003668"/>
            </a:solidFill>
            <a:prstDash val="solid"/>
          </a:ln>
        </p:spPr>
      </p:sp>
      <p:sp>
        <p:nvSpPr>
          <p:cNvPr id="5" name="Text 3"/>
          <p:cNvSpPr txBox="1"/>
          <p:nvPr/>
        </p:nvSpPr>
        <p:spPr>
          <a:xfrm>
            <a:off x="868680" y="20574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1783080" y="1371600"/>
            <a:ext cx="9601200" cy="2011680"/>
          </a:xfrm>
          <a:prstGeom prst="rect">
            <a:avLst/>
          </a:prstGeom>
          <a:noFill/>
          <a:ln/>
        </p:spPr>
        <p:txBody>
          <a:bodyPr wrap="square" lIns="0" tIns="0" rIns="0" bIns="0" rtlCol="0" anchor="ctr"/>
          <a:lstStyle/>
          <a:p>
            <a:pPr indent="0" marL="0">
              <a:buNone/>
            </a:pPr>
            <a:r>
              <a:rPr lang="en-US" sz="2400" b="1" dirty="0">
                <a:solidFill>
                  <a:srgbClr val="06345D"/>
                </a:solidFill>
              </a:rPr>
              <a:t>A member two full years in arrears ceases to be a member automatically.</a:t>
            </a:r>
            <a:endParaRPr lang="en-US" sz="2400" dirty="0"/>
          </a:p>
        </p:txBody>
      </p:sp>
      <p:sp>
        <p:nvSpPr>
          <p:cNvPr id="7" name="Statement 2"/>
          <p:cNvSpPr/>
          <p:nvPr/>
        </p:nvSpPr>
        <p:spPr>
          <a:xfrm>
            <a:off x="548640" y="3611880"/>
            <a:ext cx="11064240" cy="2011680"/>
          </a:xfrm>
          <a:prstGeom prst="roundRect">
            <a:avLst>
              <a:gd name="adj" fmla="val 3636"/>
            </a:avLst>
          </a:prstGeom>
          <a:solidFill>
            <a:srgbClr val="F2F7FC"/>
          </a:solidFill>
          <a:ln w="12700">
            <a:solidFill>
              <a:srgbClr val="F2F7FC"/>
            </a:solidFill>
            <a:prstDash val="solid"/>
          </a:ln>
        </p:spPr>
      </p:sp>
      <p:sp>
        <p:nvSpPr>
          <p:cNvPr id="8" name="Q circle 2"/>
          <p:cNvSpPr/>
          <p:nvPr/>
        </p:nvSpPr>
        <p:spPr>
          <a:xfrm>
            <a:off x="868680" y="4297680"/>
            <a:ext cx="640080" cy="640080"/>
          </a:xfrm>
          <a:prstGeom prst="ellipse">
            <a:avLst/>
          </a:prstGeom>
          <a:solidFill>
            <a:srgbClr val="0A4F72"/>
          </a:solidFill>
          <a:ln w="12700">
            <a:solidFill>
              <a:srgbClr val="0A4F72"/>
            </a:solidFill>
            <a:prstDash val="solid"/>
          </a:ln>
        </p:spPr>
      </p:sp>
      <p:sp>
        <p:nvSpPr>
          <p:cNvPr id="9" name="Text 7"/>
          <p:cNvSpPr txBox="1"/>
          <p:nvPr/>
        </p:nvSpPr>
        <p:spPr>
          <a:xfrm>
            <a:off x="868680" y="4297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0" name="Text 8"/>
          <p:cNvSpPr txBox="1"/>
          <p:nvPr/>
        </p:nvSpPr>
        <p:spPr>
          <a:xfrm>
            <a:off x="1783080" y="3611880"/>
            <a:ext cx="9601200" cy="2011680"/>
          </a:xfrm>
          <a:prstGeom prst="rect">
            <a:avLst/>
          </a:prstGeom>
          <a:noFill/>
          <a:ln/>
        </p:spPr>
        <p:txBody>
          <a:bodyPr wrap="square" lIns="0" tIns="0" rIns="0" bIns="0" rtlCol="0" anchor="ctr"/>
          <a:lstStyle/>
          <a:p>
            <a:pPr indent="0" marL="0">
              <a:buNone/>
            </a:pPr>
            <a:r>
              <a:rPr lang="en-US" sz="2400" b="1" dirty="0">
                <a:solidFill>
                  <a:srgbClr val="06345D"/>
                </a:solidFill>
              </a:rPr>
              <a:t>Hertfordshire fire has the Provincial Grand Master’s blessing.</a:t>
            </a:r>
            <a:endParaRPr lang="en-US" sz="2400" dirty="0"/>
          </a:p>
        </p:txBody>
      </p:sp>
      <p:sp>
        <p:nvSpPr>
          <p:cNvPr id="11" name="Prompt"/>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500" b="1" dirty="0">
                <a:solidFill>
                  <a:srgbClr val="157A7C"/>
                </a:solidFill>
              </a:rPr>
              <a:t>Hands up for true. Then the answer.</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answers</a:t>
            </a:r>
            <a:endParaRPr lang="en-US" sz="3200" dirty="0"/>
          </a:p>
        </p:txBody>
      </p:sp>
      <p:sp>
        <p:nvSpPr>
          <p:cNvPr id="3" name="Answer 1"/>
          <p:cNvSpPr/>
          <p:nvPr/>
        </p:nvSpPr>
        <p:spPr>
          <a:xfrm>
            <a:off x="548640" y="1371600"/>
            <a:ext cx="11064240" cy="2011680"/>
          </a:xfrm>
          <a:prstGeom prst="roundRect">
            <a:avLst>
              <a:gd name="adj" fmla="val 3636"/>
            </a:avLst>
          </a:prstGeom>
          <a:solidFill>
            <a:srgbClr val="F2F7FC"/>
          </a:solidFill>
          <a:ln w="12700">
            <a:solidFill>
              <a:srgbClr val="F2F7FC"/>
            </a:solidFill>
            <a:prstDash val="solid"/>
          </a:ln>
        </p:spPr>
      </p:sp>
      <p:sp>
        <p:nvSpPr>
          <p:cNvPr id="4" name="Badge 1"/>
          <p:cNvSpPr/>
          <p:nvPr/>
        </p:nvSpPr>
        <p:spPr>
          <a:xfrm>
            <a:off x="868680" y="1600200"/>
            <a:ext cx="1234440" cy="457200"/>
          </a:xfrm>
          <a:prstGeom prst="roundRect">
            <a:avLst>
              <a:gd name="adj" fmla="val 20000"/>
            </a:avLst>
          </a:prstGeom>
          <a:solidFill>
            <a:srgbClr val="157A7C"/>
          </a:solidFill>
          <a:ln w="12700">
            <a:solidFill>
              <a:srgbClr val="157A7C"/>
            </a:solidFill>
            <a:prstDash val="solid"/>
          </a:ln>
        </p:spPr>
      </p:sp>
      <p:sp>
        <p:nvSpPr>
          <p:cNvPr id="5" name="Text 3"/>
          <p:cNvSpPr txBox="1"/>
          <p:nvPr/>
        </p:nvSpPr>
        <p:spPr>
          <a:xfrm>
            <a:off x="868680" y="1600200"/>
            <a:ext cx="1234440" cy="457200"/>
          </a:xfrm>
          <a:prstGeom prst="rect">
            <a:avLst/>
          </a:prstGeom>
          <a:noFill/>
          <a:ln/>
        </p:spPr>
        <p:txBody>
          <a:bodyPr wrap="square" lIns="0" tIns="0" rIns="0" bIns="0" rtlCol="0" anchor="ctr"/>
          <a:lstStyle/>
          <a:p>
            <a:pPr algn="ctr" indent="0" marL="0">
              <a:buNone/>
            </a:pPr>
            <a:r>
              <a:rPr lang="en-US" sz="1500" b="1" dirty="0">
                <a:solidFill>
                  <a:srgbClr val="FFFFFF"/>
                </a:solidFill>
              </a:rPr>
              <a:t>TRUE</a:t>
            </a:r>
            <a:endParaRPr lang="en-US" sz="1500" dirty="0"/>
          </a:p>
        </p:txBody>
      </p:sp>
      <p:sp>
        <p:nvSpPr>
          <p:cNvPr id="6" name="Text 4"/>
          <p:cNvSpPr txBox="1"/>
          <p:nvPr/>
        </p:nvSpPr>
        <p:spPr>
          <a:xfrm>
            <a:off x="2286000" y="1572768"/>
            <a:ext cx="9052560" cy="512064"/>
          </a:xfrm>
          <a:prstGeom prst="rect">
            <a:avLst/>
          </a:prstGeom>
          <a:noFill/>
          <a:ln/>
        </p:spPr>
        <p:txBody>
          <a:bodyPr wrap="square" lIns="0" tIns="0" rIns="0" bIns="0" rtlCol="0" anchor="ctr"/>
          <a:lstStyle/>
          <a:p>
            <a:pPr indent="0" marL="0">
              <a:buNone/>
            </a:pPr>
            <a:r>
              <a:rPr lang="en-US" sz="1600" b="1" dirty="0">
                <a:solidFill>
                  <a:srgbClr val="06345D"/>
                </a:solidFill>
              </a:rPr>
              <a:t>A member two full years in arrears ceases to be a member automatically.</a:t>
            </a:r>
            <a:endParaRPr lang="en-US" sz="1600" dirty="0"/>
          </a:p>
        </p:txBody>
      </p:sp>
      <p:sp>
        <p:nvSpPr>
          <p:cNvPr id="7" name="Text 5"/>
          <p:cNvSpPr txBox="1"/>
          <p:nvPr/>
        </p:nvSpPr>
        <p:spPr>
          <a:xfrm>
            <a:off x="868680" y="2194560"/>
            <a:ext cx="10424160" cy="868680"/>
          </a:xfrm>
          <a:prstGeom prst="rect">
            <a:avLst/>
          </a:prstGeom>
          <a:noFill/>
          <a:ln/>
        </p:spPr>
        <p:txBody>
          <a:bodyPr wrap="square" lIns="0" tIns="0" rIns="0" bIns="0" rtlCol="0" anchor="t"/>
          <a:lstStyle/>
          <a:p>
            <a:pPr indent="0" marL="0">
              <a:buNone/>
            </a:pPr>
            <a:r>
              <a:rPr lang="en-US" sz="1400" dirty="0">
                <a:solidFill>
                  <a:srgbClr val="1E2329"/>
                </a:solidFill>
              </a:rPr>
              <a:t>Announced in open Lodge and minuted. The Treasurer saw the first missed subscription eighteen months earlier: a quiet word then, not a letter that reads like a final demand.</a:t>
            </a:r>
            <a:endParaRPr lang="en-US" sz="1400" dirty="0"/>
          </a:p>
        </p:txBody>
      </p:sp>
      <p:sp>
        <p:nvSpPr>
          <p:cNvPr id="8" name="Text 6"/>
          <p:cNvSpPr txBox="1"/>
          <p:nvPr/>
        </p:nvSpPr>
        <p:spPr>
          <a:xfrm>
            <a:off x="868680" y="3035808"/>
            <a:ext cx="10424160" cy="274320"/>
          </a:xfrm>
          <a:prstGeom prst="rect">
            <a:avLst/>
          </a:prstGeom>
          <a:noFill/>
          <a:ln/>
        </p:spPr>
        <p:txBody>
          <a:bodyPr wrap="square" lIns="0" tIns="0" rIns="0" bIns="0" rtlCol="0" anchor="t"/>
          <a:lstStyle/>
          <a:p>
            <a:pPr indent="0" marL="0">
              <a:buNone/>
            </a:pPr>
            <a:r>
              <a:rPr lang="en-US" sz="1100" i="1" dirty="0">
                <a:solidFill>
                  <a:srgbClr val="0A4F72"/>
                </a:solidFill>
              </a:rPr>
              <a:t>Rule 148; PGL Herts Secretaries’ Handbook, Membership</a:t>
            </a:r>
            <a:endParaRPr lang="en-US" sz="1100" dirty="0"/>
          </a:p>
        </p:txBody>
      </p:sp>
      <p:sp>
        <p:nvSpPr>
          <p:cNvPr id="9" name="Answer 2"/>
          <p:cNvSpPr/>
          <p:nvPr/>
        </p:nvSpPr>
        <p:spPr>
          <a:xfrm>
            <a:off x="548640" y="3611880"/>
            <a:ext cx="11064240" cy="2011680"/>
          </a:xfrm>
          <a:prstGeom prst="roundRect">
            <a:avLst>
              <a:gd name="adj" fmla="val 3636"/>
            </a:avLst>
          </a:prstGeom>
          <a:solidFill>
            <a:srgbClr val="F2F7FC"/>
          </a:solidFill>
          <a:ln w="12700">
            <a:solidFill>
              <a:srgbClr val="F2F7FC"/>
            </a:solidFill>
            <a:prstDash val="solid"/>
          </a:ln>
        </p:spPr>
      </p:sp>
      <p:sp>
        <p:nvSpPr>
          <p:cNvPr id="10" name="Badge 2"/>
          <p:cNvSpPr/>
          <p:nvPr/>
        </p:nvSpPr>
        <p:spPr>
          <a:xfrm>
            <a:off x="868680" y="3840480"/>
            <a:ext cx="1234440" cy="457200"/>
          </a:xfrm>
          <a:prstGeom prst="roundRect">
            <a:avLst>
              <a:gd name="adj" fmla="val 20000"/>
            </a:avLst>
          </a:prstGeom>
          <a:solidFill>
            <a:srgbClr val="157A7C"/>
          </a:solidFill>
          <a:ln w="12700">
            <a:solidFill>
              <a:srgbClr val="157A7C"/>
            </a:solidFill>
            <a:prstDash val="solid"/>
          </a:ln>
        </p:spPr>
      </p:sp>
      <p:sp>
        <p:nvSpPr>
          <p:cNvPr id="11" name="Text 9"/>
          <p:cNvSpPr txBox="1"/>
          <p:nvPr/>
        </p:nvSpPr>
        <p:spPr>
          <a:xfrm>
            <a:off x="868680" y="3840480"/>
            <a:ext cx="1234440" cy="457200"/>
          </a:xfrm>
          <a:prstGeom prst="rect">
            <a:avLst/>
          </a:prstGeom>
          <a:noFill/>
          <a:ln/>
        </p:spPr>
        <p:txBody>
          <a:bodyPr wrap="square" lIns="0" tIns="0" rIns="0" bIns="0" rtlCol="0" anchor="ctr"/>
          <a:lstStyle/>
          <a:p>
            <a:pPr algn="ctr" indent="0" marL="0">
              <a:buNone/>
            </a:pPr>
            <a:r>
              <a:rPr lang="en-US" sz="1500" b="1" dirty="0">
                <a:solidFill>
                  <a:srgbClr val="FFFFFF"/>
                </a:solidFill>
              </a:rPr>
              <a:t>TRUE</a:t>
            </a:r>
            <a:endParaRPr lang="en-US" sz="1500" dirty="0"/>
          </a:p>
        </p:txBody>
      </p:sp>
      <p:sp>
        <p:nvSpPr>
          <p:cNvPr id="12" name="Text 10"/>
          <p:cNvSpPr txBox="1"/>
          <p:nvPr/>
        </p:nvSpPr>
        <p:spPr>
          <a:xfrm>
            <a:off x="2286000" y="3813048"/>
            <a:ext cx="9052560" cy="512064"/>
          </a:xfrm>
          <a:prstGeom prst="rect">
            <a:avLst/>
          </a:prstGeom>
          <a:noFill/>
          <a:ln/>
        </p:spPr>
        <p:txBody>
          <a:bodyPr wrap="square" lIns="0" tIns="0" rIns="0" bIns="0" rtlCol="0" anchor="ctr"/>
          <a:lstStyle/>
          <a:p>
            <a:pPr indent="0" marL="0">
              <a:buNone/>
            </a:pPr>
            <a:r>
              <a:rPr lang="en-US" sz="1600" b="1" dirty="0">
                <a:solidFill>
                  <a:srgbClr val="06345D"/>
                </a:solidFill>
              </a:rPr>
              <a:t>Hertfordshire fire has the Provincial Grand Master’s blessing.</a:t>
            </a:r>
            <a:endParaRPr lang="en-US" sz="1600" dirty="0"/>
          </a:p>
        </p:txBody>
      </p:sp>
      <p:sp>
        <p:nvSpPr>
          <p:cNvPr id="13" name="Text 11"/>
          <p:cNvSpPr txBox="1"/>
          <p:nvPr/>
        </p:nvSpPr>
        <p:spPr>
          <a:xfrm>
            <a:off x="868680" y="4434840"/>
            <a:ext cx="10424160" cy="868680"/>
          </a:xfrm>
          <a:prstGeom prst="rect">
            <a:avLst/>
          </a:prstGeom>
          <a:noFill/>
          <a:ln/>
        </p:spPr>
        <p:txBody>
          <a:bodyPr wrap="square" lIns="0" tIns="0" rIns="0" bIns="0" rtlCol="0" anchor="t"/>
          <a:lstStyle/>
          <a:p>
            <a:pPr indent="0" marL="0">
              <a:buNone/>
            </a:pPr>
            <a:r>
              <a:rPr lang="en-US" sz="1400" dirty="0">
                <a:solidFill>
                  <a:srgbClr val="1E2329"/>
                </a:solidFill>
              </a:rPr>
              <a:t>Endorsed as a Provincial tradition, with the written caveat that its speed should not “reach the level of absurdity and thus become undignified”. A new man’s first embarrassment is usually fire nobody showed him. Explain it before his first Festive Board.</a:t>
            </a:r>
            <a:endParaRPr lang="en-US" sz="1400" dirty="0"/>
          </a:p>
        </p:txBody>
      </p:sp>
      <p:sp>
        <p:nvSpPr>
          <p:cNvPr id="14" name="Text 12"/>
          <p:cNvSpPr txBox="1"/>
          <p:nvPr/>
        </p:nvSpPr>
        <p:spPr>
          <a:xfrm>
            <a:off x="868680" y="5276088"/>
            <a:ext cx="10424160" cy="274320"/>
          </a:xfrm>
          <a:prstGeom prst="rect">
            <a:avLst/>
          </a:prstGeom>
          <a:noFill/>
          <a:ln/>
        </p:spPr>
        <p:txBody>
          <a:bodyPr wrap="square" lIns="0" tIns="0" rIns="0" bIns="0" rtlCol="0" anchor="t"/>
          <a:lstStyle/>
          <a:p>
            <a:pPr indent="0" marL="0">
              <a:buNone/>
            </a:pPr>
            <a:r>
              <a:rPr lang="en-US" sz="1100" i="1" dirty="0">
                <a:solidFill>
                  <a:srgbClr val="0A4F72"/>
                </a:solidFill>
              </a:rPr>
              <a:t>PGL Herts Lodge Director of Ceremonies Guide, Toasts</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Running a happy year: the management, not the ritual</a:t>
            </a:r>
            <a:endParaRPr lang="en-US" sz="3200" dirty="0"/>
          </a:p>
        </p:txBody>
      </p:sp>
      <p:sp>
        <p:nvSpPr>
          <p:cNvPr id="3" name="Card Lodge Mentor"/>
          <p:cNvSpPr/>
          <p:nvPr/>
        </p:nvSpPr>
        <p:spPr>
          <a:xfrm>
            <a:off x="548640" y="1325880"/>
            <a:ext cx="3520440" cy="2103120"/>
          </a:xfrm>
          <a:prstGeom prst="roundRect">
            <a:avLst>
              <a:gd name="adj" fmla="val 3478"/>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508760"/>
            <a:ext cx="384048" cy="384048"/>
          </a:xfrm>
          <a:prstGeom prst="rect">
            <a:avLst/>
          </a:prstGeom>
        </p:spPr>
      </p:pic>
      <p:sp>
        <p:nvSpPr>
          <p:cNvPr id="5" name="Text 2"/>
          <p:cNvSpPr txBox="1"/>
          <p:nvPr/>
        </p:nvSpPr>
        <p:spPr>
          <a:xfrm>
            <a:off x="1261872" y="1490472"/>
            <a:ext cx="2606040" cy="411480"/>
          </a:xfrm>
          <a:prstGeom prst="rect">
            <a:avLst/>
          </a:prstGeom>
          <a:noFill/>
          <a:ln/>
        </p:spPr>
        <p:txBody>
          <a:bodyPr wrap="square" lIns="0" tIns="0" rIns="0" bIns="0" rtlCol="0" anchor="ctr"/>
          <a:lstStyle/>
          <a:p>
            <a:pPr indent="0" marL="0">
              <a:buNone/>
            </a:pPr>
            <a:r>
              <a:rPr lang="en-US" sz="1500" b="1" dirty="0">
                <a:solidFill>
                  <a:srgbClr val="003668"/>
                </a:solidFill>
              </a:rPr>
              <a:t>Lodge Mentor</a:t>
            </a:r>
            <a:endParaRPr lang="en-US" sz="1500" dirty="0"/>
          </a:p>
        </p:txBody>
      </p:sp>
      <p:sp>
        <p:nvSpPr>
          <p:cNvPr id="6" name="Text 3"/>
          <p:cNvSpPr txBox="1"/>
          <p:nvPr/>
        </p:nvSpPr>
        <p:spPr>
          <a:xfrm>
            <a:off x="777240" y="1947672"/>
            <a:ext cx="3063240" cy="1371600"/>
          </a:xfrm>
          <a:prstGeom prst="rect">
            <a:avLst/>
          </a:prstGeom>
          <a:noFill/>
          <a:ln/>
        </p:spPr>
        <p:txBody>
          <a:bodyPr wrap="square" lIns="0" tIns="0" rIns="0" bIns="0" rtlCol="0" anchor="t"/>
          <a:lstStyle/>
          <a:p>
            <a:pPr indent="0" marL="0">
              <a:buNone/>
            </a:pPr>
            <a:r>
              <a:rPr lang="en-US" sz="1350" dirty="0">
                <a:solidFill>
                  <a:srgbClr val="1E2329"/>
                </a:solidFill>
              </a:rPr>
              <a:t>Your report on the agenda. Three minutes a meeting: who has a mentor and a Plan, the office queue, the newest man.</a:t>
            </a:r>
            <a:endParaRPr lang="en-US" sz="1350" dirty="0"/>
          </a:p>
        </p:txBody>
      </p:sp>
      <p:sp>
        <p:nvSpPr>
          <p:cNvPr id="7" name="Card Director of Ceremonies"/>
          <p:cNvSpPr/>
          <p:nvPr/>
        </p:nvSpPr>
        <p:spPr>
          <a:xfrm>
            <a:off x="4297680" y="1325880"/>
            <a:ext cx="3520440" cy="2103120"/>
          </a:xfrm>
          <a:prstGeom prst="roundRect">
            <a:avLst>
              <a:gd name="adj" fmla="val 3478"/>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4498848" y="1508760"/>
            <a:ext cx="384048" cy="384048"/>
          </a:xfrm>
          <a:prstGeom prst="rect">
            <a:avLst/>
          </a:prstGeom>
        </p:spPr>
      </p:pic>
      <p:sp>
        <p:nvSpPr>
          <p:cNvPr id="9" name="Text 5"/>
          <p:cNvSpPr txBox="1"/>
          <p:nvPr/>
        </p:nvSpPr>
        <p:spPr>
          <a:xfrm>
            <a:off x="5010912" y="1490472"/>
            <a:ext cx="2606040" cy="411480"/>
          </a:xfrm>
          <a:prstGeom prst="rect">
            <a:avLst/>
          </a:prstGeom>
          <a:noFill/>
          <a:ln/>
        </p:spPr>
        <p:txBody>
          <a:bodyPr wrap="square" lIns="0" tIns="0" rIns="0" bIns="0" rtlCol="0" anchor="ctr"/>
          <a:lstStyle/>
          <a:p>
            <a:pPr indent="0" marL="0">
              <a:buNone/>
            </a:pPr>
            <a:r>
              <a:rPr lang="en-US" sz="1500" b="1" dirty="0">
                <a:solidFill>
                  <a:srgbClr val="003668"/>
                </a:solidFill>
              </a:rPr>
              <a:t>Director of Ceremonies</a:t>
            </a:r>
            <a:endParaRPr lang="en-US" sz="1500" dirty="0"/>
          </a:p>
        </p:txBody>
      </p:sp>
      <p:sp>
        <p:nvSpPr>
          <p:cNvPr id="10" name="Text 6"/>
          <p:cNvSpPr txBox="1"/>
          <p:nvPr/>
        </p:nvSpPr>
        <p:spPr>
          <a:xfrm>
            <a:off x="4526280" y="1947672"/>
            <a:ext cx="3063240" cy="1371600"/>
          </a:xfrm>
          <a:prstGeom prst="rect">
            <a:avLst/>
          </a:prstGeom>
          <a:noFill/>
          <a:ln/>
        </p:spPr>
        <p:txBody>
          <a:bodyPr wrap="square" lIns="0" tIns="0" rIns="0" bIns="0" rtlCol="0" anchor="t"/>
          <a:lstStyle/>
          <a:p>
            <a:pPr indent="0" marL="0">
              <a:buNone/>
            </a:pPr>
            <a:r>
              <a:rPr lang="en-US" sz="1350" dirty="0">
                <a:solidFill>
                  <a:srgbClr val="1E2329"/>
                </a:solidFill>
              </a:rPr>
              <a:t>Ceremony preparation, the Lodge of Instruction, and how juniors are drawn into ritual gently.</a:t>
            </a:r>
            <a:endParaRPr lang="en-US" sz="1350" dirty="0"/>
          </a:p>
        </p:txBody>
      </p:sp>
      <p:sp>
        <p:nvSpPr>
          <p:cNvPr id="11" name="Card Secretary"/>
          <p:cNvSpPr/>
          <p:nvPr/>
        </p:nvSpPr>
        <p:spPr>
          <a:xfrm>
            <a:off x="8046720" y="1325880"/>
            <a:ext cx="3520440" cy="2103120"/>
          </a:xfrm>
          <a:prstGeom prst="roundRect">
            <a:avLst>
              <a:gd name="adj" fmla="val 3478"/>
            </a:avLst>
          </a:prstGeom>
          <a:solidFill>
            <a:srgbClr val="F2F7FC"/>
          </a:solidFill>
          <a:ln w="12700">
            <a:solidFill>
              <a:srgbClr val="F2F7FC"/>
            </a:solidFill>
            <a:prstDash val="solid"/>
          </a:ln>
        </p:spPr>
      </p:sp>
      <p:pic>
        <p:nvPicPr>
          <p:cNvPr id="12" name="Image 2" descr="preencoded.png">    </p:cNvPr>
          <p:cNvPicPr>
            <a:picLocks noChangeAspect="1"/>
          </p:cNvPicPr>
          <p:nvPr/>
        </p:nvPicPr>
        <p:blipFill>
          <a:blip r:embed="rId3"/>
          <a:stretch>
            <a:fillRect/>
          </a:stretch>
        </p:blipFill>
        <p:spPr>
          <a:xfrm>
            <a:off x="8247888" y="1508760"/>
            <a:ext cx="384048" cy="384048"/>
          </a:xfrm>
          <a:prstGeom prst="rect">
            <a:avLst/>
          </a:prstGeom>
        </p:spPr>
      </p:pic>
      <p:sp>
        <p:nvSpPr>
          <p:cNvPr id="13" name="Text 8"/>
          <p:cNvSpPr txBox="1"/>
          <p:nvPr/>
        </p:nvSpPr>
        <p:spPr>
          <a:xfrm>
            <a:off x="8759952" y="1490472"/>
            <a:ext cx="2606040" cy="411480"/>
          </a:xfrm>
          <a:prstGeom prst="rect">
            <a:avLst/>
          </a:prstGeom>
          <a:noFill/>
          <a:ln/>
        </p:spPr>
        <p:txBody>
          <a:bodyPr wrap="square" lIns="0" tIns="0" rIns="0" bIns="0" rtlCol="0" anchor="ctr"/>
          <a:lstStyle/>
          <a:p>
            <a:pPr indent="0" marL="0">
              <a:buNone/>
            </a:pPr>
            <a:r>
              <a:rPr lang="en-US" sz="1500" b="1" dirty="0">
                <a:solidFill>
                  <a:srgbClr val="003668"/>
                </a:solidFill>
              </a:rPr>
              <a:t>Secretary</a:t>
            </a:r>
            <a:endParaRPr lang="en-US" sz="1500" dirty="0"/>
          </a:p>
        </p:txBody>
      </p:sp>
      <p:sp>
        <p:nvSpPr>
          <p:cNvPr id="14" name="Text 9"/>
          <p:cNvSpPr txBox="1"/>
          <p:nvPr/>
        </p:nvSpPr>
        <p:spPr>
          <a:xfrm>
            <a:off x="8275320" y="1947672"/>
            <a:ext cx="3063240" cy="1371600"/>
          </a:xfrm>
          <a:prstGeom prst="rect">
            <a:avLst/>
          </a:prstGeom>
          <a:noFill/>
          <a:ln/>
        </p:spPr>
        <p:txBody>
          <a:bodyPr wrap="square" lIns="0" tIns="0" rIns="0" bIns="0" rtlCol="0" anchor="t"/>
          <a:lstStyle/>
          <a:p>
            <a:pPr indent="0" marL="0">
              <a:buNone/>
            </a:pPr>
            <a:r>
              <a:rPr lang="en-US" sz="1350" dirty="0">
                <a:solidFill>
                  <a:srgbClr val="1E2329"/>
                </a:solidFill>
              </a:rPr>
              <a:t>The candidate timeline your year hangs from; the attendance record after every meeting; same-day notice of a resignation.</a:t>
            </a:r>
            <a:endParaRPr lang="en-US" sz="1350" dirty="0"/>
          </a:p>
        </p:txBody>
      </p:sp>
      <p:sp>
        <p:nvSpPr>
          <p:cNvPr id="15" name="Card Almoner"/>
          <p:cNvSpPr/>
          <p:nvPr/>
        </p:nvSpPr>
        <p:spPr>
          <a:xfrm>
            <a:off x="548640" y="3611880"/>
            <a:ext cx="3520440" cy="2103120"/>
          </a:xfrm>
          <a:prstGeom prst="roundRect">
            <a:avLst>
              <a:gd name="adj" fmla="val 3478"/>
            </a:avLst>
          </a:prstGeom>
          <a:solidFill>
            <a:srgbClr val="F2F7FC"/>
          </a:solidFill>
          <a:ln w="12700">
            <a:solidFill>
              <a:srgbClr val="F2F7FC"/>
            </a:solidFill>
            <a:prstDash val="solid"/>
          </a:ln>
        </p:spPr>
      </p:sp>
      <p:pic>
        <p:nvPicPr>
          <p:cNvPr id="16" name="Image 3" descr="preencoded.png">    </p:cNvPr>
          <p:cNvPicPr>
            <a:picLocks noChangeAspect="1"/>
          </p:cNvPicPr>
          <p:nvPr/>
        </p:nvPicPr>
        <p:blipFill>
          <a:blip r:embed="rId4"/>
          <a:stretch>
            <a:fillRect/>
          </a:stretch>
        </p:blipFill>
        <p:spPr>
          <a:xfrm>
            <a:off x="749808" y="3794760"/>
            <a:ext cx="384048" cy="384048"/>
          </a:xfrm>
          <a:prstGeom prst="rect">
            <a:avLst/>
          </a:prstGeom>
        </p:spPr>
      </p:pic>
      <p:sp>
        <p:nvSpPr>
          <p:cNvPr id="17" name="Text 11"/>
          <p:cNvSpPr txBox="1"/>
          <p:nvPr/>
        </p:nvSpPr>
        <p:spPr>
          <a:xfrm>
            <a:off x="1261872" y="3776472"/>
            <a:ext cx="2606040" cy="411480"/>
          </a:xfrm>
          <a:prstGeom prst="rect">
            <a:avLst/>
          </a:prstGeom>
          <a:noFill/>
          <a:ln/>
        </p:spPr>
        <p:txBody>
          <a:bodyPr wrap="square" lIns="0" tIns="0" rIns="0" bIns="0" rtlCol="0" anchor="ctr"/>
          <a:lstStyle/>
          <a:p>
            <a:pPr indent="0" marL="0">
              <a:buNone/>
            </a:pPr>
            <a:r>
              <a:rPr lang="en-US" sz="1500" b="1" dirty="0">
                <a:solidFill>
                  <a:srgbClr val="003668"/>
                </a:solidFill>
              </a:rPr>
              <a:t>Almoner</a:t>
            </a:r>
            <a:endParaRPr lang="en-US" sz="1500" dirty="0"/>
          </a:p>
        </p:txBody>
      </p:sp>
      <p:sp>
        <p:nvSpPr>
          <p:cNvPr id="18" name="Text 12"/>
          <p:cNvSpPr txBox="1"/>
          <p:nvPr/>
        </p:nvSpPr>
        <p:spPr>
          <a:xfrm>
            <a:off x="777240" y="4233672"/>
            <a:ext cx="3063240" cy="1371600"/>
          </a:xfrm>
          <a:prstGeom prst="rect">
            <a:avLst/>
          </a:prstGeom>
          <a:noFill/>
          <a:ln/>
        </p:spPr>
        <p:txBody>
          <a:bodyPr wrap="square" lIns="0" tIns="0" rIns="0" bIns="0" rtlCol="0" anchor="t"/>
          <a:lstStyle/>
          <a:p>
            <a:pPr indent="0" marL="0">
              <a:buNone/>
            </a:pPr>
            <a:r>
              <a:rPr lang="en-US" sz="1350" dirty="0">
                <a:solidFill>
                  <a:srgbClr val="1E2329"/>
                </a:solidFill>
              </a:rPr>
              <a:t>Welfare, and Step 3 alongside you. Welcome new members jointly.</a:t>
            </a:r>
            <a:endParaRPr lang="en-US" sz="1350" dirty="0"/>
          </a:p>
        </p:txBody>
      </p:sp>
      <p:sp>
        <p:nvSpPr>
          <p:cNvPr id="19" name="Card Treasurer"/>
          <p:cNvSpPr/>
          <p:nvPr/>
        </p:nvSpPr>
        <p:spPr>
          <a:xfrm>
            <a:off x="4297680" y="3611880"/>
            <a:ext cx="3520440" cy="2103120"/>
          </a:xfrm>
          <a:prstGeom prst="roundRect">
            <a:avLst>
              <a:gd name="adj" fmla="val 3478"/>
            </a:avLst>
          </a:prstGeom>
          <a:solidFill>
            <a:srgbClr val="F2F7FC"/>
          </a:solidFill>
          <a:ln w="12700">
            <a:solidFill>
              <a:srgbClr val="F2F7FC"/>
            </a:solidFill>
            <a:prstDash val="solid"/>
          </a:ln>
        </p:spPr>
      </p:sp>
      <p:pic>
        <p:nvPicPr>
          <p:cNvPr id="20" name="Image 4" descr="preencoded.png">    </p:cNvPr>
          <p:cNvPicPr>
            <a:picLocks noChangeAspect="1"/>
          </p:cNvPicPr>
          <p:nvPr/>
        </p:nvPicPr>
        <p:blipFill>
          <a:blip r:embed="rId5"/>
          <a:stretch>
            <a:fillRect/>
          </a:stretch>
        </p:blipFill>
        <p:spPr>
          <a:xfrm>
            <a:off x="4498848" y="3794760"/>
            <a:ext cx="384048" cy="384048"/>
          </a:xfrm>
          <a:prstGeom prst="rect">
            <a:avLst/>
          </a:prstGeom>
        </p:spPr>
      </p:pic>
      <p:sp>
        <p:nvSpPr>
          <p:cNvPr id="21" name="Text 14"/>
          <p:cNvSpPr txBox="1"/>
          <p:nvPr/>
        </p:nvSpPr>
        <p:spPr>
          <a:xfrm>
            <a:off x="5010912" y="3776472"/>
            <a:ext cx="2606040" cy="411480"/>
          </a:xfrm>
          <a:prstGeom prst="rect">
            <a:avLst/>
          </a:prstGeom>
          <a:noFill/>
          <a:ln/>
        </p:spPr>
        <p:txBody>
          <a:bodyPr wrap="square" lIns="0" tIns="0" rIns="0" bIns="0" rtlCol="0" anchor="ctr"/>
          <a:lstStyle/>
          <a:p>
            <a:pPr indent="0" marL="0">
              <a:buNone/>
            </a:pPr>
            <a:r>
              <a:rPr lang="en-US" sz="1500" b="1" dirty="0">
                <a:solidFill>
                  <a:srgbClr val="003668"/>
                </a:solidFill>
              </a:rPr>
              <a:t>Treasurer</a:t>
            </a:r>
            <a:endParaRPr lang="en-US" sz="1500" dirty="0"/>
          </a:p>
        </p:txBody>
      </p:sp>
      <p:sp>
        <p:nvSpPr>
          <p:cNvPr id="22" name="Text 15"/>
          <p:cNvSpPr txBox="1"/>
          <p:nvPr/>
        </p:nvSpPr>
        <p:spPr>
          <a:xfrm>
            <a:off x="4526280" y="4233672"/>
            <a:ext cx="3063240" cy="1371600"/>
          </a:xfrm>
          <a:prstGeom prst="rect">
            <a:avLst/>
          </a:prstGeom>
          <a:noFill/>
          <a:ln/>
        </p:spPr>
        <p:txBody>
          <a:bodyPr wrap="square" lIns="0" tIns="0" rIns="0" bIns="0" rtlCol="0" anchor="t"/>
          <a:lstStyle/>
          <a:p>
            <a:pPr indent="0" marL="0">
              <a:buNone/>
            </a:pPr>
            <a:r>
              <a:rPr lang="en-US" sz="1350" dirty="0">
                <a:solidFill>
                  <a:srgbClr val="1E2329"/>
                </a:solidFill>
              </a:rPr>
              <a:t>Arrears as an early signal. A first missed subscription earns a quiet word, not a letter that reads like a final demand.</a:t>
            </a:r>
            <a:endParaRPr lang="en-US" sz="1350" dirty="0"/>
          </a:p>
        </p:txBody>
      </p:sp>
      <p:sp>
        <p:nvSpPr>
          <p:cNvPr id="23" name="Card The Festive Board"/>
          <p:cNvSpPr/>
          <p:nvPr/>
        </p:nvSpPr>
        <p:spPr>
          <a:xfrm>
            <a:off x="8046720" y="3611880"/>
            <a:ext cx="3520440" cy="2103120"/>
          </a:xfrm>
          <a:prstGeom prst="roundRect">
            <a:avLst>
              <a:gd name="adj" fmla="val 3478"/>
            </a:avLst>
          </a:prstGeom>
          <a:solidFill>
            <a:srgbClr val="F2F7FC"/>
          </a:solidFill>
          <a:ln w="12700">
            <a:solidFill>
              <a:srgbClr val="F2F7FC"/>
            </a:solidFill>
            <a:prstDash val="solid"/>
          </a:ln>
        </p:spPr>
      </p:sp>
      <p:pic>
        <p:nvPicPr>
          <p:cNvPr id="24" name="Image 5" descr="preencoded.png">    </p:cNvPr>
          <p:cNvPicPr>
            <a:picLocks noChangeAspect="1"/>
          </p:cNvPicPr>
          <p:nvPr/>
        </p:nvPicPr>
        <p:blipFill>
          <a:blip r:embed="rId6"/>
          <a:stretch>
            <a:fillRect/>
          </a:stretch>
        </p:blipFill>
        <p:spPr>
          <a:xfrm>
            <a:off x="8247888" y="3794760"/>
            <a:ext cx="384048" cy="384048"/>
          </a:xfrm>
          <a:prstGeom prst="rect">
            <a:avLst/>
          </a:prstGeom>
        </p:spPr>
      </p:pic>
      <p:sp>
        <p:nvSpPr>
          <p:cNvPr id="25" name="Text 17"/>
          <p:cNvSpPr txBox="1"/>
          <p:nvPr/>
        </p:nvSpPr>
        <p:spPr>
          <a:xfrm>
            <a:off x="8759952" y="3776472"/>
            <a:ext cx="2606040" cy="411480"/>
          </a:xfrm>
          <a:prstGeom prst="rect">
            <a:avLst/>
          </a:prstGeom>
          <a:noFill/>
          <a:ln/>
        </p:spPr>
        <p:txBody>
          <a:bodyPr wrap="square" lIns="0" tIns="0" rIns="0" bIns="0" rtlCol="0" anchor="ctr"/>
          <a:lstStyle/>
          <a:p>
            <a:pPr indent="0" marL="0">
              <a:buNone/>
            </a:pPr>
            <a:r>
              <a:rPr lang="en-US" sz="1500" b="1" dirty="0">
                <a:solidFill>
                  <a:srgbClr val="003668"/>
                </a:solidFill>
              </a:rPr>
              <a:t>The Festive Board</a:t>
            </a:r>
            <a:endParaRPr lang="en-US" sz="1500" dirty="0"/>
          </a:p>
        </p:txBody>
      </p:sp>
      <p:sp>
        <p:nvSpPr>
          <p:cNvPr id="26" name="Text 18"/>
          <p:cNvSpPr txBox="1"/>
          <p:nvPr/>
        </p:nvSpPr>
        <p:spPr>
          <a:xfrm>
            <a:off x="8275320" y="4233672"/>
            <a:ext cx="3063240" cy="1371600"/>
          </a:xfrm>
          <a:prstGeom prst="rect">
            <a:avLst/>
          </a:prstGeom>
          <a:noFill/>
          <a:ln/>
        </p:spPr>
        <p:txBody>
          <a:bodyPr wrap="square" lIns="0" tIns="0" rIns="0" bIns="0" rtlCol="0" anchor="t"/>
          <a:lstStyle/>
          <a:p>
            <a:pPr indent="0" marL="0">
              <a:buNone/>
            </a:pPr>
            <a:r>
              <a:rPr lang="en-US" sz="1350" dirty="0">
                <a:solidFill>
                  <a:srgbClr val="1E2329"/>
                </a:solidFill>
              </a:rPr>
              <a:t>You set whether “look who’s remembered where we meet” gets said. Never let a new or joining member dine alone.</a:t>
            </a:r>
            <a:endParaRPr lang="en-US" sz="13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Family, Work, Masonry: for the Master too</a:t>
            </a:r>
            <a:endParaRPr lang="en-US" sz="3200" dirty="0"/>
          </a:p>
        </p:txBody>
      </p:sp>
      <p:sp>
        <p:nvSpPr>
          <p:cNvPr id="3" name="FWM band"/>
          <p:cNvSpPr/>
          <p:nvPr/>
        </p:nvSpPr>
        <p:spPr>
          <a:xfrm>
            <a:off x="548640" y="1371600"/>
            <a:ext cx="11064240" cy="1828800"/>
          </a:xfrm>
          <a:prstGeom prst="roundRect">
            <a:avLst>
              <a:gd name="adj" fmla="val 4000"/>
            </a:avLst>
          </a:prstGeom>
          <a:solidFill>
            <a:srgbClr val="003668"/>
          </a:solidFill>
          <a:ln w="12700">
            <a:solidFill>
              <a:srgbClr val="003668"/>
            </a:solidFill>
            <a:prstDash val="solid"/>
          </a:ln>
        </p:spPr>
      </p:sp>
      <p:sp>
        <p:nvSpPr>
          <p:cNvPr id="4" name="FWM text"/>
          <p:cNvSpPr txBox="1"/>
          <p:nvPr/>
        </p:nvSpPr>
        <p:spPr>
          <a:xfrm>
            <a:off x="914400" y="1371600"/>
            <a:ext cx="10332720" cy="1828800"/>
          </a:xfrm>
          <a:prstGeom prst="rect">
            <a:avLst/>
          </a:prstGeom>
          <a:noFill/>
          <a:ln/>
        </p:spPr>
        <p:txBody>
          <a:bodyPr wrap="square" lIns="0" tIns="0" rIns="0" bIns="0" rtlCol="0" anchor="ctr"/>
          <a:lstStyle/>
          <a:p>
            <a:pPr indent="0" marL="0">
              <a:buNone/>
            </a:pPr>
            <a:r>
              <a:rPr lang="en-US" sz="2400" b="1" dirty="0">
                <a:solidFill>
                  <a:srgbClr val="FFFFFF"/>
                </a:solidFill>
              </a:rPr>
              <a:t>The year in the Chair is the point at which a Lodge is most likely to ask too much of one man.</a:t>
            </a:r>
            <a:endParaRPr lang="en-US" sz="2400" dirty="0"/>
          </a:p>
        </p:txBody>
      </p:sp>
      <p:sp>
        <p:nvSpPr>
          <p:cNvPr id="5" name="Card Delegate"/>
          <p:cNvSpPr/>
          <p:nvPr/>
        </p:nvSpPr>
        <p:spPr>
          <a:xfrm>
            <a:off x="548640" y="3429000"/>
            <a:ext cx="3566160" cy="2423160"/>
          </a:xfrm>
          <a:prstGeom prst="roundRect">
            <a:avLst>
              <a:gd name="adj" fmla="val 3019"/>
            </a:avLst>
          </a:prstGeom>
          <a:solidFill>
            <a:srgbClr val="F2F7FC"/>
          </a:solidFill>
          <a:ln w="12700">
            <a:solidFill>
              <a:srgbClr val="F2F7FC"/>
            </a:solidFill>
            <a:prstDash val="solid"/>
          </a:ln>
        </p:spPr>
      </p:sp>
      <p:pic>
        <p:nvPicPr>
          <p:cNvPr id="6" name="Image 0" descr="preencoded.png">    </p:cNvPr>
          <p:cNvPicPr>
            <a:picLocks noChangeAspect="1"/>
          </p:cNvPicPr>
          <p:nvPr/>
        </p:nvPicPr>
        <p:blipFill>
          <a:blip r:embed="rId1"/>
          <a:stretch>
            <a:fillRect/>
          </a:stretch>
        </p:blipFill>
        <p:spPr>
          <a:xfrm>
            <a:off x="749808" y="3611880"/>
            <a:ext cx="384048" cy="384048"/>
          </a:xfrm>
          <a:prstGeom prst="rect">
            <a:avLst/>
          </a:prstGeom>
        </p:spPr>
      </p:pic>
      <p:sp>
        <p:nvSpPr>
          <p:cNvPr id="7" name="Text 4"/>
          <p:cNvSpPr txBox="1"/>
          <p:nvPr/>
        </p:nvSpPr>
        <p:spPr>
          <a:xfrm>
            <a:off x="1261872" y="359359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Delegate</a:t>
            </a:r>
            <a:endParaRPr lang="en-US" sz="1600" dirty="0"/>
          </a:p>
        </p:txBody>
      </p:sp>
      <p:sp>
        <p:nvSpPr>
          <p:cNvPr id="8" name="Text 5"/>
          <p:cNvSpPr txBox="1"/>
          <p:nvPr/>
        </p:nvSpPr>
        <p:spPr>
          <a:xfrm>
            <a:off x="777240" y="4050792"/>
            <a:ext cx="3108960" cy="1691640"/>
          </a:xfrm>
          <a:prstGeom prst="rect">
            <a:avLst/>
          </a:prstGeom>
          <a:noFill/>
          <a:ln/>
        </p:spPr>
        <p:txBody>
          <a:bodyPr wrap="square" lIns="0" tIns="0" rIns="0" bIns="0" rtlCol="0" anchor="t"/>
          <a:lstStyle/>
          <a:p>
            <a:pPr indent="0" marL="0">
              <a:buNone/>
            </a:pPr>
            <a:r>
              <a:rPr lang="en-US" sz="1450" dirty="0">
                <a:solidFill>
                  <a:srgbClr val="1E2329"/>
                </a:solidFill>
              </a:rPr>
              <a:t>The Wardens, the DC and the Secretary carry their share. It is a team, not a performance.</a:t>
            </a:r>
            <a:endParaRPr lang="en-US" sz="1450" dirty="0"/>
          </a:p>
        </p:txBody>
      </p:sp>
      <p:sp>
        <p:nvSpPr>
          <p:cNvPr id="9" name="Card Protect home and work"/>
          <p:cNvSpPr/>
          <p:nvPr/>
        </p:nvSpPr>
        <p:spPr>
          <a:xfrm>
            <a:off x="4297680" y="3429000"/>
            <a:ext cx="3566160" cy="2423160"/>
          </a:xfrm>
          <a:prstGeom prst="roundRect">
            <a:avLst>
              <a:gd name="adj" fmla="val 3019"/>
            </a:avLst>
          </a:prstGeom>
          <a:solidFill>
            <a:srgbClr val="F2F7FC"/>
          </a:solidFill>
          <a:ln w="12700">
            <a:solidFill>
              <a:srgbClr val="F2F7FC"/>
            </a:solidFill>
            <a:prstDash val="solid"/>
          </a:ln>
        </p:spPr>
      </p:sp>
      <p:pic>
        <p:nvPicPr>
          <p:cNvPr id="10" name="Image 1" descr="preencoded.png">    </p:cNvPr>
          <p:cNvPicPr>
            <a:picLocks noChangeAspect="1"/>
          </p:cNvPicPr>
          <p:nvPr/>
        </p:nvPicPr>
        <p:blipFill>
          <a:blip r:embed="rId2"/>
          <a:stretch>
            <a:fillRect/>
          </a:stretch>
        </p:blipFill>
        <p:spPr>
          <a:xfrm>
            <a:off x="4498848" y="3611880"/>
            <a:ext cx="384048" cy="384048"/>
          </a:xfrm>
          <a:prstGeom prst="rect">
            <a:avLst/>
          </a:prstGeom>
        </p:spPr>
      </p:pic>
      <p:sp>
        <p:nvSpPr>
          <p:cNvPr id="11" name="Text 7"/>
          <p:cNvSpPr txBox="1"/>
          <p:nvPr/>
        </p:nvSpPr>
        <p:spPr>
          <a:xfrm>
            <a:off x="5010912" y="359359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Protect home and work</a:t>
            </a:r>
            <a:endParaRPr lang="en-US" sz="1600" dirty="0"/>
          </a:p>
        </p:txBody>
      </p:sp>
      <p:sp>
        <p:nvSpPr>
          <p:cNvPr id="12" name="Text 8"/>
          <p:cNvSpPr txBox="1"/>
          <p:nvPr/>
        </p:nvSpPr>
        <p:spPr>
          <a:xfrm>
            <a:off x="4526280" y="4050792"/>
            <a:ext cx="3108960" cy="1691640"/>
          </a:xfrm>
          <a:prstGeom prst="rect">
            <a:avLst/>
          </a:prstGeom>
          <a:noFill/>
          <a:ln/>
        </p:spPr>
        <p:txBody>
          <a:bodyPr wrap="square" lIns="0" tIns="0" rIns="0" bIns="0" rtlCol="0" anchor="t"/>
          <a:lstStyle/>
          <a:p>
            <a:pPr indent="0" marL="0">
              <a:buNone/>
            </a:pPr>
            <a:r>
              <a:rPr lang="en-US" sz="1450" dirty="0">
                <a:solidFill>
                  <a:srgbClr val="1E2329"/>
                </a:solidFill>
              </a:rPr>
              <a:t>Say no to the fourth visit in a month. The Lodge will understand; your family will notice.</a:t>
            </a:r>
            <a:endParaRPr lang="en-US" sz="1450" dirty="0"/>
          </a:p>
        </p:txBody>
      </p:sp>
      <p:sp>
        <p:nvSpPr>
          <p:cNvPr id="13" name="Card Keep your own mentor"/>
          <p:cNvSpPr/>
          <p:nvPr/>
        </p:nvSpPr>
        <p:spPr>
          <a:xfrm>
            <a:off x="8046720" y="3429000"/>
            <a:ext cx="3566160" cy="2423160"/>
          </a:xfrm>
          <a:prstGeom prst="roundRect">
            <a:avLst>
              <a:gd name="adj" fmla="val 3019"/>
            </a:avLst>
          </a:prstGeom>
          <a:solidFill>
            <a:srgbClr val="E6F2F2"/>
          </a:solidFill>
          <a:ln w="12700">
            <a:solidFill>
              <a:srgbClr val="E6F2F2"/>
            </a:solidFill>
            <a:prstDash val="solid"/>
          </a:ln>
        </p:spPr>
      </p:sp>
      <p:pic>
        <p:nvPicPr>
          <p:cNvPr id="14" name="Image 2" descr="preencoded.png">    </p:cNvPr>
          <p:cNvPicPr>
            <a:picLocks noChangeAspect="1"/>
          </p:cNvPicPr>
          <p:nvPr/>
        </p:nvPicPr>
        <p:blipFill>
          <a:blip r:embed="rId3"/>
          <a:stretch>
            <a:fillRect/>
          </a:stretch>
        </p:blipFill>
        <p:spPr>
          <a:xfrm>
            <a:off x="8247888" y="3611880"/>
            <a:ext cx="384048" cy="384048"/>
          </a:xfrm>
          <a:prstGeom prst="rect">
            <a:avLst/>
          </a:prstGeom>
        </p:spPr>
      </p:pic>
      <p:sp>
        <p:nvSpPr>
          <p:cNvPr id="15" name="Text 10"/>
          <p:cNvSpPr txBox="1"/>
          <p:nvPr/>
        </p:nvSpPr>
        <p:spPr>
          <a:xfrm>
            <a:off x="8759952" y="359359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Keep your own mentor</a:t>
            </a:r>
            <a:endParaRPr lang="en-US" sz="1600" dirty="0"/>
          </a:p>
        </p:txBody>
      </p:sp>
      <p:sp>
        <p:nvSpPr>
          <p:cNvPr id="16" name="Text 11"/>
          <p:cNvSpPr txBox="1"/>
          <p:nvPr/>
        </p:nvSpPr>
        <p:spPr>
          <a:xfrm>
            <a:off x="8275320" y="4050792"/>
            <a:ext cx="3108960" cy="1691640"/>
          </a:xfrm>
          <a:prstGeom prst="rect">
            <a:avLst/>
          </a:prstGeom>
          <a:noFill/>
          <a:ln/>
        </p:spPr>
        <p:txBody>
          <a:bodyPr wrap="square" lIns="0" tIns="0" rIns="0" bIns="0" rtlCol="0" anchor="t"/>
          <a:lstStyle/>
          <a:p>
            <a:pPr indent="0" marL="0">
              <a:buNone/>
            </a:pPr>
            <a:r>
              <a:rPr lang="en-US" sz="1450" dirty="0">
                <a:solidFill>
                  <a:srgbClr val="1E2329"/>
                </a:solidFill>
              </a:rPr>
              <a:t>The Master who finishes the year wanting more Freemasonry is the one who had someone to talk to during it.</a:t>
            </a:r>
            <a:endParaRPr lang="en-US" sz="14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True or false?</a:t>
            </a:r>
            <a:endParaRPr lang="en-US" sz="3200" dirty="0"/>
          </a:p>
        </p:txBody>
      </p:sp>
      <p:sp>
        <p:nvSpPr>
          <p:cNvPr id="3" name="Statement 1"/>
          <p:cNvSpPr/>
          <p:nvPr/>
        </p:nvSpPr>
        <p:spPr>
          <a:xfrm>
            <a:off x="548640" y="1371600"/>
            <a:ext cx="11064240" cy="2011680"/>
          </a:xfrm>
          <a:prstGeom prst="roundRect">
            <a:avLst>
              <a:gd name="adj" fmla="val 3636"/>
            </a:avLst>
          </a:prstGeom>
          <a:solidFill>
            <a:srgbClr val="F2F7FC"/>
          </a:solidFill>
          <a:ln w="12700">
            <a:solidFill>
              <a:srgbClr val="F2F7FC"/>
            </a:solidFill>
            <a:prstDash val="solid"/>
          </a:ln>
        </p:spPr>
      </p:sp>
      <p:sp>
        <p:nvSpPr>
          <p:cNvPr id="4" name="Q circle 1"/>
          <p:cNvSpPr/>
          <p:nvPr/>
        </p:nvSpPr>
        <p:spPr>
          <a:xfrm>
            <a:off x="868680" y="2057400"/>
            <a:ext cx="640080" cy="640080"/>
          </a:xfrm>
          <a:prstGeom prst="ellipse">
            <a:avLst/>
          </a:prstGeom>
          <a:solidFill>
            <a:srgbClr val="003668"/>
          </a:solidFill>
          <a:ln w="12700">
            <a:solidFill>
              <a:srgbClr val="003668"/>
            </a:solidFill>
            <a:prstDash val="solid"/>
          </a:ln>
        </p:spPr>
      </p:sp>
      <p:sp>
        <p:nvSpPr>
          <p:cNvPr id="5" name="Text 3"/>
          <p:cNvSpPr txBox="1"/>
          <p:nvPr/>
        </p:nvSpPr>
        <p:spPr>
          <a:xfrm>
            <a:off x="868680" y="20574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1783080" y="1371600"/>
            <a:ext cx="9601200" cy="2011680"/>
          </a:xfrm>
          <a:prstGeom prst="rect">
            <a:avLst/>
          </a:prstGeom>
          <a:noFill/>
          <a:ln/>
        </p:spPr>
        <p:txBody>
          <a:bodyPr wrap="square" lIns="0" tIns="0" rIns="0" bIns="0" rtlCol="0" anchor="ctr"/>
          <a:lstStyle/>
          <a:p>
            <a:pPr indent="0" marL="0">
              <a:buNone/>
            </a:pPr>
            <a:r>
              <a:rPr lang="en-US" sz="2400" b="1" dirty="0">
                <a:solidFill>
                  <a:srgbClr val="06345D"/>
                </a:solidFill>
              </a:rPr>
              <a:t>Five Brethren are enough to open a Lodge.</a:t>
            </a:r>
            <a:endParaRPr lang="en-US" sz="2400" dirty="0"/>
          </a:p>
        </p:txBody>
      </p:sp>
      <p:sp>
        <p:nvSpPr>
          <p:cNvPr id="7" name="Statement 2"/>
          <p:cNvSpPr/>
          <p:nvPr/>
        </p:nvSpPr>
        <p:spPr>
          <a:xfrm>
            <a:off x="548640" y="3611880"/>
            <a:ext cx="11064240" cy="2011680"/>
          </a:xfrm>
          <a:prstGeom prst="roundRect">
            <a:avLst>
              <a:gd name="adj" fmla="val 3636"/>
            </a:avLst>
          </a:prstGeom>
          <a:solidFill>
            <a:srgbClr val="F2F7FC"/>
          </a:solidFill>
          <a:ln w="12700">
            <a:solidFill>
              <a:srgbClr val="F2F7FC"/>
            </a:solidFill>
            <a:prstDash val="solid"/>
          </a:ln>
        </p:spPr>
      </p:sp>
      <p:sp>
        <p:nvSpPr>
          <p:cNvPr id="8" name="Q circle 2"/>
          <p:cNvSpPr/>
          <p:nvPr/>
        </p:nvSpPr>
        <p:spPr>
          <a:xfrm>
            <a:off x="868680" y="4297680"/>
            <a:ext cx="640080" cy="640080"/>
          </a:xfrm>
          <a:prstGeom prst="ellipse">
            <a:avLst/>
          </a:prstGeom>
          <a:solidFill>
            <a:srgbClr val="0A4F72"/>
          </a:solidFill>
          <a:ln w="12700">
            <a:solidFill>
              <a:srgbClr val="0A4F72"/>
            </a:solidFill>
            <a:prstDash val="solid"/>
          </a:ln>
        </p:spPr>
      </p:sp>
      <p:sp>
        <p:nvSpPr>
          <p:cNvPr id="9" name="Text 7"/>
          <p:cNvSpPr txBox="1"/>
          <p:nvPr/>
        </p:nvSpPr>
        <p:spPr>
          <a:xfrm>
            <a:off x="868680" y="4297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0" name="Text 8"/>
          <p:cNvSpPr txBox="1"/>
          <p:nvPr/>
        </p:nvSpPr>
        <p:spPr>
          <a:xfrm>
            <a:off x="1783080" y="3611880"/>
            <a:ext cx="9601200" cy="2011680"/>
          </a:xfrm>
          <a:prstGeom prst="rect">
            <a:avLst/>
          </a:prstGeom>
          <a:noFill/>
          <a:ln/>
        </p:spPr>
        <p:txBody>
          <a:bodyPr wrap="square" lIns="0" tIns="0" rIns="0" bIns="0" rtlCol="0" anchor="ctr"/>
          <a:lstStyle/>
          <a:p>
            <a:pPr indent="0" marL="0">
              <a:buNone/>
            </a:pPr>
            <a:r>
              <a:rPr lang="en-US" sz="2400" b="1" dirty="0">
                <a:solidFill>
                  <a:srgbClr val="06345D"/>
                </a:solidFill>
              </a:rPr>
              <a:t>The Deputy and Assistant Provincial Grand Masters attend as the PGM’s representative.</a:t>
            </a:r>
            <a:endParaRPr lang="en-US" sz="2400" dirty="0"/>
          </a:p>
        </p:txBody>
      </p:sp>
      <p:sp>
        <p:nvSpPr>
          <p:cNvPr id="11" name="Prompt"/>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500" b="1" dirty="0">
                <a:solidFill>
                  <a:srgbClr val="157A7C"/>
                </a:solidFill>
              </a:rPr>
              <a:t>Hands up for true. Then the answer.</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answers</a:t>
            </a:r>
            <a:endParaRPr lang="en-US" sz="3200" dirty="0"/>
          </a:p>
        </p:txBody>
      </p:sp>
      <p:sp>
        <p:nvSpPr>
          <p:cNvPr id="3" name="Answer 1"/>
          <p:cNvSpPr/>
          <p:nvPr/>
        </p:nvSpPr>
        <p:spPr>
          <a:xfrm>
            <a:off x="548640" y="1371600"/>
            <a:ext cx="11064240" cy="2011680"/>
          </a:xfrm>
          <a:prstGeom prst="roundRect">
            <a:avLst>
              <a:gd name="adj" fmla="val 3636"/>
            </a:avLst>
          </a:prstGeom>
          <a:solidFill>
            <a:srgbClr val="F2F7FC"/>
          </a:solidFill>
          <a:ln w="12700">
            <a:solidFill>
              <a:srgbClr val="F2F7FC"/>
            </a:solidFill>
            <a:prstDash val="solid"/>
          </a:ln>
        </p:spPr>
      </p:sp>
      <p:sp>
        <p:nvSpPr>
          <p:cNvPr id="4" name="Badge 1"/>
          <p:cNvSpPr/>
          <p:nvPr/>
        </p:nvSpPr>
        <p:spPr>
          <a:xfrm>
            <a:off x="868680" y="1600200"/>
            <a:ext cx="1234440" cy="457200"/>
          </a:xfrm>
          <a:prstGeom prst="roundRect">
            <a:avLst>
              <a:gd name="adj" fmla="val 20000"/>
            </a:avLst>
          </a:prstGeom>
          <a:solidFill>
            <a:srgbClr val="157A7C"/>
          </a:solidFill>
          <a:ln w="12700">
            <a:solidFill>
              <a:srgbClr val="157A7C"/>
            </a:solidFill>
            <a:prstDash val="solid"/>
          </a:ln>
        </p:spPr>
      </p:sp>
      <p:sp>
        <p:nvSpPr>
          <p:cNvPr id="5" name="Text 3"/>
          <p:cNvSpPr txBox="1"/>
          <p:nvPr/>
        </p:nvSpPr>
        <p:spPr>
          <a:xfrm>
            <a:off x="868680" y="1600200"/>
            <a:ext cx="1234440" cy="457200"/>
          </a:xfrm>
          <a:prstGeom prst="rect">
            <a:avLst/>
          </a:prstGeom>
          <a:noFill/>
          <a:ln/>
        </p:spPr>
        <p:txBody>
          <a:bodyPr wrap="square" lIns="0" tIns="0" rIns="0" bIns="0" rtlCol="0" anchor="ctr"/>
          <a:lstStyle/>
          <a:p>
            <a:pPr algn="ctr" indent="0" marL="0">
              <a:buNone/>
            </a:pPr>
            <a:r>
              <a:rPr lang="en-US" sz="1500" b="1" dirty="0">
                <a:solidFill>
                  <a:srgbClr val="FFFFFF"/>
                </a:solidFill>
              </a:rPr>
              <a:t>TRUE</a:t>
            </a:r>
            <a:endParaRPr lang="en-US" sz="1500" dirty="0"/>
          </a:p>
        </p:txBody>
      </p:sp>
      <p:sp>
        <p:nvSpPr>
          <p:cNvPr id="6" name="Text 4"/>
          <p:cNvSpPr txBox="1"/>
          <p:nvPr/>
        </p:nvSpPr>
        <p:spPr>
          <a:xfrm>
            <a:off x="2286000" y="1572768"/>
            <a:ext cx="9052560" cy="512064"/>
          </a:xfrm>
          <a:prstGeom prst="rect">
            <a:avLst/>
          </a:prstGeom>
          <a:noFill/>
          <a:ln/>
        </p:spPr>
        <p:txBody>
          <a:bodyPr wrap="square" lIns="0" tIns="0" rIns="0" bIns="0" rtlCol="0" anchor="ctr"/>
          <a:lstStyle/>
          <a:p>
            <a:pPr indent="0" marL="0">
              <a:buNone/>
            </a:pPr>
            <a:r>
              <a:rPr lang="en-US" sz="1600" b="1" dirty="0">
                <a:solidFill>
                  <a:srgbClr val="06345D"/>
                </a:solidFill>
              </a:rPr>
              <a:t>Five Brethren are enough to open a Lodge.</a:t>
            </a:r>
            <a:endParaRPr lang="en-US" sz="1600" dirty="0"/>
          </a:p>
        </p:txBody>
      </p:sp>
      <p:sp>
        <p:nvSpPr>
          <p:cNvPr id="7" name="Text 5"/>
          <p:cNvSpPr txBox="1"/>
          <p:nvPr/>
        </p:nvSpPr>
        <p:spPr>
          <a:xfrm>
            <a:off x="868680" y="2194560"/>
            <a:ext cx="10424160" cy="868680"/>
          </a:xfrm>
          <a:prstGeom prst="rect">
            <a:avLst/>
          </a:prstGeom>
          <a:noFill/>
          <a:ln/>
        </p:spPr>
        <p:txBody>
          <a:bodyPr wrap="square" lIns="0" tIns="0" rIns="0" bIns="0" rtlCol="0" anchor="t"/>
          <a:lstStyle/>
          <a:p>
            <a:pPr indent="0" marL="0">
              <a:buNone/>
            </a:pPr>
            <a:r>
              <a:rPr lang="en-US" sz="1400" dirty="0">
                <a:solidFill>
                  <a:srgbClr val="1E2329"/>
                </a:solidFill>
              </a:rPr>
              <a:t>Five, not counting the Tyler and the candidate; two of them members; one an Installed Master. No Installed Master present and the meeting is abandoned and minuted. A Master Elect who cannot attend his Installation: postponed, and held within five weeks.</a:t>
            </a:r>
            <a:endParaRPr lang="en-US" sz="1400" dirty="0"/>
          </a:p>
        </p:txBody>
      </p:sp>
      <p:sp>
        <p:nvSpPr>
          <p:cNvPr id="8" name="Text 6"/>
          <p:cNvSpPr txBox="1"/>
          <p:nvPr/>
        </p:nvSpPr>
        <p:spPr>
          <a:xfrm>
            <a:off x="868680" y="3035808"/>
            <a:ext cx="10424160" cy="274320"/>
          </a:xfrm>
          <a:prstGeom prst="rect">
            <a:avLst/>
          </a:prstGeom>
          <a:noFill/>
          <a:ln/>
        </p:spPr>
        <p:txBody>
          <a:bodyPr wrap="square" lIns="0" tIns="0" rIns="0" bIns="0" rtlCol="0" anchor="t"/>
          <a:lstStyle/>
          <a:p>
            <a:pPr indent="0" marL="0">
              <a:buNone/>
            </a:pPr>
            <a:r>
              <a:rPr lang="en-US" sz="1100" i="1" dirty="0">
                <a:solidFill>
                  <a:srgbClr val="0A4F72"/>
                </a:solidFill>
              </a:rPr>
              <a:t>Rule 119; PGL Herts Secretaries’ Handbook, Unavoidable absence</a:t>
            </a:r>
            <a:endParaRPr lang="en-US" sz="1100" dirty="0"/>
          </a:p>
        </p:txBody>
      </p:sp>
      <p:sp>
        <p:nvSpPr>
          <p:cNvPr id="9" name="Answer 2"/>
          <p:cNvSpPr/>
          <p:nvPr/>
        </p:nvSpPr>
        <p:spPr>
          <a:xfrm>
            <a:off x="548640" y="3611880"/>
            <a:ext cx="11064240" cy="2011680"/>
          </a:xfrm>
          <a:prstGeom prst="roundRect">
            <a:avLst>
              <a:gd name="adj" fmla="val 3636"/>
            </a:avLst>
          </a:prstGeom>
          <a:solidFill>
            <a:srgbClr val="F2F7FC"/>
          </a:solidFill>
          <a:ln w="12700">
            <a:solidFill>
              <a:srgbClr val="F2F7FC"/>
            </a:solidFill>
            <a:prstDash val="solid"/>
          </a:ln>
        </p:spPr>
      </p:sp>
      <p:sp>
        <p:nvSpPr>
          <p:cNvPr id="10" name="Badge 2"/>
          <p:cNvSpPr/>
          <p:nvPr/>
        </p:nvSpPr>
        <p:spPr>
          <a:xfrm>
            <a:off x="868680" y="3840480"/>
            <a:ext cx="1234440" cy="457200"/>
          </a:xfrm>
          <a:prstGeom prst="roundRect">
            <a:avLst>
              <a:gd name="adj" fmla="val 20000"/>
            </a:avLst>
          </a:prstGeom>
          <a:solidFill>
            <a:srgbClr val="0A4F72"/>
          </a:solidFill>
          <a:ln w="12700">
            <a:solidFill>
              <a:srgbClr val="0A4F72"/>
            </a:solidFill>
            <a:prstDash val="solid"/>
          </a:ln>
        </p:spPr>
      </p:sp>
      <p:sp>
        <p:nvSpPr>
          <p:cNvPr id="11" name="Text 9"/>
          <p:cNvSpPr txBox="1"/>
          <p:nvPr/>
        </p:nvSpPr>
        <p:spPr>
          <a:xfrm>
            <a:off x="868680" y="3840480"/>
            <a:ext cx="1234440" cy="457200"/>
          </a:xfrm>
          <a:prstGeom prst="rect">
            <a:avLst/>
          </a:prstGeom>
          <a:noFill/>
          <a:ln/>
        </p:spPr>
        <p:txBody>
          <a:bodyPr wrap="square" lIns="0" tIns="0" rIns="0" bIns="0" rtlCol="0" anchor="ctr"/>
          <a:lstStyle/>
          <a:p>
            <a:pPr algn="ctr" indent="0" marL="0">
              <a:buNone/>
            </a:pPr>
            <a:r>
              <a:rPr lang="en-US" sz="1500" b="1" dirty="0">
                <a:solidFill>
                  <a:srgbClr val="FFFFFF"/>
                </a:solidFill>
              </a:rPr>
              <a:t>FALSE</a:t>
            </a:r>
            <a:endParaRPr lang="en-US" sz="1500" dirty="0"/>
          </a:p>
        </p:txBody>
      </p:sp>
      <p:sp>
        <p:nvSpPr>
          <p:cNvPr id="12" name="Text 10"/>
          <p:cNvSpPr txBox="1"/>
          <p:nvPr/>
        </p:nvSpPr>
        <p:spPr>
          <a:xfrm>
            <a:off x="2286000" y="3813048"/>
            <a:ext cx="9052560" cy="512064"/>
          </a:xfrm>
          <a:prstGeom prst="rect">
            <a:avLst/>
          </a:prstGeom>
          <a:noFill/>
          <a:ln/>
        </p:spPr>
        <p:txBody>
          <a:bodyPr wrap="square" lIns="0" tIns="0" rIns="0" bIns="0" rtlCol="0" anchor="ctr"/>
          <a:lstStyle/>
          <a:p>
            <a:pPr indent="0" marL="0">
              <a:buNone/>
            </a:pPr>
            <a:r>
              <a:rPr lang="en-US" sz="1600" b="1" dirty="0">
                <a:solidFill>
                  <a:srgbClr val="06345D"/>
                </a:solidFill>
              </a:rPr>
              <a:t>The Deputy and Assistant Provincial Grand Masters attend as the PGM’s representative.</a:t>
            </a:r>
            <a:endParaRPr lang="en-US" sz="1600" dirty="0"/>
          </a:p>
        </p:txBody>
      </p:sp>
      <p:sp>
        <p:nvSpPr>
          <p:cNvPr id="13" name="Text 11"/>
          <p:cNvSpPr txBox="1"/>
          <p:nvPr/>
        </p:nvSpPr>
        <p:spPr>
          <a:xfrm>
            <a:off x="868680" y="4434840"/>
            <a:ext cx="10424160" cy="868680"/>
          </a:xfrm>
          <a:prstGeom prst="rect">
            <a:avLst/>
          </a:prstGeom>
          <a:noFill/>
          <a:ln/>
        </p:spPr>
        <p:txBody>
          <a:bodyPr wrap="square" lIns="0" tIns="0" rIns="0" bIns="0" rtlCol="0" anchor="t"/>
          <a:lstStyle/>
          <a:p>
            <a:pPr indent="0" marL="0">
              <a:buNone/>
            </a:pPr>
            <a:r>
              <a:rPr lang="en-US" sz="1400" dirty="0">
                <a:solidFill>
                  <a:srgbClr val="1E2329"/>
                </a:solidFill>
              </a:rPr>
              <a:t>They represent themselves by their Patents and should never be called his representative. Anyone wearing a chain represents themselves: offer the gavel. Salutations are completed before the Official Visitor enters, and the first wine-taking at an Installation is with him.</a:t>
            </a:r>
            <a:endParaRPr lang="en-US" sz="1400" dirty="0"/>
          </a:p>
        </p:txBody>
      </p:sp>
      <p:sp>
        <p:nvSpPr>
          <p:cNvPr id="14" name="Text 12"/>
          <p:cNvSpPr txBox="1"/>
          <p:nvPr/>
        </p:nvSpPr>
        <p:spPr>
          <a:xfrm>
            <a:off x="868680" y="5276088"/>
            <a:ext cx="10424160" cy="274320"/>
          </a:xfrm>
          <a:prstGeom prst="rect">
            <a:avLst/>
          </a:prstGeom>
          <a:noFill/>
          <a:ln/>
        </p:spPr>
        <p:txBody>
          <a:bodyPr wrap="square" lIns="0" tIns="0" rIns="0" bIns="0" rtlCol="0" anchor="t"/>
          <a:lstStyle/>
          <a:p>
            <a:pPr indent="0" marL="0">
              <a:buNone/>
            </a:pPr>
            <a:r>
              <a:rPr lang="en-US" sz="1100" i="1" dirty="0">
                <a:solidFill>
                  <a:srgbClr val="0A4F72"/>
                </a:solidFill>
              </a:rPr>
              <a:t>PGL Herts Secretaries’ Handbook, Official Visits; DC Guide</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For the Wardens: two years’ notice</a:t>
            </a:r>
            <a:endParaRPr lang="en-US" sz="3200" dirty="0"/>
          </a:p>
        </p:txBody>
      </p:sp>
      <p:sp>
        <p:nvSpPr>
          <p:cNvPr id="3" name="Card Learn the Lodge, not only the ritual"/>
          <p:cNvSpPr/>
          <p:nvPr/>
        </p:nvSpPr>
        <p:spPr>
          <a:xfrm>
            <a:off x="548640" y="1325880"/>
            <a:ext cx="3520440" cy="2103120"/>
          </a:xfrm>
          <a:prstGeom prst="roundRect">
            <a:avLst>
              <a:gd name="adj" fmla="val 3478"/>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508760"/>
            <a:ext cx="384048" cy="384048"/>
          </a:xfrm>
          <a:prstGeom prst="rect">
            <a:avLst/>
          </a:prstGeom>
        </p:spPr>
      </p:pic>
      <p:sp>
        <p:nvSpPr>
          <p:cNvPr id="5" name="Text 2"/>
          <p:cNvSpPr txBox="1"/>
          <p:nvPr/>
        </p:nvSpPr>
        <p:spPr>
          <a:xfrm>
            <a:off x="1261872" y="1490472"/>
            <a:ext cx="2606040" cy="411480"/>
          </a:xfrm>
          <a:prstGeom prst="rect">
            <a:avLst/>
          </a:prstGeom>
          <a:noFill/>
          <a:ln/>
        </p:spPr>
        <p:txBody>
          <a:bodyPr wrap="square" lIns="0" tIns="0" rIns="0" bIns="0" rtlCol="0" anchor="ctr"/>
          <a:lstStyle/>
          <a:p>
            <a:pPr indent="0" marL="0">
              <a:buNone/>
            </a:pPr>
            <a:r>
              <a:rPr lang="en-US" sz="1450" b="1" dirty="0">
                <a:solidFill>
                  <a:srgbClr val="003668"/>
                </a:solidFill>
              </a:rPr>
              <a:t>Learn the Lodge, not only the ritual</a:t>
            </a:r>
            <a:endParaRPr lang="en-US" sz="1450" dirty="0"/>
          </a:p>
        </p:txBody>
      </p:sp>
      <p:sp>
        <p:nvSpPr>
          <p:cNvPr id="6" name="Text 3"/>
          <p:cNvSpPr txBox="1"/>
          <p:nvPr/>
        </p:nvSpPr>
        <p:spPr>
          <a:xfrm>
            <a:off x="777240" y="1947672"/>
            <a:ext cx="3063240" cy="1371600"/>
          </a:xfrm>
          <a:prstGeom prst="rect">
            <a:avLst/>
          </a:prstGeom>
          <a:noFill/>
          <a:ln/>
        </p:spPr>
        <p:txBody>
          <a:bodyPr wrap="square" lIns="0" tIns="0" rIns="0" bIns="0" rtlCol="0" anchor="t"/>
          <a:lstStyle/>
          <a:p>
            <a:pPr indent="0" marL="0">
              <a:buNone/>
            </a:pPr>
            <a:r>
              <a:rPr lang="en-US" sz="1350" dirty="0">
                <a:solidFill>
                  <a:srgbClr val="1E2329"/>
                </a:solidFill>
              </a:rPr>
              <a:t>Who is new, who is drifting, who is waiting. Sit with the Lodge Mentor once a quarter.</a:t>
            </a:r>
            <a:endParaRPr lang="en-US" sz="1350" dirty="0"/>
          </a:p>
        </p:txBody>
      </p:sp>
      <p:sp>
        <p:nvSpPr>
          <p:cNvPr id="7" name="Card Shadow the Master"/>
          <p:cNvSpPr/>
          <p:nvPr/>
        </p:nvSpPr>
        <p:spPr>
          <a:xfrm>
            <a:off x="4297680" y="1325880"/>
            <a:ext cx="3520440" cy="2103120"/>
          </a:xfrm>
          <a:prstGeom prst="roundRect">
            <a:avLst>
              <a:gd name="adj" fmla="val 3478"/>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4498848" y="1508760"/>
            <a:ext cx="384048" cy="384048"/>
          </a:xfrm>
          <a:prstGeom prst="rect">
            <a:avLst/>
          </a:prstGeom>
        </p:spPr>
      </p:pic>
      <p:sp>
        <p:nvSpPr>
          <p:cNvPr id="9" name="Text 5"/>
          <p:cNvSpPr txBox="1"/>
          <p:nvPr/>
        </p:nvSpPr>
        <p:spPr>
          <a:xfrm>
            <a:off x="5010912" y="1490472"/>
            <a:ext cx="2606040" cy="411480"/>
          </a:xfrm>
          <a:prstGeom prst="rect">
            <a:avLst/>
          </a:prstGeom>
          <a:noFill/>
          <a:ln/>
        </p:spPr>
        <p:txBody>
          <a:bodyPr wrap="square" lIns="0" tIns="0" rIns="0" bIns="0" rtlCol="0" anchor="ctr"/>
          <a:lstStyle/>
          <a:p>
            <a:pPr indent="0" marL="0">
              <a:buNone/>
            </a:pPr>
            <a:r>
              <a:rPr lang="en-US" sz="1450" b="1" dirty="0">
                <a:solidFill>
                  <a:srgbClr val="003668"/>
                </a:solidFill>
              </a:rPr>
              <a:t>Shadow the Master</a:t>
            </a:r>
            <a:endParaRPr lang="en-US" sz="1450" dirty="0"/>
          </a:p>
        </p:txBody>
      </p:sp>
      <p:sp>
        <p:nvSpPr>
          <p:cNvPr id="10" name="Text 6"/>
          <p:cNvSpPr txBox="1"/>
          <p:nvPr/>
        </p:nvSpPr>
        <p:spPr>
          <a:xfrm>
            <a:off x="4526280" y="1947672"/>
            <a:ext cx="3063240" cy="1371600"/>
          </a:xfrm>
          <a:prstGeom prst="rect">
            <a:avLst/>
          </a:prstGeom>
          <a:noFill/>
          <a:ln/>
        </p:spPr>
        <p:txBody>
          <a:bodyPr wrap="square" lIns="0" tIns="0" rIns="0" bIns="0" rtlCol="0" anchor="t"/>
          <a:lstStyle/>
          <a:p>
            <a:pPr indent="0" marL="0">
              <a:buNone/>
            </a:pPr>
            <a:r>
              <a:rPr lang="en-US" sz="1350" dirty="0">
                <a:solidFill>
                  <a:srgbClr val="1E2329"/>
                </a:solidFill>
              </a:rPr>
              <a:t>At the Committee, with the Secretary, at the Festive Board. Watch what works and what you will do differently.</a:t>
            </a:r>
            <a:endParaRPr lang="en-US" sz="1350" dirty="0"/>
          </a:p>
        </p:txBody>
      </p:sp>
      <p:sp>
        <p:nvSpPr>
          <p:cNvPr id="11" name="Card Choose your team early, and kindly"/>
          <p:cNvSpPr/>
          <p:nvPr/>
        </p:nvSpPr>
        <p:spPr>
          <a:xfrm>
            <a:off x="8046720" y="1325880"/>
            <a:ext cx="3520440" cy="2103120"/>
          </a:xfrm>
          <a:prstGeom prst="roundRect">
            <a:avLst>
              <a:gd name="adj" fmla="val 3478"/>
            </a:avLst>
          </a:prstGeom>
          <a:solidFill>
            <a:srgbClr val="F2F7FC"/>
          </a:solidFill>
          <a:ln w="12700">
            <a:solidFill>
              <a:srgbClr val="F2F7FC"/>
            </a:solidFill>
            <a:prstDash val="solid"/>
          </a:ln>
        </p:spPr>
      </p:sp>
      <p:pic>
        <p:nvPicPr>
          <p:cNvPr id="12" name="Image 2" descr="preencoded.png">    </p:cNvPr>
          <p:cNvPicPr>
            <a:picLocks noChangeAspect="1"/>
          </p:cNvPicPr>
          <p:nvPr/>
        </p:nvPicPr>
        <p:blipFill>
          <a:blip r:embed="rId3"/>
          <a:stretch>
            <a:fillRect/>
          </a:stretch>
        </p:blipFill>
        <p:spPr>
          <a:xfrm>
            <a:off x="8247888" y="1508760"/>
            <a:ext cx="384048" cy="384048"/>
          </a:xfrm>
          <a:prstGeom prst="rect">
            <a:avLst/>
          </a:prstGeom>
        </p:spPr>
      </p:pic>
      <p:sp>
        <p:nvSpPr>
          <p:cNvPr id="13" name="Text 8"/>
          <p:cNvSpPr txBox="1"/>
          <p:nvPr/>
        </p:nvSpPr>
        <p:spPr>
          <a:xfrm>
            <a:off x="8759952" y="1490472"/>
            <a:ext cx="2606040" cy="411480"/>
          </a:xfrm>
          <a:prstGeom prst="rect">
            <a:avLst/>
          </a:prstGeom>
          <a:noFill/>
          <a:ln/>
        </p:spPr>
        <p:txBody>
          <a:bodyPr wrap="square" lIns="0" tIns="0" rIns="0" bIns="0" rtlCol="0" anchor="ctr"/>
          <a:lstStyle/>
          <a:p>
            <a:pPr indent="0" marL="0">
              <a:buNone/>
            </a:pPr>
            <a:r>
              <a:rPr lang="en-US" sz="1450" b="1" dirty="0">
                <a:solidFill>
                  <a:srgbClr val="003668"/>
                </a:solidFill>
              </a:rPr>
              <a:t>Choose your team early, and kindly</a:t>
            </a:r>
            <a:endParaRPr lang="en-US" sz="1450" dirty="0"/>
          </a:p>
        </p:txBody>
      </p:sp>
      <p:sp>
        <p:nvSpPr>
          <p:cNvPr id="14" name="Text 9"/>
          <p:cNvSpPr txBox="1"/>
          <p:nvPr/>
        </p:nvSpPr>
        <p:spPr>
          <a:xfrm>
            <a:off x="8275320" y="1947672"/>
            <a:ext cx="3063240" cy="1371600"/>
          </a:xfrm>
          <a:prstGeom prst="rect">
            <a:avLst/>
          </a:prstGeom>
          <a:noFill/>
          <a:ln/>
        </p:spPr>
        <p:txBody>
          <a:bodyPr wrap="square" lIns="0" tIns="0" rIns="0" bIns="0" rtlCol="0" anchor="t"/>
          <a:lstStyle/>
          <a:p>
            <a:pPr indent="0" marL="0">
              <a:buNone/>
            </a:pPr>
            <a:r>
              <a:rPr lang="en-US" sz="1350" dirty="0">
                <a:solidFill>
                  <a:srgbClr val="1E2329"/>
                </a:solidFill>
              </a:rPr>
              <a:t>Readiness runs both ways. Talk to the DC and the Lodge Mentor now about who is ready and who is waiting.</a:t>
            </a:r>
            <a:endParaRPr lang="en-US" sz="1350" dirty="0"/>
          </a:p>
        </p:txBody>
      </p:sp>
      <p:sp>
        <p:nvSpPr>
          <p:cNvPr id="15" name="Card Plan your year now"/>
          <p:cNvSpPr/>
          <p:nvPr/>
        </p:nvSpPr>
        <p:spPr>
          <a:xfrm>
            <a:off x="548640" y="3611880"/>
            <a:ext cx="3520440" cy="2103120"/>
          </a:xfrm>
          <a:prstGeom prst="roundRect">
            <a:avLst>
              <a:gd name="adj" fmla="val 3478"/>
            </a:avLst>
          </a:prstGeom>
          <a:solidFill>
            <a:srgbClr val="F2F7FC"/>
          </a:solidFill>
          <a:ln w="12700">
            <a:solidFill>
              <a:srgbClr val="F2F7FC"/>
            </a:solidFill>
            <a:prstDash val="solid"/>
          </a:ln>
        </p:spPr>
      </p:sp>
      <p:pic>
        <p:nvPicPr>
          <p:cNvPr id="16" name="Image 3" descr="preencoded.png">    </p:cNvPr>
          <p:cNvPicPr>
            <a:picLocks noChangeAspect="1"/>
          </p:cNvPicPr>
          <p:nvPr/>
        </p:nvPicPr>
        <p:blipFill>
          <a:blip r:embed="rId4"/>
          <a:stretch>
            <a:fillRect/>
          </a:stretch>
        </p:blipFill>
        <p:spPr>
          <a:xfrm>
            <a:off x="749808" y="3794760"/>
            <a:ext cx="384048" cy="384048"/>
          </a:xfrm>
          <a:prstGeom prst="rect">
            <a:avLst/>
          </a:prstGeom>
        </p:spPr>
      </p:pic>
      <p:sp>
        <p:nvSpPr>
          <p:cNvPr id="17" name="Text 11"/>
          <p:cNvSpPr txBox="1"/>
          <p:nvPr/>
        </p:nvSpPr>
        <p:spPr>
          <a:xfrm>
            <a:off x="1261872" y="3776472"/>
            <a:ext cx="2606040" cy="411480"/>
          </a:xfrm>
          <a:prstGeom prst="rect">
            <a:avLst/>
          </a:prstGeom>
          <a:noFill/>
          <a:ln/>
        </p:spPr>
        <p:txBody>
          <a:bodyPr wrap="square" lIns="0" tIns="0" rIns="0" bIns="0" rtlCol="0" anchor="ctr"/>
          <a:lstStyle/>
          <a:p>
            <a:pPr indent="0" marL="0">
              <a:buNone/>
            </a:pPr>
            <a:r>
              <a:rPr lang="en-US" sz="1450" b="1" dirty="0">
                <a:solidFill>
                  <a:srgbClr val="003668"/>
                </a:solidFill>
              </a:rPr>
              <a:t>Plan your year now</a:t>
            </a:r>
            <a:endParaRPr lang="en-US" sz="1450" dirty="0"/>
          </a:p>
        </p:txBody>
      </p:sp>
      <p:sp>
        <p:nvSpPr>
          <p:cNvPr id="18" name="Text 12"/>
          <p:cNvSpPr txBox="1"/>
          <p:nvPr/>
        </p:nvSpPr>
        <p:spPr>
          <a:xfrm>
            <a:off x="777240" y="4233672"/>
            <a:ext cx="3063240" cy="1371600"/>
          </a:xfrm>
          <a:prstGeom prst="rect">
            <a:avLst/>
          </a:prstGeom>
          <a:noFill/>
          <a:ln/>
        </p:spPr>
        <p:txBody>
          <a:bodyPr wrap="square" lIns="0" tIns="0" rIns="0" bIns="0" rtlCol="0" anchor="t"/>
          <a:lstStyle/>
          <a:p>
            <a:pPr indent="0" marL="0">
              <a:buNone/>
            </a:pPr>
            <a:r>
              <a:rPr lang="en-US" sz="1350" dirty="0">
                <a:solidFill>
                  <a:srgbClr val="1E2329"/>
                </a:solidFill>
              </a:rPr>
              <a:t>Programme, speakers, the social calendar, a White Table, the charity. A year planned as a Warden is a year enjoyed as Master.</a:t>
            </a:r>
            <a:endParaRPr lang="en-US" sz="1350" dirty="0"/>
          </a:p>
        </p:txBody>
      </p:sp>
      <p:sp>
        <p:nvSpPr>
          <p:cNvPr id="19" name="Card Visit, and complete your own journey"/>
          <p:cNvSpPr/>
          <p:nvPr/>
        </p:nvSpPr>
        <p:spPr>
          <a:xfrm>
            <a:off x="4297680" y="3611880"/>
            <a:ext cx="3520440" cy="2103120"/>
          </a:xfrm>
          <a:prstGeom prst="roundRect">
            <a:avLst>
              <a:gd name="adj" fmla="val 3478"/>
            </a:avLst>
          </a:prstGeom>
          <a:solidFill>
            <a:srgbClr val="F2F7FC"/>
          </a:solidFill>
          <a:ln w="12700">
            <a:solidFill>
              <a:srgbClr val="F2F7FC"/>
            </a:solidFill>
            <a:prstDash val="solid"/>
          </a:ln>
        </p:spPr>
      </p:sp>
      <p:pic>
        <p:nvPicPr>
          <p:cNvPr id="20" name="Image 4" descr="preencoded.png">    </p:cNvPr>
          <p:cNvPicPr>
            <a:picLocks noChangeAspect="1"/>
          </p:cNvPicPr>
          <p:nvPr/>
        </p:nvPicPr>
        <p:blipFill>
          <a:blip r:embed="rId5"/>
          <a:stretch>
            <a:fillRect/>
          </a:stretch>
        </p:blipFill>
        <p:spPr>
          <a:xfrm>
            <a:off x="4498848" y="3794760"/>
            <a:ext cx="384048" cy="384048"/>
          </a:xfrm>
          <a:prstGeom prst="rect">
            <a:avLst/>
          </a:prstGeom>
        </p:spPr>
      </p:pic>
      <p:sp>
        <p:nvSpPr>
          <p:cNvPr id="21" name="Text 14"/>
          <p:cNvSpPr txBox="1"/>
          <p:nvPr/>
        </p:nvSpPr>
        <p:spPr>
          <a:xfrm>
            <a:off x="5010912" y="3776472"/>
            <a:ext cx="2606040" cy="411480"/>
          </a:xfrm>
          <a:prstGeom prst="rect">
            <a:avLst/>
          </a:prstGeom>
          <a:noFill/>
          <a:ln/>
        </p:spPr>
        <p:txBody>
          <a:bodyPr wrap="square" lIns="0" tIns="0" rIns="0" bIns="0" rtlCol="0" anchor="ctr"/>
          <a:lstStyle/>
          <a:p>
            <a:pPr indent="0" marL="0">
              <a:buNone/>
            </a:pPr>
            <a:r>
              <a:rPr lang="en-US" sz="1450" b="1" dirty="0">
                <a:solidFill>
                  <a:srgbClr val="003668"/>
                </a:solidFill>
              </a:rPr>
              <a:t>Visit, and complete your own journey</a:t>
            </a:r>
            <a:endParaRPr lang="en-US" sz="1450" dirty="0"/>
          </a:p>
        </p:txBody>
      </p:sp>
      <p:sp>
        <p:nvSpPr>
          <p:cNvPr id="22" name="Text 15"/>
          <p:cNvSpPr txBox="1"/>
          <p:nvPr/>
        </p:nvSpPr>
        <p:spPr>
          <a:xfrm>
            <a:off x="4526280" y="4233672"/>
            <a:ext cx="3063240" cy="1371600"/>
          </a:xfrm>
          <a:prstGeom prst="rect">
            <a:avLst/>
          </a:prstGeom>
          <a:noFill/>
          <a:ln/>
        </p:spPr>
        <p:txBody>
          <a:bodyPr wrap="square" lIns="0" tIns="0" rIns="0" bIns="0" rtlCol="0" anchor="t"/>
          <a:lstStyle/>
          <a:p>
            <a:pPr indent="0" marL="0">
              <a:buNone/>
            </a:pPr>
            <a:r>
              <a:rPr lang="en-US" sz="1350" dirty="0">
                <a:solidFill>
                  <a:srgbClr val="1E2329"/>
                </a:solidFill>
              </a:rPr>
              <a:t>Visit across the Province; make sure the Royal Arch has been explained to you, on your timing.</a:t>
            </a:r>
            <a:endParaRPr lang="en-US" sz="1350" dirty="0"/>
          </a:p>
        </p:txBody>
      </p:sp>
      <p:sp>
        <p:nvSpPr>
          <p:cNvPr id="23" name="Card Keep your own mentor"/>
          <p:cNvSpPr/>
          <p:nvPr/>
        </p:nvSpPr>
        <p:spPr>
          <a:xfrm>
            <a:off x="8046720" y="3611880"/>
            <a:ext cx="3520440" cy="2103120"/>
          </a:xfrm>
          <a:prstGeom prst="roundRect">
            <a:avLst>
              <a:gd name="adj" fmla="val 3478"/>
            </a:avLst>
          </a:prstGeom>
          <a:solidFill>
            <a:srgbClr val="F2F7FC"/>
          </a:solidFill>
          <a:ln w="12700">
            <a:solidFill>
              <a:srgbClr val="F2F7FC"/>
            </a:solidFill>
            <a:prstDash val="solid"/>
          </a:ln>
        </p:spPr>
      </p:sp>
      <p:pic>
        <p:nvPicPr>
          <p:cNvPr id="24" name="Image 5" descr="preencoded.png">    </p:cNvPr>
          <p:cNvPicPr>
            <a:picLocks noChangeAspect="1"/>
          </p:cNvPicPr>
          <p:nvPr/>
        </p:nvPicPr>
        <p:blipFill>
          <a:blip r:embed="rId6"/>
          <a:stretch>
            <a:fillRect/>
          </a:stretch>
        </p:blipFill>
        <p:spPr>
          <a:xfrm>
            <a:off x="8247888" y="3794760"/>
            <a:ext cx="384048" cy="384048"/>
          </a:xfrm>
          <a:prstGeom prst="rect">
            <a:avLst/>
          </a:prstGeom>
        </p:spPr>
      </p:pic>
      <p:sp>
        <p:nvSpPr>
          <p:cNvPr id="25" name="Text 17"/>
          <p:cNvSpPr txBox="1"/>
          <p:nvPr/>
        </p:nvSpPr>
        <p:spPr>
          <a:xfrm>
            <a:off x="8759952" y="3776472"/>
            <a:ext cx="2606040" cy="411480"/>
          </a:xfrm>
          <a:prstGeom prst="rect">
            <a:avLst/>
          </a:prstGeom>
          <a:noFill/>
          <a:ln/>
        </p:spPr>
        <p:txBody>
          <a:bodyPr wrap="square" lIns="0" tIns="0" rIns="0" bIns="0" rtlCol="0" anchor="ctr"/>
          <a:lstStyle/>
          <a:p>
            <a:pPr indent="0" marL="0">
              <a:buNone/>
            </a:pPr>
            <a:r>
              <a:rPr lang="en-US" sz="1450" b="1" dirty="0">
                <a:solidFill>
                  <a:srgbClr val="003668"/>
                </a:solidFill>
              </a:rPr>
              <a:t>Keep your own mentor</a:t>
            </a:r>
            <a:endParaRPr lang="en-US" sz="1450" dirty="0"/>
          </a:p>
        </p:txBody>
      </p:sp>
      <p:sp>
        <p:nvSpPr>
          <p:cNvPr id="26" name="Text 18"/>
          <p:cNvSpPr txBox="1"/>
          <p:nvPr/>
        </p:nvSpPr>
        <p:spPr>
          <a:xfrm>
            <a:off x="8275320" y="4233672"/>
            <a:ext cx="3063240" cy="1371600"/>
          </a:xfrm>
          <a:prstGeom prst="rect">
            <a:avLst/>
          </a:prstGeom>
          <a:noFill/>
          <a:ln/>
        </p:spPr>
        <p:txBody>
          <a:bodyPr wrap="square" lIns="0" tIns="0" rIns="0" bIns="0" rtlCol="0" anchor="t"/>
          <a:lstStyle/>
          <a:p>
            <a:pPr indent="0" marL="0">
              <a:buNone/>
            </a:pPr>
            <a:r>
              <a:rPr lang="en-US" sz="1350" dirty="0">
                <a:solidFill>
                  <a:srgbClr val="1E2329"/>
                </a:solidFill>
              </a:rPr>
              <a:t>Senior Wardens drift too. The man who got you to the Chair is still useful on the way through it.</a:t>
            </a:r>
            <a:endParaRPr lang="en-US" sz="13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True or false?</a:t>
            </a:r>
            <a:endParaRPr lang="en-US" sz="3200" dirty="0"/>
          </a:p>
        </p:txBody>
      </p:sp>
      <p:sp>
        <p:nvSpPr>
          <p:cNvPr id="3" name="Statement 1"/>
          <p:cNvSpPr/>
          <p:nvPr/>
        </p:nvSpPr>
        <p:spPr>
          <a:xfrm>
            <a:off x="548640" y="1371600"/>
            <a:ext cx="11064240" cy="2011680"/>
          </a:xfrm>
          <a:prstGeom prst="roundRect">
            <a:avLst>
              <a:gd name="adj" fmla="val 3636"/>
            </a:avLst>
          </a:prstGeom>
          <a:solidFill>
            <a:srgbClr val="F2F7FC"/>
          </a:solidFill>
          <a:ln w="12700">
            <a:solidFill>
              <a:srgbClr val="F2F7FC"/>
            </a:solidFill>
            <a:prstDash val="solid"/>
          </a:ln>
        </p:spPr>
      </p:sp>
      <p:sp>
        <p:nvSpPr>
          <p:cNvPr id="4" name="Q circle 1"/>
          <p:cNvSpPr/>
          <p:nvPr/>
        </p:nvSpPr>
        <p:spPr>
          <a:xfrm>
            <a:off x="868680" y="2057400"/>
            <a:ext cx="640080" cy="640080"/>
          </a:xfrm>
          <a:prstGeom prst="ellipse">
            <a:avLst/>
          </a:prstGeom>
          <a:solidFill>
            <a:srgbClr val="003668"/>
          </a:solidFill>
          <a:ln w="12700">
            <a:solidFill>
              <a:srgbClr val="003668"/>
            </a:solidFill>
            <a:prstDash val="solid"/>
          </a:ln>
        </p:spPr>
      </p:sp>
      <p:sp>
        <p:nvSpPr>
          <p:cNvPr id="5" name="Text 3"/>
          <p:cNvSpPr txBox="1"/>
          <p:nvPr/>
        </p:nvSpPr>
        <p:spPr>
          <a:xfrm>
            <a:off x="868680" y="20574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1783080" y="1371600"/>
            <a:ext cx="9601200" cy="2011680"/>
          </a:xfrm>
          <a:prstGeom prst="rect">
            <a:avLst/>
          </a:prstGeom>
          <a:noFill/>
          <a:ln/>
        </p:spPr>
        <p:txBody>
          <a:bodyPr wrap="square" lIns="0" tIns="0" rIns="0" bIns="0" rtlCol="0" anchor="ctr"/>
          <a:lstStyle/>
          <a:p>
            <a:pPr indent="0" marL="0">
              <a:buNone/>
            </a:pPr>
            <a:r>
              <a:rPr lang="en-US" sz="2400" b="1" dirty="0">
                <a:solidFill>
                  <a:srgbClr val="06345D"/>
                </a:solidFill>
              </a:rPr>
              <a:t>A Brother who has resigned from every Lodge can never visit again.</a:t>
            </a:r>
            <a:endParaRPr lang="en-US" sz="2400" dirty="0"/>
          </a:p>
        </p:txBody>
      </p:sp>
      <p:sp>
        <p:nvSpPr>
          <p:cNvPr id="7" name="Statement 2"/>
          <p:cNvSpPr/>
          <p:nvPr/>
        </p:nvSpPr>
        <p:spPr>
          <a:xfrm>
            <a:off x="548640" y="3611880"/>
            <a:ext cx="11064240" cy="2011680"/>
          </a:xfrm>
          <a:prstGeom prst="roundRect">
            <a:avLst>
              <a:gd name="adj" fmla="val 3636"/>
            </a:avLst>
          </a:prstGeom>
          <a:solidFill>
            <a:srgbClr val="F2F7FC"/>
          </a:solidFill>
          <a:ln w="12700">
            <a:solidFill>
              <a:srgbClr val="F2F7FC"/>
            </a:solidFill>
            <a:prstDash val="solid"/>
          </a:ln>
        </p:spPr>
      </p:sp>
      <p:sp>
        <p:nvSpPr>
          <p:cNvPr id="8" name="Q circle 2"/>
          <p:cNvSpPr/>
          <p:nvPr/>
        </p:nvSpPr>
        <p:spPr>
          <a:xfrm>
            <a:off x="868680" y="4297680"/>
            <a:ext cx="640080" cy="640080"/>
          </a:xfrm>
          <a:prstGeom prst="ellipse">
            <a:avLst/>
          </a:prstGeom>
          <a:solidFill>
            <a:srgbClr val="0A4F72"/>
          </a:solidFill>
          <a:ln w="12700">
            <a:solidFill>
              <a:srgbClr val="0A4F72"/>
            </a:solidFill>
            <a:prstDash val="solid"/>
          </a:ln>
        </p:spPr>
      </p:sp>
      <p:sp>
        <p:nvSpPr>
          <p:cNvPr id="9" name="Text 7"/>
          <p:cNvSpPr txBox="1"/>
          <p:nvPr/>
        </p:nvSpPr>
        <p:spPr>
          <a:xfrm>
            <a:off x="868680" y="4297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0" name="Text 8"/>
          <p:cNvSpPr txBox="1"/>
          <p:nvPr/>
        </p:nvSpPr>
        <p:spPr>
          <a:xfrm>
            <a:off x="1783080" y="3611880"/>
            <a:ext cx="9601200" cy="2011680"/>
          </a:xfrm>
          <a:prstGeom prst="rect">
            <a:avLst/>
          </a:prstGeom>
          <a:noFill/>
          <a:ln/>
        </p:spPr>
        <p:txBody>
          <a:bodyPr wrap="square" lIns="0" tIns="0" rIns="0" bIns="0" rtlCol="0" anchor="ctr"/>
          <a:lstStyle/>
          <a:p>
            <a:pPr indent="0" marL="0">
              <a:buNone/>
            </a:pPr>
            <a:r>
              <a:rPr lang="en-US" sz="2400" b="1" dirty="0">
                <a:solidFill>
                  <a:srgbClr val="06345D"/>
                </a:solidFill>
              </a:rPr>
              <a:t>Hermes tells the Almoner automatically after two consecutive misses.</a:t>
            </a:r>
            <a:endParaRPr lang="en-US" sz="2400" dirty="0"/>
          </a:p>
        </p:txBody>
      </p:sp>
      <p:sp>
        <p:nvSpPr>
          <p:cNvPr id="11" name="Prompt"/>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500" b="1" dirty="0">
                <a:solidFill>
                  <a:srgbClr val="157A7C"/>
                </a:solidFill>
              </a:rPr>
              <a:t>Hands up for true. Then the answer.</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answers</a:t>
            </a:r>
            <a:endParaRPr lang="en-US" sz="3200" dirty="0"/>
          </a:p>
        </p:txBody>
      </p:sp>
      <p:sp>
        <p:nvSpPr>
          <p:cNvPr id="3" name="Answer 1"/>
          <p:cNvSpPr/>
          <p:nvPr/>
        </p:nvSpPr>
        <p:spPr>
          <a:xfrm>
            <a:off x="548640" y="1371600"/>
            <a:ext cx="11064240" cy="2011680"/>
          </a:xfrm>
          <a:prstGeom prst="roundRect">
            <a:avLst>
              <a:gd name="adj" fmla="val 3636"/>
            </a:avLst>
          </a:prstGeom>
          <a:solidFill>
            <a:srgbClr val="F2F7FC"/>
          </a:solidFill>
          <a:ln w="12700">
            <a:solidFill>
              <a:srgbClr val="F2F7FC"/>
            </a:solidFill>
            <a:prstDash val="solid"/>
          </a:ln>
        </p:spPr>
      </p:sp>
      <p:sp>
        <p:nvSpPr>
          <p:cNvPr id="4" name="Badge 1"/>
          <p:cNvSpPr/>
          <p:nvPr/>
        </p:nvSpPr>
        <p:spPr>
          <a:xfrm>
            <a:off x="868680" y="1600200"/>
            <a:ext cx="1234440" cy="457200"/>
          </a:xfrm>
          <a:prstGeom prst="roundRect">
            <a:avLst>
              <a:gd name="adj" fmla="val 20000"/>
            </a:avLst>
          </a:prstGeom>
          <a:solidFill>
            <a:srgbClr val="0A4F72"/>
          </a:solidFill>
          <a:ln w="12700">
            <a:solidFill>
              <a:srgbClr val="0A4F72"/>
            </a:solidFill>
            <a:prstDash val="solid"/>
          </a:ln>
        </p:spPr>
      </p:sp>
      <p:sp>
        <p:nvSpPr>
          <p:cNvPr id="5" name="Text 3"/>
          <p:cNvSpPr txBox="1"/>
          <p:nvPr/>
        </p:nvSpPr>
        <p:spPr>
          <a:xfrm>
            <a:off x="868680" y="1600200"/>
            <a:ext cx="1234440" cy="457200"/>
          </a:xfrm>
          <a:prstGeom prst="rect">
            <a:avLst/>
          </a:prstGeom>
          <a:noFill/>
          <a:ln/>
        </p:spPr>
        <p:txBody>
          <a:bodyPr wrap="square" lIns="0" tIns="0" rIns="0" bIns="0" rtlCol="0" anchor="ctr"/>
          <a:lstStyle/>
          <a:p>
            <a:pPr algn="ctr" indent="0" marL="0">
              <a:buNone/>
            </a:pPr>
            <a:r>
              <a:rPr lang="en-US" sz="1500" b="1" dirty="0">
                <a:solidFill>
                  <a:srgbClr val="FFFFFF"/>
                </a:solidFill>
              </a:rPr>
              <a:t>FALSE</a:t>
            </a:r>
            <a:endParaRPr lang="en-US" sz="1500" dirty="0"/>
          </a:p>
        </p:txBody>
      </p:sp>
      <p:sp>
        <p:nvSpPr>
          <p:cNvPr id="6" name="Text 4"/>
          <p:cNvSpPr txBox="1"/>
          <p:nvPr/>
        </p:nvSpPr>
        <p:spPr>
          <a:xfrm>
            <a:off x="2286000" y="1572768"/>
            <a:ext cx="9052560" cy="512064"/>
          </a:xfrm>
          <a:prstGeom prst="rect">
            <a:avLst/>
          </a:prstGeom>
          <a:noFill/>
          <a:ln/>
        </p:spPr>
        <p:txBody>
          <a:bodyPr wrap="square" lIns="0" tIns="0" rIns="0" bIns="0" rtlCol="0" anchor="ctr"/>
          <a:lstStyle/>
          <a:p>
            <a:pPr indent="0" marL="0">
              <a:buNone/>
            </a:pPr>
            <a:r>
              <a:rPr lang="en-US" sz="1600" b="1" dirty="0">
                <a:solidFill>
                  <a:srgbClr val="06345D"/>
                </a:solidFill>
              </a:rPr>
              <a:t>A Brother who has resigned from every Lodge can never visit again.</a:t>
            </a:r>
            <a:endParaRPr lang="en-US" sz="1600" dirty="0"/>
          </a:p>
        </p:txBody>
      </p:sp>
      <p:sp>
        <p:nvSpPr>
          <p:cNvPr id="7" name="Text 5"/>
          <p:cNvSpPr txBox="1"/>
          <p:nvPr/>
        </p:nvSpPr>
        <p:spPr>
          <a:xfrm>
            <a:off x="868680" y="2194560"/>
            <a:ext cx="10424160" cy="868680"/>
          </a:xfrm>
          <a:prstGeom prst="rect">
            <a:avLst/>
          </a:prstGeom>
          <a:noFill/>
          <a:ln/>
        </p:spPr>
        <p:txBody>
          <a:bodyPr wrap="square" lIns="0" tIns="0" rIns="0" bIns="0" rtlCol="0" anchor="t"/>
          <a:lstStyle/>
          <a:p>
            <a:pPr indent="0" marL="0">
              <a:buNone/>
            </a:pPr>
            <a:r>
              <a:rPr lang="en-US" sz="1400" dirty="0">
                <a:solidFill>
                  <a:srgbClr val="1E2329"/>
                </a:solidFill>
              </a:rPr>
              <a:t>He may visit any Lodge once, and one Lodge three times in twelve months with a view to joining, provided the Master confirms that purpose in writing to the Secretary. The Master’s signature keeps the door open.</a:t>
            </a:r>
            <a:endParaRPr lang="en-US" sz="1400" dirty="0"/>
          </a:p>
        </p:txBody>
      </p:sp>
      <p:sp>
        <p:nvSpPr>
          <p:cNvPr id="8" name="Text 6"/>
          <p:cNvSpPr txBox="1"/>
          <p:nvPr/>
        </p:nvSpPr>
        <p:spPr>
          <a:xfrm>
            <a:off x="868680" y="3035808"/>
            <a:ext cx="10424160" cy="274320"/>
          </a:xfrm>
          <a:prstGeom prst="rect">
            <a:avLst/>
          </a:prstGeom>
          <a:noFill/>
          <a:ln/>
        </p:spPr>
        <p:txBody>
          <a:bodyPr wrap="square" lIns="0" tIns="0" rIns="0" bIns="0" rtlCol="0" anchor="t"/>
          <a:lstStyle/>
          <a:p>
            <a:pPr indent="0" marL="0">
              <a:buNone/>
            </a:pPr>
            <a:r>
              <a:rPr lang="en-US" sz="1100" i="1" dirty="0">
                <a:solidFill>
                  <a:srgbClr val="0A4F72"/>
                </a:solidFill>
              </a:rPr>
              <a:t>Rule 127 (since September 2020); UGLE Members’ Pathway</a:t>
            </a:r>
            <a:endParaRPr lang="en-US" sz="1100" dirty="0"/>
          </a:p>
        </p:txBody>
      </p:sp>
      <p:sp>
        <p:nvSpPr>
          <p:cNvPr id="9" name="Answer 2"/>
          <p:cNvSpPr/>
          <p:nvPr/>
        </p:nvSpPr>
        <p:spPr>
          <a:xfrm>
            <a:off x="548640" y="3611880"/>
            <a:ext cx="11064240" cy="2011680"/>
          </a:xfrm>
          <a:prstGeom prst="roundRect">
            <a:avLst>
              <a:gd name="adj" fmla="val 3636"/>
            </a:avLst>
          </a:prstGeom>
          <a:solidFill>
            <a:srgbClr val="F2F7FC"/>
          </a:solidFill>
          <a:ln w="12700">
            <a:solidFill>
              <a:srgbClr val="F2F7FC"/>
            </a:solidFill>
            <a:prstDash val="solid"/>
          </a:ln>
        </p:spPr>
      </p:sp>
      <p:sp>
        <p:nvSpPr>
          <p:cNvPr id="10" name="Badge 2"/>
          <p:cNvSpPr/>
          <p:nvPr/>
        </p:nvSpPr>
        <p:spPr>
          <a:xfrm>
            <a:off x="868680" y="3840480"/>
            <a:ext cx="1234440" cy="457200"/>
          </a:xfrm>
          <a:prstGeom prst="roundRect">
            <a:avLst>
              <a:gd name="adj" fmla="val 20000"/>
            </a:avLst>
          </a:prstGeom>
          <a:solidFill>
            <a:srgbClr val="157A7C"/>
          </a:solidFill>
          <a:ln w="12700">
            <a:solidFill>
              <a:srgbClr val="157A7C"/>
            </a:solidFill>
            <a:prstDash val="solid"/>
          </a:ln>
        </p:spPr>
      </p:sp>
      <p:sp>
        <p:nvSpPr>
          <p:cNvPr id="11" name="Text 9"/>
          <p:cNvSpPr txBox="1"/>
          <p:nvPr/>
        </p:nvSpPr>
        <p:spPr>
          <a:xfrm>
            <a:off x="868680" y="3840480"/>
            <a:ext cx="1234440" cy="457200"/>
          </a:xfrm>
          <a:prstGeom prst="rect">
            <a:avLst/>
          </a:prstGeom>
          <a:noFill/>
          <a:ln/>
        </p:spPr>
        <p:txBody>
          <a:bodyPr wrap="square" lIns="0" tIns="0" rIns="0" bIns="0" rtlCol="0" anchor="ctr"/>
          <a:lstStyle/>
          <a:p>
            <a:pPr algn="ctr" indent="0" marL="0">
              <a:buNone/>
            </a:pPr>
            <a:r>
              <a:rPr lang="en-US" sz="1500" b="1" dirty="0">
                <a:solidFill>
                  <a:srgbClr val="FFFFFF"/>
                </a:solidFill>
              </a:rPr>
              <a:t>TRUE</a:t>
            </a:r>
            <a:endParaRPr lang="en-US" sz="1500" dirty="0"/>
          </a:p>
        </p:txBody>
      </p:sp>
      <p:sp>
        <p:nvSpPr>
          <p:cNvPr id="12" name="Text 10"/>
          <p:cNvSpPr txBox="1"/>
          <p:nvPr/>
        </p:nvSpPr>
        <p:spPr>
          <a:xfrm>
            <a:off x="2286000" y="3813048"/>
            <a:ext cx="9052560" cy="512064"/>
          </a:xfrm>
          <a:prstGeom prst="rect">
            <a:avLst/>
          </a:prstGeom>
          <a:noFill/>
          <a:ln/>
        </p:spPr>
        <p:txBody>
          <a:bodyPr wrap="square" lIns="0" tIns="0" rIns="0" bIns="0" rtlCol="0" anchor="ctr"/>
          <a:lstStyle/>
          <a:p>
            <a:pPr indent="0" marL="0">
              <a:buNone/>
            </a:pPr>
            <a:r>
              <a:rPr lang="en-US" sz="1600" b="1" dirty="0">
                <a:solidFill>
                  <a:srgbClr val="06345D"/>
                </a:solidFill>
              </a:rPr>
              <a:t>Hermes tells the Almoner automatically after two consecutive misses.</a:t>
            </a:r>
            <a:endParaRPr lang="en-US" sz="1600" dirty="0"/>
          </a:p>
        </p:txBody>
      </p:sp>
      <p:sp>
        <p:nvSpPr>
          <p:cNvPr id="13" name="Text 11"/>
          <p:cNvSpPr txBox="1"/>
          <p:nvPr/>
        </p:nvSpPr>
        <p:spPr>
          <a:xfrm>
            <a:off x="868680" y="4434840"/>
            <a:ext cx="10424160" cy="868680"/>
          </a:xfrm>
          <a:prstGeom prst="rect">
            <a:avLst/>
          </a:prstGeom>
          <a:noFill/>
          <a:ln/>
        </p:spPr>
        <p:txBody>
          <a:bodyPr wrap="square" lIns="0" tIns="0" rIns="0" bIns="0" rtlCol="0" anchor="t"/>
          <a:lstStyle/>
          <a:p>
            <a:pPr indent="0" marL="0">
              <a:buNone/>
            </a:pPr>
            <a:r>
              <a:rPr lang="en-US" sz="1400" dirty="0">
                <a:solidFill>
                  <a:srgbClr val="1E2329"/>
                </a:solidFill>
              </a:rPr>
              <a:t>It does. The call within seven days is still the Lodge’s to make, and a Lodge that waits for the notification has already lost a month. “How can we help?”, never “Why weren’t you there?”.</a:t>
            </a:r>
            <a:endParaRPr lang="en-US" sz="1400" dirty="0"/>
          </a:p>
        </p:txBody>
      </p:sp>
      <p:sp>
        <p:nvSpPr>
          <p:cNvPr id="14" name="Text 12"/>
          <p:cNvSpPr txBox="1"/>
          <p:nvPr/>
        </p:nvSpPr>
        <p:spPr>
          <a:xfrm>
            <a:off x="868680" y="5276088"/>
            <a:ext cx="10424160" cy="274320"/>
          </a:xfrm>
          <a:prstGeom prst="rect">
            <a:avLst/>
          </a:prstGeom>
          <a:noFill/>
          <a:ln/>
        </p:spPr>
        <p:txBody>
          <a:bodyPr wrap="square" lIns="0" tIns="0" rIns="0" bIns="0" rtlCol="0" anchor="t"/>
          <a:lstStyle/>
          <a:p>
            <a:pPr indent="0" marL="0">
              <a:buNone/>
            </a:pPr>
            <a:r>
              <a:rPr lang="en-US" sz="1100" i="1" dirty="0">
                <a:solidFill>
                  <a:srgbClr val="0A4F72"/>
                </a:solidFill>
              </a:rPr>
              <a:t>UGLE Members’ Pathway, Tracking attendance and apologies</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After the Chair</a:t>
            </a:r>
            <a:endParaRPr lang="en-US" sz="3200" dirty="0"/>
          </a:p>
        </p:txBody>
      </p:sp>
      <p:sp>
        <p:nvSpPr>
          <p:cNvPr id="3" name="IPM band"/>
          <p:cNvSpPr/>
          <p:nvPr/>
        </p:nvSpPr>
        <p:spPr>
          <a:xfrm>
            <a:off x="548640" y="1371600"/>
            <a:ext cx="11064240" cy="1554480"/>
          </a:xfrm>
          <a:prstGeom prst="roundRect">
            <a:avLst>
              <a:gd name="adj" fmla="val 4706"/>
            </a:avLst>
          </a:prstGeom>
          <a:solidFill>
            <a:srgbClr val="06345D"/>
          </a:solidFill>
          <a:ln w="12700">
            <a:solidFill>
              <a:srgbClr val="06345D"/>
            </a:solidFill>
            <a:prstDash val="solid"/>
          </a:ln>
        </p:spPr>
      </p:sp>
      <p:sp>
        <p:nvSpPr>
          <p:cNvPr id="4" name="IPM text"/>
          <p:cNvSpPr txBox="1"/>
          <p:nvPr/>
        </p:nvSpPr>
        <p:spPr>
          <a:xfrm>
            <a:off x="914400" y="1371600"/>
            <a:ext cx="10332720" cy="1554480"/>
          </a:xfrm>
          <a:prstGeom prst="rect">
            <a:avLst/>
          </a:prstGeom>
          <a:noFill/>
          <a:ln/>
        </p:spPr>
        <p:txBody>
          <a:bodyPr wrap="square" lIns="0" tIns="0" rIns="0" bIns="0" rtlCol="0" anchor="ctr"/>
          <a:lstStyle/>
          <a:p>
            <a:pPr indent="0" marL="0">
              <a:buNone/>
            </a:pPr>
            <a:r>
              <a:rPr lang="en-US" sz="2200" b="1" dirty="0">
                <a:solidFill>
                  <a:srgbClr val="FFFFFF"/>
                </a:solidFill>
              </a:rPr>
              <a:t>A seat is not a purpose. The Immediate Past Master’s year decides whether a Lodge keeps its Past Masters.</a:t>
            </a:r>
            <a:endParaRPr lang="en-US" sz="2200" dirty="0"/>
          </a:p>
        </p:txBody>
      </p:sp>
      <p:sp>
        <p:nvSpPr>
          <p:cNvPr id="5" name="Numbered I"/>
          <p:cNvSpPr/>
          <p:nvPr/>
        </p:nvSpPr>
        <p:spPr>
          <a:xfrm>
            <a:off x="548640" y="3154680"/>
            <a:ext cx="3520440" cy="2697480"/>
          </a:xfrm>
          <a:prstGeom prst="roundRect">
            <a:avLst>
              <a:gd name="adj" fmla="val 2712"/>
            </a:avLst>
          </a:prstGeom>
          <a:solidFill>
            <a:srgbClr val="F2F7FC"/>
          </a:solidFill>
          <a:ln w="12700">
            <a:solidFill>
              <a:srgbClr val="F2F7FC"/>
            </a:solidFill>
            <a:prstDash val="solid"/>
          </a:ln>
        </p:spPr>
      </p:sp>
      <p:sp>
        <p:nvSpPr>
          <p:cNvPr id="6" name="Circle I"/>
          <p:cNvSpPr/>
          <p:nvPr/>
        </p:nvSpPr>
        <p:spPr>
          <a:xfrm>
            <a:off x="777240" y="3355848"/>
            <a:ext cx="548640" cy="548640"/>
          </a:xfrm>
          <a:prstGeom prst="ellipse">
            <a:avLst/>
          </a:prstGeom>
          <a:solidFill>
            <a:srgbClr val="003668"/>
          </a:solidFill>
          <a:ln w="12700">
            <a:solidFill>
              <a:srgbClr val="003668"/>
            </a:solidFill>
            <a:prstDash val="solid"/>
          </a:ln>
        </p:spPr>
      </p:sp>
      <p:sp>
        <p:nvSpPr>
          <p:cNvPr id="7" name="Text 5"/>
          <p:cNvSpPr txBox="1"/>
          <p:nvPr/>
        </p:nvSpPr>
        <p:spPr>
          <a:xfrm>
            <a:off x="777240" y="33558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I</a:t>
            </a:r>
            <a:endParaRPr lang="en-US" sz="1800" dirty="0"/>
          </a:p>
        </p:txBody>
      </p:sp>
      <p:sp>
        <p:nvSpPr>
          <p:cNvPr id="8" name="Text 6"/>
          <p:cNvSpPr txBox="1"/>
          <p:nvPr/>
        </p:nvSpPr>
        <p:spPr>
          <a:xfrm>
            <a:off x="1463040" y="3355848"/>
            <a:ext cx="2423160" cy="548640"/>
          </a:xfrm>
          <a:prstGeom prst="rect">
            <a:avLst/>
          </a:prstGeom>
          <a:noFill/>
          <a:ln/>
        </p:spPr>
        <p:txBody>
          <a:bodyPr wrap="square" lIns="0" tIns="0" rIns="0" bIns="0" rtlCol="0" anchor="ctr"/>
          <a:lstStyle/>
          <a:p>
            <a:pPr indent="0" marL="0">
              <a:buNone/>
            </a:pPr>
            <a:r>
              <a:rPr lang="en-US" sz="1700" b="1" dirty="0">
                <a:solidFill>
                  <a:srgbClr val="003668"/>
                </a:solidFill>
              </a:rPr>
              <a:t>Included</a:t>
            </a:r>
            <a:endParaRPr lang="en-US" sz="1700" dirty="0"/>
          </a:p>
        </p:txBody>
      </p:sp>
      <p:sp>
        <p:nvSpPr>
          <p:cNvPr id="9" name="Text 7"/>
          <p:cNvSpPr txBox="1"/>
          <p:nvPr/>
        </p:nvSpPr>
        <p:spPr>
          <a:xfrm>
            <a:off x="777240" y="4023360"/>
            <a:ext cx="3063240" cy="1691640"/>
          </a:xfrm>
          <a:prstGeom prst="rect">
            <a:avLst/>
          </a:prstGeom>
          <a:noFill/>
          <a:ln/>
        </p:spPr>
        <p:txBody>
          <a:bodyPr wrap="square" lIns="0" tIns="0" rIns="0" bIns="0" rtlCol="0" anchor="t"/>
          <a:lstStyle/>
          <a:p>
            <a:pPr indent="0" marL="0">
              <a:buNone/>
            </a:pPr>
            <a:r>
              <a:rPr lang="en-US" sz="1400" dirty="0">
                <a:solidFill>
                  <a:srgbClr val="1E2329"/>
                </a:solidFill>
              </a:rPr>
              <a:t>A seat, yes, and a voice: on the Committee, at the Lodge of Instruction, at the planning of the next year.</a:t>
            </a:r>
            <a:endParaRPr lang="en-US" sz="1400" dirty="0"/>
          </a:p>
        </p:txBody>
      </p:sp>
      <p:sp>
        <p:nvSpPr>
          <p:cNvPr id="10" name="Numbered I"/>
          <p:cNvSpPr/>
          <p:nvPr/>
        </p:nvSpPr>
        <p:spPr>
          <a:xfrm>
            <a:off x="4297680" y="3154680"/>
            <a:ext cx="3520440" cy="2697480"/>
          </a:xfrm>
          <a:prstGeom prst="roundRect">
            <a:avLst>
              <a:gd name="adj" fmla="val 2712"/>
            </a:avLst>
          </a:prstGeom>
          <a:solidFill>
            <a:srgbClr val="F2F7FC"/>
          </a:solidFill>
          <a:ln w="12700">
            <a:solidFill>
              <a:srgbClr val="F2F7FC"/>
            </a:solidFill>
            <a:prstDash val="solid"/>
          </a:ln>
        </p:spPr>
      </p:sp>
      <p:sp>
        <p:nvSpPr>
          <p:cNvPr id="11" name="Circle I"/>
          <p:cNvSpPr/>
          <p:nvPr/>
        </p:nvSpPr>
        <p:spPr>
          <a:xfrm>
            <a:off x="4526280" y="3355848"/>
            <a:ext cx="548640" cy="548640"/>
          </a:xfrm>
          <a:prstGeom prst="ellipse">
            <a:avLst/>
          </a:prstGeom>
          <a:solidFill>
            <a:srgbClr val="106576"/>
          </a:solidFill>
          <a:ln w="12700">
            <a:solidFill>
              <a:srgbClr val="106576"/>
            </a:solidFill>
            <a:prstDash val="solid"/>
          </a:ln>
        </p:spPr>
      </p:sp>
      <p:sp>
        <p:nvSpPr>
          <p:cNvPr id="12" name="Text 10"/>
          <p:cNvSpPr txBox="1"/>
          <p:nvPr/>
        </p:nvSpPr>
        <p:spPr>
          <a:xfrm>
            <a:off x="4526280" y="33558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I</a:t>
            </a:r>
            <a:endParaRPr lang="en-US" sz="1800" dirty="0"/>
          </a:p>
        </p:txBody>
      </p:sp>
      <p:sp>
        <p:nvSpPr>
          <p:cNvPr id="13" name="Text 11"/>
          <p:cNvSpPr txBox="1"/>
          <p:nvPr/>
        </p:nvSpPr>
        <p:spPr>
          <a:xfrm>
            <a:off x="5212080" y="3355848"/>
            <a:ext cx="2423160" cy="548640"/>
          </a:xfrm>
          <a:prstGeom prst="rect">
            <a:avLst/>
          </a:prstGeom>
          <a:noFill/>
          <a:ln/>
        </p:spPr>
        <p:txBody>
          <a:bodyPr wrap="square" lIns="0" tIns="0" rIns="0" bIns="0" rtlCol="0" anchor="ctr"/>
          <a:lstStyle/>
          <a:p>
            <a:pPr indent="0" marL="0">
              <a:buNone/>
            </a:pPr>
            <a:r>
              <a:rPr lang="en-US" sz="1700" b="1" dirty="0">
                <a:solidFill>
                  <a:srgbClr val="106576"/>
                </a:solidFill>
              </a:rPr>
              <a:t>Involved</a:t>
            </a:r>
            <a:endParaRPr lang="en-US" sz="1700" dirty="0"/>
          </a:p>
        </p:txBody>
      </p:sp>
      <p:sp>
        <p:nvSpPr>
          <p:cNvPr id="14" name="Text 12"/>
          <p:cNvSpPr txBox="1"/>
          <p:nvPr/>
        </p:nvSpPr>
        <p:spPr>
          <a:xfrm>
            <a:off x="4526280" y="4023360"/>
            <a:ext cx="3063240" cy="1691640"/>
          </a:xfrm>
          <a:prstGeom prst="rect">
            <a:avLst/>
          </a:prstGeom>
          <a:noFill/>
          <a:ln/>
        </p:spPr>
        <p:txBody>
          <a:bodyPr wrap="square" lIns="0" tIns="0" rIns="0" bIns="0" rtlCol="0" anchor="t"/>
          <a:lstStyle/>
          <a:p>
            <a:pPr indent="0" marL="0">
              <a:buNone/>
            </a:pPr>
            <a:r>
              <a:rPr lang="en-US" sz="1400" dirty="0">
                <a:solidFill>
                  <a:srgbClr val="1E2329"/>
                </a:solidFill>
              </a:rPr>
              <a:t>A role or a project: the archive, the social calendar, a ceremony to work, a Brother to mentor.</a:t>
            </a:r>
            <a:endParaRPr lang="en-US" sz="1400" dirty="0"/>
          </a:p>
        </p:txBody>
      </p:sp>
      <p:sp>
        <p:nvSpPr>
          <p:cNvPr id="15" name="Numbered I"/>
          <p:cNvSpPr/>
          <p:nvPr/>
        </p:nvSpPr>
        <p:spPr>
          <a:xfrm>
            <a:off x="8046720" y="3154680"/>
            <a:ext cx="3520440" cy="2697480"/>
          </a:xfrm>
          <a:prstGeom prst="roundRect">
            <a:avLst>
              <a:gd name="adj" fmla="val 2712"/>
            </a:avLst>
          </a:prstGeom>
          <a:solidFill>
            <a:srgbClr val="F2F7FC"/>
          </a:solidFill>
          <a:ln w="12700">
            <a:solidFill>
              <a:srgbClr val="F2F7FC"/>
            </a:solidFill>
            <a:prstDash val="solid"/>
          </a:ln>
        </p:spPr>
      </p:sp>
      <p:sp>
        <p:nvSpPr>
          <p:cNvPr id="16" name="Circle I"/>
          <p:cNvSpPr/>
          <p:nvPr/>
        </p:nvSpPr>
        <p:spPr>
          <a:xfrm>
            <a:off x="8275320" y="3355848"/>
            <a:ext cx="548640" cy="548640"/>
          </a:xfrm>
          <a:prstGeom prst="ellipse">
            <a:avLst/>
          </a:prstGeom>
          <a:solidFill>
            <a:srgbClr val="157A7C"/>
          </a:solidFill>
          <a:ln w="12700">
            <a:solidFill>
              <a:srgbClr val="157A7C"/>
            </a:solidFill>
            <a:prstDash val="solid"/>
          </a:ln>
        </p:spPr>
      </p:sp>
      <p:sp>
        <p:nvSpPr>
          <p:cNvPr id="17" name="Text 15"/>
          <p:cNvSpPr txBox="1"/>
          <p:nvPr/>
        </p:nvSpPr>
        <p:spPr>
          <a:xfrm>
            <a:off x="8275320" y="33558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I</a:t>
            </a:r>
            <a:endParaRPr lang="en-US" sz="1800" dirty="0"/>
          </a:p>
        </p:txBody>
      </p:sp>
      <p:sp>
        <p:nvSpPr>
          <p:cNvPr id="18" name="Text 16"/>
          <p:cNvSpPr txBox="1"/>
          <p:nvPr/>
        </p:nvSpPr>
        <p:spPr>
          <a:xfrm>
            <a:off x="8961120" y="3355848"/>
            <a:ext cx="2423160" cy="548640"/>
          </a:xfrm>
          <a:prstGeom prst="rect">
            <a:avLst/>
          </a:prstGeom>
          <a:noFill/>
          <a:ln/>
        </p:spPr>
        <p:txBody>
          <a:bodyPr wrap="square" lIns="0" tIns="0" rIns="0" bIns="0" rtlCol="0" anchor="ctr"/>
          <a:lstStyle/>
          <a:p>
            <a:pPr indent="0" marL="0">
              <a:buNone/>
            </a:pPr>
            <a:r>
              <a:rPr lang="en-US" sz="1700" b="1" dirty="0">
                <a:solidFill>
                  <a:srgbClr val="157A7C"/>
                </a:solidFill>
              </a:rPr>
              <a:t>Interested</a:t>
            </a:r>
            <a:endParaRPr lang="en-US" sz="1700" dirty="0"/>
          </a:p>
        </p:txBody>
      </p:sp>
      <p:sp>
        <p:nvSpPr>
          <p:cNvPr id="19" name="Text 17"/>
          <p:cNvSpPr txBox="1"/>
          <p:nvPr/>
        </p:nvSpPr>
        <p:spPr>
          <a:xfrm>
            <a:off x="8275320" y="4023360"/>
            <a:ext cx="3063240" cy="1691640"/>
          </a:xfrm>
          <a:prstGeom prst="rect">
            <a:avLst/>
          </a:prstGeom>
          <a:noFill/>
          <a:ln/>
        </p:spPr>
        <p:txBody>
          <a:bodyPr wrap="square" lIns="0" tIns="0" rIns="0" bIns="0" rtlCol="0" anchor="t"/>
          <a:lstStyle/>
          <a:p>
            <a:pPr indent="0" marL="0">
              <a:buNone/>
            </a:pPr>
            <a:r>
              <a:rPr lang="en-US" sz="1400" dirty="0">
                <a:solidFill>
                  <a:srgbClr val="1E2329"/>
                </a:solidFill>
              </a:rPr>
              <a:t>New questions: symbolism, history, the Royal Arch, the Province. Welcome them.</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Your action sheet</a:t>
            </a:r>
            <a:endParaRPr lang="en-US" sz="3200" dirty="0"/>
          </a:p>
        </p:txBody>
      </p:sp>
      <p:sp>
        <p:nvSpPr>
          <p:cNvPr id="3" name="Timer"/>
          <p:cNvSpPr/>
          <p:nvPr/>
        </p:nvSpPr>
        <p:spPr>
          <a:xfrm>
            <a:off x="9537192" y="457200"/>
            <a:ext cx="2103120" cy="548640"/>
          </a:xfrm>
          <a:prstGeom prst="roundRect">
            <a:avLst>
              <a:gd name="adj" fmla="val 13333"/>
            </a:avLst>
          </a:prstGeom>
          <a:solidFill>
            <a:srgbClr val="157A7C"/>
          </a:solidFill>
          <a:ln w="12700">
            <a:solidFill>
              <a:srgbClr val="157A7C"/>
            </a:solidFill>
            <a:prstDash val="solid"/>
          </a:ln>
        </p:spPr>
      </p:sp>
      <p:sp>
        <p:nvSpPr>
          <p:cNvPr id="4" name="Text 2"/>
          <p:cNvSpPr txBox="1"/>
          <p:nvPr/>
        </p:nvSpPr>
        <p:spPr>
          <a:xfrm>
            <a:off x="9537192" y="457200"/>
            <a:ext cx="2103120" cy="548640"/>
          </a:xfrm>
          <a:prstGeom prst="rect">
            <a:avLst/>
          </a:prstGeom>
          <a:noFill/>
          <a:ln/>
        </p:spPr>
        <p:txBody>
          <a:bodyPr wrap="square" lIns="0" tIns="0" rIns="0" bIns="0" rtlCol="0" anchor="ctr"/>
          <a:lstStyle/>
          <a:p>
            <a:pPr algn="ctr" indent="0" marL="0">
              <a:buNone/>
            </a:pPr>
            <a:r>
              <a:rPr lang="en-US" sz="1500" b="1" dirty="0">
                <a:solidFill>
                  <a:srgbClr val="FFFFFF"/>
                </a:solidFill>
              </a:rPr>
              <a:t>On your own · 3 min</a:t>
            </a:r>
            <a:endParaRPr lang="en-US" sz="1500" dirty="0"/>
          </a:p>
        </p:txBody>
      </p:sp>
      <p:sp>
        <p:nvSpPr>
          <p:cNvPr id="5" name="Card Box 1"/>
          <p:cNvSpPr/>
          <p:nvPr/>
        </p:nvSpPr>
        <p:spPr>
          <a:xfrm>
            <a:off x="548640" y="1371600"/>
            <a:ext cx="3566160" cy="2194560"/>
          </a:xfrm>
          <a:prstGeom prst="roundRect">
            <a:avLst>
              <a:gd name="adj" fmla="val 3333"/>
            </a:avLst>
          </a:prstGeom>
          <a:solidFill>
            <a:srgbClr val="F2F7FC"/>
          </a:solidFill>
          <a:ln w="12700">
            <a:solidFill>
              <a:srgbClr val="F2F7FC"/>
            </a:solidFill>
            <a:prstDash val="solid"/>
          </a:ln>
        </p:spPr>
      </p:sp>
      <p:pic>
        <p:nvPicPr>
          <p:cNvPr id="6" name="Image 0" descr="preencoded.png">    </p:cNvPr>
          <p:cNvPicPr>
            <a:picLocks noChangeAspect="1"/>
          </p:cNvPicPr>
          <p:nvPr/>
        </p:nvPicPr>
        <p:blipFill>
          <a:blip r:embed="rId1"/>
          <a:stretch>
            <a:fillRect/>
          </a:stretch>
        </p:blipFill>
        <p:spPr>
          <a:xfrm>
            <a:off x="749808" y="1554480"/>
            <a:ext cx="384048" cy="384048"/>
          </a:xfrm>
          <a:prstGeom prst="rect">
            <a:avLst/>
          </a:prstGeom>
        </p:spPr>
      </p:pic>
      <p:sp>
        <p:nvSpPr>
          <p:cNvPr id="7" name="Text 4"/>
          <p:cNvSpPr txBox="1"/>
          <p:nvPr/>
        </p:nvSpPr>
        <p:spPr>
          <a:xfrm>
            <a:off x="1261872" y="153619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Box 1</a:t>
            </a:r>
            <a:endParaRPr lang="en-US" sz="1600" dirty="0"/>
          </a:p>
        </p:txBody>
      </p:sp>
      <p:sp>
        <p:nvSpPr>
          <p:cNvPr id="8" name="Text 5"/>
          <p:cNvSpPr txBox="1"/>
          <p:nvPr/>
        </p:nvSpPr>
        <p:spPr>
          <a:xfrm>
            <a:off x="777240" y="1993392"/>
            <a:ext cx="3108960" cy="1463040"/>
          </a:xfrm>
          <a:prstGeom prst="rect">
            <a:avLst/>
          </a:prstGeom>
          <a:noFill/>
          <a:ln/>
        </p:spPr>
        <p:txBody>
          <a:bodyPr wrap="square" lIns="0" tIns="0" rIns="0" bIns="0" rtlCol="0" anchor="t"/>
          <a:lstStyle/>
          <a:p>
            <a:pPr indent="0" marL="0">
              <a:buNone/>
            </a:pPr>
            <a:r>
              <a:rPr lang="en-US" sz="1400" dirty="0">
                <a:solidFill>
                  <a:srgbClr val="1E2329"/>
                </a:solidFill>
              </a:rPr>
              <a:t>The newest man: name, mentor, next ceremony, one moment you will design.</a:t>
            </a:r>
            <a:endParaRPr lang="en-US" sz="1400" dirty="0"/>
          </a:p>
        </p:txBody>
      </p:sp>
      <p:sp>
        <p:nvSpPr>
          <p:cNvPr id="9" name="Card Boxes 2 and 3"/>
          <p:cNvSpPr/>
          <p:nvPr/>
        </p:nvSpPr>
        <p:spPr>
          <a:xfrm>
            <a:off x="4297680" y="1371600"/>
            <a:ext cx="3566160" cy="2194560"/>
          </a:xfrm>
          <a:prstGeom prst="roundRect">
            <a:avLst>
              <a:gd name="adj" fmla="val 3333"/>
            </a:avLst>
          </a:prstGeom>
          <a:solidFill>
            <a:srgbClr val="F2F7FC"/>
          </a:solidFill>
          <a:ln w="12700">
            <a:solidFill>
              <a:srgbClr val="F2F7FC"/>
            </a:solidFill>
            <a:prstDash val="solid"/>
          </a:ln>
        </p:spPr>
      </p:sp>
      <p:pic>
        <p:nvPicPr>
          <p:cNvPr id="10" name="Image 1" descr="preencoded.png">    </p:cNvPr>
          <p:cNvPicPr>
            <a:picLocks noChangeAspect="1"/>
          </p:cNvPicPr>
          <p:nvPr/>
        </p:nvPicPr>
        <p:blipFill>
          <a:blip r:embed="rId2"/>
          <a:stretch>
            <a:fillRect/>
          </a:stretch>
        </p:blipFill>
        <p:spPr>
          <a:xfrm>
            <a:off x="4498848" y="1554480"/>
            <a:ext cx="384048" cy="384048"/>
          </a:xfrm>
          <a:prstGeom prst="rect">
            <a:avLst/>
          </a:prstGeom>
        </p:spPr>
      </p:pic>
      <p:sp>
        <p:nvSpPr>
          <p:cNvPr id="11" name="Text 7"/>
          <p:cNvSpPr txBox="1"/>
          <p:nvPr/>
        </p:nvSpPr>
        <p:spPr>
          <a:xfrm>
            <a:off x="5010912" y="153619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Boxes 2 and 3</a:t>
            </a:r>
            <a:endParaRPr lang="en-US" sz="1600" dirty="0"/>
          </a:p>
        </p:txBody>
      </p:sp>
      <p:sp>
        <p:nvSpPr>
          <p:cNvPr id="12" name="Text 8"/>
          <p:cNvSpPr txBox="1"/>
          <p:nvPr/>
        </p:nvSpPr>
        <p:spPr>
          <a:xfrm>
            <a:off x="4526280" y="1993392"/>
            <a:ext cx="3108960" cy="1463040"/>
          </a:xfrm>
          <a:prstGeom prst="rect">
            <a:avLst/>
          </a:prstGeom>
          <a:noFill/>
          <a:ln/>
        </p:spPr>
        <p:txBody>
          <a:bodyPr wrap="square" lIns="0" tIns="0" rIns="0" bIns="0" rtlCol="0" anchor="t"/>
          <a:lstStyle/>
          <a:p>
            <a:pPr indent="0" marL="0">
              <a:buNone/>
            </a:pPr>
            <a:r>
              <a:rPr lang="en-US" sz="1400" dirty="0">
                <a:solidFill>
                  <a:srgbClr val="1E2329"/>
                </a:solidFill>
              </a:rPr>
              <a:t>The office queue, and your year after the Chair: a role, a project, a Brother to mentor.</a:t>
            </a:r>
            <a:endParaRPr lang="en-US" sz="1400" dirty="0"/>
          </a:p>
        </p:txBody>
      </p:sp>
      <p:sp>
        <p:nvSpPr>
          <p:cNvPr id="13" name="Card Box 4"/>
          <p:cNvSpPr/>
          <p:nvPr/>
        </p:nvSpPr>
        <p:spPr>
          <a:xfrm>
            <a:off x="8046720" y="1371600"/>
            <a:ext cx="3566160" cy="2194560"/>
          </a:xfrm>
          <a:prstGeom prst="roundRect">
            <a:avLst>
              <a:gd name="adj" fmla="val 3333"/>
            </a:avLst>
          </a:prstGeom>
          <a:solidFill>
            <a:srgbClr val="E6F2F2"/>
          </a:solidFill>
          <a:ln w="12700">
            <a:solidFill>
              <a:srgbClr val="E6F2F2"/>
            </a:solidFill>
            <a:prstDash val="solid"/>
          </a:ln>
        </p:spPr>
      </p:sp>
      <p:pic>
        <p:nvPicPr>
          <p:cNvPr id="14" name="Image 2" descr="preencoded.png">    </p:cNvPr>
          <p:cNvPicPr>
            <a:picLocks noChangeAspect="1"/>
          </p:cNvPicPr>
          <p:nvPr/>
        </p:nvPicPr>
        <p:blipFill>
          <a:blip r:embed="rId3"/>
          <a:stretch>
            <a:fillRect/>
          </a:stretch>
        </p:blipFill>
        <p:spPr>
          <a:xfrm>
            <a:off x="8247888" y="1554480"/>
            <a:ext cx="384048" cy="384048"/>
          </a:xfrm>
          <a:prstGeom prst="rect">
            <a:avLst/>
          </a:prstGeom>
        </p:spPr>
      </p:pic>
      <p:sp>
        <p:nvSpPr>
          <p:cNvPr id="15" name="Text 10"/>
          <p:cNvSpPr txBox="1"/>
          <p:nvPr/>
        </p:nvSpPr>
        <p:spPr>
          <a:xfrm>
            <a:off x="8759952" y="153619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Box 4</a:t>
            </a:r>
            <a:endParaRPr lang="en-US" sz="1600" dirty="0"/>
          </a:p>
        </p:txBody>
      </p:sp>
      <p:sp>
        <p:nvSpPr>
          <p:cNvPr id="16" name="Text 11"/>
          <p:cNvSpPr txBox="1"/>
          <p:nvPr/>
        </p:nvSpPr>
        <p:spPr>
          <a:xfrm>
            <a:off x="8275320" y="1993392"/>
            <a:ext cx="3108960" cy="1463040"/>
          </a:xfrm>
          <a:prstGeom prst="rect">
            <a:avLst/>
          </a:prstGeom>
          <a:noFill/>
          <a:ln/>
        </p:spPr>
        <p:txBody>
          <a:bodyPr wrap="square" lIns="0" tIns="0" rIns="0" bIns="0" rtlCol="0" anchor="t"/>
          <a:lstStyle/>
          <a:p>
            <a:pPr indent="0" marL="0">
              <a:buNone/>
            </a:pPr>
            <a:r>
              <a:rPr lang="en-US" sz="1400" dirty="0">
                <a:solidFill>
                  <a:srgbClr val="1E2329"/>
                </a:solidFill>
              </a:rPr>
              <a:t>One thing you will change in your year, or in your two years as a Warden. By when.</a:t>
            </a:r>
            <a:endParaRPr lang="en-US" sz="1400" dirty="0"/>
          </a:p>
        </p:txBody>
      </p:sp>
      <p:sp>
        <p:nvSpPr>
          <p:cNvPr id="17" name="Plan band"/>
          <p:cNvSpPr/>
          <p:nvPr/>
        </p:nvSpPr>
        <p:spPr>
          <a:xfrm>
            <a:off x="548640" y="3794760"/>
            <a:ext cx="11064240" cy="2057400"/>
          </a:xfrm>
          <a:prstGeom prst="roundRect">
            <a:avLst>
              <a:gd name="adj" fmla="val 3556"/>
            </a:avLst>
          </a:prstGeom>
          <a:solidFill>
            <a:srgbClr val="003668"/>
          </a:solidFill>
          <a:ln w="12700">
            <a:solidFill>
              <a:srgbClr val="003668"/>
            </a:solidFill>
            <a:prstDash val="solid"/>
          </a:ln>
        </p:spPr>
      </p:sp>
      <p:sp>
        <p:nvSpPr>
          <p:cNvPr id="18" name="Plan text"/>
          <p:cNvSpPr txBox="1"/>
          <p:nvPr/>
        </p:nvSpPr>
        <p:spPr>
          <a:xfrm>
            <a:off x="914400" y="3794760"/>
            <a:ext cx="10332720" cy="2057400"/>
          </a:xfrm>
          <a:prstGeom prst="rect">
            <a:avLst/>
          </a:prstGeom>
          <a:noFill/>
          <a:ln/>
        </p:spPr>
        <p:txBody>
          <a:bodyPr wrap="square" lIns="0" tIns="0" rIns="0" bIns="0" rtlCol="0" anchor="ctr"/>
          <a:lstStyle/>
          <a:p>
            <a:pPr indent="0" marL="0">
              <a:buNone/>
            </a:pPr>
            <a:r>
              <a:rPr lang="en-US" sz="2200" b="1" dirty="0">
                <a:solidFill>
                  <a:srgbClr val="FFFFFF"/>
                </a:solidFill>
              </a:rPr>
              <a:t>One sentence each, round the room. Your Lodge Mentor will be told what you committed to, and your APGMen will ask you about it within the month.</a:t>
            </a:r>
            <a:endParaRPr lang="en-US" sz="2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Dark title"/>
          <p:cNvSpPr txBox="1"/>
          <p:nvPr/>
        </p:nvSpPr>
        <p:spPr>
          <a:xfrm>
            <a:off x="822960" y="1463040"/>
            <a:ext cx="10515600" cy="2011680"/>
          </a:xfrm>
          <a:prstGeom prst="rect">
            <a:avLst/>
          </a:prstGeom>
          <a:noFill/>
          <a:ln/>
        </p:spPr>
        <p:txBody>
          <a:bodyPr wrap="square" lIns="0" tIns="0" rIns="0" bIns="0" rtlCol="0" anchor="b"/>
          <a:lstStyle/>
          <a:p>
            <a:pPr indent="0" marL="0">
              <a:buNone/>
            </a:pPr>
            <a:r>
              <a:rPr lang="en-US" sz="4400" b="1" dirty="0">
                <a:solidFill>
                  <a:srgbClr val="FFFFFF"/>
                </a:solidFill>
              </a:rPr>
              <a:t>Prepare • Guide • Support • Enlighten</a:t>
            </a:r>
            <a:endParaRPr lang="en-US" sz="4400" dirty="0"/>
          </a:p>
        </p:txBody>
      </p:sp>
      <p:sp>
        <p:nvSpPr>
          <p:cNvPr id="3" name="Dark sub"/>
          <p:cNvSpPr txBox="1"/>
          <p:nvPr/>
        </p:nvSpPr>
        <p:spPr>
          <a:xfrm>
            <a:off x="822960" y="3657600"/>
            <a:ext cx="10058400" cy="1463040"/>
          </a:xfrm>
          <a:prstGeom prst="rect">
            <a:avLst/>
          </a:prstGeom>
          <a:noFill/>
          <a:ln/>
        </p:spPr>
        <p:txBody>
          <a:bodyPr wrap="square" lIns="0" tIns="0" rIns="0" bIns="0" rtlCol="0" anchor="t"/>
          <a:lstStyle/>
          <a:p>
            <a:pPr indent="0" marL="0">
              <a:buNone/>
            </a:pPr>
            <a:r>
              <a:rPr lang="en-US" sz="2000" dirty="0">
                <a:solidFill>
                  <a:srgbClr val="BFD6EA"/>
                </a:solidFill>
              </a:rPr>
              <a:t>Family, Work, Masonry: in that order, always. For the Master too. Freemasonry must be fun; a man who is enjoying himself attends, participates, belongs, and does not resign. Thank you.</a:t>
            </a:r>
            <a:endParaRPr lang="en-US" sz="2000" dirty="0"/>
          </a:p>
        </p:txBody>
      </p:sp>
    </p:spTree>
  </p:cSld>
  <p:clrMapOvr>
    <a:masterClrMapping/>
  </p:clrMapOvr>
</p:sld>
</file>

<file path=ppt/theme/theme1.xml><?xml version="1.0" encoding="utf-8"?>
<a:theme xmlns:a="http://schemas.openxmlformats.org/drawingml/2006/main" name="Hertfordshire Provincial Mentoring">
  <a:themeElements>
    <a:clrScheme name="Hertfordshire Provincial Mentoring">
      <a:dk1>
        <a:srgbClr val="1E2329"/>
      </a:dk1>
      <a:lt1>
        <a:srgbClr val="FFFFFF"/>
      </a:lt1>
      <a:dk2>
        <a:srgbClr val="003668"/>
      </a:dk2>
      <a:lt2>
        <a:srgbClr val="F2F7FC"/>
      </a:lt2>
      <a:accent1>
        <a:srgbClr val="003668"/>
      </a:accent1>
      <a:accent2>
        <a:srgbClr val="0A4F72"/>
      </a:accent2>
      <a:accent3>
        <a:srgbClr val="106576"/>
      </a:accent3>
      <a:accent4>
        <a:srgbClr val="157A7C"/>
      </a:accent4>
      <a:accent5>
        <a:srgbClr val="06345D"/>
      </a:accent5>
      <a:accent6>
        <a:srgbClr val="BFD6EA"/>
      </a:accent6>
      <a:hlink>
        <a:srgbClr val="157A7C"/>
      </a:hlink>
      <a:folHlink>
        <a:srgbClr val="0A4F72"/>
      </a:folHlink>
    </a:clrScheme>
    <a:fontScheme name="Hertfordshire Provincial Mentoring">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Chair and Beyond</dc:title>
  <dc:subject>PptxGenJS Presentation</dc:subject>
  <dc:creator>Hertfordshire Provincial Mentoring Team</dc:creator>
  <cp:lastModifiedBy>Hertfordshire Provincial Mentoring Team</cp:lastModifiedBy>
  <cp:revision>1</cp:revision>
  <dcterms:created xsi:type="dcterms:W3CDTF">2026-10-10T01:29:57Z</dcterms:created>
  <dcterms:modified xsi:type="dcterms:W3CDTF">2026-10-10T01:29:57Z</dcterms:modified>
</cp:coreProperties>
</file>