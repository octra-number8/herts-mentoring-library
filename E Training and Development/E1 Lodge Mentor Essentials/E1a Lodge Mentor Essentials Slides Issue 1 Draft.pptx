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id="{992cd9dd-2f5b-977d-c4a6-aebfb2f3cdfb}">
          <p14:sldIdLst>
            <p14:sldId id="256"/>
            <p14:sldId id="257"/>
          </p14:sldIdLst>
        </p14:section>
        <p14:section name="1 Why" id="{973d8a56-1314-2731-6269-dee73d120ef4}">
          <p14:sldIdLst>
            <p14:sldId id="258"/>
          </p14:sldIdLst>
        </p14:section>
        <p14:section name="2 The role" id="{c31acbf6-3e83-9210-0508-bf3828e23dd4}">
          <p14:sldIdLst>
            <p14:sldId id="259"/>
            <p14:sldId id="260"/>
            <p14:sldId id="261"/>
          </p14:sldIdLst>
        </p14:section>
        <p14:section name="3 Principles" id="{4ae1d19a-1ae0-4f78-fdc7-1d682554f3c9}">
          <p14:sldIdLst>
            <p14:sldId id="262"/>
            <p14:sldId id="263"/>
          </p14:sldIdLst>
        </p14:section>
        <p14:section name="4 First month" id="{9111cd1e-5da2-609d-4020-16aa6cf0ae4b}">
          <p14:sldIdLst>
            <p14:sldId id="264"/>
          </p14:sldIdLst>
        </p14:section>
        <p14:section name="5 Difficult" id="{8ad906c8-7eed-04f1-d752-3490f16d1b71}">
          <p14:sldIdLst>
            <p14:sldId id="265"/>
            <p14:sldId id="266"/>
          </p14:sldIdLst>
        </p14:section>
        <p14:section name="6 Close" id="{c2e8070c-c502-f0d3-3349-4dee81943910}">
          <p14:sldIdLst>
            <p14:sldId id="267"/>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Sixty minutes. Participants have the Lodge Mentor's Short Guide and the Action Plan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one exercise, one action plan, and the Charge to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your own story, or the composite from the Personal Mentor course. Seven minutes including the two cards.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Sharing the work is what makes it sustainable. The man who tries to mentor everyone himself burns out in a year and leaves nothing behind.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Leads straight into the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minutes total. Collect the numbers aloud; they land the point better than any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from the canon page. Every document in the library quotes this text; so should every Lodge Mentor.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windows, two habits: summer contact for spring Initiates; a next role agreed for every outgoing Master.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Guide section 2 has the same six. Most take an hour. Action Plan box 3 is the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Retention, Retrieval and Migration Guide is the owner-document; the Warning Signs card has this on one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Readiness runs both ways. The under-stretched member is the quieter loss and the more common one in Lodges with long office queues.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minutes. The library set is on each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let anyone pass. Photograph the sheets before they leave.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whole Charge aloud, slowly, from section 4 of the facilitator guide. Then thank them, and 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Names to the register; everyone on the call and DAWG.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548640"/>
          </a:xfrm>
          <a:prstGeom prst="rect">
            <a:avLst/>
          </a:prstGeom>
          <a:noFill/>
          <a:ln/>
        </p:spPr>
        <p:txBody>
          <a:bodyPr wrap="square" lIns="0" tIns="0" rIns="0" bIns="0" rtlCol="0" anchor="ctr"/>
          <a:lstStyle/>
          <a:p>
            <a:pPr indent="0" marL="0">
              <a:buNone/>
            </a:pPr>
            <a:r>
              <a:rPr lang="en-US" sz="2400" b="1" dirty="0">
                <a:solidFill>
                  <a:srgbClr val="003668"/>
                </a:solidFill>
              </a:rPr>
              <a:t>Provincial Mentoring</a:t>
            </a:r>
            <a:endParaRPr lang="en-US" sz="2400" dirty="0"/>
          </a:p>
        </p:txBody>
      </p:sp>
      <p:sp>
        <p:nvSpPr>
          <p:cNvPr id="3" name="Text 1"/>
          <p:cNvSpPr/>
          <p:nvPr/>
        </p:nvSpPr>
        <p:spPr>
          <a:xfrm>
            <a:off x="548640" y="914400"/>
            <a:ext cx="7315200" cy="320040"/>
          </a:xfrm>
          <a:prstGeom prst="rect">
            <a:avLst/>
          </a:prstGeom>
          <a:noFill/>
          <a:ln/>
        </p:spPr>
        <p:txBody>
          <a:bodyPr wrap="square" lIns="0" tIns="0" rIns="0" bIns="0" rtlCol="0" anchor="ctr"/>
          <a:lstStyle/>
          <a:p>
            <a:pPr indent="0" marL="0">
              <a:buNone/>
            </a:pPr>
            <a:r>
              <a:rPr lang="en-US" sz="1300" dirty="0">
                <a:solidFill>
                  <a:srgbClr val="06345D"/>
                </a:solidFill>
              </a:rPr>
              <a:t>Provincial Grand Lodge of Hertfordshire</a:t>
            </a:r>
            <a:endParaRPr lang="en-US" sz="1300" dirty="0"/>
          </a:p>
        </p:txBody>
      </p:sp>
      <p:sp>
        <p:nvSpPr>
          <p:cNvPr id="4" name="Text 2"/>
          <p:cNvSpPr/>
          <p:nvPr/>
        </p:nvSpPr>
        <p:spPr>
          <a:xfrm>
            <a:off x="548640" y="1188720"/>
            <a:ext cx="7315200" cy="320040"/>
          </a:xfrm>
          <a:prstGeom prst="rect">
            <a:avLst/>
          </a:prstGeom>
          <a:noFill/>
          <a:ln/>
        </p:spPr>
        <p:txBody>
          <a:bodyPr wrap="square" lIns="0" tIns="0" rIns="0" bIns="0" rtlCol="0" anchor="ctr"/>
          <a:lstStyle/>
          <a:p>
            <a:pPr indent="0" marL="0">
              <a:buNone/>
            </a:pPr>
            <a:r>
              <a:rPr lang="en-US" sz="1300" b="1" dirty="0">
                <a:solidFill>
                  <a:srgbClr val="157A7C"/>
                </a:solidFill>
              </a:rPr>
              <a:t>Prepare • Guide • Support • Enlighten</a:t>
            </a:r>
            <a:endParaRPr lang="en-US" sz="1300" dirty="0"/>
          </a:p>
        </p:txBody>
      </p:sp>
      <p:pic>
        <p:nvPicPr>
          <p:cNvPr id="5" name="Image 0" descr="../art/PGLH-Shield.png">    </p:cNvPr>
          <p:cNvPicPr>
            <a:picLocks noChangeAspect="1"/>
          </p:cNvPicPr>
          <p:nvPr/>
        </p:nvPicPr>
        <p:blipFill>
          <a:blip r:embed="rId1"/>
          <a:stretch>
            <a:fillRect/>
          </a:stretch>
        </p:blipFill>
        <p:spPr>
          <a:xfrm>
            <a:off x="10314432" y="365760"/>
            <a:ext cx="1325880" cy="1527048"/>
          </a:xfrm>
          <a:prstGeom prst="rect">
            <a:avLst/>
          </a:prstGeom>
        </p:spPr>
      </p:pic>
      <p:sp>
        <p:nvSpPr>
          <p:cNvPr id="6" name="Shape 3"/>
          <p:cNvSpPr/>
          <p:nvPr/>
        </p:nvSpPr>
        <p:spPr>
          <a:xfrm>
            <a:off x="0" y="2057400"/>
            <a:ext cx="3047238" cy="237744"/>
          </a:xfrm>
          <a:prstGeom prst="rect">
            <a:avLst/>
          </a:prstGeom>
          <a:solidFill>
            <a:srgbClr val="003668"/>
          </a:solidFill>
          <a:ln/>
        </p:spPr>
      </p:sp>
      <p:sp>
        <p:nvSpPr>
          <p:cNvPr id="7" name="Shape 4"/>
          <p:cNvSpPr/>
          <p:nvPr/>
        </p:nvSpPr>
        <p:spPr>
          <a:xfrm>
            <a:off x="3047238" y="2057400"/>
            <a:ext cx="3047238" cy="237744"/>
          </a:xfrm>
          <a:prstGeom prst="rect">
            <a:avLst/>
          </a:prstGeom>
          <a:solidFill>
            <a:srgbClr val="0A4F72"/>
          </a:solidFill>
          <a:ln/>
        </p:spPr>
      </p:sp>
      <p:sp>
        <p:nvSpPr>
          <p:cNvPr id="8" name="Shape 5"/>
          <p:cNvSpPr/>
          <p:nvPr/>
        </p:nvSpPr>
        <p:spPr>
          <a:xfrm>
            <a:off x="6094476" y="2057400"/>
            <a:ext cx="3047238" cy="237744"/>
          </a:xfrm>
          <a:prstGeom prst="rect">
            <a:avLst/>
          </a:prstGeom>
          <a:solidFill>
            <a:srgbClr val="106576"/>
          </a:solidFill>
          <a:ln/>
        </p:spPr>
      </p:sp>
      <p:sp>
        <p:nvSpPr>
          <p:cNvPr id="9" name="Shape 6"/>
          <p:cNvSpPr/>
          <p:nvPr/>
        </p:nvSpPr>
        <p:spPr>
          <a:xfrm>
            <a:off x="9141714" y="2057400"/>
            <a:ext cx="3047238" cy="237744"/>
          </a:xfrm>
          <a:prstGeom prst="rect">
            <a:avLst/>
          </a:prstGeom>
          <a:solidFill>
            <a:srgbClr val="157A7C"/>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003668"/>
        </a:solidFill>
      </p:bgPr>
    </p:bg>
    <p:spTree>
      <p:nvGrpSpPr>
        <p:cNvPr id="1" name=""/>
        <p:cNvGrpSpPr/>
        <p:nvPr/>
      </p:nvGrpSpPr>
      <p:grpSpPr>
        <a:xfrm>
          <a:off x="0" y="0"/>
          <a:ext cx="0" cy="0"/>
          <a:chOff x="0" y="0"/>
          <a:chExt cx="0" cy="0"/>
        </a:xfrm>
      </p:grpSpPr>
      <p:sp>
        <p:nvSpPr>
          <p:cNvPr id="2" name="Shape 0"/>
          <p:cNvSpPr/>
          <p:nvPr/>
        </p:nvSpPr>
        <p:spPr>
          <a:xfrm>
            <a:off x="0" y="6583680"/>
            <a:ext cx="12188952" cy="36576"/>
          </a:xfrm>
          <a:prstGeom prst="rect">
            <a:avLst/>
          </a:prstGeom>
          <a:solidFill>
            <a:srgbClr val="FFFFFF"/>
          </a:solidFill>
          <a:ln/>
        </p:spPr>
      </p:sp>
      <p:sp>
        <p:nvSpPr>
          <p:cNvPr id="3" name="Shape 1"/>
          <p:cNvSpPr/>
          <p:nvPr/>
        </p:nvSpPr>
        <p:spPr>
          <a:xfrm>
            <a:off x="0" y="6620256"/>
            <a:ext cx="3047238" cy="237744"/>
          </a:xfrm>
          <a:prstGeom prst="rect">
            <a:avLst/>
          </a:prstGeom>
          <a:solidFill>
            <a:srgbClr val="003668"/>
          </a:solidFill>
          <a:ln/>
        </p:spPr>
      </p:sp>
      <p:sp>
        <p:nvSpPr>
          <p:cNvPr id="4" name="Shape 2"/>
          <p:cNvSpPr/>
          <p:nvPr/>
        </p:nvSpPr>
        <p:spPr>
          <a:xfrm>
            <a:off x="3047238" y="6620256"/>
            <a:ext cx="3047238" cy="237744"/>
          </a:xfrm>
          <a:prstGeom prst="rect">
            <a:avLst/>
          </a:prstGeom>
          <a:solidFill>
            <a:srgbClr val="0A4F72"/>
          </a:solidFill>
          <a:ln/>
        </p:spPr>
      </p:sp>
      <p:sp>
        <p:nvSpPr>
          <p:cNvPr id="5" name="Shape 3"/>
          <p:cNvSpPr/>
          <p:nvPr/>
        </p:nvSpPr>
        <p:spPr>
          <a:xfrm>
            <a:off x="6094476" y="6620256"/>
            <a:ext cx="3047238" cy="237744"/>
          </a:xfrm>
          <a:prstGeom prst="rect">
            <a:avLst/>
          </a:prstGeom>
          <a:solidFill>
            <a:srgbClr val="106576"/>
          </a:solidFill>
          <a:ln/>
        </p:spPr>
      </p:sp>
      <p:sp>
        <p:nvSpPr>
          <p:cNvPr id="6" name="Shape 4"/>
          <p:cNvSpPr/>
          <p:nvPr/>
        </p:nvSpPr>
        <p:spPr>
          <a:xfrm>
            <a:off x="9141714" y="6620256"/>
            <a:ext cx="3047238" cy="237744"/>
          </a:xfrm>
          <a:prstGeom prst="rect">
            <a:avLst/>
          </a:prstGeom>
          <a:solidFill>
            <a:srgbClr val="157A7C"/>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748272"/>
            <a:ext cx="3047238" cy="109728"/>
          </a:xfrm>
          <a:prstGeom prst="rect">
            <a:avLst/>
          </a:prstGeom>
          <a:solidFill>
            <a:srgbClr val="003668"/>
          </a:solidFill>
          <a:ln/>
        </p:spPr>
      </p:sp>
      <p:sp>
        <p:nvSpPr>
          <p:cNvPr id="3" name="Shape 1"/>
          <p:cNvSpPr/>
          <p:nvPr/>
        </p:nvSpPr>
        <p:spPr>
          <a:xfrm>
            <a:off x="3047238" y="6748272"/>
            <a:ext cx="3047238" cy="109728"/>
          </a:xfrm>
          <a:prstGeom prst="rect">
            <a:avLst/>
          </a:prstGeom>
          <a:solidFill>
            <a:srgbClr val="0A4F72"/>
          </a:solidFill>
          <a:ln/>
        </p:spPr>
      </p:sp>
      <p:sp>
        <p:nvSpPr>
          <p:cNvPr id="4" name="Shape 2"/>
          <p:cNvSpPr/>
          <p:nvPr/>
        </p:nvSpPr>
        <p:spPr>
          <a:xfrm>
            <a:off x="6094476" y="6748272"/>
            <a:ext cx="3047238" cy="109728"/>
          </a:xfrm>
          <a:prstGeom prst="rect">
            <a:avLst/>
          </a:prstGeom>
          <a:solidFill>
            <a:srgbClr val="106576"/>
          </a:solidFill>
          <a:ln/>
        </p:spPr>
      </p:sp>
      <p:sp>
        <p:nvSpPr>
          <p:cNvPr id="5" name="Shape 3"/>
          <p:cNvSpPr/>
          <p:nvPr/>
        </p:nvSpPr>
        <p:spPr>
          <a:xfrm>
            <a:off x="9141714" y="6748272"/>
            <a:ext cx="3047238" cy="109728"/>
          </a:xfrm>
          <a:prstGeom prst="rect">
            <a:avLst/>
          </a:prstGeom>
          <a:solidFill>
            <a:srgbClr val="157A7C"/>
          </a:solidFill>
          <a:ln/>
        </p:spPr>
      </p:sp>
      <p:sp>
        <p:nvSpPr>
          <p:cNvPr id="6" name="Text 4"/>
          <p:cNvSpPr/>
          <p:nvPr/>
        </p:nvSpPr>
        <p:spPr>
          <a:xfrm>
            <a:off x="548640" y="6382512"/>
            <a:ext cx="7315200" cy="274320"/>
          </a:xfrm>
          <a:prstGeom prst="rect">
            <a:avLst/>
          </a:prstGeom>
          <a:noFill/>
          <a:ln/>
        </p:spPr>
        <p:txBody>
          <a:bodyPr wrap="square" lIns="0" tIns="0" rIns="0" bIns="0" rtlCol="0" anchor="ctr"/>
          <a:lstStyle/>
          <a:p>
            <a:pPr indent="0" marL="0">
              <a:buNone/>
            </a:pPr>
            <a:r>
              <a:rPr lang="en-US" sz="900" dirty="0">
                <a:solidFill>
                  <a:srgbClr val="06345D"/>
                </a:solidFill>
              </a:rPr>
              <a:t>Hertfordshire Provincial Mentoring  ·  Lodge Mentor Essentials</a:t>
            </a:r>
            <a:endParaRPr lang="en-US" sz="9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6345D"/>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6345D"/>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4.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4.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4.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4.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4.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4.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4.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4.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4.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p:cNvSpPr txBox="1"/>
          <p:nvPr/>
        </p:nvSpPr>
        <p:spPr>
          <a:xfrm>
            <a:off x="548640" y="2651760"/>
            <a:ext cx="10515600" cy="1188720"/>
          </a:xfrm>
          <a:prstGeom prst="rect">
            <a:avLst/>
          </a:prstGeom>
          <a:noFill/>
          <a:ln/>
        </p:spPr>
        <p:txBody>
          <a:bodyPr wrap="square" lIns="0" tIns="0" rIns="0" bIns="0" rtlCol="0" anchor="ctr"/>
          <a:lstStyle/>
          <a:p>
            <a:pPr indent="0" marL="0">
              <a:buNone/>
            </a:pPr>
            <a:r>
              <a:rPr lang="en-US" sz="5400" b="1" dirty="0">
                <a:solidFill>
                  <a:srgbClr val="003668"/>
                </a:solidFill>
              </a:rPr>
              <a:t>Lodge Mentor Essentials</a:t>
            </a:r>
            <a:endParaRPr lang="en-US" sz="5400" dirty="0"/>
          </a:p>
        </p:txBody>
      </p:sp>
      <p:sp>
        <p:nvSpPr>
          <p:cNvPr id="3" name="Subtitle"/>
          <p:cNvSpPr txBox="1"/>
          <p:nvPr/>
        </p:nvSpPr>
        <p:spPr>
          <a:xfrm>
            <a:off x="548640" y="3840480"/>
            <a:ext cx="9601200" cy="822960"/>
          </a:xfrm>
          <a:prstGeom prst="rect">
            <a:avLst/>
          </a:prstGeom>
          <a:noFill/>
          <a:ln/>
        </p:spPr>
        <p:txBody>
          <a:bodyPr wrap="square" lIns="0" tIns="0" rIns="0" bIns="0" rtlCol="0" anchor="ctr"/>
          <a:lstStyle/>
          <a:p>
            <a:pPr indent="0" marL="0">
              <a:buNone/>
            </a:pPr>
            <a:r>
              <a:rPr lang="en-US" sz="2000" dirty="0">
                <a:solidFill>
                  <a:srgbClr val="06345D"/>
                </a:solidFill>
              </a:rPr>
              <a:t>One hour on the five things that change what a Lodge Mentor does on Monday</a:t>
            </a:r>
            <a:endParaRPr lang="en-US" sz="2000" dirty="0"/>
          </a:p>
        </p:txBody>
      </p:sp>
      <p:sp>
        <p:nvSpPr>
          <p:cNvPr id="4" name="Line 3"/>
          <p:cNvSpPr txBox="1"/>
          <p:nvPr/>
        </p:nvSpPr>
        <p:spPr>
          <a:xfrm>
            <a:off x="548640" y="4937760"/>
            <a:ext cx="10058400" cy="457200"/>
          </a:xfrm>
          <a:prstGeom prst="rect">
            <a:avLst/>
          </a:prstGeom>
          <a:noFill/>
          <a:ln/>
        </p:spPr>
        <p:txBody>
          <a:bodyPr wrap="square" lIns="0" tIns="0" rIns="0" bIns="0" rtlCol="0" anchor="ctr"/>
          <a:lstStyle/>
          <a:p>
            <a:pPr indent="0" marL="0">
              <a:buNone/>
            </a:pPr>
            <a:r>
              <a:rPr lang="en-US" sz="1600" b="1" dirty="0">
                <a:solidFill>
                  <a:srgbClr val="157A7C"/>
                </a:solidFill>
              </a:rPr>
              <a:t>Delivered by W Bro Wes Pierce, Deputy Provincial Grand Mentor</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indent="0" marL="0">
              <a:buNone/>
            </a:pPr>
            <a:r>
              <a:rPr lang="en-US" sz="3200" b="1" dirty="0">
                <a:solidFill>
                  <a:srgbClr val="003668"/>
                </a:solidFill>
              </a:rPr>
              <a:t>The hour</a:t>
            </a:r>
            <a:endParaRPr lang="en-US" sz="3200" dirty="0"/>
          </a:p>
        </p:txBody>
      </p:sp>
      <p:sp>
        <p:nvSpPr>
          <p:cNvPr id="3" name="Numbered 1"/>
          <p:cNvSpPr/>
          <p:nvPr/>
        </p:nvSpPr>
        <p:spPr>
          <a:xfrm>
            <a:off x="548640" y="1371600"/>
            <a:ext cx="3520440" cy="2103120"/>
          </a:xfrm>
          <a:prstGeom prst="roundRect">
            <a:avLst>
              <a:gd name="adj" fmla="val 3478"/>
            </a:avLst>
          </a:prstGeom>
          <a:solidFill>
            <a:srgbClr val="F2F7FC"/>
          </a:solidFill>
          <a:ln w="12700">
            <a:solidFill>
              <a:srgbClr val="F2F7FC"/>
            </a:solidFill>
            <a:prstDash val="solid"/>
          </a:ln>
        </p:spPr>
      </p:sp>
      <p:sp>
        <p:nvSpPr>
          <p:cNvPr id="4" name="Circle 1"/>
          <p:cNvSpPr/>
          <p:nvPr/>
        </p:nvSpPr>
        <p:spPr>
          <a:xfrm>
            <a:off x="777240" y="1572768"/>
            <a:ext cx="548640" cy="548640"/>
          </a:xfrm>
          <a:prstGeom prst="ellipse">
            <a:avLst/>
          </a:prstGeom>
          <a:solidFill>
            <a:srgbClr val="003668"/>
          </a:solidFill>
          <a:ln w="12700">
            <a:solidFill>
              <a:srgbClr val="003668"/>
            </a:solidFill>
            <a:prstDash val="solid"/>
          </a:ln>
        </p:spPr>
      </p:sp>
      <p:sp>
        <p:nvSpPr>
          <p:cNvPr id="5" name="Text 3"/>
          <p:cNvSpPr txBox="1"/>
          <p:nvPr/>
        </p:nvSpPr>
        <p:spPr>
          <a:xfrm>
            <a:off x="777240" y="157276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6" name="Text 4"/>
          <p:cNvSpPr txBox="1"/>
          <p:nvPr/>
        </p:nvSpPr>
        <p:spPr>
          <a:xfrm>
            <a:off x="1463040" y="1572768"/>
            <a:ext cx="2423160" cy="548640"/>
          </a:xfrm>
          <a:prstGeom prst="rect">
            <a:avLst/>
          </a:prstGeom>
          <a:noFill/>
          <a:ln/>
        </p:spPr>
        <p:txBody>
          <a:bodyPr wrap="square" lIns="0" tIns="0" rIns="0" bIns="0" rtlCol="0" anchor="ctr"/>
          <a:lstStyle/>
          <a:p>
            <a:pPr indent="0" marL="0">
              <a:buNone/>
            </a:pPr>
            <a:r>
              <a:rPr lang="en-US" sz="1600" b="1" dirty="0">
                <a:solidFill>
                  <a:srgbClr val="003668"/>
                </a:solidFill>
              </a:rPr>
              <a:t>Why mentoring</a:t>
            </a:r>
            <a:endParaRPr lang="en-US" sz="1600" dirty="0"/>
          </a:p>
        </p:txBody>
      </p:sp>
      <p:sp>
        <p:nvSpPr>
          <p:cNvPr id="7" name="Text 5"/>
          <p:cNvSpPr txBox="1"/>
          <p:nvPr/>
        </p:nvSpPr>
        <p:spPr>
          <a:xfrm>
            <a:off x="777240" y="2240280"/>
            <a:ext cx="3063240" cy="1097280"/>
          </a:xfrm>
          <a:prstGeom prst="rect">
            <a:avLst/>
          </a:prstGeom>
          <a:noFill/>
          <a:ln/>
        </p:spPr>
        <p:txBody>
          <a:bodyPr wrap="square" lIns="0" tIns="0" rIns="0" bIns="0" rtlCol="0" anchor="t"/>
          <a:lstStyle/>
          <a:p>
            <a:pPr indent="0" marL="0">
              <a:buNone/>
            </a:pPr>
            <a:r>
              <a:rPr lang="en-US" sz="1600" dirty="0">
                <a:solidFill>
                  <a:srgbClr val="1E2329"/>
                </a:solidFill>
              </a:rPr>
              <a:t>7 min</a:t>
            </a:r>
            <a:endParaRPr lang="en-US" sz="1600" dirty="0"/>
          </a:p>
        </p:txBody>
      </p:sp>
      <p:sp>
        <p:nvSpPr>
          <p:cNvPr id="8" name="Numbered 2"/>
          <p:cNvSpPr/>
          <p:nvPr/>
        </p:nvSpPr>
        <p:spPr>
          <a:xfrm>
            <a:off x="4297680" y="1371600"/>
            <a:ext cx="3520440" cy="2103120"/>
          </a:xfrm>
          <a:prstGeom prst="roundRect">
            <a:avLst>
              <a:gd name="adj" fmla="val 3478"/>
            </a:avLst>
          </a:prstGeom>
          <a:solidFill>
            <a:srgbClr val="F2F7FC"/>
          </a:solidFill>
          <a:ln w="12700">
            <a:solidFill>
              <a:srgbClr val="F2F7FC"/>
            </a:solidFill>
            <a:prstDash val="solid"/>
          </a:ln>
        </p:spPr>
      </p:sp>
      <p:sp>
        <p:nvSpPr>
          <p:cNvPr id="9" name="Circle 2"/>
          <p:cNvSpPr/>
          <p:nvPr/>
        </p:nvSpPr>
        <p:spPr>
          <a:xfrm>
            <a:off x="4526280" y="1572768"/>
            <a:ext cx="548640" cy="548640"/>
          </a:xfrm>
          <a:prstGeom prst="ellipse">
            <a:avLst/>
          </a:prstGeom>
          <a:solidFill>
            <a:srgbClr val="0A4F72"/>
          </a:solidFill>
          <a:ln w="12700">
            <a:solidFill>
              <a:srgbClr val="0A4F72"/>
            </a:solidFill>
            <a:prstDash val="solid"/>
          </a:ln>
        </p:spPr>
      </p:sp>
      <p:sp>
        <p:nvSpPr>
          <p:cNvPr id="10" name="Text 8"/>
          <p:cNvSpPr txBox="1"/>
          <p:nvPr/>
        </p:nvSpPr>
        <p:spPr>
          <a:xfrm>
            <a:off x="4526280" y="157276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1" name="Text 9"/>
          <p:cNvSpPr txBox="1"/>
          <p:nvPr/>
        </p:nvSpPr>
        <p:spPr>
          <a:xfrm>
            <a:off x="5212080" y="1572768"/>
            <a:ext cx="2423160" cy="548640"/>
          </a:xfrm>
          <a:prstGeom prst="rect">
            <a:avLst/>
          </a:prstGeom>
          <a:noFill/>
          <a:ln/>
        </p:spPr>
        <p:txBody>
          <a:bodyPr wrap="square" lIns="0" tIns="0" rIns="0" bIns="0" rtlCol="0" anchor="ctr"/>
          <a:lstStyle/>
          <a:p>
            <a:pPr indent="0" marL="0">
              <a:buNone/>
            </a:pPr>
            <a:r>
              <a:rPr lang="en-US" sz="1600" b="1" dirty="0">
                <a:solidFill>
                  <a:srgbClr val="0A4F72"/>
                </a:solidFill>
              </a:rPr>
              <a:t>The role: organiser, not everything</a:t>
            </a:r>
            <a:endParaRPr lang="en-US" sz="1600" dirty="0"/>
          </a:p>
        </p:txBody>
      </p:sp>
      <p:sp>
        <p:nvSpPr>
          <p:cNvPr id="12" name="Text 10"/>
          <p:cNvSpPr txBox="1"/>
          <p:nvPr/>
        </p:nvSpPr>
        <p:spPr>
          <a:xfrm>
            <a:off x="4526280" y="2240280"/>
            <a:ext cx="3063240" cy="1097280"/>
          </a:xfrm>
          <a:prstGeom prst="rect">
            <a:avLst/>
          </a:prstGeom>
          <a:noFill/>
          <a:ln/>
        </p:spPr>
        <p:txBody>
          <a:bodyPr wrap="square" lIns="0" tIns="0" rIns="0" bIns="0" rtlCol="0" anchor="t"/>
          <a:lstStyle/>
          <a:p>
            <a:pPr indent="0" marL="0">
              <a:buNone/>
            </a:pPr>
            <a:r>
              <a:rPr lang="en-US" sz="1600" dirty="0">
                <a:solidFill>
                  <a:srgbClr val="1E2329"/>
                </a:solidFill>
              </a:rPr>
              <a:t>15 min</a:t>
            </a:r>
            <a:endParaRPr lang="en-US" sz="1600" dirty="0"/>
          </a:p>
        </p:txBody>
      </p:sp>
      <p:sp>
        <p:nvSpPr>
          <p:cNvPr id="13" name="Numbered 3"/>
          <p:cNvSpPr/>
          <p:nvPr/>
        </p:nvSpPr>
        <p:spPr>
          <a:xfrm>
            <a:off x="8046720" y="1371600"/>
            <a:ext cx="3520440" cy="2103120"/>
          </a:xfrm>
          <a:prstGeom prst="roundRect">
            <a:avLst>
              <a:gd name="adj" fmla="val 3478"/>
            </a:avLst>
          </a:prstGeom>
          <a:solidFill>
            <a:srgbClr val="F2F7FC"/>
          </a:solidFill>
          <a:ln w="12700">
            <a:solidFill>
              <a:srgbClr val="F2F7FC"/>
            </a:solidFill>
            <a:prstDash val="solid"/>
          </a:ln>
        </p:spPr>
      </p:sp>
      <p:sp>
        <p:nvSpPr>
          <p:cNvPr id="14" name="Circle 3"/>
          <p:cNvSpPr/>
          <p:nvPr/>
        </p:nvSpPr>
        <p:spPr>
          <a:xfrm>
            <a:off x="8275320" y="1572768"/>
            <a:ext cx="548640" cy="548640"/>
          </a:xfrm>
          <a:prstGeom prst="ellipse">
            <a:avLst/>
          </a:prstGeom>
          <a:solidFill>
            <a:srgbClr val="106576"/>
          </a:solidFill>
          <a:ln w="12700">
            <a:solidFill>
              <a:srgbClr val="106576"/>
            </a:solidFill>
            <a:prstDash val="solid"/>
          </a:ln>
        </p:spPr>
      </p:sp>
      <p:sp>
        <p:nvSpPr>
          <p:cNvPr id="15" name="Text 13"/>
          <p:cNvSpPr txBox="1"/>
          <p:nvPr/>
        </p:nvSpPr>
        <p:spPr>
          <a:xfrm>
            <a:off x="8275320" y="157276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6" name="Text 14"/>
          <p:cNvSpPr txBox="1"/>
          <p:nvPr/>
        </p:nvSpPr>
        <p:spPr>
          <a:xfrm>
            <a:off x="8961120" y="1572768"/>
            <a:ext cx="2423160" cy="548640"/>
          </a:xfrm>
          <a:prstGeom prst="rect">
            <a:avLst/>
          </a:prstGeom>
          <a:noFill/>
          <a:ln/>
        </p:spPr>
        <p:txBody>
          <a:bodyPr wrap="square" lIns="0" tIns="0" rIns="0" bIns="0" rtlCol="0" anchor="ctr"/>
          <a:lstStyle/>
          <a:p>
            <a:pPr indent="0" marL="0">
              <a:buNone/>
            </a:pPr>
            <a:r>
              <a:rPr lang="en-US" sz="1600" b="1" dirty="0">
                <a:solidFill>
                  <a:srgbClr val="106576"/>
                </a:solidFill>
              </a:rPr>
              <a:t>Principles and the two windows</a:t>
            </a:r>
            <a:endParaRPr lang="en-US" sz="1600" dirty="0"/>
          </a:p>
        </p:txBody>
      </p:sp>
      <p:sp>
        <p:nvSpPr>
          <p:cNvPr id="17" name="Text 15"/>
          <p:cNvSpPr txBox="1"/>
          <p:nvPr/>
        </p:nvSpPr>
        <p:spPr>
          <a:xfrm>
            <a:off x="8275320" y="2240280"/>
            <a:ext cx="3063240" cy="1097280"/>
          </a:xfrm>
          <a:prstGeom prst="rect">
            <a:avLst/>
          </a:prstGeom>
          <a:noFill/>
          <a:ln/>
        </p:spPr>
        <p:txBody>
          <a:bodyPr wrap="square" lIns="0" tIns="0" rIns="0" bIns="0" rtlCol="0" anchor="t"/>
          <a:lstStyle/>
          <a:p>
            <a:pPr indent="0" marL="0">
              <a:buNone/>
            </a:pPr>
            <a:r>
              <a:rPr lang="en-US" sz="1600" dirty="0">
                <a:solidFill>
                  <a:srgbClr val="1E2329"/>
                </a:solidFill>
              </a:rPr>
              <a:t>8 min</a:t>
            </a:r>
            <a:endParaRPr lang="en-US" sz="1600" dirty="0"/>
          </a:p>
        </p:txBody>
      </p:sp>
      <p:sp>
        <p:nvSpPr>
          <p:cNvPr id="18" name="Numbered 4"/>
          <p:cNvSpPr/>
          <p:nvPr/>
        </p:nvSpPr>
        <p:spPr>
          <a:xfrm>
            <a:off x="548640" y="3657600"/>
            <a:ext cx="3520440" cy="2103120"/>
          </a:xfrm>
          <a:prstGeom prst="roundRect">
            <a:avLst>
              <a:gd name="adj" fmla="val 3478"/>
            </a:avLst>
          </a:prstGeom>
          <a:solidFill>
            <a:srgbClr val="F2F7FC"/>
          </a:solidFill>
          <a:ln w="12700">
            <a:solidFill>
              <a:srgbClr val="F2F7FC"/>
            </a:solidFill>
            <a:prstDash val="solid"/>
          </a:ln>
        </p:spPr>
      </p:sp>
      <p:sp>
        <p:nvSpPr>
          <p:cNvPr id="19" name="Circle 4"/>
          <p:cNvSpPr/>
          <p:nvPr/>
        </p:nvSpPr>
        <p:spPr>
          <a:xfrm>
            <a:off x="777240" y="3858768"/>
            <a:ext cx="548640" cy="548640"/>
          </a:xfrm>
          <a:prstGeom prst="ellipse">
            <a:avLst/>
          </a:prstGeom>
          <a:solidFill>
            <a:srgbClr val="157A7C"/>
          </a:solidFill>
          <a:ln w="12700">
            <a:solidFill>
              <a:srgbClr val="157A7C"/>
            </a:solidFill>
            <a:prstDash val="solid"/>
          </a:ln>
        </p:spPr>
      </p:sp>
      <p:sp>
        <p:nvSpPr>
          <p:cNvPr id="20" name="Text 18"/>
          <p:cNvSpPr txBox="1"/>
          <p:nvPr/>
        </p:nvSpPr>
        <p:spPr>
          <a:xfrm>
            <a:off x="777240" y="385876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21" name="Text 19"/>
          <p:cNvSpPr txBox="1"/>
          <p:nvPr/>
        </p:nvSpPr>
        <p:spPr>
          <a:xfrm>
            <a:off x="1463040" y="3858768"/>
            <a:ext cx="2423160" cy="548640"/>
          </a:xfrm>
          <a:prstGeom prst="rect">
            <a:avLst/>
          </a:prstGeom>
          <a:noFill/>
          <a:ln/>
        </p:spPr>
        <p:txBody>
          <a:bodyPr wrap="square" lIns="0" tIns="0" rIns="0" bIns="0" rtlCol="0" anchor="ctr"/>
          <a:lstStyle/>
          <a:p>
            <a:pPr indent="0" marL="0">
              <a:buNone/>
            </a:pPr>
            <a:r>
              <a:rPr lang="en-US" sz="1600" b="1" dirty="0">
                <a:solidFill>
                  <a:srgbClr val="157A7C"/>
                </a:solidFill>
              </a:rPr>
              <a:t>Your first month</a:t>
            </a:r>
            <a:endParaRPr lang="en-US" sz="1600" dirty="0"/>
          </a:p>
        </p:txBody>
      </p:sp>
      <p:sp>
        <p:nvSpPr>
          <p:cNvPr id="22" name="Text 20"/>
          <p:cNvSpPr txBox="1"/>
          <p:nvPr/>
        </p:nvSpPr>
        <p:spPr>
          <a:xfrm>
            <a:off x="777240" y="4526280"/>
            <a:ext cx="3063240" cy="1097280"/>
          </a:xfrm>
          <a:prstGeom prst="rect">
            <a:avLst/>
          </a:prstGeom>
          <a:noFill/>
          <a:ln/>
        </p:spPr>
        <p:txBody>
          <a:bodyPr wrap="square" lIns="0" tIns="0" rIns="0" bIns="0" rtlCol="0" anchor="t"/>
          <a:lstStyle/>
          <a:p>
            <a:pPr indent="0" marL="0">
              <a:buNone/>
            </a:pPr>
            <a:r>
              <a:rPr lang="en-US" sz="1600" dirty="0">
                <a:solidFill>
                  <a:srgbClr val="1E2329"/>
                </a:solidFill>
              </a:rPr>
              <a:t>8 min</a:t>
            </a:r>
            <a:endParaRPr lang="en-US" sz="1600" dirty="0"/>
          </a:p>
        </p:txBody>
      </p:sp>
      <p:sp>
        <p:nvSpPr>
          <p:cNvPr id="23" name="Numbered 5"/>
          <p:cNvSpPr/>
          <p:nvPr/>
        </p:nvSpPr>
        <p:spPr>
          <a:xfrm>
            <a:off x="4297680" y="3657600"/>
            <a:ext cx="3520440" cy="2103120"/>
          </a:xfrm>
          <a:prstGeom prst="roundRect">
            <a:avLst>
              <a:gd name="adj" fmla="val 3478"/>
            </a:avLst>
          </a:prstGeom>
          <a:solidFill>
            <a:srgbClr val="F2F7FC"/>
          </a:solidFill>
          <a:ln w="12700">
            <a:solidFill>
              <a:srgbClr val="F2F7FC"/>
            </a:solidFill>
            <a:prstDash val="solid"/>
          </a:ln>
        </p:spPr>
      </p:sp>
      <p:sp>
        <p:nvSpPr>
          <p:cNvPr id="24" name="Circle 5"/>
          <p:cNvSpPr/>
          <p:nvPr/>
        </p:nvSpPr>
        <p:spPr>
          <a:xfrm>
            <a:off x="4526280" y="3858768"/>
            <a:ext cx="548640" cy="548640"/>
          </a:xfrm>
          <a:prstGeom prst="ellipse">
            <a:avLst/>
          </a:prstGeom>
          <a:solidFill>
            <a:srgbClr val="06345D"/>
          </a:solidFill>
          <a:ln w="12700">
            <a:solidFill>
              <a:srgbClr val="06345D"/>
            </a:solidFill>
            <a:prstDash val="solid"/>
          </a:ln>
        </p:spPr>
      </p:sp>
      <p:sp>
        <p:nvSpPr>
          <p:cNvPr id="25" name="Text 23"/>
          <p:cNvSpPr txBox="1"/>
          <p:nvPr/>
        </p:nvSpPr>
        <p:spPr>
          <a:xfrm>
            <a:off x="4526280" y="385876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5</a:t>
            </a:r>
            <a:endParaRPr lang="en-US" sz="1800" dirty="0"/>
          </a:p>
        </p:txBody>
      </p:sp>
      <p:sp>
        <p:nvSpPr>
          <p:cNvPr id="26" name="Text 24"/>
          <p:cNvSpPr txBox="1"/>
          <p:nvPr/>
        </p:nvSpPr>
        <p:spPr>
          <a:xfrm>
            <a:off x="5212080" y="3858768"/>
            <a:ext cx="2423160" cy="548640"/>
          </a:xfrm>
          <a:prstGeom prst="rect">
            <a:avLst/>
          </a:prstGeom>
          <a:noFill/>
          <a:ln/>
        </p:spPr>
        <p:txBody>
          <a:bodyPr wrap="square" lIns="0" tIns="0" rIns="0" bIns="0" rtlCol="0" anchor="ctr"/>
          <a:lstStyle/>
          <a:p>
            <a:pPr indent="0" marL="0">
              <a:buNone/>
            </a:pPr>
            <a:r>
              <a:rPr lang="en-US" sz="1600" b="1" dirty="0">
                <a:solidFill>
                  <a:srgbClr val="06345D"/>
                </a:solidFill>
              </a:rPr>
              <a:t>When it gets difficult</a:t>
            </a:r>
            <a:endParaRPr lang="en-US" sz="1600" dirty="0"/>
          </a:p>
        </p:txBody>
      </p:sp>
      <p:sp>
        <p:nvSpPr>
          <p:cNvPr id="27" name="Text 25"/>
          <p:cNvSpPr txBox="1"/>
          <p:nvPr/>
        </p:nvSpPr>
        <p:spPr>
          <a:xfrm>
            <a:off x="4526280" y="4526280"/>
            <a:ext cx="3063240" cy="1097280"/>
          </a:xfrm>
          <a:prstGeom prst="rect">
            <a:avLst/>
          </a:prstGeom>
          <a:noFill/>
          <a:ln/>
        </p:spPr>
        <p:txBody>
          <a:bodyPr wrap="square" lIns="0" tIns="0" rIns="0" bIns="0" rtlCol="0" anchor="t"/>
          <a:lstStyle/>
          <a:p>
            <a:pPr indent="0" marL="0">
              <a:buNone/>
            </a:pPr>
            <a:r>
              <a:rPr lang="en-US" sz="1600" dirty="0">
                <a:solidFill>
                  <a:srgbClr val="1E2329"/>
                </a:solidFill>
              </a:rPr>
              <a:t>10 min</a:t>
            </a:r>
            <a:endParaRPr lang="en-US" sz="1600" dirty="0"/>
          </a:p>
        </p:txBody>
      </p:sp>
      <p:sp>
        <p:nvSpPr>
          <p:cNvPr id="28" name="Numbered 6"/>
          <p:cNvSpPr/>
          <p:nvPr/>
        </p:nvSpPr>
        <p:spPr>
          <a:xfrm>
            <a:off x="8046720" y="3657600"/>
            <a:ext cx="3520440" cy="2103120"/>
          </a:xfrm>
          <a:prstGeom prst="roundRect">
            <a:avLst>
              <a:gd name="adj" fmla="val 3478"/>
            </a:avLst>
          </a:prstGeom>
          <a:solidFill>
            <a:srgbClr val="F2F7FC"/>
          </a:solidFill>
          <a:ln w="12700">
            <a:solidFill>
              <a:srgbClr val="F2F7FC"/>
            </a:solidFill>
            <a:prstDash val="solid"/>
          </a:ln>
        </p:spPr>
      </p:sp>
      <p:sp>
        <p:nvSpPr>
          <p:cNvPr id="29" name="Circle 6"/>
          <p:cNvSpPr/>
          <p:nvPr/>
        </p:nvSpPr>
        <p:spPr>
          <a:xfrm>
            <a:off x="8275320" y="3858768"/>
            <a:ext cx="548640" cy="548640"/>
          </a:xfrm>
          <a:prstGeom prst="ellipse">
            <a:avLst/>
          </a:prstGeom>
          <a:solidFill>
            <a:srgbClr val="003668"/>
          </a:solidFill>
          <a:ln w="12700">
            <a:solidFill>
              <a:srgbClr val="003668"/>
            </a:solidFill>
            <a:prstDash val="solid"/>
          </a:ln>
        </p:spPr>
      </p:sp>
      <p:sp>
        <p:nvSpPr>
          <p:cNvPr id="30" name="Text 28"/>
          <p:cNvSpPr txBox="1"/>
          <p:nvPr/>
        </p:nvSpPr>
        <p:spPr>
          <a:xfrm>
            <a:off x="8275320" y="385876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6</a:t>
            </a:r>
            <a:endParaRPr lang="en-US" sz="1800" dirty="0"/>
          </a:p>
        </p:txBody>
      </p:sp>
      <p:sp>
        <p:nvSpPr>
          <p:cNvPr id="31" name="Text 29"/>
          <p:cNvSpPr txBox="1"/>
          <p:nvPr/>
        </p:nvSpPr>
        <p:spPr>
          <a:xfrm>
            <a:off x="8961120" y="3858768"/>
            <a:ext cx="2423160" cy="548640"/>
          </a:xfrm>
          <a:prstGeom prst="rect">
            <a:avLst/>
          </a:prstGeom>
          <a:noFill/>
          <a:ln/>
        </p:spPr>
        <p:txBody>
          <a:bodyPr wrap="square" lIns="0" tIns="0" rIns="0" bIns="0" rtlCol="0" anchor="ctr"/>
          <a:lstStyle/>
          <a:p>
            <a:pPr indent="0" marL="0">
              <a:buNone/>
            </a:pPr>
            <a:r>
              <a:rPr lang="en-US" sz="1600" b="1" dirty="0">
                <a:solidFill>
                  <a:srgbClr val="003668"/>
                </a:solidFill>
              </a:rPr>
              <a:t>The Province, your plan, the Charge</a:t>
            </a:r>
            <a:endParaRPr lang="en-US" sz="1600" dirty="0"/>
          </a:p>
        </p:txBody>
      </p:sp>
      <p:sp>
        <p:nvSpPr>
          <p:cNvPr id="32" name="Text 30"/>
          <p:cNvSpPr txBox="1"/>
          <p:nvPr/>
        </p:nvSpPr>
        <p:spPr>
          <a:xfrm>
            <a:off x="8275320" y="4526280"/>
            <a:ext cx="3063240" cy="1097280"/>
          </a:xfrm>
          <a:prstGeom prst="rect">
            <a:avLst/>
          </a:prstGeom>
          <a:noFill/>
          <a:ln/>
        </p:spPr>
        <p:txBody>
          <a:bodyPr wrap="square" lIns="0" tIns="0" rIns="0" bIns="0" rtlCol="0" anchor="t"/>
          <a:lstStyle/>
          <a:p>
            <a:pPr indent="0" marL="0">
              <a:buNone/>
            </a:pPr>
            <a:r>
              <a:rPr lang="en-US" sz="1600" dirty="0">
                <a:solidFill>
                  <a:srgbClr val="1E2329"/>
                </a:solidFill>
              </a:rPr>
              <a:t>12 min</a:t>
            </a:r>
            <a:endParaRPr lang="en-US" sz="16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6345D"/>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indent="0" marL="0">
              <a:buNone/>
            </a:pPr>
            <a:r>
              <a:rPr lang="en-US" sz="3200" b="1" dirty="0">
                <a:solidFill>
                  <a:srgbClr val="003668"/>
                </a:solidFill>
              </a:rPr>
              <a:t>Why mentoring</a:t>
            </a:r>
            <a:endParaRPr lang="en-US" sz="3200" dirty="0"/>
          </a:p>
        </p:txBody>
      </p:sp>
      <p:sp>
        <p:nvSpPr>
          <p:cNvPr id="3" name="Story panel"/>
          <p:cNvSpPr/>
          <p:nvPr/>
        </p:nvSpPr>
        <p:spPr>
          <a:xfrm>
            <a:off x="548640" y="1371600"/>
            <a:ext cx="11064240" cy="2377440"/>
          </a:xfrm>
          <a:prstGeom prst="roundRect">
            <a:avLst>
              <a:gd name="adj" fmla="val 3077"/>
            </a:avLst>
          </a:prstGeom>
          <a:solidFill>
            <a:srgbClr val="F2F7FC"/>
          </a:solidFill>
          <a:ln w="12700">
            <a:solidFill>
              <a:srgbClr val="F2F7FC"/>
            </a:solidFill>
            <a:prstDash val="solid"/>
          </a:ln>
        </p:spPr>
      </p:sp>
      <p:sp>
        <p:nvSpPr>
          <p:cNvPr id="4" name="Story prompt"/>
          <p:cNvSpPr txBox="1"/>
          <p:nvPr/>
        </p:nvSpPr>
        <p:spPr>
          <a:xfrm>
            <a:off x="914400" y="1371600"/>
            <a:ext cx="10332720" cy="2377440"/>
          </a:xfrm>
          <a:prstGeom prst="rect">
            <a:avLst/>
          </a:prstGeom>
          <a:noFill/>
          <a:ln/>
        </p:spPr>
        <p:txBody>
          <a:bodyPr wrap="square" lIns="0" tIns="0" rIns="0" bIns="0" rtlCol="0" anchor="ctr"/>
          <a:lstStyle/>
          <a:p>
            <a:pPr indent="0" marL="0">
              <a:buNone/>
            </a:pPr>
            <a:r>
              <a:rPr lang="en-US" sz="2800" b="1" i="1" dirty="0">
                <a:solidFill>
                  <a:srgbClr val="003668"/>
                </a:solidFill>
              </a:rPr>
              <a:t>A good man, lost because nobody noticed.</a:t>
            </a:r>
            <a:endParaRPr lang="en-US" sz="2800" dirty="0"/>
          </a:p>
        </p:txBody>
      </p:sp>
      <p:sp>
        <p:nvSpPr>
          <p:cNvPr id="5" name="Card The Hertfordshire answer"/>
          <p:cNvSpPr/>
          <p:nvPr/>
        </p:nvSpPr>
        <p:spPr>
          <a:xfrm>
            <a:off x="548640" y="3977640"/>
            <a:ext cx="5440680" cy="1874520"/>
          </a:xfrm>
          <a:prstGeom prst="roundRect">
            <a:avLst>
              <a:gd name="adj" fmla="val 3902"/>
            </a:avLst>
          </a:prstGeom>
          <a:solidFill>
            <a:srgbClr val="E6F2F2"/>
          </a:solidFill>
          <a:ln w="12700">
            <a:solidFill>
              <a:srgbClr val="E6F2F2"/>
            </a:solidFill>
            <a:prstDash val="solid"/>
          </a:ln>
        </p:spPr>
      </p:sp>
      <p:pic>
        <p:nvPicPr>
          <p:cNvPr id="6" name="Image 0" descr="preencoded.png">    </p:cNvPr>
          <p:cNvPicPr>
            <a:picLocks noChangeAspect="1"/>
          </p:cNvPicPr>
          <p:nvPr/>
        </p:nvPicPr>
        <p:blipFill>
          <a:blip r:embed="rId1"/>
          <a:stretch>
            <a:fillRect/>
          </a:stretch>
        </p:blipFill>
        <p:spPr>
          <a:xfrm>
            <a:off x="749808" y="4160520"/>
            <a:ext cx="384048" cy="384048"/>
          </a:xfrm>
          <a:prstGeom prst="rect">
            <a:avLst/>
          </a:prstGeom>
        </p:spPr>
      </p:pic>
      <p:sp>
        <p:nvSpPr>
          <p:cNvPr id="7" name="Text 4"/>
          <p:cNvSpPr txBox="1"/>
          <p:nvPr/>
        </p:nvSpPr>
        <p:spPr>
          <a:xfrm>
            <a:off x="1261872" y="4142232"/>
            <a:ext cx="4526280" cy="411480"/>
          </a:xfrm>
          <a:prstGeom prst="rect">
            <a:avLst/>
          </a:prstGeom>
          <a:noFill/>
          <a:ln/>
        </p:spPr>
        <p:txBody>
          <a:bodyPr wrap="square" lIns="0" tIns="0" rIns="0" bIns="0" rtlCol="0" anchor="ctr"/>
          <a:lstStyle/>
          <a:p>
            <a:pPr indent="0" marL="0">
              <a:buNone/>
            </a:pPr>
            <a:r>
              <a:rPr lang="en-US" sz="1600" b="1" dirty="0">
                <a:solidFill>
                  <a:srgbClr val="003668"/>
                </a:solidFill>
              </a:rPr>
              <a:t>The Hertfordshire answer</a:t>
            </a:r>
            <a:endParaRPr lang="en-US" sz="1600" dirty="0"/>
          </a:p>
        </p:txBody>
      </p:sp>
      <p:sp>
        <p:nvSpPr>
          <p:cNvPr id="8" name="Text 5"/>
          <p:cNvSpPr txBox="1"/>
          <p:nvPr/>
        </p:nvSpPr>
        <p:spPr>
          <a:xfrm>
            <a:off x="777240" y="4599432"/>
            <a:ext cx="4983480" cy="1143000"/>
          </a:xfrm>
          <a:prstGeom prst="rect">
            <a:avLst/>
          </a:prstGeom>
          <a:noFill/>
          <a:ln/>
        </p:spPr>
        <p:txBody>
          <a:bodyPr wrap="square" lIns="0" tIns="0" rIns="0" bIns="0" rtlCol="0" anchor="t"/>
          <a:lstStyle/>
          <a:p>
            <a:pPr indent="0" marL="0">
              <a:buNone/>
            </a:pPr>
            <a:r>
              <a:rPr lang="en-US" sz="1500" dirty="0">
                <a:solidFill>
                  <a:srgbClr val="1E2329"/>
                </a:solidFill>
              </a:rPr>
              <a:t>Freemasonry must be fun. A man who is enjoying himself attends; a man who attends participates; a man who participates belongs; and a man who belongs does not resign.</a:t>
            </a:r>
            <a:endParaRPr lang="en-US" sz="1500" dirty="0"/>
          </a:p>
        </p:txBody>
      </p:sp>
      <p:sp>
        <p:nvSpPr>
          <p:cNvPr id="9" name="Card Retention is an outcome"/>
          <p:cNvSpPr/>
          <p:nvPr/>
        </p:nvSpPr>
        <p:spPr>
          <a:xfrm>
            <a:off x="6172200" y="3977640"/>
            <a:ext cx="5440680" cy="1874520"/>
          </a:xfrm>
          <a:prstGeom prst="roundRect">
            <a:avLst>
              <a:gd name="adj" fmla="val 3902"/>
            </a:avLst>
          </a:prstGeom>
          <a:solidFill>
            <a:srgbClr val="F2F7FC"/>
          </a:solidFill>
          <a:ln w="12700">
            <a:solidFill>
              <a:srgbClr val="F2F7FC"/>
            </a:solidFill>
            <a:prstDash val="solid"/>
          </a:ln>
        </p:spPr>
      </p:sp>
      <p:pic>
        <p:nvPicPr>
          <p:cNvPr id="10" name="Image 1" descr="preencoded.png">    </p:cNvPr>
          <p:cNvPicPr>
            <a:picLocks noChangeAspect="1"/>
          </p:cNvPicPr>
          <p:nvPr/>
        </p:nvPicPr>
        <p:blipFill>
          <a:blip r:embed="rId2"/>
          <a:stretch>
            <a:fillRect/>
          </a:stretch>
        </p:blipFill>
        <p:spPr>
          <a:xfrm>
            <a:off x="6373368" y="4160520"/>
            <a:ext cx="384048" cy="384048"/>
          </a:xfrm>
          <a:prstGeom prst="rect">
            <a:avLst/>
          </a:prstGeom>
        </p:spPr>
      </p:pic>
      <p:sp>
        <p:nvSpPr>
          <p:cNvPr id="11" name="Text 7"/>
          <p:cNvSpPr txBox="1"/>
          <p:nvPr/>
        </p:nvSpPr>
        <p:spPr>
          <a:xfrm>
            <a:off x="6885432" y="4142232"/>
            <a:ext cx="4526280" cy="411480"/>
          </a:xfrm>
          <a:prstGeom prst="rect">
            <a:avLst/>
          </a:prstGeom>
          <a:noFill/>
          <a:ln/>
        </p:spPr>
        <p:txBody>
          <a:bodyPr wrap="square" lIns="0" tIns="0" rIns="0" bIns="0" rtlCol="0" anchor="ctr"/>
          <a:lstStyle/>
          <a:p>
            <a:pPr indent="0" marL="0">
              <a:buNone/>
            </a:pPr>
            <a:r>
              <a:rPr lang="en-US" sz="1600" b="1" dirty="0">
                <a:solidFill>
                  <a:srgbClr val="003668"/>
                </a:solidFill>
              </a:rPr>
              <a:t>Retention is an outcome</a:t>
            </a:r>
            <a:endParaRPr lang="en-US" sz="1600" dirty="0"/>
          </a:p>
        </p:txBody>
      </p:sp>
      <p:sp>
        <p:nvSpPr>
          <p:cNvPr id="12" name="Text 8"/>
          <p:cNvSpPr txBox="1"/>
          <p:nvPr/>
        </p:nvSpPr>
        <p:spPr>
          <a:xfrm>
            <a:off x="6400800" y="4599432"/>
            <a:ext cx="4983480" cy="1143000"/>
          </a:xfrm>
          <a:prstGeom prst="rect">
            <a:avLst/>
          </a:prstGeom>
          <a:noFill/>
          <a:ln/>
        </p:spPr>
        <p:txBody>
          <a:bodyPr wrap="square" lIns="0" tIns="0" rIns="0" bIns="0" rtlCol="0" anchor="t"/>
          <a:lstStyle/>
          <a:p>
            <a:pPr indent="0" marL="0">
              <a:buNone/>
            </a:pPr>
            <a:r>
              <a:rPr lang="en-US" sz="1500" dirty="0">
                <a:solidFill>
                  <a:srgbClr val="1E2329"/>
                </a:solidFill>
              </a:rPr>
              <a:t>Of culture, never a target. Where someone finally asks why, one resignation in three is recovered. Where nobody asks, none are.</a:t>
            </a:r>
            <a:endParaRPr lang="en-US" sz="15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6345D"/>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indent="0" marL="0">
              <a:buNone/>
            </a:pPr>
            <a:r>
              <a:rPr lang="en-US" sz="3200" b="1" dirty="0">
                <a:solidFill>
                  <a:srgbClr val="003668"/>
                </a:solidFill>
              </a:rPr>
              <a:t>Organiser, not everything</a:t>
            </a:r>
            <a:endParaRPr lang="en-US" sz="3200" dirty="0"/>
          </a:p>
        </p:txBody>
      </p:sp>
      <p:sp>
        <p:nvSpPr>
          <p:cNvPr id="3" name="Card The Lodge Mentor"/>
          <p:cNvSpPr/>
          <p:nvPr/>
        </p:nvSpPr>
        <p:spPr>
          <a:xfrm>
            <a:off x="548640" y="1371600"/>
            <a:ext cx="5440680" cy="4480560"/>
          </a:xfrm>
          <a:prstGeom prst="roundRect">
            <a:avLst>
              <a:gd name="adj" fmla="val 1633"/>
            </a:avLst>
          </a:prstGeom>
          <a:solidFill>
            <a:srgbClr val="F2F7FC"/>
          </a:solidFill>
          <a:ln w="12700">
            <a:solidFill>
              <a:srgbClr val="F2F7FC"/>
            </a:solidFill>
            <a:prstDash val="solid"/>
          </a:ln>
        </p:spPr>
      </p:sp>
      <p:pic>
        <p:nvPicPr>
          <p:cNvPr id="4" name="Image 0" descr="preencoded.png">    </p:cNvPr>
          <p:cNvPicPr>
            <a:picLocks noChangeAspect="1"/>
          </p:cNvPicPr>
          <p:nvPr/>
        </p:nvPicPr>
        <p:blipFill>
          <a:blip r:embed="rId1"/>
          <a:stretch>
            <a:fillRect/>
          </a:stretch>
        </p:blipFill>
        <p:spPr>
          <a:xfrm>
            <a:off x="749808" y="1554480"/>
            <a:ext cx="384048" cy="384048"/>
          </a:xfrm>
          <a:prstGeom prst="rect">
            <a:avLst/>
          </a:prstGeom>
        </p:spPr>
      </p:pic>
      <p:sp>
        <p:nvSpPr>
          <p:cNvPr id="5" name="Text 2"/>
          <p:cNvSpPr txBox="1"/>
          <p:nvPr/>
        </p:nvSpPr>
        <p:spPr>
          <a:xfrm>
            <a:off x="1261872" y="1536192"/>
            <a:ext cx="4526280" cy="411480"/>
          </a:xfrm>
          <a:prstGeom prst="rect">
            <a:avLst/>
          </a:prstGeom>
          <a:noFill/>
          <a:ln/>
        </p:spPr>
        <p:txBody>
          <a:bodyPr wrap="square" lIns="0" tIns="0" rIns="0" bIns="0" rtlCol="0" anchor="ctr"/>
          <a:lstStyle/>
          <a:p>
            <a:pPr indent="0" marL="0">
              <a:buNone/>
            </a:pPr>
            <a:r>
              <a:rPr lang="en-US" sz="1600" b="1" dirty="0">
                <a:solidFill>
                  <a:srgbClr val="003668"/>
                </a:solidFill>
              </a:rPr>
              <a:t>The Lodge Mentor</a:t>
            </a:r>
            <a:endParaRPr lang="en-US" sz="1600" dirty="0"/>
          </a:p>
        </p:txBody>
      </p:sp>
      <p:sp>
        <p:nvSpPr>
          <p:cNvPr id="6" name="Text 3"/>
          <p:cNvSpPr txBox="1"/>
          <p:nvPr/>
        </p:nvSpPr>
        <p:spPr>
          <a:xfrm>
            <a:off x="777240" y="1993392"/>
            <a:ext cx="4983480" cy="3749040"/>
          </a:xfrm>
          <a:prstGeom prst="rect">
            <a:avLst/>
          </a:prstGeom>
          <a:noFill/>
          <a:ln/>
        </p:spPr>
        <p:txBody>
          <a:bodyPr wrap="square" lIns="0" tIns="0" rIns="0" bIns="0" rtlCol="0" anchor="t"/>
          <a:lstStyle/>
          <a:p>
            <a:pPr marL="203200" indent="-203200">
              <a:spcAft>
                <a:spcPts val="400"/>
              </a:spcAft>
              <a:buSzPct val="100000"/>
              <a:buChar char="■"/>
            </a:pPr>
            <a:r>
              <a:rPr lang="en-US" sz="1450" dirty="0">
                <a:solidFill>
                  <a:srgbClr val="1E2329"/>
                </a:solidFill>
              </a:rPr>
              <a:t>Makes sure mentoring happens; does not do it all himself</a:t>
            </a:r>
            <a:endParaRPr lang="en-US" sz="1450" dirty="0"/>
          </a:p>
          <a:p>
            <a:pPr marL="203200" indent="-203200">
              <a:spcAft>
                <a:spcPts val="400"/>
              </a:spcAft>
              <a:buSzPct val="100000"/>
              <a:buChar char="■"/>
            </a:pPr>
            <a:r>
              <a:rPr lang="en-US" sz="1450" dirty="0">
                <a:solidFill>
                  <a:srgbClr val="1E2329"/>
                </a:solidFill>
              </a:rPr>
              <a:t>Assigns a Personal Mentor to every new and joining member, promptly</a:t>
            </a:r>
            <a:endParaRPr lang="en-US" sz="1450" dirty="0"/>
          </a:p>
          <a:p>
            <a:pPr marL="203200" indent="-203200">
              <a:spcAft>
                <a:spcPts val="400"/>
              </a:spcAft>
              <a:buSzPct val="100000"/>
              <a:buChar char="■"/>
            </a:pPr>
            <a:r>
              <a:rPr lang="en-US" sz="1450" dirty="0">
                <a:solidFill>
                  <a:srgbClr val="1E2329"/>
                </a:solidFill>
              </a:rPr>
              <a:t>Supports his Personal Mentors and equips them</a:t>
            </a:r>
            <a:endParaRPr lang="en-US" sz="1450" dirty="0"/>
          </a:p>
          <a:p>
            <a:pPr marL="203200" indent="-203200">
              <a:spcAft>
                <a:spcPts val="400"/>
              </a:spcAft>
              <a:buSzPct val="100000"/>
              <a:buChar char="■"/>
            </a:pPr>
            <a:r>
              <a:rPr lang="en-US" sz="1450" dirty="0">
                <a:solidFill>
                  <a:srgbClr val="1E2329"/>
                </a:solidFill>
              </a:rPr>
              <a:t>Opens and reviews a Personal Mentoring Plan for each member</a:t>
            </a:r>
            <a:endParaRPr lang="en-US" sz="1450" dirty="0"/>
          </a:p>
          <a:p>
            <a:pPr marL="203200" indent="-203200">
              <a:spcAft>
                <a:spcPts val="400"/>
              </a:spcAft>
              <a:buSzPct val="100000"/>
              <a:buChar char="■"/>
            </a:pPr>
            <a:r>
              <a:rPr lang="en-US" sz="1450" dirty="0">
                <a:solidFill>
                  <a:srgbClr val="1E2329"/>
                </a:solidFill>
              </a:rPr>
              <a:t>Watches for patterns and acts early</a:t>
            </a:r>
            <a:endParaRPr lang="en-US" sz="1450" dirty="0"/>
          </a:p>
          <a:p>
            <a:pPr marL="203200" indent="-203200">
              <a:spcAft>
                <a:spcPts val="400"/>
              </a:spcAft>
              <a:buSzPct val="100000"/>
              <a:buChar char="■"/>
            </a:pPr>
            <a:r>
              <a:rPr lang="en-US" sz="1450" dirty="0">
                <a:solidFill>
                  <a:srgbClr val="1E2329"/>
                </a:solidFill>
              </a:rPr>
              <a:t>The Lodge’s link to the Province; briefs the Lodge once a year</a:t>
            </a:r>
            <a:endParaRPr lang="en-US" sz="1450" dirty="0"/>
          </a:p>
          <a:p>
            <a:pPr marL="203200" indent="-203200">
              <a:spcAft>
                <a:spcPts val="400"/>
              </a:spcAft>
              <a:buSzPct val="100000"/>
              <a:buChar char="■"/>
            </a:pPr>
            <a:r>
              <a:rPr lang="en-US" sz="1450" dirty="0">
                <a:solidFill>
                  <a:srgbClr val="1E2329"/>
                </a:solidFill>
              </a:rPr>
              <a:t>Three to five years; develops his successor from day one</a:t>
            </a:r>
            <a:endParaRPr lang="en-US" sz="1450" dirty="0"/>
          </a:p>
        </p:txBody>
      </p:sp>
      <p:sp>
        <p:nvSpPr>
          <p:cNvPr id="7" name="Card Not the Lodge Mentor"/>
          <p:cNvSpPr/>
          <p:nvPr/>
        </p:nvSpPr>
        <p:spPr>
          <a:xfrm>
            <a:off x="6172200" y="1371600"/>
            <a:ext cx="5440680" cy="4480560"/>
          </a:xfrm>
          <a:prstGeom prst="roundRect">
            <a:avLst>
              <a:gd name="adj" fmla="val 1633"/>
            </a:avLst>
          </a:prstGeom>
          <a:solidFill>
            <a:srgbClr val="F2F7FC"/>
          </a:solidFill>
          <a:ln w="12700">
            <a:solidFill>
              <a:srgbClr val="F2F7FC"/>
            </a:solidFill>
            <a:prstDash val="solid"/>
          </a:ln>
        </p:spPr>
      </p:sp>
      <p:pic>
        <p:nvPicPr>
          <p:cNvPr id="8" name="Image 1" descr="preencoded.png">    </p:cNvPr>
          <p:cNvPicPr>
            <a:picLocks noChangeAspect="1"/>
          </p:cNvPicPr>
          <p:nvPr/>
        </p:nvPicPr>
        <p:blipFill>
          <a:blip r:embed="rId2"/>
          <a:stretch>
            <a:fillRect/>
          </a:stretch>
        </p:blipFill>
        <p:spPr>
          <a:xfrm>
            <a:off x="6373368" y="1554480"/>
            <a:ext cx="384048" cy="384048"/>
          </a:xfrm>
          <a:prstGeom prst="rect">
            <a:avLst/>
          </a:prstGeom>
        </p:spPr>
      </p:pic>
      <p:sp>
        <p:nvSpPr>
          <p:cNvPr id="9" name="Text 5"/>
          <p:cNvSpPr txBox="1"/>
          <p:nvPr/>
        </p:nvSpPr>
        <p:spPr>
          <a:xfrm>
            <a:off x="6885432" y="1536192"/>
            <a:ext cx="4526280" cy="411480"/>
          </a:xfrm>
          <a:prstGeom prst="rect">
            <a:avLst/>
          </a:prstGeom>
          <a:noFill/>
          <a:ln/>
        </p:spPr>
        <p:txBody>
          <a:bodyPr wrap="square" lIns="0" tIns="0" rIns="0" bIns="0" rtlCol="0" anchor="ctr"/>
          <a:lstStyle/>
          <a:p>
            <a:pPr indent="0" marL="0">
              <a:buNone/>
            </a:pPr>
            <a:r>
              <a:rPr lang="en-US" sz="1600" b="1" dirty="0">
                <a:solidFill>
                  <a:srgbClr val="0A4F72"/>
                </a:solidFill>
              </a:rPr>
              <a:t>Not the Lodge Mentor</a:t>
            </a:r>
            <a:endParaRPr lang="en-US" sz="1600" dirty="0"/>
          </a:p>
        </p:txBody>
      </p:sp>
      <p:sp>
        <p:nvSpPr>
          <p:cNvPr id="10" name="Text 6"/>
          <p:cNvSpPr txBox="1"/>
          <p:nvPr/>
        </p:nvSpPr>
        <p:spPr>
          <a:xfrm>
            <a:off x="6400800" y="1993392"/>
            <a:ext cx="4983480" cy="3749040"/>
          </a:xfrm>
          <a:prstGeom prst="rect">
            <a:avLst/>
          </a:prstGeom>
          <a:noFill/>
          <a:ln/>
        </p:spPr>
        <p:txBody>
          <a:bodyPr wrap="square" lIns="0" tIns="0" rIns="0" bIns="0" rtlCol="0" anchor="t"/>
          <a:lstStyle/>
          <a:p>
            <a:pPr marL="203200" indent="-203200">
              <a:spcAft>
                <a:spcPts val="400"/>
              </a:spcAft>
              <a:buSzPct val="100000"/>
              <a:buChar char="■"/>
            </a:pPr>
            <a:r>
              <a:rPr lang="en-US" sz="1450" dirty="0">
                <a:solidFill>
                  <a:srgbClr val="1E2329"/>
                </a:solidFill>
              </a:rPr>
              <a:t>Personal Mentor to everyone. Share the work</a:t>
            </a:r>
            <a:endParaRPr lang="en-US" sz="1450" dirty="0"/>
          </a:p>
          <a:p>
            <a:pPr marL="203200" indent="-203200">
              <a:spcAft>
                <a:spcPts val="400"/>
              </a:spcAft>
              <a:buSzPct val="100000"/>
              <a:buChar char="■"/>
            </a:pPr>
            <a:r>
              <a:rPr lang="en-US" sz="1450" dirty="0">
                <a:solidFill>
                  <a:srgbClr val="1E2329"/>
                </a:solidFill>
              </a:rPr>
              <a:t>The ritual coach. That is the Lodge of Instruction and the DC</a:t>
            </a:r>
            <a:endParaRPr lang="en-US" sz="1450" dirty="0"/>
          </a:p>
          <a:p>
            <a:pPr marL="203200" indent="-203200">
              <a:spcAft>
                <a:spcPts val="400"/>
              </a:spcAft>
              <a:buSzPct val="100000"/>
              <a:buChar char="■"/>
            </a:pPr>
            <a:r>
              <a:rPr lang="en-US" sz="1450" dirty="0">
                <a:solidFill>
                  <a:srgbClr val="1E2329"/>
                </a:solidFill>
              </a:rPr>
              <a:t>The Almoner. Welfare is his; you refer to him</a:t>
            </a:r>
            <a:endParaRPr lang="en-US" sz="1450" dirty="0"/>
          </a:p>
          <a:p>
            <a:pPr marL="203200" indent="-203200">
              <a:spcAft>
                <a:spcPts val="400"/>
              </a:spcAft>
              <a:buSzPct val="100000"/>
              <a:buChar char="■"/>
            </a:pPr>
            <a:r>
              <a:rPr lang="en-US" sz="1450" dirty="0">
                <a:solidFill>
                  <a:srgbClr val="1E2329"/>
                </a:solidFill>
              </a:rPr>
              <a:t>An inspector or a report-writer on members</a:t>
            </a:r>
            <a:endParaRPr lang="en-US" sz="1450" dirty="0"/>
          </a:p>
          <a:p>
            <a:pPr marL="203200" indent="-203200">
              <a:spcAft>
                <a:spcPts val="400"/>
              </a:spcAft>
              <a:buSzPct val="100000"/>
              <a:buChar char="■"/>
            </a:pPr>
            <a:r>
              <a:rPr lang="en-US" sz="1450" dirty="0">
                <a:solidFill>
                  <a:srgbClr val="1E2329"/>
                </a:solidFill>
              </a:rPr>
              <a:t>A one-year office</a:t>
            </a:r>
            <a:endParaRPr lang="en-US" sz="145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6345D"/>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indent="0" marL="0">
              <a:buNone/>
            </a:pPr>
            <a:r>
              <a:rPr lang="en-US" sz="3200" b="1" dirty="0">
                <a:solidFill>
                  <a:srgbClr val="003668"/>
                </a:solidFill>
              </a:rPr>
              <a:t>Choosing a Personal Mentor</a:t>
            </a:r>
            <a:endParaRPr lang="en-US" sz="3200" dirty="0"/>
          </a:p>
        </p:txBody>
      </p:sp>
      <p:sp>
        <p:nvSpPr>
          <p:cNvPr id="3" name="Card Choose for"/>
          <p:cNvSpPr/>
          <p:nvPr/>
        </p:nvSpPr>
        <p:spPr>
          <a:xfrm>
            <a:off x="548640" y="1371600"/>
            <a:ext cx="3566160" cy="4480560"/>
          </a:xfrm>
          <a:prstGeom prst="roundRect">
            <a:avLst>
              <a:gd name="adj" fmla="val 2051"/>
            </a:avLst>
          </a:prstGeom>
          <a:solidFill>
            <a:srgbClr val="F2F7FC"/>
          </a:solidFill>
          <a:ln w="12700">
            <a:solidFill>
              <a:srgbClr val="F2F7FC"/>
            </a:solidFill>
            <a:prstDash val="solid"/>
          </a:ln>
        </p:spPr>
      </p:sp>
      <p:pic>
        <p:nvPicPr>
          <p:cNvPr id="4" name="Image 0" descr="preencoded.png">    </p:cNvPr>
          <p:cNvPicPr>
            <a:picLocks noChangeAspect="1"/>
          </p:cNvPicPr>
          <p:nvPr/>
        </p:nvPicPr>
        <p:blipFill>
          <a:blip r:embed="rId1"/>
          <a:stretch>
            <a:fillRect/>
          </a:stretch>
        </p:blipFill>
        <p:spPr>
          <a:xfrm>
            <a:off x="749808" y="1554480"/>
            <a:ext cx="384048" cy="384048"/>
          </a:xfrm>
          <a:prstGeom prst="rect">
            <a:avLst/>
          </a:prstGeom>
        </p:spPr>
      </p:pic>
      <p:sp>
        <p:nvSpPr>
          <p:cNvPr id="5" name="Text 2"/>
          <p:cNvSpPr txBox="1"/>
          <p:nvPr/>
        </p:nvSpPr>
        <p:spPr>
          <a:xfrm>
            <a:off x="1261872" y="1536192"/>
            <a:ext cx="2651760" cy="411480"/>
          </a:xfrm>
          <a:prstGeom prst="rect">
            <a:avLst/>
          </a:prstGeom>
          <a:noFill/>
          <a:ln/>
        </p:spPr>
        <p:txBody>
          <a:bodyPr wrap="square" lIns="0" tIns="0" rIns="0" bIns="0" rtlCol="0" anchor="ctr"/>
          <a:lstStyle/>
          <a:p>
            <a:pPr indent="0" marL="0">
              <a:buNone/>
            </a:pPr>
            <a:r>
              <a:rPr lang="en-US" sz="1600" b="1" dirty="0">
                <a:solidFill>
                  <a:srgbClr val="003668"/>
                </a:solidFill>
              </a:rPr>
              <a:t>Choose for</a:t>
            </a:r>
            <a:endParaRPr lang="en-US" sz="1600" dirty="0"/>
          </a:p>
        </p:txBody>
      </p:sp>
      <p:sp>
        <p:nvSpPr>
          <p:cNvPr id="6" name="Text 3"/>
          <p:cNvSpPr txBox="1"/>
          <p:nvPr/>
        </p:nvSpPr>
        <p:spPr>
          <a:xfrm>
            <a:off x="777240" y="1993392"/>
            <a:ext cx="3108960" cy="3749040"/>
          </a:xfrm>
          <a:prstGeom prst="rect">
            <a:avLst/>
          </a:prstGeom>
          <a:noFill/>
          <a:ln/>
        </p:spPr>
        <p:txBody>
          <a:bodyPr wrap="square" lIns="0" tIns="0" rIns="0" bIns="0" rtlCol="0" anchor="t"/>
          <a:lstStyle/>
          <a:p>
            <a:pPr marL="203200" indent="-203200">
              <a:spcAft>
                <a:spcPts val="400"/>
              </a:spcAft>
              <a:buSzPct val="100000"/>
              <a:buChar char="■"/>
            </a:pPr>
            <a:r>
              <a:rPr lang="en-US" sz="1500" dirty="0">
                <a:solidFill>
                  <a:srgbClr val="1E2329"/>
                </a:solidFill>
              </a:rPr>
              <a:t>Time</a:t>
            </a:r>
            <a:endParaRPr lang="en-US" sz="1500" dirty="0"/>
          </a:p>
          <a:p>
            <a:pPr marL="203200" indent="-203200">
              <a:spcAft>
                <a:spcPts val="400"/>
              </a:spcAft>
              <a:buSzPct val="100000"/>
              <a:buChar char="■"/>
            </a:pPr>
            <a:r>
              <a:rPr lang="en-US" sz="1500" dirty="0">
                <a:solidFill>
                  <a:srgbClr val="1E2329"/>
                </a:solidFill>
              </a:rPr>
              <a:t>Temperament: a patient listener</a:t>
            </a:r>
            <a:endParaRPr lang="en-US" sz="1500" dirty="0"/>
          </a:p>
          <a:p>
            <a:pPr marL="203200" indent="-203200">
              <a:spcAft>
                <a:spcPts val="400"/>
              </a:spcAft>
              <a:buSzPct val="100000"/>
              <a:buChar char="■"/>
            </a:pPr>
            <a:r>
              <a:rPr lang="en-US" sz="1500" dirty="0">
                <a:solidFill>
                  <a:srgbClr val="1E2329"/>
                </a:solidFill>
              </a:rPr>
              <a:t>The potential for friendship</a:t>
            </a:r>
            <a:endParaRPr lang="en-US" sz="1500" dirty="0"/>
          </a:p>
          <a:p>
            <a:pPr marL="203200" indent="-203200">
              <a:spcAft>
                <a:spcPts val="400"/>
              </a:spcAft>
              <a:buSzPct val="100000"/>
              <a:buChar char="■"/>
            </a:pPr>
            <a:r>
              <a:rPr lang="en-US" sz="1500" dirty="0">
                <a:solidFill>
                  <a:srgbClr val="1E2329"/>
                </a:solidFill>
              </a:rPr>
              <a:t>Knows the Lodge well</a:t>
            </a:r>
            <a:endParaRPr lang="en-US" sz="1500" dirty="0"/>
          </a:p>
          <a:p>
            <a:pPr marL="203200" indent="-203200">
              <a:spcAft>
                <a:spcPts val="400"/>
              </a:spcAft>
              <a:buSzPct val="100000"/>
              <a:buChar char="■"/>
            </a:pPr>
            <a:r>
              <a:rPr lang="en-US" sz="1500" dirty="0">
                <a:solidFill>
                  <a:srgbClr val="1E2329"/>
                </a:solidFill>
              </a:rPr>
              <a:t>Can say “I don’t know, but I’ll find out”</a:t>
            </a:r>
            <a:endParaRPr lang="en-US" sz="1500" dirty="0"/>
          </a:p>
        </p:txBody>
      </p:sp>
      <p:sp>
        <p:nvSpPr>
          <p:cNvPr id="7" name="Card Not for"/>
          <p:cNvSpPr/>
          <p:nvPr/>
        </p:nvSpPr>
        <p:spPr>
          <a:xfrm>
            <a:off x="4297680" y="1371600"/>
            <a:ext cx="3566160" cy="4480560"/>
          </a:xfrm>
          <a:prstGeom prst="roundRect">
            <a:avLst>
              <a:gd name="adj" fmla="val 2051"/>
            </a:avLst>
          </a:prstGeom>
          <a:solidFill>
            <a:srgbClr val="F2F7FC"/>
          </a:solidFill>
          <a:ln w="12700">
            <a:solidFill>
              <a:srgbClr val="F2F7FC"/>
            </a:solidFill>
            <a:prstDash val="solid"/>
          </a:ln>
        </p:spPr>
      </p:sp>
      <p:pic>
        <p:nvPicPr>
          <p:cNvPr id="8" name="Image 1" descr="preencoded.png">    </p:cNvPr>
          <p:cNvPicPr>
            <a:picLocks noChangeAspect="1"/>
          </p:cNvPicPr>
          <p:nvPr/>
        </p:nvPicPr>
        <p:blipFill>
          <a:blip r:embed="rId2"/>
          <a:stretch>
            <a:fillRect/>
          </a:stretch>
        </p:blipFill>
        <p:spPr>
          <a:xfrm>
            <a:off x="4498848" y="1554480"/>
            <a:ext cx="384048" cy="384048"/>
          </a:xfrm>
          <a:prstGeom prst="rect">
            <a:avLst/>
          </a:prstGeom>
        </p:spPr>
      </p:pic>
      <p:sp>
        <p:nvSpPr>
          <p:cNvPr id="9" name="Text 5"/>
          <p:cNvSpPr txBox="1"/>
          <p:nvPr/>
        </p:nvSpPr>
        <p:spPr>
          <a:xfrm>
            <a:off x="5010912" y="1536192"/>
            <a:ext cx="2651760" cy="411480"/>
          </a:xfrm>
          <a:prstGeom prst="rect">
            <a:avLst/>
          </a:prstGeom>
          <a:noFill/>
          <a:ln/>
        </p:spPr>
        <p:txBody>
          <a:bodyPr wrap="square" lIns="0" tIns="0" rIns="0" bIns="0" rtlCol="0" anchor="ctr"/>
          <a:lstStyle/>
          <a:p>
            <a:pPr indent="0" marL="0">
              <a:buNone/>
            </a:pPr>
            <a:r>
              <a:rPr lang="en-US" sz="1600" b="1" dirty="0">
                <a:solidFill>
                  <a:srgbClr val="0A4F72"/>
                </a:solidFill>
              </a:rPr>
              <a:t>Not for</a:t>
            </a:r>
            <a:endParaRPr lang="en-US" sz="1600" dirty="0"/>
          </a:p>
        </p:txBody>
      </p:sp>
      <p:sp>
        <p:nvSpPr>
          <p:cNvPr id="10" name="Text 6"/>
          <p:cNvSpPr txBox="1"/>
          <p:nvPr/>
        </p:nvSpPr>
        <p:spPr>
          <a:xfrm>
            <a:off x="4526280" y="1993392"/>
            <a:ext cx="3108960" cy="3749040"/>
          </a:xfrm>
          <a:prstGeom prst="rect">
            <a:avLst/>
          </a:prstGeom>
          <a:noFill/>
          <a:ln/>
        </p:spPr>
        <p:txBody>
          <a:bodyPr wrap="square" lIns="0" tIns="0" rIns="0" bIns="0" rtlCol="0" anchor="t"/>
          <a:lstStyle/>
          <a:p>
            <a:pPr marL="203200" indent="-203200">
              <a:spcAft>
                <a:spcPts val="400"/>
              </a:spcAft>
              <a:buSzPct val="100000"/>
              <a:buChar char="■"/>
            </a:pPr>
            <a:r>
              <a:rPr lang="en-US" sz="1500" dirty="0">
                <a:solidFill>
                  <a:srgbClr val="1E2329"/>
                </a:solidFill>
              </a:rPr>
              <a:t>Seniority</a:t>
            </a:r>
            <a:endParaRPr lang="en-US" sz="1500" dirty="0"/>
          </a:p>
          <a:p>
            <a:pPr marL="203200" indent="-203200">
              <a:spcAft>
                <a:spcPts val="400"/>
              </a:spcAft>
              <a:buSzPct val="100000"/>
              <a:buChar char="■"/>
            </a:pPr>
            <a:r>
              <a:rPr lang="en-US" sz="1500" dirty="0">
                <a:solidFill>
                  <a:srgbClr val="1E2329"/>
                </a:solidFill>
              </a:rPr>
              <a:t>Rank</a:t>
            </a:r>
            <a:endParaRPr lang="en-US" sz="1500" dirty="0"/>
          </a:p>
          <a:p>
            <a:pPr marL="203200" indent="-203200">
              <a:spcAft>
                <a:spcPts val="400"/>
              </a:spcAft>
              <a:buSzPct val="100000"/>
              <a:buChar char="■"/>
            </a:pPr>
            <a:r>
              <a:rPr lang="en-US" sz="1500" dirty="0">
                <a:solidFill>
                  <a:srgbClr val="1E2329"/>
                </a:solidFill>
              </a:rPr>
              <a:t>Being the Proposer, by default. Consider him first; trust exists. But not always</a:t>
            </a:r>
            <a:endParaRPr lang="en-US" sz="1500" dirty="0"/>
          </a:p>
          <a:p>
            <a:pPr marL="203200" indent="-203200">
              <a:spcAft>
                <a:spcPts val="400"/>
              </a:spcAft>
              <a:buSzPct val="100000"/>
              <a:buChar char="■"/>
            </a:pPr>
            <a:r>
              <a:rPr lang="en-US" sz="1500" dirty="0">
                <a:solidFill>
                  <a:srgbClr val="1E2329"/>
                </a:solidFill>
              </a:rPr>
              <a:t>Being free on the night</a:t>
            </a:r>
            <a:endParaRPr lang="en-US" sz="1500" dirty="0"/>
          </a:p>
        </p:txBody>
      </p:sp>
      <p:sp>
        <p:nvSpPr>
          <p:cNvPr id="11" name="Card Often overlooked"/>
          <p:cNvSpPr/>
          <p:nvPr/>
        </p:nvSpPr>
        <p:spPr>
          <a:xfrm>
            <a:off x="8046720" y="1371600"/>
            <a:ext cx="3566160" cy="4480560"/>
          </a:xfrm>
          <a:prstGeom prst="roundRect">
            <a:avLst>
              <a:gd name="adj" fmla="val 2051"/>
            </a:avLst>
          </a:prstGeom>
          <a:solidFill>
            <a:srgbClr val="E6F2F2"/>
          </a:solidFill>
          <a:ln w="12700">
            <a:solidFill>
              <a:srgbClr val="E6F2F2"/>
            </a:solidFill>
            <a:prstDash val="solid"/>
          </a:ln>
        </p:spPr>
      </p:sp>
      <p:pic>
        <p:nvPicPr>
          <p:cNvPr id="12" name="Image 2" descr="preencoded.png">    </p:cNvPr>
          <p:cNvPicPr>
            <a:picLocks noChangeAspect="1"/>
          </p:cNvPicPr>
          <p:nvPr/>
        </p:nvPicPr>
        <p:blipFill>
          <a:blip r:embed="rId3"/>
          <a:stretch>
            <a:fillRect/>
          </a:stretch>
        </p:blipFill>
        <p:spPr>
          <a:xfrm>
            <a:off x="8247888" y="1554480"/>
            <a:ext cx="384048" cy="384048"/>
          </a:xfrm>
          <a:prstGeom prst="rect">
            <a:avLst/>
          </a:prstGeom>
        </p:spPr>
      </p:pic>
      <p:sp>
        <p:nvSpPr>
          <p:cNvPr id="13" name="Text 8"/>
          <p:cNvSpPr txBox="1"/>
          <p:nvPr/>
        </p:nvSpPr>
        <p:spPr>
          <a:xfrm>
            <a:off x="8759952" y="1536192"/>
            <a:ext cx="2651760" cy="411480"/>
          </a:xfrm>
          <a:prstGeom prst="rect">
            <a:avLst/>
          </a:prstGeom>
          <a:noFill/>
          <a:ln/>
        </p:spPr>
        <p:txBody>
          <a:bodyPr wrap="square" lIns="0" tIns="0" rIns="0" bIns="0" rtlCol="0" anchor="ctr"/>
          <a:lstStyle/>
          <a:p>
            <a:pPr indent="0" marL="0">
              <a:buNone/>
            </a:pPr>
            <a:r>
              <a:rPr lang="en-US" sz="1600" b="1" dirty="0">
                <a:solidFill>
                  <a:srgbClr val="003668"/>
                </a:solidFill>
              </a:rPr>
              <a:t>Often overlooked</a:t>
            </a:r>
            <a:endParaRPr lang="en-US" sz="1600" dirty="0"/>
          </a:p>
        </p:txBody>
      </p:sp>
      <p:sp>
        <p:nvSpPr>
          <p:cNvPr id="14" name="Text 9"/>
          <p:cNvSpPr txBox="1"/>
          <p:nvPr/>
        </p:nvSpPr>
        <p:spPr>
          <a:xfrm>
            <a:off x="8275320" y="1993392"/>
            <a:ext cx="3108960" cy="3749040"/>
          </a:xfrm>
          <a:prstGeom prst="rect">
            <a:avLst/>
          </a:prstGeom>
          <a:noFill/>
          <a:ln/>
        </p:spPr>
        <p:txBody>
          <a:bodyPr wrap="square" lIns="0" tIns="0" rIns="0" bIns="0" rtlCol="0" anchor="t"/>
          <a:lstStyle/>
          <a:p>
            <a:pPr marL="203200" indent="-203200">
              <a:spcAft>
                <a:spcPts val="400"/>
              </a:spcAft>
              <a:buSzPct val="100000"/>
              <a:buChar char="■"/>
            </a:pPr>
            <a:r>
              <a:rPr lang="en-US" sz="1500" dirty="0">
                <a:solidFill>
                  <a:srgbClr val="1E2329"/>
                </a:solidFill>
              </a:rPr>
              <a:t>Past Masters: excellent mentors who often need the purpose</a:t>
            </a:r>
            <a:endParaRPr lang="en-US" sz="1500" dirty="0"/>
          </a:p>
          <a:p>
            <a:pPr marL="203200" indent="-203200">
              <a:spcAft>
                <a:spcPts val="400"/>
              </a:spcAft>
              <a:buSzPct val="100000"/>
              <a:buChar char="■"/>
            </a:pPr>
            <a:r>
              <a:rPr lang="en-US" sz="1500" dirty="0">
                <a:solidFill>
                  <a:srgbClr val="1E2329"/>
                </a:solidFill>
              </a:rPr>
              <a:t>Joining members with experience from elsewhere</a:t>
            </a:r>
            <a:endParaRPr lang="en-US" sz="1500" dirty="0"/>
          </a:p>
          <a:p>
            <a:pPr marL="203200" indent="-203200">
              <a:spcAft>
                <a:spcPts val="400"/>
              </a:spcAft>
              <a:buSzPct val="100000"/>
              <a:buChar char="■"/>
            </a:pPr>
            <a:r>
              <a:rPr lang="en-US" sz="1500" dirty="0">
                <a:solidFill>
                  <a:srgbClr val="1E2329"/>
                </a:solidFill>
              </a:rPr>
              <a:t>The quiet Master Mason of ten years who has never been asked</a:t>
            </a:r>
            <a:endParaRPr lang="en-US" sz="1500" dirty="0"/>
          </a:p>
          <a:p>
            <a:pPr marL="203200" indent="-203200">
              <a:spcAft>
                <a:spcPts val="400"/>
              </a:spcAft>
              <a:buSzPct val="100000"/>
              <a:buChar char="■"/>
            </a:pPr>
            <a:r>
              <a:rPr lang="en-US" sz="1500" dirty="0">
                <a:solidFill>
                  <a:srgbClr val="1E2329"/>
                </a:solidFill>
              </a:rPr>
              <a:t>Give each one the Personal Mentor’s Short Guide the day you ask</a:t>
            </a:r>
            <a:endParaRPr lang="en-US" sz="15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6345D"/>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indent="0" marL="0">
              <a:buNone/>
            </a:pPr>
            <a:r>
              <a:rPr lang="en-US" sz="3200" b="1" dirty="0">
                <a:solidFill>
                  <a:srgbClr val="003668"/>
                </a:solidFill>
              </a:rPr>
              <a:t>Exercise: who could mentor?</a:t>
            </a:r>
            <a:endParaRPr lang="en-US" sz="3200" dirty="0"/>
          </a:p>
        </p:txBody>
      </p:sp>
      <p:sp>
        <p:nvSpPr>
          <p:cNvPr id="3" name="Timer"/>
          <p:cNvSpPr/>
          <p:nvPr/>
        </p:nvSpPr>
        <p:spPr>
          <a:xfrm>
            <a:off x="9537192" y="457200"/>
            <a:ext cx="2103120" cy="548640"/>
          </a:xfrm>
          <a:prstGeom prst="roundRect">
            <a:avLst>
              <a:gd name="adj" fmla="val 13333"/>
            </a:avLst>
          </a:prstGeom>
          <a:solidFill>
            <a:srgbClr val="157A7C"/>
          </a:solidFill>
          <a:ln w="12700">
            <a:solidFill>
              <a:srgbClr val="157A7C"/>
            </a:solidFill>
            <a:prstDash val="solid"/>
          </a:ln>
        </p:spPr>
      </p:sp>
      <p:sp>
        <p:nvSpPr>
          <p:cNvPr id="4" name="Text 2"/>
          <p:cNvSpPr txBox="1"/>
          <p:nvPr/>
        </p:nvSpPr>
        <p:spPr>
          <a:xfrm>
            <a:off x="9537192" y="457200"/>
            <a:ext cx="2103120" cy="548640"/>
          </a:xfrm>
          <a:prstGeom prst="rect">
            <a:avLst/>
          </a:prstGeom>
          <a:noFill/>
          <a:ln/>
        </p:spPr>
        <p:txBody>
          <a:bodyPr wrap="square" lIns="0" tIns="0" rIns="0" bIns="0" rtlCol="0" anchor="ctr"/>
          <a:lstStyle/>
          <a:p>
            <a:pPr algn="ctr" indent="0" marL="0">
              <a:buNone/>
            </a:pPr>
            <a:r>
              <a:rPr lang="en-US" sz="1500" b="1" dirty="0">
                <a:solidFill>
                  <a:srgbClr val="FFFFFF"/>
                </a:solidFill>
              </a:rPr>
              <a:t>On your own · 3 min</a:t>
            </a:r>
            <a:endParaRPr lang="en-US" sz="1500" dirty="0"/>
          </a:p>
        </p:txBody>
      </p:sp>
      <p:sp>
        <p:nvSpPr>
          <p:cNvPr id="5" name="Exercise band"/>
          <p:cNvSpPr/>
          <p:nvPr/>
        </p:nvSpPr>
        <p:spPr>
          <a:xfrm>
            <a:off x="548640" y="1371600"/>
            <a:ext cx="11064240" cy="2011680"/>
          </a:xfrm>
          <a:prstGeom prst="roundRect">
            <a:avLst>
              <a:gd name="adj" fmla="val 3636"/>
            </a:avLst>
          </a:prstGeom>
          <a:solidFill>
            <a:srgbClr val="003668"/>
          </a:solidFill>
          <a:ln w="12700">
            <a:solidFill>
              <a:srgbClr val="003668"/>
            </a:solidFill>
            <a:prstDash val="solid"/>
          </a:ln>
        </p:spPr>
      </p:sp>
      <p:sp>
        <p:nvSpPr>
          <p:cNvPr id="6" name="Exercise text"/>
          <p:cNvSpPr txBox="1"/>
          <p:nvPr/>
        </p:nvSpPr>
        <p:spPr>
          <a:xfrm>
            <a:off x="914400" y="1371600"/>
            <a:ext cx="10332720" cy="2011680"/>
          </a:xfrm>
          <a:prstGeom prst="rect">
            <a:avLst/>
          </a:prstGeom>
          <a:noFill/>
          <a:ln/>
        </p:spPr>
        <p:txBody>
          <a:bodyPr wrap="square" lIns="0" tIns="0" rIns="0" bIns="0" rtlCol="0" anchor="ctr"/>
          <a:lstStyle/>
          <a:p>
            <a:pPr indent="0" marL="0">
              <a:buNone/>
            </a:pPr>
            <a:r>
              <a:rPr lang="en-US" sz="2600" b="1" dirty="0">
                <a:solidFill>
                  <a:srgbClr val="FFFFFF"/>
                </a:solidFill>
              </a:rPr>
              <a:t>List every member of your Lodge who could be a Personal Mentor. Everyone. Past Masters included.</a:t>
            </a:r>
            <a:endParaRPr lang="en-US" sz="2600" dirty="0"/>
          </a:p>
        </p:txBody>
      </p:sp>
      <p:sp>
        <p:nvSpPr>
          <p:cNvPr id="7" name="Card Action Plan sheet, box 1"/>
          <p:cNvSpPr/>
          <p:nvPr/>
        </p:nvSpPr>
        <p:spPr>
          <a:xfrm>
            <a:off x="548640" y="3611880"/>
            <a:ext cx="5440680" cy="2240280"/>
          </a:xfrm>
          <a:prstGeom prst="roundRect">
            <a:avLst>
              <a:gd name="adj" fmla="val 3265"/>
            </a:avLst>
          </a:prstGeom>
          <a:solidFill>
            <a:srgbClr val="F2F7FC"/>
          </a:solidFill>
          <a:ln w="12700">
            <a:solidFill>
              <a:srgbClr val="F2F7FC"/>
            </a:solidFill>
            <a:prstDash val="solid"/>
          </a:ln>
        </p:spPr>
      </p:sp>
      <p:pic>
        <p:nvPicPr>
          <p:cNvPr id="8" name="Image 0" descr="preencoded.png">    </p:cNvPr>
          <p:cNvPicPr>
            <a:picLocks noChangeAspect="1"/>
          </p:cNvPicPr>
          <p:nvPr/>
        </p:nvPicPr>
        <p:blipFill>
          <a:blip r:embed="rId1"/>
          <a:stretch>
            <a:fillRect/>
          </a:stretch>
        </p:blipFill>
        <p:spPr>
          <a:xfrm>
            <a:off x="749808" y="3794760"/>
            <a:ext cx="384048" cy="384048"/>
          </a:xfrm>
          <a:prstGeom prst="rect">
            <a:avLst/>
          </a:prstGeom>
        </p:spPr>
      </p:pic>
      <p:sp>
        <p:nvSpPr>
          <p:cNvPr id="9" name="Text 6"/>
          <p:cNvSpPr txBox="1"/>
          <p:nvPr/>
        </p:nvSpPr>
        <p:spPr>
          <a:xfrm>
            <a:off x="1261872" y="3776472"/>
            <a:ext cx="4526280" cy="411480"/>
          </a:xfrm>
          <a:prstGeom prst="rect">
            <a:avLst/>
          </a:prstGeom>
          <a:noFill/>
          <a:ln/>
        </p:spPr>
        <p:txBody>
          <a:bodyPr wrap="square" lIns="0" tIns="0" rIns="0" bIns="0" rtlCol="0" anchor="ctr"/>
          <a:lstStyle/>
          <a:p>
            <a:pPr indent="0" marL="0">
              <a:buNone/>
            </a:pPr>
            <a:r>
              <a:rPr lang="en-US" sz="1600" b="1" dirty="0">
                <a:solidFill>
                  <a:srgbClr val="003668"/>
                </a:solidFill>
              </a:rPr>
              <a:t>Action Plan sheet, box 1</a:t>
            </a:r>
            <a:endParaRPr lang="en-US" sz="1600" dirty="0"/>
          </a:p>
        </p:txBody>
      </p:sp>
      <p:sp>
        <p:nvSpPr>
          <p:cNvPr id="10" name="Text 7"/>
          <p:cNvSpPr txBox="1"/>
          <p:nvPr/>
        </p:nvSpPr>
        <p:spPr>
          <a:xfrm>
            <a:off x="777240" y="4233672"/>
            <a:ext cx="4983480" cy="1508760"/>
          </a:xfrm>
          <a:prstGeom prst="rect">
            <a:avLst/>
          </a:prstGeom>
          <a:noFill/>
          <a:ln/>
        </p:spPr>
        <p:txBody>
          <a:bodyPr wrap="square" lIns="0" tIns="0" rIns="0" bIns="0" rtlCol="0" anchor="t"/>
          <a:lstStyle/>
          <a:p>
            <a:pPr indent="0" marL="0">
              <a:buNone/>
            </a:pPr>
            <a:r>
              <a:rPr lang="en-US" sz="1500" dirty="0">
                <a:solidFill>
                  <a:srgbClr val="1E2329"/>
                </a:solidFill>
              </a:rPr>
              <a:t>Three minutes writing. Then a number from each person round the room.</a:t>
            </a:r>
            <a:endParaRPr lang="en-US" sz="1500" dirty="0"/>
          </a:p>
        </p:txBody>
      </p:sp>
      <p:sp>
        <p:nvSpPr>
          <p:cNvPr id="11" name="Card What you will find"/>
          <p:cNvSpPr/>
          <p:nvPr/>
        </p:nvSpPr>
        <p:spPr>
          <a:xfrm>
            <a:off x="6172200" y="3611880"/>
            <a:ext cx="5440680" cy="2240280"/>
          </a:xfrm>
          <a:prstGeom prst="roundRect">
            <a:avLst>
              <a:gd name="adj" fmla="val 3265"/>
            </a:avLst>
          </a:prstGeom>
          <a:solidFill>
            <a:srgbClr val="E6F2F2"/>
          </a:solidFill>
          <a:ln w="12700">
            <a:solidFill>
              <a:srgbClr val="E6F2F2"/>
            </a:solidFill>
            <a:prstDash val="solid"/>
          </a:ln>
        </p:spPr>
      </p:sp>
      <p:pic>
        <p:nvPicPr>
          <p:cNvPr id="12" name="Image 1" descr="preencoded.png">    </p:cNvPr>
          <p:cNvPicPr>
            <a:picLocks noChangeAspect="1"/>
          </p:cNvPicPr>
          <p:nvPr/>
        </p:nvPicPr>
        <p:blipFill>
          <a:blip r:embed="rId2"/>
          <a:stretch>
            <a:fillRect/>
          </a:stretch>
        </p:blipFill>
        <p:spPr>
          <a:xfrm>
            <a:off x="6373368" y="3794760"/>
            <a:ext cx="384048" cy="384048"/>
          </a:xfrm>
          <a:prstGeom prst="rect">
            <a:avLst/>
          </a:prstGeom>
        </p:spPr>
      </p:pic>
      <p:sp>
        <p:nvSpPr>
          <p:cNvPr id="13" name="Text 9"/>
          <p:cNvSpPr txBox="1"/>
          <p:nvPr/>
        </p:nvSpPr>
        <p:spPr>
          <a:xfrm>
            <a:off x="6885432" y="3776472"/>
            <a:ext cx="4526280" cy="411480"/>
          </a:xfrm>
          <a:prstGeom prst="rect">
            <a:avLst/>
          </a:prstGeom>
          <a:noFill/>
          <a:ln/>
        </p:spPr>
        <p:txBody>
          <a:bodyPr wrap="square" lIns="0" tIns="0" rIns="0" bIns="0" rtlCol="0" anchor="ctr"/>
          <a:lstStyle/>
          <a:p>
            <a:pPr indent="0" marL="0">
              <a:buNone/>
            </a:pPr>
            <a:r>
              <a:rPr lang="en-US" sz="1600" b="1" dirty="0">
                <a:solidFill>
                  <a:srgbClr val="003668"/>
                </a:solidFill>
              </a:rPr>
              <a:t>What you will find</a:t>
            </a:r>
            <a:endParaRPr lang="en-US" sz="1600" dirty="0"/>
          </a:p>
        </p:txBody>
      </p:sp>
      <p:sp>
        <p:nvSpPr>
          <p:cNvPr id="14" name="Text 10"/>
          <p:cNvSpPr txBox="1"/>
          <p:nvPr/>
        </p:nvSpPr>
        <p:spPr>
          <a:xfrm>
            <a:off x="6400800" y="4233672"/>
            <a:ext cx="4983480" cy="1508760"/>
          </a:xfrm>
          <a:prstGeom prst="rect">
            <a:avLst/>
          </a:prstGeom>
          <a:noFill/>
          <a:ln/>
        </p:spPr>
        <p:txBody>
          <a:bodyPr wrap="square" lIns="0" tIns="0" rIns="0" bIns="0" rtlCol="0" anchor="t"/>
          <a:lstStyle/>
          <a:p>
            <a:pPr indent="0" marL="0">
              <a:buNone/>
            </a:pPr>
            <a:r>
              <a:rPr lang="en-US" sz="1500" dirty="0">
                <a:solidFill>
                  <a:srgbClr val="1E2329"/>
                </a:solidFill>
              </a:rPr>
              <a:t>The list is always longer than you expected. The question is not whether your Lodge has the people; it is whether anyone has asked them.</a:t>
            </a:r>
            <a:endParaRPr lang="en-US" sz="15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6345D"/>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indent="0" marL="0">
              <a:buNone/>
            </a:pPr>
            <a:r>
              <a:rPr lang="en-US" sz="3200" b="1" dirty="0">
                <a:solidFill>
                  <a:srgbClr val="003668"/>
                </a:solidFill>
              </a:rPr>
              <a:t>The four principles</a:t>
            </a:r>
            <a:endParaRPr lang="en-US" sz="3200" dirty="0"/>
          </a:p>
        </p:txBody>
      </p:sp>
      <p:sp>
        <p:nvSpPr>
          <p:cNvPr id="3" name="Lead"/>
          <p:cNvSpPr txBox="1"/>
          <p:nvPr/>
        </p:nvSpPr>
        <p:spPr>
          <a:xfrm>
            <a:off x="548640" y="1280160"/>
            <a:ext cx="10972800" cy="731520"/>
          </a:xfrm>
          <a:prstGeom prst="rect">
            <a:avLst/>
          </a:prstGeom>
          <a:noFill/>
          <a:ln/>
        </p:spPr>
        <p:txBody>
          <a:bodyPr wrap="square" lIns="0" tIns="0" rIns="0" bIns="0" rtlCol="0" anchor="ctr"/>
          <a:lstStyle/>
          <a:p>
            <a:pPr indent="0" marL="0">
              <a:buNone/>
            </a:pPr>
            <a:r>
              <a:rPr lang="en-US" sz="1600" dirty="0">
                <a:solidFill>
                  <a:srgbClr val="1E2329"/>
                </a:solidFill>
              </a:rPr>
              <a:t>Defined once on the canon page and quoted everywhere. They run together, all the time. They are not stages.</a:t>
            </a:r>
            <a:endParaRPr lang="en-US" sz="1600" dirty="0"/>
          </a:p>
        </p:txBody>
      </p:sp>
      <p:sp>
        <p:nvSpPr>
          <p:cNvPr id="4" name="Principle Prepare"/>
          <p:cNvSpPr/>
          <p:nvPr/>
        </p:nvSpPr>
        <p:spPr>
          <a:xfrm>
            <a:off x="548640" y="2286000"/>
            <a:ext cx="2651760" cy="1005840"/>
          </a:xfrm>
          <a:prstGeom prst="rect">
            <a:avLst/>
          </a:prstGeom>
          <a:solidFill>
            <a:srgbClr val="003668"/>
          </a:solidFill>
          <a:ln w="12700">
            <a:solidFill>
              <a:srgbClr val="003668"/>
            </a:solidFill>
            <a:prstDash val="solid"/>
          </a:ln>
        </p:spPr>
      </p:sp>
      <p:sp>
        <p:nvSpPr>
          <p:cNvPr id="5" name="Text 3"/>
          <p:cNvSpPr txBox="1"/>
          <p:nvPr/>
        </p:nvSpPr>
        <p:spPr>
          <a:xfrm>
            <a:off x="777240" y="2286000"/>
            <a:ext cx="2377440" cy="1005840"/>
          </a:xfrm>
          <a:prstGeom prst="rect">
            <a:avLst/>
          </a:prstGeom>
          <a:noFill/>
          <a:ln/>
        </p:spPr>
        <p:txBody>
          <a:bodyPr wrap="square" lIns="0" tIns="0" rIns="0" bIns="0" rtlCol="0" anchor="ctr"/>
          <a:lstStyle/>
          <a:p>
            <a:pPr indent="0" marL="0">
              <a:buNone/>
            </a:pPr>
            <a:r>
              <a:rPr lang="en-US" sz="1800" b="1" dirty="0">
                <a:solidFill>
                  <a:srgbClr val="8FD3D1"/>
                </a:solidFill>
              </a:rPr>
              <a:t>1  </a:t>
            </a:r>
            <a:pPr indent="0" marL="0">
              <a:buNone/>
            </a:pPr>
            <a:r>
              <a:rPr lang="en-US" sz="2000" b="1" dirty="0">
                <a:solidFill>
                  <a:srgbClr val="FFFFFF"/>
                </a:solidFill>
              </a:rPr>
              <a:t>PREPARE</a:t>
            </a:r>
            <a:endParaRPr lang="en-US" sz="1800" dirty="0"/>
          </a:p>
        </p:txBody>
      </p:sp>
      <p:sp>
        <p:nvSpPr>
          <p:cNvPr id="6" name="Principle text Prepare"/>
          <p:cNvSpPr/>
          <p:nvPr/>
        </p:nvSpPr>
        <p:spPr>
          <a:xfrm>
            <a:off x="548640" y="3291840"/>
            <a:ext cx="2651760" cy="2103120"/>
          </a:xfrm>
          <a:prstGeom prst="rect">
            <a:avLst/>
          </a:prstGeom>
          <a:solidFill>
            <a:srgbClr val="F2F7FC"/>
          </a:solidFill>
          <a:ln w="12700">
            <a:solidFill>
              <a:srgbClr val="F2F7FC"/>
            </a:solidFill>
            <a:prstDash val="solid"/>
          </a:ln>
        </p:spPr>
      </p:sp>
      <p:sp>
        <p:nvSpPr>
          <p:cNvPr id="7" name="Text 5"/>
          <p:cNvSpPr txBox="1"/>
          <p:nvPr/>
        </p:nvSpPr>
        <p:spPr>
          <a:xfrm>
            <a:off x="777240" y="3429000"/>
            <a:ext cx="2194560" cy="1828800"/>
          </a:xfrm>
          <a:prstGeom prst="rect">
            <a:avLst/>
          </a:prstGeom>
          <a:noFill/>
          <a:ln/>
        </p:spPr>
        <p:txBody>
          <a:bodyPr wrap="square" lIns="0" tIns="0" rIns="0" bIns="0" rtlCol="0" anchor="t"/>
          <a:lstStyle/>
          <a:p>
            <a:pPr indent="0" marL="0">
              <a:buNone/>
            </a:pPr>
            <a:r>
              <a:rPr lang="en-US" sz="1350" dirty="0">
                <a:solidFill>
                  <a:srgbClr val="06345D"/>
                </a:solidFill>
              </a:rPr>
              <a:t>Ready for each stage before it happens. There should never be any surprises.</a:t>
            </a:r>
            <a:endParaRPr lang="en-US" sz="1350" dirty="0"/>
          </a:p>
        </p:txBody>
      </p:sp>
      <p:sp>
        <p:nvSpPr>
          <p:cNvPr id="8" name="Principle Guide"/>
          <p:cNvSpPr/>
          <p:nvPr/>
        </p:nvSpPr>
        <p:spPr>
          <a:xfrm>
            <a:off x="3383280" y="2286000"/>
            <a:ext cx="2651760" cy="1005840"/>
          </a:xfrm>
          <a:prstGeom prst="rect">
            <a:avLst/>
          </a:prstGeom>
          <a:solidFill>
            <a:srgbClr val="0A4F72"/>
          </a:solidFill>
          <a:ln w="12700">
            <a:solidFill>
              <a:srgbClr val="0A4F72"/>
            </a:solidFill>
            <a:prstDash val="solid"/>
          </a:ln>
        </p:spPr>
      </p:sp>
      <p:sp>
        <p:nvSpPr>
          <p:cNvPr id="9" name="Text 7"/>
          <p:cNvSpPr txBox="1"/>
          <p:nvPr/>
        </p:nvSpPr>
        <p:spPr>
          <a:xfrm>
            <a:off x="3611880" y="2286000"/>
            <a:ext cx="2377440" cy="1005840"/>
          </a:xfrm>
          <a:prstGeom prst="rect">
            <a:avLst/>
          </a:prstGeom>
          <a:noFill/>
          <a:ln/>
        </p:spPr>
        <p:txBody>
          <a:bodyPr wrap="square" lIns="0" tIns="0" rIns="0" bIns="0" rtlCol="0" anchor="ctr"/>
          <a:lstStyle/>
          <a:p>
            <a:pPr indent="0" marL="0">
              <a:buNone/>
            </a:pPr>
            <a:r>
              <a:rPr lang="en-US" sz="1800" b="1" dirty="0">
                <a:solidFill>
                  <a:srgbClr val="8FD3D1"/>
                </a:solidFill>
              </a:rPr>
              <a:t>2  </a:t>
            </a:r>
            <a:pPr indent="0" marL="0">
              <a:buNone/>
            </a:pPr>
            <a:r>
              <a:rPr lang="en-US" sz="2000" b="1" dirty="0">
                <a:solidFill>
                  <a:srgbClr val="FFFFFF"/>
                </a:solidFill>
              </a:rPr>
              <a:t>GUIDE</a:t>
            </a:r>
            <a:endParaRPr lang="en-US" sz="1800" dirty="0"/>
          </a:p>
        </p:txBody>
      </p:sp>
      <p:sp>
        <p:nvSpPr>
          <p:cNvPr id="10" name="Principle text Guide"/>
          <p:cNvSpPr/>
          <p:nvPr/>
        </p:nvSpPr>
        <p:spPr>
          <a:xfrm>
            <a:off x="3383280" y="3291840"/>
            <a:ext cx="2651760" cy="2103120"/>
          </a:xfrm>
          <a:prstGeom prst="rect">
            <a:avLst/>
          </a:prstGeom>
          <a:solidFill>
            <a:srgbClr val="F2F7FC"/>
          </a:solidFill>
          <a:ln w="12700">
            <a:solidFill>
              <a:srgbClr val="F2F7FC"/>
            </a:solidFill>
            <a:prstDash val="solid"/>
          </a:ln>
        </p:spPr>
      </p:sp>
      <p:sp>
        <p:nvSpPr>
          <p:cNvPr id="11" name="Text 9"/>
          <p:cNvSpPr txBox="1"/>
          <p:nvPr/>
        </p:nvSpPr>
        <p:spPr>
          <a:xfrm>
            <a:off x="3611880" y="3429000"/>
            <a:ext cx="2194560" cy="1828800"/>
          </a:xfrm>
          <a:prstGeom prst="rect">
            <a:avLst/>
          </a:prstGeom>
          <a:noFill/>
          <a:ln/>
        </p:spPr>
        <p:txBody>
          <a:bodyPr wrap="square" lIns="0" tIns="0" rIns="0" bIns="0" rtlCol="0" anchor="t"/>
          <a:lstStyle/>
          <a:p>
            <a:pPr indent="0" marL="0">
              <a:buNone/>
            </a:pPr>
            <a:r>
              <a:rPr lang="en-US" sz="1350" dirty="0">
                <a:solidFill>
                  <a:srgbClr val="06345D"/>
                </a:solidFill>
              </a:rPr>
              <a:t>Accurate, honest, timely information. Never dependency.</a:t>
            </a:r>
            <a:endParaRPr lang="en-US" sz="1350" dirty="0"/>
          </a:p>
        </p:txBody>
      </p:sp>
      <p:sp>
        <p:nvSpPr>
          <p:cNvPr id="12" name="Principle Support"/>
          <p:cNvSpPr/>
          <p:nvPr/>
        </p:nvSpPr>
        <p:spPr>
          <a:xfrm>
            <a:off x="6217920" y="2286000"/>
            <a:ext cx="2651760" cy="1005840"/>
          </a:xfrm>
          <a:prstGeom prst="rect">
            <a:avLst/>
          </a:prstGeom>
          <a:solidFill>
            <a:srgbClr val="106576"/>
          </a:solidFill>
          <a:ln w="12700">
            <a:solidFill>
              <a:srgbClr val="106576"/>
            </a:solidFill>
            <a:prstDash val="solid"/>
          </a:ln>
        </p:spPr>
      </p:sp>
      <p:sp>
        <p:nvSpPr>
          <p:cNvPr id="13" name="Text 11"/>
          <p:cNvSpPr txBox="1"/>
          <p:nvPr/>
        </p:nvSpPr>
        <p:spPr>
          <a:xfrm>
            <a:off x="6446520" y="2286000"/>
            <a:ext cx="2377440" cy="1005840"/>
          </a:xfrm>
          <a:prstGeom prst="rect">
            <a:avLst/>
          </a:prstGeom>
          <a:noFill/>
          <a:ln/>
        </p:spPr>
        <p:txBody>
          <a:bodyPr wrap="square" lIns="0" tIns="0" rIns="0" bIns="0" rtlCol="0" anchor="ctr"/>
          <a:lstStyle/>
          <a:p>
            <a:pPr indent="0" marL="0">
              <a:buNone/>
            </a:pPr>
            <a:r>
              <a:rPr lang="en-US" sz="1800" b="1" dirty="0">
                <a:solidFill>
                  <a:srgbClr val="8FD3D1"/>
                </a:solidFill>
              </a:rPr>
              <a:t>3  </a:t>
            </a:r>
            <a:pPr indent="0" marL="0">
              <a:buNone/>
            </a:pPr>
            <a:r>
              <a:rPr lang="en-US" sz="2000" b="1" dirty="0">
                <a:solidFill>
                  <a:srgbClr val="FFFFFF"/>
                </a:solidFill>
              </a:rPr>
              <a:t>SUPPORT</a:t>
            </a:r>
            <a:endParaRPr lang="en-US" sz="1800" dirty="0"/>
          </a:p>
        </p:txBody>
      </p:sp>
      <p:sp>
        <p:nvSpPr>
          <p:cNvPr id="14" name="Principle text Support"/>
          <p:cNvSpPr/>
          <p:nvPr/>
        </p:nvSpPr>
        <p:spPr>
          <a:xfrm>
            <a:off x="6217920" y="3291840"/>
            <a:ext cx="2651760" cy="2103120"/>
          </a:xfrm>
          <a:prstGeom prst="rect">
            <a:avLst/>
          </a:prstGeom>
          <a:solidFill>
            <a:srgbClr val="F2F7FC"/>
          </a:solidFill>
          <a:ln w="12700">
            <a:solidFill>
              <a:srgbClr val="F2F7FC"/>
            </a:solidFill>
            <a:prstDash val="solid"/>
          </a:ln>
        </p:spPr>
      </p:sp>
      <p:sp>
        <p:nvSpPr>
          <p:cNvPr id="15" name="Text 13"/>
          <p:cNvSpPr txBox="1"/>
          <p:nvPr/>
        </p:nvSpPr>
        <p:spPr>
          <a:xfrm>
            <a:off x="6446520" y="3429000"/>
            <a:ext cx="2194560" cy="1828800"/>
          </a:xfrm>
          <a:prstGeom prst="rect">
            <a:avLst/>
          </a:prstGeom>
          <a:noFill/>
          <a:ln/>
        </p:spPr>
        <p:txBody>
          <a:bodyPr wrap="square" lIns="0" tIns="0" rIns="0" bIns="0" rtlCol="0" anchor="t"/>
          <a:lstStyle/>
          <a:p>
            <a:pPr indent="0" marL="0">
              <a:buNone/>
            </a:pPr>
            <a:r>
              <a:rPr lang="en-US" sz="1350" dirty="0">
                <a:solidFill>
                  <a:srgbClr val="06345D"/>
                </a:solidFill>
              </a:rPr>
              <a:t>Present, responsive, compassionate. “How can we help?”, never “Why aren’t you attending?”</a:t>
            </a:r>
            <a:endParaRPr lang="en-US" sz="1350" dirty="0"/>
          </a:p>
        </p:txBody>
      </p:sp>
      <p:sp>
        <p:nvSpPr>
          <p:cNvPr id="16" name="Principle Enlighten"/>
          <p:cNvSpPr/>
          <p:nvPr/>
        </p:nvSpPr>
        <p:spPr>
          <a:xfrm>
            <a:off x="9052560" y="2286000"/>
            <a:ext cx="2651760" cy="1005840"/>
          </a:xfrm>
          <a:prstGeom prst="rect">
            <a:avLst/>
          </a:prstGeom>
          <a:solidFill>
            <a:srgbClr val="157A7C"/>
          </a:solidFill>
          <a:ln w="12700">
            <a:solidFill>
              <a:srgbClr val="157A7C"/>
            </a:solidFill>
            <a:prstDash val="solid"/>
          </a:ln>
        </p:spPr>
      </p:sp>
      <p:sp>
        <p:nvSpPr>
          <p:cNvPr id="17" name="Text 15"/>
          <p:cNvSpPr txBox="1"/>
          <p:nvPr/>
        </p:nvSpPr>
        <p:spPr>
          <a:xfrm>
            <a:off x="9281160" y="2286000"/>
            <a:ext cx="2377440" cy="1005840"/>
          </a:xfrm>
          <a:prstGeom prst="rect">
            <a:avLst/>
          </a:prstGeom>
          <a:noFill/>
          <a:ln/>
        </p:spPr>
        <p:txBody>
          <a:bodyPr wrap="square" lIns="0" tIns="0" rIns="0" bIns="0" rtlCol="0" anchor="ctr"/>
          <a:lstStyle/>
          <a:p>
            <a:pPr indent="0" marL="0">
              <a:buNone/>
            </a:pPr>
            <a:r>
              <a:rPr lang="en-US" sz="1800" b="1" dirty="0">
                <a:solidFill>
                  <a:srgbClr val="8FD3D1"/>
                </a:solidFill>
              </a:rPr>
              <a:t>4  </a:t>
            </a:r>
            <a:pPr indent="0" marL="0">
              <a:buNone/>
            </a:pPr>
            <a:r>
              <a:rPr lang="en-US" sz="2000" b="1" dirty="0">
                <a:solidFill>
                  <a:srgbClr val="FFFFFF"/>
                </a:solidFill>
              </a:rPr>
              <a:t>ENLIGHTEN</a:t>
            </a:r>
            <a:endParaRPr lang="en-US" sz="1800" dirty="0"/>
          </a:p>
        </p:txBody>
      </p:sp>
      <p:sp>
        <p:nvSpPr>
          <p:cNvPr id="18" name="Principle text Enlighten"/>
          <p:cNvSpPr/>
          <p:nvPr/>
        </p:nvSpPr>
        <p:spPr>
          <a:xfrm>
            <a:off x="9052560" y="3291840"/>
            <a:ext cx="2651760" cy="2103120"/>
          </a:xfrm>
          <a:prstGeom prst="rect">
            <a:avLst/>
          </a:prstGeom>
          <a:solidFill>
            <a:srgbClr val="F2F7FC"/>
          </a:solidFill>
          <a:ln w="12700">
            <a:solidFill>
              <a:srgbClr val="F2F7FC"/>
            </a:solidFill>
            <a:prstDash val="solid"/>
          </a:ln>
        </p:spPr>
      </p:sp>
      <p:sp>
        <p:nvSpPr>
          <p:cNvPr id="19" name="Text 17"/>
          <p:cNvSpPr txBox="1"/>
          <p:nvPr/>
        </p:nvSpPr>
        <p:spPr>
          <a:xfrm>
            <a:off x="9281160" y="3429000"/>
            <a:ext cx="2194560" cy="1828800"/>
          </a:xfrm>
          <a:prstGeom prst="rect">
            <a:avLst/>
          </a:prstGeom>
          <a:noFill/>
          <a:ln/>
        </p:spPr>
        <p:txBody>
          <a:bodyPr wrap="square" lIns="0" tIns="0" rIns="0" bIns="0" rtlCol="0" anchor="t"/>
          <a:lstStyle/>
          <a:p>
            <a:pPr indent="0" marL="0">
              <a:buNone/>
            </a:pPr>
            <a:r>
              <a:rPr lang="en-US" sz="1350" dirty="0">
                <a:solidFill>
                  <a:srgbClr val="06345D"/>
                </a:solidFill>
              </a:rPr>
              <a:t>Understanding, curiosity and enjoyment of Freemasonry, for life.</a:t>
            </a:r>
            <a:endParaRPr lang="en-US" sz="1350" dirty="0"/>
          </a:p>
        </p:txBody>
      </p:sp>
      <p:sp>
        <p:nvSpPr>
          <p:cNvPr id="20" name="Tagline"/>
          <p:cNvSpPr txBox="1"/>
          <p:nvPr/>
        </p:nvSpPr>
        <p:spPr>
          <a:xfrm>
            <a:off x="548640" y="5623560"/>
            <a:ext cx="10972800" cy="457200"/>
          </a:xfrm>
          <a:prstGeom prst="rect">
            <a:avLst/>
          </a:prstGeom>
          <a:noFill/>
          <a:ln/>
        </p:spPr>
        <p:txBody>
          <a:bodyPr wrap="square" lIns="0" tIns="0" rIns="0" bIns="0" rtlCol="0" anchor="ctr"/>
          <a:lstStyle/>
          <a:p>
            <a:pPr indent="0" marL="0">
              <a:buNone/>
            </a:pPr>
            <a:r>
              <a:rPr lang="en-US" sz="1500" b="1" i="1" dirty="0">
                <a:solidFill>
                  <a:srgbClr val="157A7C"/>
                </a:solidFill>
              </a:rPr>
              <a:t>Family, Work, Masonry: in that order, always.</a:t>
            </a:r>
            <a:endParaRPr lang="en-US" sz="15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6345D"/>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indent="0" marL="0">
              <a:buNone/>
            </a:pPr>
            <a:r>
              <a:rPr lang="en-US" sz="3200" b="1" dirty="0">
                <a:solidFill>
                  <a:srgbClr val="003668"/>
                </a:solidFill>
              </a:rPr>
              <a:t>The journey, and the two windows</a:t>
            </a:r>
            <a:endParaRPr lang="en-US" sz="3200" dirty="0"/>
          </a:p>
        </p:txBody>
      </p:sp>
      <p:sp>
        <p:nvSpPr>
          <p:cNvPr id="3" name="Stage 1"/>
          <p:cNvSpPr/>
          <p:nvPr/>
        </p:nvSpPr>
        <p:spPr>
          <a:xfrm>
            <a:off x="1051560" y="1463040"/>
            <a:ext cx="685800" cy="685800"/>
          </a:xfrm>
          <a:prstGeom prst="ellipse">
            <a:avLst/>
          </a:prstGeom>
          <a:solidFill>
            <a:srgbClr val="003668"/>
          </a:solidFill>
          <a:ln w="12700">
            <a:solidFill>
              <a:srgbClr val="003668"/>
            </a:solidFill>
            <a:prstDash val="solid"/>
          </a:ln>
        </p:spPr>
      </p:sp>
      <p:sp>
        <p:nvSpPr>
          <p:cNvPr id="4" name="Text 2"/>
          <p:cNvSpPr txBox="1"/>
          <p:nvPr/>
        </p:nvSpPr>
        <p:spPr>
          <a:xfrm>
            <a:off x="1051560" y="1463040"/>
            <a:ext cx="685800" cy="685800"/>
          </a:xfrm>
          <a:prstGeom prst="rect">
            <a:avLst/>
          </a:prstGeom>
          <a:noFill/>
          <a:ln/>
        </p:spPr>
        <p:txBody>
          <a:bodyPr wrap="square" lIns="0" tIns="0" rIns="0" bIns="0" rtlCol="0" anchor="ctr"/>
          <a:lstStyle/>
          <a:p>
            <a:pPr algn="ctr" indent="0" marL="0">
              <a:buNone/>
            </a:pPr>
            <a:r>
              <a:rPr lang="en-US" sz="2000" b="1" dirty="0">
                <a:solidFill>
                  <a:srgbClr val="FFFFFF"/>
                </a:solidFill>
              </a:rPr>
              <a:t>1</a:t>
            </a:r>
            <a:endParaRPr lang="en-US" sz="2000" dirty="0"/>
          </a:p>
        </p:txBody>
      </p:sp>
      <p:sp>
        <p:nvSpPr>
          <p:cNvPr id="5" name="Link 0"/>
          <p:cNvSpPr/>
          <p:nvPr/>
        </p:nvSpPr>
        <p:spPr>
          <a:xfrm>
            <a:off x="1783080" y="1805940"/>
            <a:ext cx="594360" cy="0"/>
          </a:xfrm>
          <a:prstGeom prst="line">
            <a:avLst/>
          </a:prstGeom>
          <a:noFill/>
          <a:ln w="25400">
            <a:solidFill>
              <a:srgbClr val="BFD6EA"/>
            </a:solidFill>
            <a:prstDash val="solid"/>
          </a:ln>
        </p:spPr>
      </p:sp>
      <p:sp>
        <p:nvSpPr>
          <p:cNvPr id="6" name="Text 4"/>
          <p:cNvSpPr txBox="1"/>
          <p:nvPr/>
        </p:nvSpPr>
        <p:spPr>
          <a:xfrm>
            <a:off x="548640" y="2286000"/>
            <a:ext cx="1737360" cy="731520"/>
          </a:xfrm>
          <a:prstGeom prst="rect">
            <a:avLst/>
          </a:prstGeom>
          <a:noFill/>
          <a:ln/>
        </p:spPr>
        <p:txBody>
          <a:bodyPr wrap="square" lIns="0" tIns="0" rIns="0" bIns="0" rtlCol="0" anchor="t"/>
          <a:lstStyle/>
          <a:p>
            <a:pPr algn="ctr" indent="0" marL="0">
              <a:buNone/>
            </a:pPr>
            <a:r>
              <a:rPr lang="en-US" sz="1300" b="1" dirty="0">
                <a:solidFill>
                  <a:srgbClr val="003668"/>
                </a:solidFill>
              </a:rPr>
              <a:t>Enquiry to Initiation</a:t>
            </a:r>
            <a:endParaRPr lang="en-US" sz="1300" dirty="0"/>
          </a:p>
        </p:txBody>
      </p:sp>
      <p:sp>
        <p:nvSpPr>
          <p:cNvPr id="7" name="Stage 2"/>
          <p:cNvSpPr/>
          <p:nvPr/>
        </p:nvSpPr>
        <p:spPr>
          <a:xfrm>
            <a:off x="2926080" y="1463040"/>
            <a:ext cx="685800" cy="685800"/>
          </a:xfrm>
          <a:prstGeom prst="ellipse">
            <a:avLst/>
          </a:prstGeom>
          <a:solidFill>
            <a:srgbClr val="0A4F72"/>
          </a:solidFill>
          <a:ln w="12700">
            <a:solidFill>
              <a:srgbClr val="0A4F72"/>
            </a:solidFill>
            <a:prstDash val="solid"/>
          </a:ln>
        </p:spPr>
      </p:sp>
      <p:sp>
        <p:nvSpPr>
          <p:cNvPr id="8" name="Text 6"/>
          <p:cNvSpPr txBox="1"/>
          <p:nvPr/>
        </p:nvSpPr>
        <p:spPr>
          <a:xfrm>
            <a:off x="2926080" y="1463040"/>
            <a:ext cx="685800" cy="685800"/>
          </a:xfrm>
          <a:prstGeom prst="rect">
            <a:avLst/>
          </a:prstGeom>
          <a:noFill/>
          <a:ln/>
        </p:spPr>
        <p:txBody>
          <a:bodyPr wrap="square" lIns="0" tIns="0" rIns="0" bIns="0" rtlCol="0" anchor="ctr"/>
          <a:lstStyle/>
          <a:p>
            <a:pPr algn="ctr" indent="0" marL="0">
              <a:buNone/>
            </a:pPr>
            <a:r>
              <a:rPr lang="en-US" sz="2000" b="1" dirty="0">
                <a:solidFill>
                  <a:srgbClr val="FFFFFF"/>
                </a:solidFill>
              </a:rPr>
              <a:t>2</a:t>
            </a:r>
            <a:endParaRPr lang="en-US" sz="2000" dirty="0"/>
          </a:p>
        </p:txBody>
      </p:sp>
      <p:sp>
        <p:nvSpPr>
          <p:cNvPr id="9" name="Link 1"/>
          <p:cNvSpPr/>
          <p:nvPr/>
        </p:nvSpPr>
        <p:spPr>
          <a:xfrm>
            <a:off x="3657600" y="1805940"/>
            <a:ext cx="594360" cy="0"/>
          </a:xfrm>
          <a:prstGeom prst="line">
            <a:avLst/>
          </a:prstGeom>
          <a:noFill/>
          <a:ln w="25400">
            <a:solidFill>
              <a:srgbClr val="BFD6EA"/>
            </a:solidFill>
            <a:prstDash val="solid"/>
          </a:ln>
        </p:spPr>
      </p:sp>
      <p:sp>
        <p:nvSpPr>
          <p:cNvPr id="10" name="Text 8"/>
          <p:cNvSpPr txBox="1"/>
          <p:nvPr/>
        </p:nvSpPr>
        <p:spPr>
          <a:xfrm>
            <a:off x="2423160" y="2286000"/>
            <a:ext cx="1737360" cy="731520"/>
          </a:xfrm>
          <a:prstGeom prst="rect">
            <a:avLst/>
          </a:prstGeom>
          <a:noFill/>
          <a:ln/>
        </p:spPr>
        <p:txBody>
          <a:bodyPr wrap="square" lIns="0" tIns="0" rIns="0" bIns="0" rtlCol="0" anchor="t"/>
          <a:lstStyle/>
          <a:p>
            <a:pPr algn="ctr" indent="0" marL="0">
              <a:buNone/>
            </a:pPr>
            <a:r>
              <a:rPr lang="en-US" sz="1300" b="1" dirty="0">
                <a:solidFill>
                  <a:srgbClr val="0A4F72"/>
                </a:solidFill>
              </a:rPr>
              <a:t>Entered Apprentice</a:t>
            </a:r>
            <a:endParaRPr lang="en-US" sz="1300" dirty="0"/>
          </a:p>
        </p:txBody>
      </p:sp>
      <p:sp>
        <p:nvSpPr>
          <p:cNvPr id="11" name="Stage 3"/>
          <p:cNvSpPr/>
          <p:nvPr/>
        </p:nvSpPr>
        <p:spPr>
          <a:xfrm>
            <a:off x="4800600" y="1463040"/>
            <a:ext cx="685800" cy="685800"/>
          </a:xfrm>
          <a:prstGeom prst="ellipse">
            <a:avLst/>
          </a:prstGeom>
          <a:solidFill>
            <a:srgbClr val="106576"/>
          </a:solidFill>
          <a:ln w="12700">
            <a:solidFill>
              <a:srgbClr val="106576"/>
            </a:solidFill>
            <a:prstDash val="solid"/>
          </a:ln>
        </p:spPr>
      </p:sp>
      <p:sp>
        <p:nvSpPr>
          <p:cNvPr id="12" name="Text 10"/>
          <p:cNvSpPr txBox="1"/>
          <p:nvPr/>
        </p:nvSpPr>
        <p:spPr>
          <a:xfrm>
            <a:off x="4800600" y="1463040"/>
            <a:ext cx="685800" cy="685800"/>
          </a:xfrm>
          <a:prstGeom prst="rect">
            <a:avLst/>
          </a:prstGeom>
          <a:noFill/>
          <a:ln/>
        </p:spPr>
        <p:txBody>
          <a:bodyPr wrap="square" lIns="0" tIns="0" rIns="0" bIns="0" rtlCol="0" anchor="ctr"/>
          <a:lstStyle/>
          <a:p>
            <a:pPr algn="ctr" indent="0" marL="0">
              <a:buNone/>
            </a:pPr>
            <a:r>
              <a:rPr lang="en-US" sz="2000" b="1" dirty="0">
                <a:solidFill>
                  <a:srgbClr val="FFFFFF"/>
                </a:solidFill>
              </a:rPr>
              <a:t>3</a:t>
            </a:r>
            <a:endParaRPr lang="en-US" sz="2000" dirty="0"/>
          </a:p>
        </p:txBody>
      </p:sp>
      <p:sp>
        <p:nvSpPr>
          <p:cNvPr id="13" name="Link 2"/>
          <p:cNvSpPr/>
          <p:nvPr/>
        </p:nvSpPr>
        <p:spPr>
          <a:xfrm>
            <a:off x="5532120" y="1805940"/>
            <a:ext cx="594360" cy="0"/>
          </a:xfrm>
          <a:prstGeom prst="line">
            <a:avLst/>
          </a:prstGeom>
          <a:noFill/>
          <a:ln w="25400">
            <a:solidFill>
              <a:srgbClr val="BFD6EA"/>
            </a:solidFill>
            <a:prstDash val="solid"/>
          </a:ln>
        </p:spPr>
      </p:sp>
      <p:sp>
        <p:nvSpPr>
          <p:cNvPr id="14" name="Text 12"/>
          <p:cNvSpPr txBox="1"/>
          <p:nvPr/>
        </p:nvSpPr>
        <p:spPr>
          <a:xfrm>
            <a:off x="4297680" y="2286000"/>
            <a:ext cx="1737360" cy="731520"/>
          </a:xfrm>
          <a:prstGeom prst="rect">
            <a:avLst/>
          </a:prstGeom>
          <a:noFill/>
          <a:ln/>
        </p:spPr>
        <p:txBody>
          <a:bodyPr wrap="square" lIns="0" tIns="0" rIns="0" bIns="0" rtlCol="0" anchor="t"/>
          <a:lstStyle/>
          <a:p>
            <a:pPr algn="ctr" indent="0" marL="0">
              <a:buNone/>
            </a:pPr>
            <a:r>
              <a:rPr lang="en-US" sz="1300" b="1" dirty="0">
                <a:solidFill>
                  <a:srgbClr val="106576"/>
                </a:solidFill>
              </a:rPr>
              <a:t>Fellow Craft</a:t>
            </a:r>
            <a:endParaRPr lang="en-US" sz="1300" dirty="0"/>
          </a:p>
        </p:txBody>
      </p:sp>
      <p:sp>
        <p:nvSpPr>
          <p:cNvPr id="15" name="Stage 4"/>
          <p:cNvSpPr/>
          <p:nvPr/>
        </p:nvSpPr>
        <p:spPr>
          <a:xfrm>
            <a:off x="6675120" y="1463040"/>
            <a:ext cx="685800" cy="685800"/>
          </a:xfrm>
          <a:prstGeom prst="ellipse">
            <a:avLst/>
          </a:prstGeom>
          <a:solidFill>
            <a:srgbClr val="157A7C"/>
          </a:solidFill>
          <a:ln w="12700">
            <a:solidFill>
              <a:srgbClr val="157A7C"/>
            </a:solidFill>
            <a:prstDash val="solid"/>
          </a:ln>
        </p:spPr>
      </p:sp>
      <p:sp>
        <p:nvSpPr>
          <p:cNvPr id="16" name="Text 14"/>
          <p:cNvSpPr txBox="1"/>
          <p:nvPr/>
        </p:nvSpPr>
        <p:spPr>
          <a:xfrm>
            <a:off x="6675120" y="1463040"/>
            <a:ext cx="685800" cy="685800"/>
          </a:xfrm>
          <a:prstGeom prst="rect">
            <a:avLst/>
          </a:prstGeom>
          <a:noFill/>
          <a:ln/>
        </p:spPr>
        <p:txBody>
          <a:bodyPr wrap="square" lIns="0" tIns="0" rIns="0" bIns="0" rtlCol="0" anchor="ctr"/>
          <a:lstStyle/>
          <a:p>
            <a:pPr algn="ctr" indent="0" marL="0">
              <a:buNone/>
            </a:pPr>
            <a:r>
              <a:rPr lang="en-US" sz="2000" b="1" dirty="0">
                <a:solidFill>
                  <a:srgbClr val="FFFFFF"/>
                </a:solidFill>
              </a:rPr>
              <a:t>4</a:t>
            </a:r>
            <a:endParaRPr lang="en-US" sz="2000" dirty="0"/>
          </a:p>
        </p:txBody>
      </p:sp>
      <p:sp>
        <p:nvSpPr>
          <p:cNvPr id="17" name="Link 3"/>
          <p:cNvSpPr/>
          <p:nvPr/>
        </p:nvSpPr>
        <p:spPr>
          <a:xfrm>
            <a:off x="7406640" y="1805940"/>
            <a:ext cx="594360" cy="0"/>
          </a:xfrm>
          <a:prstGeom prst="line">
            <a:avLst/>
          </a:prstGeom>
          <a:noFill/>
          <a:ln w="25400">
            <a:solidFill>
              <a:srgbClr val="BFD6EA"/>
            </a:solidFill>
            <a:prstDash val="solid"/>
          </a:ln>
        </p:spPr>
      </p:sp>
      <p:sp>
        <p:nvSpPr>
          <p:cNvPr id="18" name="Text 16"/>
          <p:cNvSpPr txBox="1"/>
          <p:nvPr/>
        </p:nvSpPr>
        <p:spPr>
          <a:xfrm>
            <a:off x="6172200" y="2286000"/>
            <a:ext cx="1737360" cy="731520"/>
          </a:xfrm>
          <a:prstGeom prst="rect">
            <a:avLst/>
          </a:prstGeom>
          <a:noFill/>
          <a:ln/>
        </p:spPr>
        <p:txBody>
          <a:bodyPr wrap="square" lIns="0" tIns="0" rIns="0" bIns="0" rtlCol="0" anchor="t"/>
          <a:lstStyle/>
          <a:p>
            <a:pPr algn="ctr" indent="0" marL="0">
              <a:buNone/>
            </a:pPr>
            <a:r>
              <a:rPr lang="en-US" sz="1300" b="1" dirty="0">
                <a:solidFill>
                  <a:srgbClr val="157A7C"/>
                </a:solidFill>
              </a:rPr>
              <a:t>Master Mason</a:t>
            </a:r>
            <a:endParaRPr lang="en-US" sz="1300" dirty="0"/>
          </a:p>
        </p:txBody>
      </p:sp>
      <p:sp>
        <p:nvSpPr>
          <p:cNvPr id="19" name="Stage 5"/>
          <p:cNvSpPr/>
          <p:nvPr/>
        </p:nvSpPr>
        <p:spPr>
          <a:xfrm>
            <a:off x="8549640" y="1463040"/>
            <a:ext cx="685800" cy="685800"/>
          </a:xfrm>
          <a:prstGeom prst="ellipse">
            <a:avLst/>
          </a:prstGeom>
          <a:solidFill>
            <a:srgbClr val="06345D"/>
          </a:solidFill>
          <a:ln w="12700">
            <a:solidFill>
              <a:srgbClr val="06345D"/>
            </a:solidFill>
            <a:prstDash val="solid"/>
          </a:ln>
        </p:spPr>
      </p:sp>
      <p:sp>
        <p:nvSpPr>
          <p:cNvPr id="20" name="Text 18"/>
          <p:cNvSpPr txBox="1"/>
          <p:nvPr/>
        </p:nvSpPr>
        <p:spPr>
          <a:xfrm>
            <a:off x="8549640" y="1463040"/>
            <a:ext cx="685800" cy="685800"/>
          </a:xfrm>
          <a:prstGeom prst="rect">
            <a:avLst/>
          </a:prstGeom>
          <a:noFill/>
          <a:ln/>
        </p:spPr>
        <p:txBody>
          <a:bodyPr wrap="square" lIns="0" tIns="0" rIns="0" bIns="0" rtlCol="0" anchor="ctr"/>
          <a:lstStyle/>
          <a:p>
            <a:pPr algn="ctr" indent="0" marL="0">
              <a:buNone/>
            </a:pPr>
            <a:r>
              <a:rPr lang="en-US" sz="2000" b="1" dirty="0">
                <a:solidFill>
                  <a:srgbClr val="FFFFFF"/>
                </a:solidFill>
              </a:rPr>
              <a:t>5</a:t>
            </a:r>
            <a:endParaRPr lang="en-US" sz="2000" dirty="0"/>
          </a:p>
        </p:txBody>
      </p:sp>
      <p:sp>
        <p:nvSpPr>
          <p:cNvPr id="21" name="Link 4"/>
          <p:cNvSpPr/>
          <p:nvPr/>
        </p:nvSpPr>
        <p:spPr>
          <a:xfrm>
            <a:off x="9281160" y="1805940"/>
            <a:ext cx="594360" cy="0"/>
          </a:xfrm>
          <a:prstGeom prst="line">
            <a:avLst/>
          </a:prstGeom>
          <a:noFill/>
          <a:ln w="25400">
            <a:solidFill>
              <a:srgbClr val="BFD6EA"/>
            </a:solidFill>
            <a:prstDash val="solid"/>
          </a:ln>
        </p:spPr>
      </p:sp>
      <p:sp>
        <p:nvSpPr>
          <p:cNvPr id="22" name="Text 20"/>
          <p:cNvSpPr txBox="1"/>
          <p:nvPr/>
        </p:nvSpPr>
        <p:spPr>
          <a:xfrm>
            <a:off x="8046720" y="2286000"/>
            <a:ext cx="1737360" cy="731520"/>
          </a:xfrm>
          <a:prstGeom prst="rect">
            <a:avLst/>
          </a:prstGeom>
          <a:noFill/>
          <a:ln/>
        </p:spPr>
        <p:txBody>
          <a:bodyPr wrap="square" lIns="0" tIns="0" rIns="0" bIns="0" rtlCol="0" anchor="t"/>
          <a:lstStyle/>
          <a:p>
            <a:pPr algn="ctr" indent="0" marL="0">
              <a:buNone/>
            </a:pPr>
            <a:r>
              <a:rPr lang="en-US" sz="1300" b="1" dirty="0">
                <a:solidFill>
                  <a:srgbClr val="06345D"/>
                </a:solidFill>
              </a:rPr>
              <a:t>Office and the Chair</a:t>
            </a:r>
            <a:endParaRPr lang="en-US" sz="1300" dirty="0"/>
          </a:p>
        </p:txBody>
      </p:sp>
      <p:sp>
        <p:nvSpPr>
          <p:cNvPr id="23" name="Stage 6"/>
          <p:cNvSpPr/>
          <p:nvPr/>
        </p:nvSpPr>
        <p:spPr>
          <a:xfrm>
            <a:off x="10424160" y="1463040"/>
            <a:ext cx="685800" cy="685800"/>
          </a:xfrm>
          <a:prstGeom prst="ellipse">
            <a:avLst/>
          </a:prstGeom>
          <a:solidFill>
            <a:srgbClr val="003668"/>
          </a:solidFill>
          <a:ln w="12700">
            <a:solidFill>
              <a:srgbClr val="003668"/>
            </a:solidFill>
            <a:prstDash val="solid"/>
          </a:ln>
        </p:spPr>
      </p:sp>
      <p:sp>
        <p:nvSpPr>
          <p:cNvPr id="24" name="Text 22"/>
          <p:cNvSpPr txBox="1"/>
          <p:nvPr/>
        </p:nvSpPr>
        <p:spPr>
          <a:xfrm>
            <a:off x="10424160" y="1463040"/>
            <a:ext cx="685800" cy="685800"/>
          </a:xfrm>
          <a:prstGeom prst="rect">
            <a:avLst/>
          </a:prstGeom>
          <a:noFill/>
          <a:ln/>
        </p:spPr>
        <p:txBody>
          <a:bodyPr wrap="square" lIns="0" tIns="0" rIns="0" bIns="0" rtlCol="0" anchor="ctr"/>
          <a:lstStyle/>
          <a:p>
            <a:pPr algn="ctr" indent="0" marL="0">
              <a:buNone/>
            </a:pPr>
            <a:r>
              <a:rPr lang="en-US" sz="2000" b="1" dirty="0">
                <a:solidFill>
                  <a:srgbClr val="FFFFFF"/>
                </a:solidFill>
              </a:rPr>
              <a:t>6</a:t>
            </a:r>
            <a:endParaRPr lang="en-US" sz="2000" dirty="0"/>
          </a:p>
        </p:txBody>
      </p:sp>
      <p:sp>
        <p:nvSpPr>
          <p:cNvPr id="25" name="Text 23"/>
          <p:cNvSpPr txBox="1"/>
          <p:nvPr/>
        </p:nvSpPr>
        <p:spPr>
          <a:xfrm>
            <a:off x="9921240" y="2286000"/>
            <a:ext cx="1737360" cy="731520"/>
          </a:xfrm>
          <a:prstGeom prst="rect">
            <a:avLst/>
          </a:prstGeom>
          <a:noFill/>
          <a:ln/>
        </p:spPr>
        <p:txBody>
          <a:bodyPr wrap="square" lIns="0" tIns="0" rIns="0" bIns="0" rtlCol="0" anchor="t"/>
          <a:lstStyle/>
          <a:p>
            <a:pPr algn="ctr" indent="0" marL="0">
              <a:buNone/>
            </a:pPr>
            <a:r>
              <a:rPr lang="en-US" sz="1300" b="1" dirty="0">
                <a:solidFill>
                  <a:srgbClr val="003668"/>
                </a:solidFill>
              </a:rPr>
              <a:t>Beyond the Chair</a:t>
            </a:r>
            <a:endParaRPr lang="en-US" sz="1300" dirty="0"/>
          </a:p>
        </p:txBody>
      </p:sp>
      <p:sp>
        <p:nvSpPr>
          <p:cNvPr id="26" name="Window 1"/>
          <p:cNvSpPr/>
          <p:nvPr/>
        </p:nvSpPr>
        <p:spPr>
          <a:xfrm>
            <a:off x="548640" y="3200400"/>
            <a:ext cx="5760720" cy="914400"/>
          </a:xfrm>
          <a:prstGeom prst="roundRect">
            <a:avLst>
              <a:gd name="adj" fmla="val 8000"/>
            </a:avLst>
          </a:prstGeom>
          <a:solidFill>
            <a:srgbClr val="0A4F72"/>
          </a:solidFill>
          <a:ln w="12700">
            <a:solidFill>
              <a:srgbClr val="0A4F72"/>
            </a:solidFill>
            <a:prstDash val="solid"/>
          </a:ln>
        </p:spPr>
      </p:sp>
      <p:sp>
        <p:nvSpPr>
          <p:cNvPr id="27" name="Text 25"/>
          <p:cNvSpPr txBox="1"/>
          <p:nvPr/>
        </p:nvSpPr>
        <p:spPr>
          <a:xfrm>
            <a:off x="777240" y="3200400"/>
            <a:ext cx="5394960" cy="914400"/>
          </a:xfrm>
          <a:prstGeom prst="rect">
            <a:avLst/>
          </a:prstGeom>
          <a:noFill/>
          <a:ln/>
        </p:spPr>
        <p:txBody>
          <a:bodyPr wrap="square" lIns="0" tIns="0" rIns="0" bIns="0" rtlCol="0" anchor="ctr"/>
          <a:lstStyle/>
          <a:p>
            <a:pPr indent="0" marL="0">
              <a:buNone/>
            </a:pPr>
            <a:r>
              <a:rPr lang="en-US" sz="1500" b="1" dirty="0">
                <a:solidFill>
                  <a:srgbClr val="FFFFFF"/>
                </a:solidFill>
              </a:rPr>
              <a:t>Risk window 1: the first two years, often before Raising</a:t>
            </a:r>
            <a:endParaRPr lang="en-US" sz="1500" dirty="0"/>
          </a:p>
        </p:txBody>
      </p:sp>
      <p:sp>
        <p:nvSpPr>
          <p:cNvPr id="28" name="Window 2"/>
          <p:cNvSpPr/>
          <p:nvPr/>
        </p:nvSpPr>
        <p:spPr>
          <a:xfrm>
            <a:off x="8046720" y="3200400"/>
            <a:ext cx="3566160" cy="914400"/>
          </a:xfrm>
          <a:prstGeom prst="roundRect">
            <a:avLst>
              <a:gd name="adj" fmla="val 8000"/>
            </a:avLst>
          </a:prstGeom>
          <a:solidFill>
            <a:srgbClr val="06345D"/>
          </a:solidFill>
          <a:ln w="12700">
            <a:solidFill>
              <a:srgbClr val="06345D"/>
            </a:solidFill>
            <a:prstDash val="solid"/>
          </a:ln>
        </p:spPr>
      </p:sp>
      <p:sp>
        <p:nvSpPr>
          <p:cNvPr id="29" name="Text 27"/>
          <p:cNvSpPr txBox="1"/>
          <p:nvPr/>
        </p:nvSpPr>
        <p:spPr>
          <a:xfrm>
            <a:off x="8275320" y="3200400"/>
            <a:ext cx="3200400" cy="914400"/>
          </a:xfrm>
          <a:prstGeom prst="rect">
            <a:avLst/>
          </a:prstGeom>
          <a:noFill/>
          <a:ln/>
        </p:spPr>
        <p:txBody>
          <a:bodyPr wrap="square" lIns="0" tIns="0" rIns="0" bIns="0" rtlCol="0" anchor="ctr"/>
          <a:lstStyle/>
          <a:p>
            <a:pPr indent="0" marL="0">
              <a:buNone/>
            </a:pPr>
            <a:r>
              <a:rPr lang="en-US" sz="1500" b="1" dirty="0">
                <a:solidFill>
                  <a:srgbClr val="FFFFFF"/>
                </a:solidFill>
              </a:rPr>
              <a:t>Risk window 2: the year after the Chair</a:t>
            </a:r>
            <a:endParaRPr lang="en-US" sz="1500" dirty="0"/>
          </a:p>
        </p:txBody>
      </p:sp>
      <p:sp>
        <p:nvSpPr>
          <p:cNvPr id="30" name="Card Spring Initiates"/>
          <p:cNvSpPr/>
          <p:nvPr/>
        </p:nvSpPr>
        <p:spPr>
          <a:xfrm>
            <a:off x="548640" y="4343400"/>
            <a:ext cx="5440680" cy="1508760"/>
          </a:xfrm>
          <a:prstGeom prst="roundRect">
            <a:avLst>
              <a:gd name="adj" fmla="val 4848"/>
            </a:avLst>
          </a:prstGeom>
          <a:solidFill>
            <a:srgbClr val="F2F7FC"/>
          </a:solidFill>
          <a:ln w="12700">
            <a:solidFill>
              <a:srgbClr val="F2F7FC"/>
            </a:solidFill>
            <a:prstDash val="solid"/>
          </a:ln>
        </p:spPr>
      </p:sp>
      <p:pic>
        <p:nvPicPr>
          <p:cNvPr id="31" name="Image 0" descr="preencoded.png">    </p:cNvPr>
          <p:cNvPicPr>
            <a:picLocks noChangeAspect="1"/>
          </p:cNvPicPr>
          <p:nvPr/>
        </p:nvPicPr>
        <p:blipFill>
          <a:blip r:embed="rId1"/>
          <a:stretch>
            <a:fillRect/>
          </a:stretch>
        </p:blipFill>
        <p:spPr>
          <a:xfrm>
            <a:off x="749808" y="4526280"/>
            <a:ext cx="384048" cy="384048"/>
          </a:xfrm>
          <a:prstGeom prst="rect">
            <a:avLst/>
          </a:prstGeom>
        </p:spPr>
      </p:pic>
      <p:sp>
        <p:nvSpPr>
          <p:cNvPr id="32" name="Text 29"/>
          <p:cNvSpPr txBox="1"/>
          <p:nvPr/>
        </p:nvSpPr>
        <p:spPr>
          <a:xfrm>
            <a:off x="1261872" y="4507992"/>
            <a:ext cx="4526280" cy="411480"/>
          </a:xfrm>
          <a:prstGeom prst="rect">
            <a:avLst/>
          </a:prstGeom>
          <a:noFill/>
          <a:ln/>
        </p:spPr>
        <p:txBody>
          <a:bodyPr wrap="square" lIns="0" tIns="0" rIns="0" bIns="0" rtlCol="0" anchor="ctr"/>
          <a:lstStyle/>
          <a:p>
            <a:pPr indent="0" marL="0">
              <a:buNone/>
            </a:pPr>
            <a:r>
              <a:rPr lang="en-US" sz="1600" b="1" dirty="0">
                <a:solidFill>
                  <a:srgbClr val="003668"/>
                </a:solidFill>
              </a:rPr>
              <a:t>Spring Initiates</a:t>
            </a:r>
            <a:endParaRPr lang="en-US" sz="1600" dirty="0"/>
          </a:p>
        </p:txBody>
      </p:sp>
      <p:sp>
        <p:nvSpPr>
          <p:cNvPr id="33" name="Text 30"/>
          <p:cNvSpPr txBox="1"/>
          <p:nvPr/>
        </p:nvSpPr>
        <p:spPr>
          <a:xfrm>
            <a:off x="777240" y="4965192"/>
            <a:ext cx="4983480" cy="777240"/>
          </a:xfrm>
          <a:prstGeom prst="rect">
            <a:avLst/>
          </a:prstGeom>
          <a:noFill/>
          <a:ln/>
        </p:spPr>
        <p:txBody>
          <a:bodyPr wrap="square" lIns="0" tIns="0" rIns="0" bIns="0" rtlCol="0" anchor="t"/>
          <a:lstStyle/>
          <a:p>
            <a:pPr indent="0" marL="0">
              <a:buNone/>
            </a:pPr>
            <a:r>
              <a:rPr lang="en-US" sz="1350" dirty="0">
                <a:solidFill>
                  <a:srgbClr val="1E2329"/>
                </a:solidFill>
              </a:rPr>
              <a:t>The summer break interrupts their early participation. Plan deliberate summer contact and a social touchpoint for every one of them.</a:t>
            </a:r>
            <a:endParaRPr lang="en-US" sz="1350" dirty="0"/>
          </a:p>
        </p:txBody>
      </p:sp>
      <p:sp>
        <p:nvSpPr>
          <p:cNvPr id="34" name="Card Past Masters"/>
          <p:cNvSpPr/>
          <p:nvPr/>
        </p:nvSpPr>
        <p:spPr>
          <a:xfrm>
            <a:off x="6172200" y="4343400"/>
            <a:ext cx="5440680" cy="1508760"/>
          </a:xfrm>
          <a:prstGeom prst="roundRect">
            <a:avLst>
              <a:gd name="adj" fmla="val 4848"/>
            </a:avLst>
          </a:prstGeom>
          <a:solidFill>
            <a:srgbClr val="F2F7FC"/>
          </a:solidFill>
          <a:ln w="12700">
            <a:solidFill>
              <a:srgbClr val="F2F7FC"/>
            </a:solidFill>
            <a:prstDash val="solid"/>
          </a:ln>
        </p:spPr>
      </p:sp>
      <p:pic>
        <p:nvPicPr>
          <p:cNvPr id="35" name="Image 1" descr="preencoded.png">    </p:cNvPr>
          <p:cNvPicPr>
            <a:picLocks noChangeAspect="1"/>
          </p:cNvPicPr>
          <p:nvPr/>
        </p:nvPicPr>
        <p:blipFill>
          <a:blip r:embed="rId2"/>
          <a:stretch>
            <a:fillRect/>
          </a:stretch>
        </p:blipFill>
        <p:spPr>
          <a:xfrm>
            <a:off x="6373368" y="4526280"/>
            <a:ext cx="384048" cy="384048"/>
          </a:xfrm>
          <a:prstGeom prst="rect">
            <a:avLst/>
          </a:prstGeom>
        </p:spPr>
      </p:pic>
      <p:sp>
        <p:nvSpPr>
          <p:cNvPr id="36" name="Text 32"/>
          <p:cNvSpPr txBox="1"/>
          <p:nvPr/>
        </p:nvSpPr>
        <p:spPr>
          <a:xfrm>
            <a:off x="6885432" y="4507992"/>
            <a:ext cx="4526280" cy="411480"/>
          </a:xfrm>
          <a:prstGeom prst="rect">
            <a:avLst/>
          </a:prstGeom>
          <a:noFill/>
          <a:ln/>
        </p:spPr>
        <p:txBody>
          <a:bodyPr wrap="square" lIns="0" tIns="0" rIns="0" bIns="0" rtlCol="0" anchor="ctr"/>
          <a:lstStyle/>
          <a:p>
            <a:pPr indent="0" marL="0">
              <a:buNone/>
            </a:pPr>
            <a:r>
              <a:rPr lang="en-US" sz="1600" b="1" dirty="0">
                <a:solidFill>
                  <a:srgbClr val="003668"/>
                </a:solidFill>
              </a:rPr>
              <a:t>Past Masters</a:t>
            </a:r>
            <a:endParaRPr lang="en-US" sz="1600" dirty="0"/>
          </a:p>
        </p:txBody>
      </p:sp>
      <p:sp>
        <p:nvSpPr>
          <p:cNvPr id="37" name="Text 33"/>
          <p:cNvSpPr txBox="1"/>
          <p:nvPr/>
        </p:nvSpPr>
        <p:spPr>
          <a:xfrm>
            <a:off x="6400800" y="4965192"/>
            <a:ext cx="4983480" cy="777240"/>
          </a:xfrm>
          <a:prstGeom prst="rect">
            <a:avLst/>
          </a:prstGeom>
          <a:noFill/>
          <a:ln/>
        </p:spPr>
        <p:txBody>
          <a:bodyPr wrap="square" lIns="0" tIns="0" rIns="0" bIns="0" rtlCol="0" anchor="t"/>
          <a:lstStyle/>
          <a:p>
            <a:pPr indent="0" marL="0">
              <a:buNone/>
            </a:pPr>
            <a:r>
              <a:rPr lang="en-US" sz="1350" dirty="0">
                <a:solidFill>
                  <a:srgbClr val="1E2329"/>
                </a:solidFill>
              </a:rPr>
              <a:t>Included, Involved, Interested: a role, a project, a Brother to mentor. Prepare the Master Elect for after the Chair from Installation day.</a:t>
            </a:r>
            <a:endParaRPr lang="en-US" sz="135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6345D"/>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indent="0" marL="0">
              <a:buNone/>
            </a:pPr>
            <a:r>
              <a:rPr lang="en-US" sz="3200" b="1" dirty="0">
                <a:solidFill>
                  <a:srgbClr val="003668"/>
                </a:solidFill>
              </a:rPr>
              <a:t>Your first month: six things</a:t>
            </a:r>
            <a:endParaRPr lang="en-US" sz="3200" dirty="0"/>
          </a:p>
        </p:txBody>
      </p:sp>
      <p:sp>
        <p:nvSpPr>
          <p:cNvPr id="3" name="Numbered 1"/>
          <p:cNvSpPr/>
          <p:nvPr/>
        </p:nvSpPr>
        <p:spPr>
          <a:xfrm>
            <a:off x="548640" y="1325880"/>
            <a:ext cx="3520440" cy="2103120"/>
          </a:xfrm>
          <a:prstGeom prst="roundRect">
            <a:avLst>
              <a:gd name="adj" fmla="val 3478"/>
            </a:avLst>
          </a:prstGeom>
          <a:solidFill>
            <a:srgbClr val="F2F7FC"/>
          </a:solidFill>
          <a:ln w="12700">
            <a:solidFill>
              <a:srgbClr val="F2F7FC"/>
            </a:solidFill>
            <a:prstDash val="solid"/>
          </a:ln>
        </p:spPr>
      </p:sp>
      <p:sp>
        <p:nvSpPr>
          <p:cNvPr id="4" name="Circle 1"/>
          <p:cNvSpPr/>
          <p:nvPr/>
        </p:nvSpPr>
        <p:spPr>
          <a:xfrm>
            <a:off x="777240" y="1527048"/>
            <a:ext cx="548640" cy="548640"/>
          </a:xfrm>
          <a:prstGeom prst="ellipse">
            <a:avLst/>
          </a:prstGeom>
          <a:solidFill>
            <a:srgbClr val="003668"/>
          </a:solidFill>
          <a:ln w="12700">
            <a:solidFill>
              <a:srgbClr val="003668"/>
            </a:solidFill>
            <a:prstDash val="solid"/>
          </a:ln>
        </p:spPr>
      </p:sp>
      <p:sp>
        <p:nvSpPr>
          <p:cNvPr id="5" name="Text 3"/>
          <p:cNvSpPr txBox="1"/>
          <p:nvPr/>
        </p:nvSpPr>
        <p:spPr>
          <a:xfrm>
            <a:off x="777240" y="152704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6" name="Text 4"/>
          <p:cNvSpPr txBox="1"/>
          <p:nvPr/>
        </p:nvSpPr>
        <p:spPr>
          <a:xfrm>
            <a:off x="1463040" y="1527048"/>
            <a:ext cx="2423160" cy="548640"/>
          </a:xfrm>
          <a:prstGeom prst="rect">
            <a:avLst/>
          </a:prstGeom>
          <a:noFill/>
          <a:ln/>
        </p:spPr>
        <p:txBody>
          <a:bodyPr wrap="square" lIns="0" tIns="0" rIns="0" bIns="0" rtlCol="0" anchor="ctr"/>
          <a:lstStyle/>
          <a:p>
            <a:pPr indent="0" marL="0">
              <a:buNone/>
            </a:pPr>
            <a:r>
              <a:rPr lang="en-US" sz="1450" b="1" dirty="0">
                <a:solidFill>
                  <a:srgbClr val="003668"/>
                </a:solidFill>
              </a:rPr>
              <a:t>Ask for your induction</a:t>
            </a:r>
            <a:endParaRPr lang="en-US" sz="1450" dirty="0"/>
          </a:p>
        </p:txBody>
      </p:sp>
      <p:sp>
        <p:nvSpPr>
          <p:cNvPr id="7" name="Text 5"/>
          <p:cNvSpPr txBox="1"/>
          <p:nvPr/>
        </p:nvSpPr>
        <p:spPr>
          <a:xfrm>
            <a:off x="777240" y="2194560"/>
            <a:ext cx="3063240" cy="1097280"/>
          </a:xfrm>
          <a:prstGeom prst="rect">
            <a:avLst/>
          </a:prstGeom>
          <a:noFill/>
          <a:ln/>
        </p:spPr>
        <p:txBody>
          <a:bodyPr wrap="square" lIns="0" tIns="0" rIns="0" bIns="0" rtlCol="0" anchor="t"/>
          <a:lstStyle/>
          <a:p>
            <a:pPr indent="0" marL="0">
              <a:buNone/>
            </a:pPr>
            <a:r>
              <a:rPr lang="en-US" sz="1250" dirty="0">
                <a:solidFill>
                  <a:srgbClr val="1E2329"/>
                </a:solidFill>
              </a:rPr>
              <a:t>If you have not had it. It comes with the Charge and the Mentor’s Jewel.</a:t>
            </a:r>
            <a:endParaRPr lang="en-US" sz="1250" dirty="0"/>
          </a:p>
        </p:txBody>
      </p:sp>
      <p:sp>
        <p:nvSpPr>
          <p:cNvPr id="8" name="Numbered 2"/>
          <p:cNvSpPr/>
          <p:nvPr/>
        </p:nvSpPr>
        <p:spPr>
          <a:xfrm>
            <a:off x="4297680" y="1325880"/>
            <a:ext cx="3520440" cy="2103120"/>
          </a:xfrm>
          <a:prstGeom prst="roundRect">
            <a:avLst>
              <a:gd name="adj" fmla="val 3478"/>
            </a:avLst>
          </a:prstGeom>
          <a:solidFill>
            <a:srgbClr val="F2F7FC"/>
          </a:solidFill>
          <a:ln w="12700">
            <a:solidFill>
              <a:srgbClr val="F2F7FC"/>
            </a:solidFill>
            <a:prstDash val="solid"/>
          </a:ln>
        </p:spPr>
      </p:sp>
      <p:sp>
        <p:nvSpPr>
          <p:cNvPr id="9" name="Circle 2"/>
          <p:cNvSpPr/>
          <p:nvPr/>
        </p:nvSpPr>
        <p:spPr>
          <a:xfrm>
            <a:off x="4526280" y="1527048"/>
            <a:ext cx="548640" cy="548640"/>
          </a:xfrm>
          <a:prstGeom prst="ellipse">
            <a:avLst/>
          </a:prstGeom>
          <a:solidFill>
            <a:srgbClr val="0A4F72"/>
          </a:solidFill>
          <a:ln w="12700">
            <a:solidFill>
              <a:srgbClr val="0A4F72"/>
            </a:solidFill>
            <a:prstDash val="solid"/>
          </a:ln>
        </p:spPr>
      </p:sp>
      <p:sp>
        <p:nvSpPr>
          <p:cNvPr id="10" name="Text 8"/>
          <p:cNvSpPr txBox="1"/>
          <p:nvPr/>
        </p:nvSpPr>
        <p:spPr>
          <a:xfrm>
            <a:off x="4526280" y="152704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1" name="Text 9"/>
          <p:cNvSpPr txBox="1"/>
          <p:nvPr/>
        </p:nvSpPr>
        <p:spPr>
          <a:xfrm>
            <a:off x="5212080" y="1527048"/>
            <a:ext cx="2423160" cy="548640"/>
          </a:xfrm>
          <a:prstGeom prst="rect">
            <a:avLst/>
          </a:prstGeom>
          <a:noFill/>
          <a:ln/>
        </p:spPr>
        <p:txBody>
          <a:bodyPr wrap="square" lIns="0" tIns="0" rIns="0" bIns="0" rtlCol="0" anchor="ctr"/>
          <a:lstStyle/>
          <a:p>
            <a:pPr indent="0" marL="0">
              <a:buNone/>
            </a:pPr>
            <a:r>
              <a:rPr lang="en-US" sz="1450" b="1" dirty="0">
                <a:solidFill>
                  <a:srgbClr val="0A4F72"/>
                </a:solidFill>
              </a:rPr>
              <a:t>Get the list</a:t>
            </a:r>
            <a:endParaRPr lang="en-US" sz="1450" dirty="0"/>
          </a:p>
        </p:txBody>
      </p:sp>
      <p:sp>
        <p:nvSpPr>
          <p:cNvPr id="12" name="Text 10"/>
          <p:cNvSpPr txBox="1"/>
          <p:nvPr/>
        </p:nvSpPr>
        <p:spPr>
          <a:xfrm>
            <a:off x="4526280" y="2194560"/>
            <a:ext cx="3063240" cy="1097280"/>
          </a:xfrm>
          <a:prstGeom prst="rect">
            <a:avLst/>
          </a:prstGeom>
          <a:noFill/>
          <a:ln/>
        </p:spPr>
        <p:txBody>
          <a:bodyPr wrap="square" lIns="0" tIns="0" rIns="0" bIns="0" rtlCol="0" anchor="t"/>
          <a:lstStyle/>
          <a:p>
            <a:pPr indent="0" marL="0">
              <a:buNone/>
            </a:pPr>
            <a:r>
              <a:rPr lang="en-US" sz="1250" dirty="0">
                <a:solidFill>
                  <a:srgbClr val="1E2329"/>
                </a:solidFill>
              </a:rPr>
              <a:t>From the Secretary: candidates, members in their first two years, joining members in their first year. These are the men under mentoring.</a:t>
            </a:r>
            <a:endParaRPr lang="en-US" sz="1250" dirty="0"/>
          </a:p>
        </p:txBody>
      </p:sp>
      <p:sp>
        <p:nvSpPr>
          <p:cNvPr id="13" name="Numbered 3"/>
          <p:cNvSpPr/>
          <p:nvPr/>
        </p:nvSpPr>
        <p:spPr>
          <a:xfrm>
            <a:off x="8046720" y="1325880"/>
            <a:ext cx="3520440" cy="2103120"/>
          </a:xfrm>
          <a:prstGeom prst="roundRect">
            <a:avLst>
              <a:gd name="adj" fmla="val 3478"/>
            </a:avLst>
          </a:prstGeom>
          <a:solidFill>
            <a:srgbClr val="F2F7FC"/>
          </a:solidFill>
          <a:ln w="12700">
            <a:solidFill>
              <a:srgbClr val="F2F7FC"/>
            </a:solidFill>
            <a:prstDash val="solid"/>
          </a:ln>
        </p:spPr>
      </p:sp>
      <p:sp>
        <p:nvSpPr>
          <p:cNvPr id="14" name="Circle 3"/>
          <p:cNvSpPr/>
          <p:nvPr/>
        </p:nvSpPr>
        <p:spPr>
          <a:xfrm>
            <a:off x="8275320" y="1527048"/>
            <a:ext cx="548640" cy="548640"/>
          </a:xfrm>
          <a:prstGeom prst="ellipse">
            <a:avLst/>
          </a:prstGeom>
          <a:solidFill>
            <a:srgbClr val="106576"/>
          </a:solidFill>
          <a:ln w="12700">
            <a:solidFill>
              <a:srgbClr val="106576"/>
            </a:solidFill>
            <a:prstDash val="solid"/>
          </a:ln>
        </p:spPr>
      </p:sp>
      <p:sp>
        <p:nvSpPr>
          <p:cNvPr id="15" name="Text 13"/>
          <p:cNvSpPr txBox="1"/>
          <p:nvPr/>
        </p:nvSpPr>
        <p:spPr>
          <a:xfrm>
            <a:off x="8275320" y="152704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6" name="Text 14"/>
          <p:cNvSpPr txBox="1"/>
          <p:nvPr/>
        </p:nvSpPr>
        <p:spPr>
          <a:xfrm>
            <a:off x="8961120" y="1527048"/>
            <a:ext cx="2423160" cy="548640"/>
          </a:xfrm>
          <a:prstGeom prst="rect">
            <a:avLst/>
          </a:prstGeom>
          <a:noFill/>
          <a:ln/>
        </p:spPr>
        <p:txBody>
          <a:bodyPr wrap="square" lIns="0" tIns="0" rIns="0" bIns="0" rtlCol="0" anchor="ctr"/>
          <a:lstStyle/>
          <a:p>
            <a:pPr indent="0" marL="0">
              <a:buNone/>
            </a:pPr>
            <a:r>
              <a:rPr lang="en-US" sz="1450" b="1" dirty="0">
                <a:solidFill>
                  <a:srgbClr val="106576"/>
                </a:solidFill>
              </a:rPr>
              <a:t>Mentor and Plan for every man on it</a:t>
            </a:r>
            <a:endParaRPr lang="en-US" sz="1450" dirty="0"/>
          </a:p>
        </p:txBody>
      </p:sp>
      <p:sp>
        <p:nvSpPr>
          <p:cNvPr id="17" name="Text 15"/>
          <p:cNvSpPr txBox="1"/>
          <p:nvPr/>
        </p:nvSpPr>
        <p:spPr>
          <a:xfrm>
            <a:off x="8275320" y="2194560"/>
            <a:ext cx="3063240" cy="1097280"/>
          </a:xfrm>
          <a:prstGeom prst="rect">
            <a:avLst/>
          </a:prstGeom>
          <a:noFill/>
          <a:ln/>
        </p:spPr>
        <p:txBody>
          <a:bodyPr wrap="square" lIns="0" tIns="0" rIns="0" bIns="0" rtlCol="0" anchor="t"/>
          <a:lstStyle/>
          <a:p>
            <a:pPr indent="0" marL="0">
              <a:buNone/>
            </a:pPr>
            <a:r>
              <a:rPr lang="en-US" sz="1250" dirty="0">
                <a:solidFill>
                  <a:srgbClr val="1E2329"/>
                </a:solidFill>
              </a:rPr>
              <a:t>Where there is a gap, fill it this month, not next.</a:t>
            </a:r>
            <a:endParaRPr lang="en-US" sz="1250" dirty="0"/>
          </a:p>
        </p:txBody>
      </p:sp>
      <p:sp>
        <p:nvSpPr>
          <p:cNvPr id="18" name="Numbered 4"/>
          <p:cNvSpPr/>
          <p:nvPr/>
        </p:nvSpPr>
        <p:spPr>
          <a:xfrm>
            <a:off x="548640" y="3611880"/>
            <a:ext cx="3520440" cy="2103120"/>
          </a:xfrm>
          <a:prstGeom prst="roundRect">
            <a:avLst>
              <a:gd name="adj" fmla="val 3478"/>
            </a:avLst>
          </a:prstGeom>
          <a:solidFill>
            <a:srgbClr val="F2F7FC"/>
          </a:solidFill>
          <a:ln w="12700">
            <a:solidFill>
              <a:srgbClr val="F2F7FC"/>
            </a:solidFill>
            <a:prstDash val="solid"/>
          </a:ln>
        </p:spPr>
      </p:sp>
      <p:sp>
        <p:nvSpPr>
          <p:cNvPr id="19" name="Circle 4"/>
          <p:cNvSpPr/>
          <p:nvPr/>
        </p:nvSpPr>
        <p:spPr>
          <a:xfrm>
            <a:off x="777240" y="3813048"/>
            <a:ext cx="548640" cy="548640"/>
          </a:xfrm>
          <a:prstGeom prst="ellipse">
            <a:avLst/>
          </a:prstGeom>
          <a:solidFill>
            <a:srgbClr val="157A7C"/>
          </a:solidFill>
          <a:ln w="12700">
            <a:solidFill>
              <a:srgbClr val="157A7C"/>
            </a:solidFill>
            <a:prstDash val="solid"/>
          </a:ln>
        </p:spPr>
      </p:sp>
      <p:sp>
        <p:nvSpPr>
          <p:cNvPr id="20" name="Text 18"/>
          <p:cNvSpPr txBox="1"/>
          <p:nvPr/>
        </p:nvSpPr>
        <p:spPr>
          <a:xfrm>
            <a:off x="777240" y="381304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21" name="Text 19"/>
          <p:cNvSpPr txBox="1"/>
          <p:nvPr/>
        </p:nvSpPr>
        <p:spPr>
          <a:xfrm>
            <a:off x="1463040" y="3813048"/>
            <a:ext cx="2423160" cy="548640"/>
          </a:xfrm>
          <a:prstGeom prst="rect">
            <a:avLst/>
          </a:prstGeom>
          <a:noFill/>
          <a:ln/>
        </p:spPr>
        <p:txBody>
          <a:bodyPr wrap="square" lIns="0" tIns="0" rIns="0" bIns="0" rtlCol="0" anchor="ctr"/>
          <a:lstStyle/>
          <a:p>
            <a:pPr indent="0" marL="0">
              <a:buNone/>
            </a:pPr>
            <a:r>
              <a:rPr lang="en-US" sz="1450" b="1" dirty="0">
                <a:solidFill>
                  <a:srgbClr val="157A7C"/>
                </a:solidFill>
              </a:rPr>
              <a:t>Ten minutes each</a:t>
            </a:r>
            <a:endParaRPr lang="en-US" sz="1450" dirty="0"/>
          </a:p>
        </p:txBody>
      </p:sp>
      <p:sp>
        <p:nvSpPr>
          <p:cNvPr id="22" name="Text 20"/>
          <p:cNvSpPr txBox="1"/>
          <p:nvPr/>
        </p:nvSpPr>
        <p:spPr>
          <a:xfrm>
            <a:off x="777240" y="4480560"/>
            <a:ext cx="3063240" cy="1097280"/>
          </a:xfrm>
          <a:prstGeom prst="rect">
            <a:avLst/>
          </a:prstGeom>
          <a:noFill/>
          <a:ln/>
        </p:spPr>
        <p:txBody>
          <a:bodyPr wrap="square" lIns="0" tIns="0" rIns="0" bIns="0" rtlCol="0" anchor="t"/>
          <a:lstStyle/>
          <a:p>
            <a:pPr indent="0" marL="0">
              <a:buNone/>
            </a:pPr>
            <a:r>
              <a:rPr lang="en-US" sz="1250" dirty="0">
                <a:solidFill>
                  <a:srgbClr val="1E2329"/>
                </a:solidFill>
              </a:rPr>
              <a:t>Secretary, Almoner, Worshipful Master. Agree the attendance record after every meeting, same-day notice of any resignation, and your report on the Committee agenda.</a:t>
            </a:r>
            <a:endParaRPr lang="en-US" sz="1250" dirty="0"/>
          </a:p>
        </p:txBody>
      </p:sp>
      <p:sp>
        <p:nvSpPr>
          <p:cNvPr id="23" name="Numbered 5"/>
          <p:cNvSpPr/>
          <p:nvPr/>
        </p:nvSpPr>
        <p:spPr>
          <a:xfrm>
            <a:off x="4297680" y="3611880"/>
            <a:ext cx="3520440" cy="2103120"/>
          </a:xfrm>
          <a:prstGeom prst="roundRect">
            <a:avLst>
              <a:gd name="adj" fmla="val 3478"/>
            </a:avLst>
          </a:prstGeom>
          <a:solidFill>
            <a:srgbClr val="F2F7FC"/>
          </a:solidFill>
          <a:ln w="12700">
            <a:solidFill>
              <a:srgbClr val="F2F7FC"/>
            </a:solidFill>
            <a:prstDash val="solid"/>
          </a:ln>
        </p:spPr>
      </p:sp>
      <p:sp>
        <p:nvSpPr>
          <p:cNvPr id="24" name="Circle 5"/>
          <p:cNvSpPr/>
          <p:nvPr/>
        </p:nvSpPr>
        <p:spPr>
          <a:xfrm>
            <a:off x="4526280" y="3813048"/>
            <a:ext cx="548640" cy="548640"/>
          </a:xfrm>
          <a:prstGeom prst="ellipse">
            <a:avLst/>
          </a:prstGeom>
          <a:solidFill>
            <a:srgbClr val="06345D"/>
          </a:solidFill>
          <a:ln w="12700">
            <a:solidFill>
              <a:srgbClr val="06345D"/>
            </a:solidFill>
            <a:prstDash val="solid"/>
          </a:ln>
        </p:spPr>
      </p:sp>
      <p:sp>
        <p:nvSpPr>
          <p:cNvPr id="25" name="Text 23"/>
          <p:cNvSpPr txBox="1"/>
          <p:nvPr/>
        </p:nvSpPr>
        <p:spPr>
          <a:xfrm>
            <a:off x="4526280" y="381304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5</a:t>
            </a:r>
            <a:endParaRPr lang="en-US" sz="1800" dirty="0"/>
          </a:p>
        </p:txBody>
      </p:sp>
      <p:sp>
        <p:nvSpPr>
          <p:cNvPr id="26" name="Text 24"/>
          <p:cNvSpPr txBox="1"/>
          <p:nvPr/>
        </p:nvSpPr>
        <p:spPr>
          <a:xfrm>
            <a:off x="5212080" y="3813048"/>
            <a:ext cx="2423160" cy="548640"/>
          </a:xfrm>
          <a:prstGeom prst="rect">
            <a:avLst/>
          </a:prstGeom>
          <a:noFill/>
          <a:ln/>
        </p:spPr>
        <p:txBody>
          <a:bodyPr wrap="square" lIns="0" tIns="0" rIns="0" bIns="0" rtlCol="0" anchor="ctr"/>
          <a:lstStyle/>
          <a:p>
            <a:pPr indent="0" marL="0">
              <a:buNone/>
            </a:pPr>
            <a:r>
              <a:rPr lang="en-US" sz="1450" b="1" dirty="0">
                <a:solidFill>
                  <a:srgbClr val="06345D"/>
                </a:solidFill>
              </a:rPr>
              <a:t>Join the monthly call</a:t>
            </a:r>
            <a:endParaRPr lang="en-US" sz="1450" dirty="0"/>
          </a:p>
        </p:txBody>
      </p:sp>
      <p:sp>
        <p:nvSpPr>
          <p:cNvPr id="27" name="Text 25"/>
          <p:cNvSpPr txBox="1"/>
          <p:nvPr/>
        </p:nvSpPr>
        <p:spPr>
          <a:xfrm>
            <a:off x="4526280" y="4480560"/>
            <a:ext cx="3063240" cy="1097280"/>
          </a:xfrm>
          <a:prstGeom prst="rect">
            <a:avLst/>
          </a:prstGeom>
          <a:noFill/>
          <a:ln/>
        </p:spPr>
        <p:txBody>
          <a:bodyPr wrap="square" lIns="0" tIns="0" rIns="0" bIns="0" rtlCol="0" anchor="t"/>
          <a:lstStyle/>
          <a:p>
            <a:pPr indent="0" marL="0">
              <a:buNone/>
            </a:pPr>
            <a:r>
              <a:rPr lang="en-US" sz="1250" dirty="0">
                <a:solidFill>
                  <a:srgbClr val="1E2329"/>
                </a:solidFill>
              </a:rPr>
              <a:t>First Tuesday, 7pm, Teams. Open to you and every Personal Mentor.</a:t>
            </a:r>
            <a:endParaRPr lang="en-US" sz="1250" dirty="0"/>
          </a:p>
        </p:txBody>
      </p:sp>
      <p:sp>
        <p:nvSpPr>
          <p:cNvPr id="28" name="Numbered 6"/>
          <p:cNvSpPr/>
          <p:nvPr/>
        </p:nvSpPr>
        <p:spPr>
          <a:xfrm>
            <a:off x="8046720" y="3611880"/>
            <a:ext cx="3520440" cy="2103120"/>
          </a:xfrm>
          <a:prstGeom prst="roundRect">
            <a:avLst>
              <a:gd name="adj" fmla="val 3478"/>
            </a:avLst>
          </a:prstGeom>
          <a:solidFill>
            <a:srgbClr val="F2F7FC"/>
          </a:solidFill>
          <a:ln w="12700">
            <a:solidFill>
              <a:srgbClr val="F2F7FC"/>
            </a:solidFill>
            <a:prstDash val="solid"/>
          </a:ln>
        </p:spPr>
      </p:sp>
      <p:sp>
        <p:nvSpPr>
          <p:cNvPr id="29" name="Circle 6"/>
          <p:cNvSpPr/>
          <p:nvPr/>
        </p:nvSpPr>
        <p:spPr>
          <a:xfrm>
            <a:off x="8275320" y="3813048"/>
            <a:ext cx="548640" cy="548640"/>
          </a:xfrm>
          <a:prstGeom prst="ellipse">
            <a:avLst/>
          </a:prstGeom>
          <a:solidFill>
            <a:srgbClr val="003668"/>
          </a:solidFill>
          <a:ln w="12700">
            <a:solidFill>
              <a:srgbClr val="003668"/>
            </a:solidFill>
            <a:prstDash val="solid"/>
          </a:ln>
        </p:spPr>
      </p:sp>
      <p:sp>
        <p:nvSpPr>
          <p:cNvPr id="30" name="Text 28"/>
          <p:cNvSpPr txBox="1"/>
          <p:nvPr/>
        </p:nvSpPr>
        <p:spPr>
          <a:xfrm>
            <a:off x="8275320" y="381304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6</a:t>
            </a:r>
            <a:endParaRPr lang="en-US" sz="1800" dirty="0"/>
          </a:p>
        </p:txBody>
      </p:sp>
      <p:sp>
        <p:nvSpPr>
          <p:cNvPr id="31" name="Text 29"/>
          <p:cNvSpPr txBox="1"/>
          <p:nvPr/>
        </p:nvSpPr>
        <p:spPr>
          <a:xfrm>
            <a:off x="8961120" y="3813048"/>
            <a:ext cx="2423160" cy="548640"/>
          </a:xfrm>
          <a:prstGeom prst="rect">
            <a:avLst/>
          </a:prstGeom>
          <a:noFill/>
          <a:ln/>
        </p:spPr>
        <p:txBody>
          <a:bodyPr wrap="square" lIns="0" tIns="0" rIns="0" bIns="0" rtlCol="0" anchor="ctr"/>
          <a:lstStyle/>
          <a:p>
            <a:pPr indent="0" marL="0">
              <a:buNone/>
            </a:pPr>
            <a:r>
              <a:rPr lang="en-US" sz="1450" b="1" dirty="0">
                <a:solidFill>
                  <a:srgbClr val="003668"/>
                </a:solidFill>
              </a:rPr>
              <a:t>Invite your APGMen</a:t>
            </a:r>
            <a:endParaRPr lang="en-US" sz="1450" dirty="0"/>
          </a:p>
        </p:txBody>
      </p:sp>
      <p:sp>
        <p:nvSpPr>
          <p:cNvPr id="32" name="Text 30"/>
          <p:cNvSpPr txBox="1"/>
          <p:nvPr/>
        </p:nvSpPr>
        <p:spPr>
          <a:xfrm>
            <a:off x="8275320" y="4480560"/>
            <a:ext cx="3063240" cy="1097280"/>
          </a:xfrm>
          <a:prstGeom prst="rect">
            <a:avLst/>
          </a:prstGeom>
          <a:noFill/>
          <a:ln/>
        </p:spPr>
        <p:txBody>
          <a:bodyPr wrap="square" lIns="0" tIns="0" rIns="0" bIns="0" rtlCol="0" anchor="t"/>
          <a:lstStyle/>
          <a:p>
            <a:pPr indent="0" marL="0">
              <a:buNone/>
            </a:pPr>
            <a:r>
              <a:rPr lang="en-US" sz="1250" dirty="0">
                <a:solidFill>
                  <a:srgbClr val="1E2329"/>
                </a:solidFill>
              </a:rPr>
              <a:t>To the next Initiation. He is there to help, never to inspect.</a:t>
            </a:r>
            <a:endParaRPr lang="en-US" sz="125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6345D"/>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indent="0" marL="0">
              <a:buNone/>
            </a:pPr>
            <a:r>
              <a:rPr lang="en-US" sz="3200" b="1" dirty="0">
                <a:solidFill>
                  <a:srgbClr val="003668"/>
                </a:solidFill>
              </a:rPr>
              <a:t>When it gets difficult</a:t>
            </a:r>
            <a:endParaRPr lang="en-US" sz="3200" dirty="0"/>
          </a:p>
        </p:txBody>
      </p:sp>
      <p:sp>
        <p:nvSpPr>
          <p:cNvPr id="3" name="Card The pattern is the signal"/>
          <p:cNvSpPr/>
          <p:nvPr/>
        </p:nvSpPr>
        <p:spPr>
          <a:xfrm>
            <a:off x="548640" y="1280160"/>
            <a:ext cx="5440680" cy="2103120"/>
          </a:xfrm>
          <a:prstGeom prst="roundRect">
            <a:avLst>
              <a:gd name="adj" fmla="val 3478"/>
            </a:avLst>
          </a:prstGeom>
          <a:solidFill>
            <a:srgbClr val="F2F7FC"/>
          </a:solidFill>
          <a:ln w="12700">
            <a:solidFill>
              <a:srgbClr val="F2F7FC"/>
            </a:solidFill>
            <a:prstDash val="solid"/>
          </a:ln>
        </p:spPr>
      </p:sp>
      <p:pic>
        <p:nvPicPr>
          <p:cNvPr id="4" name="Image 0" descr="preencoded.png">    </p:cNvPr>
          <p:cNvPicPr>
            <a:picLocks noChangeAspect="1"/>
          </p:cNvPicPr>
          <p:nvPr/>
        </p:nvPicPr>
        <p:blipFill>
          <a:blip r:embed="rId1"/>
          <a:stretch>
            <a:fillRect/>
          </a:stretch>
        </p:blipFill>
        <p:spPr>
          <a:xfrm>
            <a:off x="749808" y="1463040"/>
            <a:ext cx="384048" cy="384048"/>
          </a:xfrm>
          <a:prstGeom prst="rect">
            <a:avLst/>
          </a:prstGeom>
        </p:spPr>
      </p:pic>
      <p:sp>
        <p:nvSpPr>
          <p:cNvPr id="5" name="Text 2"/>
          <p:cNvSpPr txBox="1"/>
          <p:nvPr/>
        </p:nvSpPr>
        <p:spPr>
          <a:xfrm>
            <a:off x="1261872" y="1444752"/>
            <a:ext cx="4526280" cy="411480"/>
          </a:xfrm>
          <a:prstGeom prst="rect">
            <a:avLst/>
          </a:prstGeom>
          <a:noFill/>
          <a:ln/>
        </p:spPr>
        <p:txBody>
          <a:bodyPr wrap="square" lIns="0" tIns="0" rIns="0" bIns="0" rtlCol="0" anchor="ctr"/>
          <a:lstStyle/>
          <a:p>
            <a:pPr indent="0" marL="0">
              <a:buNone/>
            </a:pPr>
            <a:r>
              <a:rPr lang="en-US" sz="1600" b="1" dirty="0">
                <a:solidFill>
                  <a:srgbClr val="003668"/>
                </a:solidFill>
              </a:rPr>
              <a:t>The pattern is the signal</a:t>
            </a:r>
            <a:endParaRPr lang="en-US" sz="1600" dirty="0"/>
          </a:p>
        </p:txBody>
      </p:sp>
      <p:sp>
        <p:nvSpPr>
          <p:cNvPr id="6" name="Text 3"/>
          <p:cNvSpPr txBox="1"/>
          <p:nvPr/>
        </p:nvSpPr>
        <p:spPr>
          <a:xfrm>
            <a:off x="777240" y="1901952"/>
            <a:ext cx="4983480" cy="1371600"/>
          </a:xfrm>
          <a:prstGeom prst="rect">
            <a:avLst/>
          </a:prstGeom>
          <a:noFill/>
          <a:ln/>
        </p:spPr>
        <p:txBody>
          <a:bodyPr wrap="square" lIns="0" tIns="0" rIns="0" bIns="0" rtlCol="0" anchor="t"/>
          <a:lstStyle/>
          <a:p>
            <a:pPr marL="203200" indent="-203200">
              <a:spcAft>
                <a:spcPts val="400"/>
              </a:spcAft>
              <a:buSzPct val="100000"/>
              <a:buChar char="■"/>
            </a:pPr>
            <a:r>
              <a:rPr lang="en-US" sz="1350" dirty="0">
                <a:solidFill>
                  <a:srgbClr val="1E2329"/>
                </a:solidFill>
              </a:rPr>
              <a:t>A break in his own pattern, not a low level of attendance. The stalwart who stops coming is the one to worry about</a:t>
            </a:r>
            <a:endParaRPr lang="en-US" sz="1350" dirty="0"/>
          </a:p>
          <a:p>
            <a:pPr marL="203200" indent="-203200">
              <a:spcAft>
                <a:spcPts val="400"/>
              </a:spcAft>
              <a:buSzPct val="100000"/>
              <a:buChar char="■"/>
            </a:pPr>
            <a:r>
              <a:rPr lang="en-US" sz="1350" dirty="0">
                <a:solidFill>
                  <a:srgbClr val="1E2329"/>
                </a:solidFill>
              </a:rPr>
              <a:t>The Secretary’s attendance record is your early-warning system</a:t>
            </a:r>
            <a:endParaRPr lang="en-US" sz="1350" dirty="0"/>
          </a:p>
          <a:p>
            <a:pPr marL="203200" indent="-203200">
              <a:spcAft>
                <a:spcPts val="400"/>
              </a:spcAft>
              <a:buSzPct val="100000"/>
              <a:buChar char="■"/>
            </a:pPr>
            <a:r>
              <a:rPr lang="en-US" sz="1350" dirty="0">
                <a:solidFill>
                  <a:srgbClr val="1E2329"/>
                </a:solidFill>
              </a:rPr>
              <a:t>Two misses, seven days: the habit</a:t>
            </a:r>
            <a:endParaRPr lang="en-US" sz="1350" dirty="0"/>
          </a:p>
        </p:txBody>
      </p:sp>
      <p:sp>
        <p:nvSpPr>
          <p:cNvPr id="7" name="Card The hand-offs"/>
          <p:cNvSpPr/>
          <p:nvPr/>
        </p:nvSpPr>
        <p:spPr>
          <a:xfrm>
            <a:off x="6172200" y="1280160"/>
            <a:ext cx="5440680" cy="2103120"/>
          </a:xfrm>
          <a:prstGeom prst="roundRect">
            <a:avLst>
              <a:gd name="adj" fmla="val 3478"/>
            </a:avLst>
          </a:prstGeom>
          <a:solidFill>
            <a:srgbClr val="F2F7FC"/>
          </a:solidFill>
          <a:ln w="12700">
            <a:solidFill>
              <a:srgbClr val="F2F7FC"/>
            </a:solidFill>
            <a:prstDash val="solid"/>
          </a:ln>
        </p:spPr>
      </p:sp>
      <p:pic>
        <p:nvPicPr>
          <p:cNvPr id="8" name="Image 1" descr="preencoded.png">    </p:cNvPr>
          <p:cNvPicPr>
            <a:picLocks noChangeAspect="1"/>
          </p:cNvPicPr>
          <p:nvPr/>
        </p:nvPicPr>
        <p:blipFill>
          <a:blip r:embed="rId2"/>
          <a:stretch>
            <a:fillRect/>
          </a:stretch>
        </p:blipFill>
        <p:spPr>
          <a:xfrm>
            <a:off x="6373368" y="1463040"/>
            <a:ext cx="384048" cy="384048"/>
          </a:xfrm>
          <a:prstGeom prst="rect">
            <a:avLst/>
          </a:prstGeom>
        </p:spPr>
      </p:pic>
      <p:sp>
        <p:nvSpPr>
          <p:cNvPr id="9" name="Text 5"/>
          <p:cNvSpPr txBox="1"/>
          <p:nvPr/>
        </p:nvSpPr>
        <p:spPr>
          <a:xfrm>
            <a:off x="6885432" y="1444752"/>
            <a:ext cx="4526280" cy="411480"/>
          </a:xfrm>
          <a:prstGeom prst="rect">
            <a:avLst/>
          </a:prstGeom>
          <a:noFill/>
          <a:ln/>
        </p:spPr>
        <p:txBody>
          <a:bodyPr wrap="square" lIns="0" tIns="0" rIns="0" bIns="0" rtlCol="0" anchor="ctr"/>
          <a:lstStyle/>
          <a:p>
            <a:pPr indent="0" marL="0">
              <a:buNone/>
            </a:pPr>
            <a:r>
              <a:rPr lang="en-US" sz="1600" b="1" dirty="0">
                <a:solidFill>
                  <a:srgbClr val="003668"/>
                </a:solidFill>
              </a:rPr>
              <a:t>The hand-offs</a:t>
            </a:r>
            <a:endParaRPr lang="en-US" sz="1600" dirty="0"/>
          </a:p>
        </p:txBody>
      </p:sp>
      <p:sp>
        <p:nvSpPr>
          <p:cNvPr id="10" name="Text 6"/>
          <p:cNvSpPr txBox="1"/>
          <p:nvPr/>
        </p:nvSpPr>
        <p:spPr>
          <a:xfrm>
            <a:off x="6400800" y="1901952"/>
            <a:ext cx="4983480" cy="1371600"/>
          </a:xfrm>
          <a:prstGeom prst="rect">
            <a:avLst/>
          </a:prstGeom>
          <a:noFill/>
          <a:ln/>
        </p:spPr>
        <p:txBody>
          <a:bodyPr wrap="square" lIns="0" tIns="0" rIns="0" bIns="0" rtlCol="0" anchor="t"/>
          <a:lstStyle/>
          <a:p>
            <a:pPr marL="203200" indent="-203200">
              <a:spcAft>
                <a:spcPts val="400"/>
              </a:spcAft>
              <a:buSzPct val="100000"/>
              <a:buChar char="■"/>
            </a:pPr>
            <a:r>
              <a:rPr lang="en-US" sz="1250" dirty="0">
                <a:solidFill>
                  <a:srgbClr val="1E2329"/>
                </a:solidFill>
              </a:rPr>
              <a:t>Almoner: anything touching welfare. Note only “referred to Almoner”</a:t>
            </a:r>
            <a:endParaRPr lang="en-US" sz="1250" dirty="0"/>
          </a:p>
          <a:p>
            <a:pPr marL="203200" indent="-203200">
              <a:spcAft>
                <a:spcPts val="400"/>
              </a:spcAft>
              <a:buSzPct val="100000"/>
              <a:buChar char="■"/>
            </a:pPr>
            <a:r>
              <a:rPr lang="en-US" sz="1250" dirty="0">
                <a:solidFill>
                  <a:srgbClr val="1E2329"/>
                </a:solidFill>
              </a:rPr>
              <a:t>Secretary: acknowledges a resignation only; cannot accept it; you and the Almoner told the same day</a:t>
            </a:r>
            <a:endParaRPr lang="en-US" sz="1250" dirty="0"/>
          </a:p>
          <a:p>
            <a:pPr marL="203200" indent="-203200">
              <a:spcAft>
                <a:spcPts val="400"/>
              </a:spcAft>
              <a:buSzPct val="100000"/>
              <a:buChar char="■"/>
            </a:pPr>
            <a:r>
              <a:rPr lang="en-US" sz="1250" dirty="0">
                <a:solidFill>
                  <a:srgbClr val="1E2329"/>
                </a:solidFill>
              </a:rPr>
              <a:t>Treasurer: a first missed subscription earns a quiet word</a:t>
            </a:r>
            <a:endParaRPr lang="en-US" sz="1250" dirty="0"/>
          </a:p>
          <a:p>
            <a:pPr marL="203200" indent="-203200">
              <a:spcAft>
                <a:spcPts val="400"/>
              </a:spcAft>
              <a:buSzPct val="100000"/>
              <a:buChar char="■"/>
            </a:pPr>
            <a:r>
              <a:rPr lang="en-US" sz="1250" dirty="0">
                <a:solidFill>
                  <a:srgbClr val="1E2329"/>
                </a:solidFill>
              </a:rPr>
              <a:t>Royal Arch Representative: One Journey’s bridge</a:t>
            </a:r>
            <a:endParaRPr lang="en-US" sz="1250" dirty="0"/>
          </a:p>
        </p:txBody>
      </p:sp>
      <p:sp>
        <p:nvSpPr>
          <p:cNvPr id="11" name="Numbered 1"/>
          <p:cNvSpPr/>
          <p:nvPr/>
        </p:nvSpPr>
        <p:spPr>
          <a:xfrm>
            <a:off x="548640" y="3566160"/>
            <a:ext cx="2651760" cy="2286000"/>
          </a:xfrm>
          <a:prstGeom prst="roundRect">
            <a:avLst>
              <a:gd name="adj" fmla="val 3200"/>
            </a:avLst>
          </a:prstGeom>
          <a:solidFill>
            <a:srgbClr val="F2F7FC"/>
          </a:solidFill>
          <a:ln w="12700">
            <a:solidFill>
              <a:srgbClr val="F2F7FC"/>
            </a:solidFill>
            <a:prstDash val="solid"/>
          </a:ln>
        </p:spPr>
      </p:sp>
      <p:sp>
        <p:nvSpPr>
          <p:cNvPr id="12" name="Circle 1"/>
          <p:cNvSpPr/>
          <p:nvPr/>
        </p:nvSpPr>
        <p:spPr>
          <a:xfrm>
            <a:off x="777240" y="3767328"/>
            <a:ext cx="548640" cy="548640"/>
          </a:xfrm>
          <a:prstGeom prst="ellipse">
            <a:avLst/>
          </a:prstGeom>
          <a:solidFill>
            <a:srgbClr val="003668"/>
          </a:solidFill>
          <a:ln w="12700">
            <a:solidFill>
              <a:srgbClr val="003668"/>
            </a:solidFill>
            <a:prstDash val="solid"/>
          </a:ln>
        </p:spPr>
      </p:sp>
      <p:sp>
        <p:nvSpPr>
          <p:cNvPr id="13" name="Text 9"/>
          <p:cNvSpPr txBox="1"/>
          <p:nvPr/>
        </p:nvSpPr>
        <p:spPr>
          <a:xfrm>
            <a:off x="777240" y="376732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14" name="Text 10"/>
          <p:cNvSpPr txBox="1"/>
          <p:nvPr/>
        </p:nvSpPr>
        <p:spPr>
          <a:xfrm>
            <a:off x="1463040" y="3767328"/>
            <a:ext cx="1554480" cy="548640"/>
          </a:xfrm>
          <a:prstGeom prst="rect">
            <a:avLst/>
          </a:prstGeom>
          <a:noFill/>
          <a:ln/>
        </p:spPr>
        <p:txBody>
          <a:bodyPr wrap="square" lIns="0" tIns="0" rIns="0" bIns="0" rtlCol="0" anchor="ctr"/>
          <a:lstStyle/>
          <a:p>
            <a:pPr indent="0" marL="0">
              <a:buNone/>
            </a:pPr>
            <a:r>
              <a:rPr lang="en-US" sz="1400" b="1" dirty="0">
                <a:solidFill>
                  <a:srgbClr val="003668"/>
                </a:solidFill>
              </a:rPr>
              <a:t>Personal Mentor</a:t>
            </a:r>
            <a:endParaRPr lang="en-US" sz="1400" dirty="0"/>
          </a:p>
        </p:txBody>
      </p:sp>
      <p:sp>
        <p:nvSpPr>
          <p:cNvPr id="15" name="Text 11"/>
          <p:cNvSpPr txBox="1"/>
          <p:nvPr/>
        </p:nvSpPr>
        <p:spPr>
          <a:xfrm>
            <a:off x="777240" y="4434840"/>
            <a:ext cx="2194560" cy="1280160"/>
          </a:xfrm>
          <a:prstGeom prst="rect">
            <a:avLst/>
          </a:prstGeom>
          <a:noFill/>
          <a:ln/>
        </p:spPr>
        <p:txBody>
          <a:bodyPr wrap="square" lIns="0" tIns="0" rIns="0" bIns="0" rtlCol="0" anchor="t"/>
          <a:lstStyle/>
          <a:p>
            <a:pPr indent="0" marL="0">
              <a:buNone/>
            </a:pPr>
            <a:r>
              <a:rPr lang="en-US" sz="1200" dirty="0">
                <a:solidFill>
                  <a:srgbClr val="1E2329"/>
                </a:solidFill>
              </a:rPr>
              <a:t>Warm, informal. After two misses, within seven days of the second.</a:t>
            </a:r>
            <a:endParaRPr lang="en-US" sz="1200" dirty="0"/>
          </a:p>
        </p:txBody>
      </p:sp>
      <p:sp>
        <p:nvSpPr>
          <p:cNvPr id="16" name="Numbered 2"/>
          <p:cNvSpPr/>
          <p:nvPr/>
        </p:nvSpPr>
        <p:spPr>
          <a:xfrm>
            <a:off x="3364992" y="3566160"/>
            <a:ext cx="2651760" cy="2286000"/>
          </a:xfrm>
          <a:prstGeom prst="roundRect">
            <a:avLst>
              <a:gd name="adj" fmla="val 3200"/>
            </a:avLst>
          </a:prstGeom>
          <a:solidFill>
            <a:srgbClr val="F2F7FC"/>
          </a:solidFill>
          <a:ln w="12700">
            <a:solidFill>
              <a:srgbClr val="F2F7FC"/>
            </a:solidFill>
            <a:prstDash val="solid"/>
          </a:ln>
        </p:spPr>
      </p:sp>
      <p:sp>
        <p:nvSpPr>
          <p:cNvPr id="17" name="Circle 2"/>
          <p:cNvSpPr/>
          <p:nvPr/>
        </p:nvSpPr>
        <p:spPr>
          <a:xfrm>
            <a:off x="3593592" y="3767328"/>
            <a:ext cx="548640" cy="548640"/>
          </a:xfrm>
          <a:prstGeom prst="ellipse">
            <a:avLst/>
          </a:prstGeom>
          <a:solidFill>
            <a:srgbClr val="0A4F72"/>
          </a:solidFill>
          <a:ln w="12700">
            <a:solidFill>
              <a:srgbClr val="0A4F72"/>
            </a:solidFill>
            <a:prstDash val="solid"/>
          </a:ln>
        </p:spPr>
      </p:sp>
      <p:sp>
        <p:nvSpPr>
          <p:cNvPr id="18" name="Text 14"/>
          <p:cNvSpPr txBox="1"/>
          <p:nvPr/>
        </p:nvSpPr>
        <p:spPr>
          <a:xfrm>
            <a:off x="3593592" y="376732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9" name="Text 15"/>
          <p:cNvSpPr txBox="1"/>
          <p:nvPr/>
        </p:nvSpPr>
        <p:spPr>
          <a:xfrm>
            <a:off x="4279392" y="3767328"/>
            <a:ext cx="1554480" cy="548640"/>
          </a:xfrm>
          <a:prstGeom prst="rect">
            <a:avLst/>
          </a:prstGeom>
          <a:noFill/>
          <a:ln/>
        </p:spPr>
        <p:txBody>
          <a:bodyPr wrap="square" lIns="0" tIns="0" rIns="0" bIns="0" rtlCol="0" anchor="ctr"/>
          <a:lstStyle/>
          <a:p>
            <a:pPr indent="0" marL="0">
              <a:buNone/>
            </a:pPr>
            <a:r>
              <a:rPr lang="en-US" sz="1400" b="1" dirty="0">
                <a:solidFill>
                  <a:srgbClr val="0A4F72"/>
                </a:solidFill>
              </a:rPr>
              <a:t>You</a:t>
            </a:r>
            <a:endParaRPr lang="en-US" sz="1400" dirty="0"/>
          </a:p>
        </p:txBody>
      </p:sp>
      <p:sp>
        <p:nvSpPr>
          <p:cNvPr id="20" name="Text 16"/>
          <p:cNvSpPr txBox="1"/>
          <p:nvPr/>
        </p:nvSpPr>
        <p:spPr>
          <a:xfrm>
            <a:off x="3593592" y="4434840"/>
            <a:ext cx="2194560" cy="1280160"/>
          </a:xfrm>
          <a:prstGeom prst="rect">
            <a:avLst/>
          </a:prstGeom>
          <a:noFill/>
          <a:ln/>
        </p:spPr>
        <p:txBody>
          <a:bodyPr wrap="square" lIns="0" tIns="0" rIns="0" bIns="0" rtlCol="0" anchor="t"/>
          <a:lstStyle/>
          <a:p>
            <a:pPr indent="0" marL="0">
              <a:buNone/>
            </a:pPr>
            <a:r>
              <a:rPr lang="en-US" sz="1200" dirty="0">
                <a:solidFill>
                  <a:srgbClr val="1E2329"/>
                </a:solidFill>
              </a:rPr>
              <a:t>The overview; what could the Lodge change; a discreet note; close the loop.</a:t>
            </a:r>
            <a:endParaRPr lang="en-US" sz="1200" dirty="0"/>
          </a:p>
        </p:txBody>
      </p:sp>
      <p:sp>
        <p:nvSpPr>
          <p:cNvPr id="21" name="Numbered 3"/>
          <p:cNvSpPr/>
          <p:nvPr/>
        </p:nvSpPr>
        <p:spPr>
          <a:xfrm>
            <a:off x="6181344" y="3566160"/>
            <a:ext cx="2651760" cy="2286000"/>
          </a:xfrm>
          <a:prstGeom prst="roundRect">
            <a:avLst>
              <a:gd name="adj" fmla="val 3200"/>
            </a:avLst>
          </a:prstGeom>
          <a:solidFill>
            <a:srgbClr val="F2F7FC"/>
          </a:solidFill>
          <a:ln w="12700">
            <a:solidFill>
              <a:srgbClr val="F2F7FC"/>
            </a:solidFill>
            <a:prstDash val="solid"/>
          </a:ln>
        </p:spPr>
      </p:sp>
      <p:sp>
        <p:nvSpPr>
          <p:cNvPr id="22" name="Circle 3"/>
          <p:cNvSpPr/>
          <p:nvPr/>
        </p:nvSpPr>
        <p:spPr>
          <a:xfrm>
            <a:off x="6409944" y="3767328"/>
            <a:ext cx="548640" cy="548640"/>
          </a:xfrm>
          <a:prstGeom prst="ellipse">
            <a:avLst/>
          </a:prstGeom>
          <a:solidFill>
            <a:srgbClr val="106576"/>
          </a:solidFill>
          <a:ln w="12700">
            <a:solidFill>
              <a:srgbClr val="106576"/>
            </a:solidFill>
            <a:prstDash val="solid"/>
          </a:ln>
        </p:spPr>
      </p:sp>
      <p:sp>
        <p:nvSpPr>
          <p:cNvPr id="23" name="Text 19"/>
          <p:cNvSpPr txBox="1"/>
          <p:nvPr/>
        </p:nvSpPr>
        <p:spPr>
          <a:xfrm>
            <a:off x="6409944" y="376732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24" name="Text 20"/>
          <p:cNvSpPr txBox="1"/>
          <p:nvPr/>
        </p:nvSpPr>
        <p:spPr>
          <a:xfrm>
            <a:off x="7095744" y="3767328"/>
            <a:ext cx="1554480" cy="548640"/>
          </a:xfrm>
          <a:prstGeom prst="rect">
            <a:avLst/>
          </a:prstGeom>
          <a:noFill/>
          <a:ln/>
        </p:spPr>
        <p:txBody>
          <a:bodyPr wrap="square" lIns="0" tIns="0" rIns="0" bIns="0" rtlCol="0" anchor="ctr"/>
          <a:lstStyle/>
          <a:p>
            <a:pPr indent="0" marL="0">
              <a:buNone/>
            </a:pPr>
            <a:r>
              <a:rPr lang="en-US" sz="1400" b="1" dirty="0">
                <a:solidFill>
                  <a:srgbClr val="106576"/>
                </a:solidFill>
              </a:rPr>
              <a:t>Worshipful Master</a:t>
            </a:r>
            <a:endParaRPr lang="en-US" sz="1400" dirty="0"/>
          </a:p>
        </p:txBody>
      </p:sp>
      <p:sp>
        <p:nvSpPr>
          <p:cNvPr id="25" name="Text 21"/>
          <p:cNvSpPr txBox="1"/>
          <p:nvPr/>
        </p:nvSpPr>
        <p:spPr>
          <a:xfrm>
            <a:off x="6409944" y="4434840"/>
            <a:ext cx="2194560" cy="1280160"/>
          </a:xfrm>
          <a:prstGeom prst="rect">
            <a:avLst/>
          </a:prstGeom>
          <a:noFill/>
          <a:ln/>
        </p:spPr>
        <p:txBody>
          <a:bodyPr wrap="square" lIns="0" tIns="0" rIns="0" bIns="0" rtlCol="0" anchor="t"/>
          <a:lstStyle/>
          <a:p>
            <a:pPr indent="0" marL="0">
              <a:buNone/>
            </a:pPr>
            <a:r>
              <a:rPr lang="en-US" sz="1200" dirty="0">
                <a:solidFill>
                  <a:srgbClr val="1E2329"/>
                </a:solidFill>
              </a:rPr>
              <a:t>Lodge culture, office or another member. Almoner alongside for welfare.</a:t>
            </a:r>
            <a:endParaRPr lang="en-US" sz="1200" dirty="0"/>
          </a:p>
        </p:txBody>
      </p:sp>
      <p:sp>
        <p:nvSpPr>
          <p:cNvPr id="26" name="Numbered 4"/>
          <p:cNvSpPr/>
          <p:nvPr/>
        </p:nvSpPr>
        <p:spPr>
          <a:xfrm>
            <a:off x="8997696" y="3566160"/>
            <a:ext cx="2651760" cy="2286000"/>
          </a:xfrm>
          <a:prstGeom prst="roundRect">
            <a:avLst>
              <a:gd name="adj" fmla="val 3200"/>
            </a:avLst>
          </a:prstGeom>
          <a:solidFill>
            <a:srgbClr val="F2F7FC"/>
          </a:solidFill>
          <a:ln w="12700">
            <a:solidFill>
              <a:srgbClr val="F2F7FC"/>
            </a:solidFill>
            <a:prstDash val="solid"/>
          </a:ln>
        </p:spPr>
      </p:sp>
      <p:sp>
        <p:nvSpPr>
          <p:cNvPr id="27" name="Circle 4"/>
          <p:cNvSpPr/>
          <p:nvPr/>
        </p:nvSpPr>
        <p:spPr>
          <a:xfrm>
            <a:off x="9226296" y="3767328"/>
            <a:ext cx="548640" cy="548640"/>
          </a:xfrm>
          <a:prstGeom prst="ellipse">
            <a:avLst/>
          </a:prstGeom>
          <a:solidFill>
            <a:srgbClr val="157A7C"/>
          </a:solidFill>
          <a:ln w="12700">
            <a:solidFill>
              <a:srgbClr val="157A7C"/>
            </a:solidFill>
            <a:prstDash val="solid"/>
          </a:ln>
        </p:spPr>
      </p:sp>
      <p:sp>
        <p:nvSpPr>
          <p:cNvPr id="28" name="Text 24"/>
          <p:cNvSpPr txBox="1"/>
          <p:nvPr/>
        </p:nvSpPr>
        <p:spPr>
          <a:xfrm>
            <a:off x="9226296" y="376732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29" name="Text 25"/>
          <p:cNvSpPr txBox="1"/>
          <p:nvPr/>
        </p:nvSpPr>
        <p:spPr>
          <a:xfrm>
            <a:off x="9912096" y="3767328"/>
            <a:ext cx="1554480" cy="548640"/>
          </a:xfrm>
          <a:prstGeom prst="rect">
            <a:avLst/>
          </a:prstGeom>
          <a:noFill/>
          <a:ln/>
        </p:spPr>
        <p:txBody>
          <a:bodyPr wrap="square" lIns="0" tIns="0" rIns="0" bIns="0" rtlCol="0" anchor="ctr"/>
          <a:lstStyle/>
          <a:p>
            <a:pPr indent="0" marL="0">
              <a:buNone/>
            </a:pPr>
            <a:r>
              <a:rPr lang="en-US" sz="1400" b="1" dirty="0">
                <a:solidFill>
                  <a:srgbClr val="157A7C"/>
                </a:solidFill>
              </a:rPr>
              <a:t>The Province</a:t>
            </a:r>
            <a:endParaRPr lang="en-US" sz="1400" dirty="0"/>
          </a:p>
        </p:txBody>
      </p:sp>
      <p:sp>
        <p:nvSpPr>
          <p:cNvPr id="30" name="Text 26"/>
          <p:cNvSpPr txBox="1"/>
          <p:nvPr/>
        </p:nvSpPr>
        <p:spPr>
          <a:xfrm>
            <a:off x="9226296" y="4434840"/>
            <a:ext cx="2194560" cy="1280160"/>
          </a:xfrm>
          <a:prstGeom prst="rect">
            <a:avLst/>
          </a:prstGeom>
          <a:noFill/>
          <a:ln/>
        </p:spPr>
        <p:txBody>
          <a:bodyPr wrap="square" lIns="0" tIns="0" rIns="0" bIns="0" rtlCol="0" anchor="t"/>
          <a:lstStyle/>
          <a:p>
            <a:pPr indent="0" marL="0">
              <a:buNone/>
            </a:pPr>
            <a:r>
              <a:rPr lang="en-US" sz="1200" dirty="0">
                <a:solidFill>
                  <a:srgbClr val="1E2329"/>
                </a:solidFill>
              </a:rPr>
              <a:t>An impartial voice, or a Lodge where he might thrive. A strength, not a failure.</a:t>
            </a:r>
            <a:endParaRPr lang="en-US" sz="12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6345D"/>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indent="0" marL="0">
              <a:buNone/>
            </a:pPr>
            <a:r>
              <a:rPr lang="en-US" sz="3200" b="1" dirty="0">
                <a:solidFill>
                  <a:srgbClr val="003668"/>
                </a:solidFill>
              </a:rPr>
              <a:t>Pressure, in both directions</a:t>
            </a:r>
            <a:endParaRPr lang="en-US" sz="3200" dirty="0"/>
          </a:p>
        </p:txBody>
      </p:sp>
      <p:sp>
        <p:nvSpPr>
          <p:cNvPr id="3" name="Card The member pushed too hard"/>
          <p:cNvSpPr/>
          <p:nvPr/>
        </p:nvSpPr>
        <p:spPr>
          <a:xfrm>
            <a:off x="548640" y="1371600"/>
            <a:ext cx="5440680" cy="4480560"/>
          </a:xfrm>
          <a:prstGeom prst="roundRect">
            <a:avLst>
              <a:gd name="adj" fmla="val 1633"/>
            </a:avLst>
          </a:prstGeom>
          <a:solidFill>
            <a:srgbClr val="F2F7FC"/>
          </a:solidFill>
          <a:ln w="12700">
            <a:solidFill>
              <a:srgbClr val="F2F7FC"/>
            </a:solidFill>
            <a:prstDash val="solid"/>
          </a:ln>
        </p:spPr>
      </p:sp>
      <p:pic>
        <p:nvPicPr>
          <p:cNvPr id="4" name="Image 0" descr="preencoded.png">    </p:cNvPr>
          <p:cNvPicPr>
            <a:picLocks noChangeAspect="1"/>
          </p:cNvPicPr>
          <p:nvPr/>
        </p:nvPicPr>
        <p:blipFill>
          <a:blip r:embed="rId1"/>
          <a:stretch>
            <a:fillRect/>
          </a:stretch>
        </p:blipFill>
        <p:spPr>
          <a:xfrm>
            <a:off x="749808" y="1554480"/>
            <a:ext cx="384048" cy="384048"/>
          </a:xfrm>
          <a:prstGeom prst="rect">
            <a:avLst/>
          </a:prstGeom>
        </p:spPr>
      </p:pic>
      <p:sp>
        <p:nvSpPr>
          <p:cNvPr id="5" name="Text 2"/>
          <p:cNvSpPr txBox="1"/>
          <p:nvPr/>
        </p:nvSpPr>
        <p:spPr>
          <a:xfrm>
            <a:off x="1261872" y="1536192"/>
            <a:ext cx="4526280" cy="411480"/>
          </a:xfrm>
          <a:prstGeom prst="rect">
            <a:avLst/>
          </a:prstGeom>
          <a:noFill/>
          <a:ln/>
        </p:spPr>
        <p:txBody>
          <a:bodyPr wrap="square" lIns="0" tIns="0" rIns="0" bIns="0" rtlCol="0" anchor="ctr"/>
          <a:lstStyle/>
          <a:p>
            <a:pPr indent="0" marL="0">
              <a:buNone/>
            </a:pPr>
            <a:r>
              <a:rPr lang="en-US" sz="1600" b="1" dirty="0">
                <a:solidFill>
                  <a:srgbClr val="0A4F72"/>
                </a:solidFill>
              </a:rPr>
              <a:t>The member pushed too hard</a:t>
            </a:r>
            <a:endParaRPr lang="en-US" sz="1600" dirty="0"/>
          </a:p>
        </p:txBody>
      </p:sp>
      <p:sp>
        <p:nvSpPr>
          <p:cNvPr id="6" name="Text 3"/>
          <p:cNvSpPr txBox="1"/>
          <p:nvPr/>
        </p:nvSpPr>
        <p:spPr>
          <a:xfrm>
            <a:off x="777240" y="1993392"/>
            <a:ext cx="4983480" cy="3749040"/>
          </a:xfrm>
          <a:prstGeom prst="rect">
            <a:avLst/>
          </a:prstGeom>
          <a:noFill/>
          <a:ln/>
        </p:spPr>
        <p:txBody>
          <a:bodyPr wrap="square" lIns="0" tIns="0" rIns="0" bIns="0" rtlCol="0" anchor="t"/>
          <a:lstStyle/>
          <a:p>
            <a:pPr marL="203200" indent="-203200">
              <a:spcAft>
                <a:spcPts val="400"/>
              </a:spcAft>
              <a:buSzPct val="100000"/>
              <a:buChar char="■"/>
            </a:pPr>
            <a:r>
              <a:rPr lang="en-US" sz="1550" dirty="0">
                <a:solidFill>
                  <a:srgbClr val="1E2329"/>
                </a:solidFill>
              </a:rPr>
              <a:t>Office before he feels ready or confident</a:t>
            </a:r>
            <a:endParaRPr lang="en-US" sz="1550" dirty="0"/>
          </a:p>
          <a:p>
            <a:pPr marL="203200" indent="-203200">
              <a:spcAft>
                <a:spcPts val="400"/>
              </a:spcAft>
              <a:buSzPct val="100000"/>
              <a:buChar char="■"/>
            </a:pPr>
            <a:r>
              <a:rPr lang="en-US" sz="1550" dirty="0">
                <a:solidFill>
                  <a:srgbClr val="1E2329"/>
                </a:solidFill>
              </a:rPr>
              <a:t>Ritual beyond his current ability</a:t>
            </a:r>
            <a:endParaRPr lang="en-US" sz="1550" dirty="0"/>
          </a:p>
          <a:p>
            <a:pPr marL="203200" indent="-203200">
              <a:spcAft>
                <a:spcPts val="400"/>
              </a:spcAft>
              <a:buSzPct val="100000"/>
              <a:buChar char="■"/>
            </a:pPr>
            <a:r>
              <a:rPr lang="en-US" sz="1550" dirty="0">
                <a:solidFill>
                  <a:srgbClr val="1E2329"/>
                </a:solidFill>
              </a:rPr>
              <a:t>Progression faster than he wishes</a:t>
            </a:r>
            <a:endParaRPr lang="en-US" sz="1550" dirty="0"/>
          </a:p>
          <a:p>
            <a:pPr marL="203200" indent="-203200">
              <a:spcAft>
                <a:spcPts val="400"/>
              </a:spcAft>
              <a:buSzPct val="100000"/>
              <a:buChar char="■"/>
            </a:pPr>
            <a:r>
              <a:rPr lang="en-US" sz="1550" dirty="0">
                <a:solidFill>
                  <a:srgbClr val="1E2329"/>
                </a:solidFill>
              </a:rPr>
              <a:t>The Royal Arch or other orders before the time is right</a:t>
            </a:r>
            <a:endParaRPr lang="en-US" sz="1550" dirty="0"/>
          </a:p>
          <a:p>
            <a:pPr marL="203200" indent="-203200">
              <a:spcAft>
                <a:spcPts val="400"/>
              </a:spcAft>
              <a:buSzPct val="100000"/>
              <a:buChar char="■"/>
            </a:pPr>
            <a:r>
              <a:rPr lang="en-US" sz="1550" dirty="0">
                <a:solidFill>
                  <a:srgbClr val="1E2329"/>
                </a:solidFill>
              </a:rPr>
              <a:t>Anything that makes him feel inadequate, unwelcome or judged</a:t>
            </a:r>
            <a:endParaRPr lang="en-US" sz="1550" dirty="0"/>
          </a:p>
          <a:p>
            <a:pPr marL="203200" indent="-203200">
              <a:spcAft>
                <a:spcPts val="400"/>
              </a:spcAft>
              <a:buSzPct val="100000"/>
              <a:buChar char="■"/>
            </a:pPr>
            <a:r>
              <a:rPr lang="en-US" sz="1550" dirty="0">
                <a:solidFill>
                  <a:srgbClr val="1E2329"/>
                </a:solidFill>
              </a:rPr>
              <a:t>“Sink or swim” runs counter to UGLE guidance. Address it directly; escalate if needed</a:t>
            </a:r>
            <a:endParaRPr lang="en-US" sz="1550" dirty="0"/>
          </a:p>
        </p:txBody>
      </p:sp>
      <p:sp>
        <p:nvSpPr>
          <p:cNvPr id="7" name="Card The member left under-stretched"/>
          <p:cNvSpPr/>
          <p:nvPr/>
        </p:nvSpPr>
        <p:spPr>
          <a:xfrm>
            <a:off x="6172200" y="1371600"/>
            <a:ext cx="5440680" cy="4480560"/>
          </a:xfrm>
          <a:prstGeom prst="roundRect">
            <a:avLst>
              <a:gd name="adj" fmla="val 1633"/>
            </a:avLst>
          </a:prstGeom>
          <a:solidFill>
            <a:srgbClr val="F2F7FC"/>
          </a:solidFill>
          <a:ln w="12700">
            <a:solidFill>
              <a:srgbClr val="F2F7FC"/>
            </a:solidFill>
            <a:prstDash val="solid"/>
          </a:ln>
        </p:spPr>
      </p:sp>
      <p:pic>
        <p:nvPicPr>
          <p:cNvPr id="8" name="Image 1" descr="preencoded.png">    </p:cNvPr>
          <p:cNvPicPr>
            <a:picLocks noChangeAspect="1"/>
          </p:cNvPicPr>
          <p:nvPr/>
        </p:nvPicPr>
        <p:blipFill>
          <a:blip r:embed="rId2"/>
          <a:stretch>
            <a:fillRect/>
          </a:stretch>
        </p:blipFill>
        <p:spPr>
          <a:xfrm>
            <a:off x="6373368" y="1554480"/>
            <a:ext cx="384048" cy="384048"/>
          </a:xfrm>
          <a:prstGeom prst="rect">
            <a:avLst/>
          </a:prstGeom>
        </p:spPr>
      </p:pic>
      <p:sp>
        <p:nvSpPr>
          <p:cNvPr id="9" name="Text 5"/>
          <p:cNvSpPr txBox="1"/>
          <p:nvPr/>
        </p:nvSpPr>
        <p:spPr>
          <a:xfrm>
            <a:off x="6885432" y="1536192"/>
            <a:ext cx="4526280" cy="411480"/>
          </a:xfrm>
          <a:prstGeom prst="rect">
            <a:avLst/>
          </a:prstGeom>
          <a:noFill/>
          <a:ln/>
        </p:spPr>
        <p:txBody>
          <a:bodyPr wrap="square" lIns="0" tIns="0" rIns="0" bIns="0" rtlCol="0" anchor="ctr"/>
          <a:lstStyle/>
          <a:p>
            <a:pPr indent="0" marL="0">
              <a:buNone/>
            </a:pPr>
            <a:r>
              <a:rPr lang="en-US" sz="1600" b="1" dirty="0">
                <a:solidFill>
                  <a:srgbClr val="003668"/>
                </a:solidFill>
              </a:rPr>
              <a:t>The member left under-stretched</a:t>
            </a:r>
            <a:endParaRPr lang="en-US" sz="1600" dirty="0"/>
          </a:p>
        </p:txBody>
      </p:sp>
      <p:sp>
        <p:nvSpPr>
          <p:cNvPr id="10" name="Text 6"/>
          <p:cNvSpPr txBox="1"/>
          <p:nvPr/>
        </p:nvSpPr>
        <p:spPr>
          <a:xfrm>
            <a:off x="6400800" y="1993392"/>
            <a:ext cx="4983480" cy="3749040"/>
          </a:xfrm>
          <a:prstGeom prst="rect">
            <a:avLst/>
          </a:prstGeom>
          <a:noFill/>
          <a:ln/>
        </p:spPr>
        <p:txBody>
          <a:bodyPr wrap="square" lIns="0" tIns="0" rIns="0" bIns="0" rtlCol="0" anchor="t"/>
          <a:lstStyle/>
          <a:p>
            <a:pPr marL="203200" indent="-203200">
              <a:spcAft>
                <a:spcPts val="400"/>
              </a:spcAft>
              <a:buSzPct val="100000"/>
              <a:buChar char="■"/>
            </a:pPr>
            <a:r>
              <a:rPr lang="en-US" sz="1550" dirty="0">
                <a:solidFill>
                  <a:srgbClr val="1E2329"/>
                </a:solidFill>
              </a:rPr>
              <a:t>A capable Brother waiting years for a first office</a:t>
            </a:r>
            <a:endParaRPr lang="en-US" sz="1550" dirty="0"/>
          </a:p>
          <a:p>
            <a:pPr marL="203200" indent="-203200">
              <a:spcAft>
                <a:spcPts val="400"/>
              </a:spcAft>
              <a:buSzPct val="100000"/>
              <a:buChar char="■"/>
            </a:pPr>
            <a:r>
              <a:rPr lang="en-US" sz="1550" dirty="0">
                <a:solidFill>
                  <a:srgbClr val="1E2329"/>
                </a:solidFill>
              </a:rPr>
              <a:t>A Brother who was never asked: to visit, to take a small piece, to help</a:t>
            </a:r>
            <a:endParaRPr lang="en-US" sz="1550" dirty="0"/>
          </a:p>
          <a:p>
            <a:pPr marL="203200" indent="-203200">
              <a:spcAft>
                <a:spcPts val="400"/>
              </a:spcAft>
              <a:buSzPct val="100000"/>
              <a:buChar char="■"/>
            </a:pPr>
            <a:r>
              <a:rPr lang="en-US" sz="1550" dirty="0">
                <a:solidFill>
                  <a:srgbClr val="1E2329"/>
                </a:solidFill>
              </a:rPr>
              <a:t>A Past Master with nothing to do; a joining member whose experience nobody used</a:t>
            </a:r>
            <a:endParaRPr lang="en-US" sz="1550" dirty="0"/>
          </a:p>
          <a:p>
            <a:pPr marL="203200" indent="-203200">
              <a:spcAft>
                <a:spcPts val="400"/>
              </a:spcAft>
              <a:buSzPct val="100000"/>
              <a:buChar char="■"/>
            </a:pPr>
            <a:r>
              <a:rPr lang="en-US" sz="1550" dirty="0">
                <a:solidFill>
                  <a:srgbClr val="1E2329"/>
                </a:solidFill>
              </a:rPr>
              <a:t>A Master Mason of years who stopped learning because nobody offered</a:t>
            </a:r>
            <a:endParaRPr lang="en-US" sz="1550" dirty="0"/>
          </a:p>
          <a:p>
            <a:pPr marL="203200" indent="-203200">
              <a:spcAft>
                <a:spcPts val="400"/>
              </a:spcAft>
              <a:buSzPct val="100000"/>
              <a:buChar char="■"/>
            </a:pPr>
            <a:r>
              <a:rPr lang="en-US" sz="1550" dirty="0">
                <a:solidFill>
                  <a:srgbClr val="1E2329"/>
                </a:solidFill>
              </a:rPr>
              <a:t>Ask what he would like; find a role; raise the office queue with the Master and DC</a:t>
            </a:r>
            <a:endParaRPr lang="en-US" sz="1550" dirty="0"/>
          </a:p>
          <a:p>
            <a:pPr marL="203200" indent="-203200">
              <a:spcAft>
                <a:spcPts val="400"/>
              </a:spcAft>
              <a:buSzPct val="100000"/>
              <a:buChar char="■"/>
            </a:pPr>
            <a:r>
              <a:rPr lang="en-US" sz="1550" dirty="0">
                <a:solidFill>
                  <a:srgbClr val="1E2329"/>
                </a:solidFill>
              </a:rPr>
              <a:t>A bored Brother leaves as surely as a frightened one</a:t>
            </a:r>
            <a:endParaRPr lang="en-US" sz="155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6345D"/>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indent="0" marL="0">
              <a:buNone/>
            </a:pPr>
            <a:r>
              <a:rPr lang="en-US" sz="3200" b="1" dirty="0">
                <a:solidFill>
                  <a:srgbClr val="003668"/>
                </a:solidFill>
              </a:rPr>
              <a:t>The Province behind you</a:t>
            </a:r>
            <a:endParaRPr lang="en-US" sz="3200" dirty="0"/>
          </a:p>
        </p:txBody>
      </p:sp>
      <p:sp>
        <p:nvSpPr>
          <p:cNvPr id="3" name="Card Your APGMen"/>
          <p:cNvSpPr/>
          <p:nvPr/>
        </p:nvSpPr>
        <p:spPr>
          <a:xfrm>
            <a:off x="548640" y="1325880"/>
            <a:ext cx="3520440" cy="2103120"/>
          </a:xfrm>
          <a:prstGeom prst="roundRect">
            <a:avLst>
              <a:gd name="adj" fmla="val 3478"/>
            </a:avLst>
          </a:prstGeom>
          <a:solidFill>
            <a:srgbClr val="F2F7FC"/>
          </a:solidFill>
          <a:ln w="12700">
            <a:solidFill>
              <a:srgbClr val="F2F7FC"/>
            </a:solidFill>
            <a:prstDash val="solid"/>
          </a:ln>
        </p:spPr>
      </p:sp>
      <p:pic>
        <p:nvPicPr>
          <p:cNvPr id="4" name="Image 0" descr="preencoded.png">    </p:cNvPr>
          <p:cNvPicPr>
            <a:picLocks noChangeAspect="1"/>
          </p:cNvPicPr>
          <p:nvPr/>
        </p:nvPicPr>
        <p:blipFill>
          <a:blip r:embed="rId1"/>
          <a:stretch>
            <a:fillRect/>
          </a:stretch>
        </p:blipFill>
        <p:spPr>
          <a:xfrm>
            <a:off x="749808" y="1508760"/>
            <a:ext cx="384048" cy="384048"/>
          </a:xfrm>
          <a:prstGeom prst="rect">
            <a:avLst/>
          </a:prstGeom>
        </p:spPr>
      </p:pic>
      <p:sp>
        <p:nvSpPr>
          <p:cNvPr id="5" name="Text 2"/>
          <p:cNvSpPr txBox="1"/>
          <p:nvPr/>
        </p:nvSpPr>
        <p:spPr>
          <a:xfrm>
            <a:off x="1261872" y="1490472"/>
            <a:ext cx="2606040" cy="411480"/>
          </a:xfrm>
          <a:prstGeom prst="rect">
            <a:avLst/>
          </a:prstGeom>
          <a:noFill/>
          <a:ln/>
        </p:spPr>
        <p:txBody>
          <a:bodyPr wrap="square" lIns="0" tIns="0" rIns="0" bIns="0" rtlCol="0" anchor="ctr"/>
          <a:lstStyle/>
          <a:p>
            <a:pPr indent="0" marL="0">
              <a:buNone/>
            </a:pPr>
            <a:r>
              <a:rPr lang="en-US" sz="1500" b="1" dirty="0">
                <a:solidFill>
                  <a:srgbClr val="003668"/>
                </a:solidFill>
              </a:rPr>
              <a:t>Your APGMen</a:t>
            </a:r>
            <a:endParaRPr lang="en-US" sz="1500" dirty="0"/>
          </a:p>
        </p:txBody>
      </p:sp>
      <p:sp>
        <p:nvSpPr>
          <p:cNvPr id="6" name="Text 3"/>
          <p:cNvSpPr txBox="1"/>
          <p:nvPr/>
        </p:nvSpPr>
        <p:spPr>
          <a:xfrm>
            <a:off x="777240" y="1947672"/>
            <a:ext cx="3063240" cy="1371600"/>
          </a:xfrm>
          <a:prstGeom prst="rect">
            <a:avLst/>
          </a:prstGeom>
          <a:noFill/>
          <a:ln/>
        </p:spPr>
        <p:txBody>
          <a:bodyPr wrap="square" lIns="0" tIns="0" rIns="0" bIns="0" rtlCol="0" anchor="t"/>
          <a:lstStyle/>
          <a:p>
            <a:pPr indent="0" marL="0">
              <a:buNone/>
            </a:pPr>
            <a:r>
              <a:rPr lang="en-US" sz="1500" dirty="0">
                <a:solidFill>
                  <a:srgbClr val="1E2329"/>
                </a:solidFill>
              </a:rPr>
              <a:t>One per area. Advice, a visitor at Initiations, your quarterly update.</a:t>
            </a:r>
            <a:endParaRPr lang="en-US" sz="1500" dirty="0"/>
          </a:p>
        </p:txBody>
      </p:sp>
      <p:sp>
        <p:nvSpPr>
          <p:cNvPr id="7" name="Card Monthly mentoring call"/>
          <p:cNvSpPr/>
          <p:nvPr/>
        </p:nvSpPr>
        <p:spPr>
          <a:xfrm>
            <a:off x="4297680" y="1325880"/>
            <a:ext cx="3520440" cy="2103120"/>
          </a:xfrm>
          <a:prstGeom prst="roundRect">
            <a:avLst>
              <a:gd name="adj" fmla="val 3478"/>
            </a:avLst>
          </a:prstGeom>
          <a:solidFill>
            <a:srgbClr val="F2F7FC"/>
          </a:solidFill>
          <a:ln w="12700">
            <a:solidFill>
              <a:srgbClr val="F2F7FC"/>
            </a:solidFill>
            <a:prstDash val="solid"/>
          </a:ln>
        </p:spPr>
      </p:sp>
      <p:pic>
        <p:nvPicPr>
          <p:cNvPr id="8" name="Image 1" descr="preencoded.png">    </p:cNvPr>
          <p:cNvPicPr>
            <a:picLocks noChangeAspect="1"/>
          </p:cNvPicPr>
          <p:nvPr/>
        </p:nvPicPr>
        <p:blipFill>
          <a:blip r:embed="rId2"/>
          <a:stretch>
            <a:fillRect/>
          </a:stretch>
        </p:blipFill>
        <p:spPr>
          <a:xfrm>
            <a:off x="4498848" y="1508760"/>
            <a:ext cx="384048" cy="384048"/>
          </a:xfrm>
          <a:prstGeom prst="rect">
            <a:avLst/>
          </a:prstGeom>
        </p:spPr>
      </p:pic>
      <p:sp>
        <p:nvSpPr>
          <p:cNvPr id="9" name="Text 5"/>
          <p:cNvSpPr txBox="1"/>
          <p:nvPr/>
        </p:nvSpPr>
        <p:spPr>
          <a:xfrm>
            <a:off x="5010912" y="1490472"/>
            <a:ext cx="2606040" cy="411480"/>
          </a:xfrm>
          <a:prstGeom prst="rect">
            <a:avLst/>
          </a:prstGeom>
          <a:noFill/>
          <a:ln/>
        </p:spPr>
        <p:txBody>
          <a:bodyPr wrap="square" lIns="0" tIns="0" rIns="0" bIns="0" rtlCol="0" anchor="ctr"/>
          <a:lstStyle/>
          <a:p>
            <a:pPr indent="0" marL="0">
              <a:buNone/>
            </a:pPr>
            <a:r>
              <a:rPr lang="en-US" sz="1500" b="1" dirty="0">
                <a:solidFill>
                  <a:srgbClr val="003668"/>
                </a:solidFill>
              </a:rPr>
              <a:t>Monthly mentoring call</a:t>
            </a:r>
            <a:endParaRPr lang="en-US" sz="1500" dirty="0"/>
          </a:p>
        </p:txBody>
      </p:sp>
      <p:sp>
        <p:nvSpPr>
          <p:cNvPr id="10" name="Text 6"/>
          <p:cNvSpPr txBox="1"/>
          <p:nvPr/>
        </p:nvSpPr>
        <p:spPr>
          <a:xfrm>
            <a:off x="4526280" y="1947672"/>
            <a:ext cx="3063240" cy="1371600"/>
          </a:xfrm>
          <a:prstGeom prst="rect">
            <a:avLst/>
          </a:prstGeom>
          <a:noFill/>
          <a:ln/>
        </p:spPr>
        <p:txBody>
          <a:bodyPr wrap="square" lIns="0" tIns="0" rIns="0" bIns="0" rtlCol="0" anchor="t"/>
          <a:lstStyle/>
          <a:p>
            <a:pPr indent="0" marL="0">
              <a:buNone/>
            </a:pPr>
            <a:r>
              <a:rPr lang="en-US" sz="1500" dirty="0">
                <a:solidFill>
                  <a:srgbClr val="1E2329"/>
                </a:solidFill>
              </a:rPr>
              <a:t>First Tuesday, 7pm, Teams. Lodge Mentors and Personal Mentors.</a:t>
            </a:r>
            <a:endParaRPr lang="en-US" sz="1500" dirty="0"/>
          </a:p>
        </p:txBody>
      </p:sp>
      <p:sp>
        <p:nvSpPr>
          <p:cNvPr id="11" name="Card DAWG"/>
          <p:cNvSpPr/>
          <p:nvPr/>
        </p:nvSpPr>
        <p:spPr>
          <a:xfrm>
            <a:off x="8046720" y="1325880"/>
            <a:ext cx="3520440" cy="2103120"/>
          </a:xfrm>
          <a:prstGeom prst="roundRect">
            <a:avLst>
              <a:gd name="adj" fmla="val 3478"/>
            </a:avLst>
          </a:prstGeom>
          <a:solidFill>
            <a:srgbClr val="F2F7FC"/>
          </a:solidFill>
          <a:ln w="12700">
            <a:solidFill>
              <a:srgbClr val="F2F7FC"/>
            </a:solidFill>
            <a:prstDash val="solid"/>
          </a:ln>
        </p:spPr>
      </p:sp>
      <p:pic>
        <p:nvPicPr>
          <p:cNvPr id="12" name="Image 2" descr="preencoded.png">    </p:cNvPr>
          <p:cNvPicPr>
            <a:picLocks noChangeAspect="1"/>
          </p:cNvPicPr>
          <p:nvPr/>
        </p:nvPicPr>
        <p:blipFill>
          <a:blip r:embed="rId3"/>
          <a:stretch>
            <a:fillRect/>
          </a:stretch>
        </p:blipFill>
        <p:spPr>
          <a:xfrm>
            <a:off x="8247888" y="1508760"/>
            <a:ext cx="384048" cy="384048"/>
          </a:xfrm>
          <a:prstGeom prst="rect">
            <a:avLst/>
          </a:prstGeom>
        </p:spPr>
      </p:pic>
      <p:sp>
        <p:nvSpPr>
          <p:cNvPr id="13" name="Text 8"/>
          <p:cNvSpPr txBox="1"/>
          <p:nvPr/>
        </p:nvSpPr>
        <p:spPr>
          <a:xfrm>
            <a:off x="8759952" y="1490472"/>
            <a:ext cx="2606040" cy="411480"/>
          </a:xfrm>
          <a:prstGeom prst="rect">
            <a:avLst/>
          </a:prstGeom>
          <a:noFill/>
          <a:ln/>
        </p:spPr>
        <p:txBody>
          <a:bodyPr wrap="square" lIns="0" tIns="0" rIns="0" bIns="0" rtlCol="0" anchor="ctr"/>
          <a:lstStyle/>
          <a:p>
            <a:pPr indent="0" marL="0">
              <a:buNone/>
            </a:pPr>
            <a:r>
              <a:rPr lang="en-US" sz="1500" b="1" dirty="0">
                <a:solidFill>
                  <a:srgbClr val="003668"/>
                </a:solidFill>
              </a:rPr>
              <a:t>DAWG</a:t>
            </a:r>
            <a:endParaRPr lang="en-US" sz="1500" dirty="0"/>
          </a:p>
        </p:txBody>
      </p:sp>
      <p:sp>
        <p:nvSpPr>
          <p:cNvPr id="14" name="Text 9"/>
          <p:cNvSpPr txBox="1"/>
          <p:nvPr/>
        </p:nvSpPr>
        <p:spPr>
          <a:xfrm>
            <a:off x="8275320" y="1947672"/>
            <a:ext cx="3063240" cy="1371600"/>
          </a:xfrm>
          <a:prstGeom prst="rect">
            <a:avLst/>
          </a:prstGeom>
          <a:noFill/>
          <a:ln/>
        </p:spPr>
        <p:txBody>
          <a:bodyPr wrap="square" lIns="0" tIns="0" rIns="0" bIns="0" rtlCol="0" anchor="t"/>
          <a:lstStyle/>
          <a:p>
            <a:pPr indent="0" marL="0">
              <a:buNone/>
            </a:pPr>
            <a:r>
              <a:rPr lang="en-US" sz="1500" dirty="0">
                <a:solidFill>
                  <a:srgbClr val="1E2329"/>
                </a:solidFill>
              </a:rPr>
              <a:t>The Daily Advancement WhatsApp Group, run by the Provincial Mentoring Team.</a:t>
            </a:r>
            <a:endParaRPr lang="en-US" sz="1500" dirty="0"/>
          </a:p>
        </p:txBody>
      </p:sp>
      <p:sp>
        <p:nvSpPr>
          <p:cNvPr id="15" name="Card Training"/>
          <p:cNvSpPr/>
          <p:nvPr/>
        </p:nvSpPr>
        <p:spPr>
          <a:xfrm>
            <a:off x="548640" y="3611880"/>
            <a:ext cx="3520440" cy="2103120"/>
          </a:xfrm>
          <a:prstGeom prst="roundRect">
            <a:avLst>
              <a:gd name="adj" fmla="val 3478"/>
            </a:avLst>
          </a:prstGeom>
          <a:solidFill>
            <a:srgbClr val="F2F7FC"/>
          </a:solidFill>
          <a:ln w="12700">
            <a:solidFill>
              <a:srgbClr val="F2F7FC"/>
            </a:solidFill>
            <a:prstDash val="solid"/>
          </a:ln>
        </p:spPr>
      </p:sp>
      <p:pic>
        <p:nvPicPr>
          <p:cNvPr id="16" name="Image 3" descr="preencoded.png">    </p:cNvPr>
          <p:cNvPicPr>
            <a:picLocks noChangeAspect="1"/>
          </p:cNvPicPr>
          <p:nvPr/>
        </p:nvPicPr>
        <p:blipFill>
          <a:blip r:embed="rId4"/>
          <a:stretch>
            <a:fillRect/>
          </a:stretch>
        </p:blipFill>
        <p:spPr>
          <a:xfrm>
            <a:off x="749808" y="3794760"/>
            <a:ext cx="384048" cy="384048"/>
          </a:xfrm>
          <a:prstGeom prst="rect">
            <a:avLst/>
          </a:prstGeom>
        </p:spPr>
      </p:pic>
      <p:sp>
        <p:nvSpPr>
          <p:cNvPr id="17" name="Text 11"/>
          <p:cNvSpPr txBox="1"/>
          <p:nvPr/>
        </p:nvSpPr>
        <p:spPr>
          <a:xfrm>
            <a:off x="1261872" y="3776472"/>
            <a:ext cx="2606040" cy="411480"/>
          </a:xfrm>
          <a:prstGeom prst="rect">
            <a:avLst/>
          </a:prstGeom>
          <a:noFill/>
          <a:ln/>
        </p:spPr>
        <p:txBody>
          <a:bodyPr wrap="square" lIns="0" tIns="0" rIns="0" bIns="0" rtlCol="0" anchor="ctr"/>
          <a:lstStyle/>
          <a:p>
            <a:pPr indent="0" marL="0">
              <a:buNone/>
            </a:pPr>
            <a:r>
              <a:rPr lang="en-US" sz="1500" b="1" dirty="0">
                <a:solidFill>
                  <a:srgbClr val="003668"/>
                </a:solidFill>
              </a:rPr>
              <a:t>Training</a:t>
            </a:r>
            <a:endParaRPr lang="en-US" sz="1500" dirty="0"/>
          </a:p>
        </p:txBody>
      </p:sp>
      <p:sp>
        <p:nvSpPr>
          <p:cNvPr id="18" name="Text 12"/>
          <p:cNvSpPr txBox="1"/>
          <p:nvPr/>
        </p:nvSpPr>
        <p:spPr>
          <a:xfrm>
            <a:off x="777240" y="4233672"/>
            <a:ext cx="3063240" cy="1371600"/>
          </a:xfrm>
          <a:prstGeom prst="rect">
            <a:avLst/>
          </a:prstGeom>
          <a:noFill/>
          <a:ln/>
        </p:spPr>
        <p:txBody>
          <a:bodyPr wrap="square" lIns="0" tIns="0" rIns="0" bIns="0" rtlCol="0" anchor="t"/>
          <a:lstStyle/>
          <a:p>
            <a:pPr indent="0" marL="0">
              <a:buNone/>
            </a:pPr>
            <a:r>
              <a:rPr lang="en-US" sz="1500" dirty="0">
                <a:solidFill>
                  <a:srgbClr val="1E2329"/>
                </a:solidFill>
              </a:rPr>
              <a:t>Induction for you; the Personal Mentor course for your team. Send them.</a:t>
            </a:r>
            <a:endParaRPr lang="en-US" sz="1500" dirty="0"/>
          </a:p>
        </p:txBody>
      </p:sp>
      <p:sp>
        <p:nvSpPr>
          <p:cNvPr id="19" name="Card The library"/>
          <p:cNvSpPr/>
          <p:nvPr/>
        </p:nvSpPr>
        <p:spPr>
          <a:xfrm>
            <a:off x="4297680" y="3611880"/>
            <a:ext cx="3520440" cy="2103120"/>
          </a:xfrm>
          <a:prstGeom prst="roundRect">
            <a:avLst>
              <a:gd name="adj" fmla="val 3478"/>
            </a:avLst>
          </a:prstGeom>
          <a:solidFill>
            <a:srgbClr val="F2F7FC"/>
          </a:solidFill>
          <a:ln w="12700">
            <a:solidFill>
              <a:srgbClr val="F2F7FC"/>
            </a:solidFill>
            <a:prstDash val="solid"/>
          </a:ln>
        </p:spPr>
      </p:sp>
      <p:pic>
        <p:nvPicPr>
          <p:cNvPr id="20" name="Image 4" descr="preencoded.png">    </p:cNvPr>
          <p:cNvPicPr>
            <a:picLocks noChangeAspect="1"/>
          </p:cNvPicPr>
          <p:nvPr/>
        </p:nvPicPr>
        <p:blipFill>
          <a:blip r:embed="rId5"/>
          <a:stretch>
            <a:fillRect/>
          </a:stretch>
        </p:blipFill>
        <p:spPr>
          <a:xfrm>
            <a:off x="4498848" y="3794760"/>
            <a:ext cx="384048" cy="384048"/>
          </a:xfrm>
          <a:prstGeom prst="rect">
            <a:avLst/>
          </a:prstGeom>
        </p:spPr>
      </p:pic>
      <p:sp>
        <p:nvSpPr>
          <p:cNvPr id="21" name="Text 14"/>
          <p:cNvSpPr txBox="1"/>
          <p:nvPr/>
        </p:nvSpPr>
        <p:spPr>
          <a:xfrm>
            <a:off x="5010912" y="3776472"/>
            <a:ext cx="2606040" cy="411480"/>
          </a:xfrm>
          <a:prstGeom prst="rect">
            <a:avLst/>
          </a:prstGeom>
          <a:noFill/>
          <a:ln/>
        </p:spPr>
        <p:txBody>
          <a:bodyPr wrap="square" lIns="0" tIns="0" rIns="0" bIns="0" rtlCol="0" anchor="ctr"/>
          <a:lstStyle/>
          <a:p>
            <a:pPr indent="0" marL="0">
              <a:buNone/>
            </a:pPr>
            <a:r>
              <a:rPr lang="en-US" sz="1500" b="1" dirty="0">
                <a:solidFill>
                  <a:srgbClr val="003668"/>
                </a:solidFill>
              </a:rPr>
              <a:t>The library</a:t>
            </a:r>
            <a:endParaRPr lang="en-US" sz="1500" dirty="0"/>
          </a:p>
        </p:txBody>
      </p:sp>
      <p:sp>
        <p:nvSpPr>
          <p:cNvPr id="22" name="Text 15"/>
          <p:cNvSpPr txBox="1"/>
          <p:nvPr/>
        </p:nvSpPr>
        <p:spPr>
          <a:xfrm>
            <a:off x="4526280" y="4233672"/>
            <a:ext cx="3063240" cy="1371600"/>
          </a:xfrm>
          <a:prstGeom prst="rect">
            <a:avLst/>
          </a:prstGeom>
          <a:noFill/>
          <a:ln/>
        </p:spPr>
        <p:txBody>
          <a:bodyPr wrap="square" lIns="0" tIns="0" rIns="0" bIns="0" rtlCol="0" anchor="t"/>
          <a:lstStyle/>
          <a:p>
            <a:pPr indent="0" marL="0">
              <a:buNone/>
            </a:pPr>
            <a:r>
              <a:rPr lang="en-US" sz="1500" dirty="0">
                <a:solidFill>
                  <a:srgbClr val="1E2329"/>
                </a:solidFill>
              </a:rPr>
              <a:t>Short Guides, Meeting Guide, Stage Checklists, Warning Signs card, Retention Guide. Provincial website and your APGMen.</a:t>
            </a:r>
            <a:endParaRPr lang="en-US" sz="1500" dirty="0"/>
          </a:p>
        </p:txBody>
      </p:sp>
      <p:sp>
        <p:nvSpPr>
          <p:cNvPr id="23" name="Card One-to-one, in confidence"/>
          <p:cNvSpPr/>
          <p:nvPr/>
        </p:nvSpPr>
        <p:spPr>
          <a:xfrm>
            <a:off x="8046720" y="3611880"/>
            <a:ext cx="3520440" cy="2103120"/>
          </a:xfrm>
          <a:prstGeom prst="roundRect">
            <a:avLst>
              <a:gd name="adj" fmla="val 3478"/>
            </a:avLst>
          </a:prstGeom>
          <a:solidFill>
            <a:srgbClr val="F2F7FC"/>
          </a:solidFill>
          <a:ln w="12700">
            <a:solidFill>
              <a:srgbClr val="F2F7FC"/>
            </a:solidFill>
            <a:prstDash val="solid"/>
          </a:ln>
        </p:spPr>
      </p:sp>
      <p:pic>
        <p:nvPicPr>
          <p:cNvPr id="24" name="Image 5" descr="preencoded.png">    </p:cNvPr>
          <p:cNvPicPr>
            <a:picLocks noChangeAspect="1"/>
          </p:cNvPicPr>
          <p:nvPr/>
        </p:nvPicPr>
        <p:blipFill>
          <a:blip r:embed="rId6"/>
          <a:stretch>
            <a:fillRect/>
          </a:stretch>
        </p:blipFill>
        <p:spPr>
          <a:xfrm>
            <a:off x="8247888" y="3794760"/>
            <a:ext cx="384048" cy="384048"/>
          </a:xfrm>
          <a:prstGeom prst="rect">
            <a:avLst/>
          </a:prstGeom>
        </p:spPr>
      </p:pic>
      <p:sp>
        <p:nvSpPr>
          <p:cNvPr id="25" name="Text 17"/>
          <p:cNvSpPr txBox="1"/>
          <p:nvPr/>
        </p:nvSpPr>
        <p:spPr>
          <a:xfrm>
            <a:off x="8759952" y="3776472"/>
            <a:ext cx="2606040" cy="411480"/>
          </a:xfrm>
          <a:prstGeom prst="rect">
            <a:avLst/>
          </a:prstGeom>
          <a:noFill/>
          <a:ln/>
        </p:spPr>
        <p:txBody>
          <a:bodyPr wrap="square" lIns="0" tIns="0" rIns="0" bIns="0" rtlCol="0" anchor="ctr"/>
          <a:lstStyle/>
          <a:p>
            <a:pPr indent="0" marL="0">
              <a:buNone/>
            </a:pPr>
            <a:r>
              <a:rPr lang="en-US" sz="1500" b="1" dirty="0">
                <a:solidFill>
                  <a:srgbClr val="003668"/>
                </a:solidFill>
              </a:rPr>
              <a:t>One-to-one, in confidence</a:t>
            </a:r>
            <a:endParaRPr lang="en-US" sz="1500" dirty="0"/>
          </a:p>
        </p:txBody>
      </p:sp>
      <p:sp>
        <p:nvSpPr>
          <p:cNvPr id="26" name="Text 18"/>
          <p:cNvSpPr txBox="1"/>
          <p:nvPr/>
        </p:nvSpPr>
        <p:spPr>
          <a:xfrm>
            <a:off x="8275320" y="4233672"/>
            <a:ext cx="3063240" cy="1371600"/>
          </a:xfrm>
          <a:prstGeom prst="rect">
            <a:avLst/>
          </a:prstGeom>
          <a:noFill/>
          <a:ln/>
        </p:spPr>
        <p:txBody>
          <a:bodyPr wrap="square" lIns="0" tIns="0" rIns="0" bIns="0" rtlCol="0" anchor="t"/>
          <a:lstStyle/>
          <a:p>
            <a:pPr indent="0" marL="0">
              <a:buNone/>
            </a:pPr>
            <a:r>
              <a:rPr lang="en-US" sz="1500" dirty="0">
                <a:solidFill>
                  <a:srgbClr val="1E2329"/>
                </a:solidFill>
              </a:rPr>
              <a:t>mentor@hertfordshirefreemasons.org.uk. A difficult conversation, a second opinion, or simply to think aloud.</a:t>
            </a:r>
            <a:endParaRPr lang="en-US" sz="15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6345D"/>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itle"/>
          <p:cNvSpPr txBox="1"/>
          <p:nvPr/>
        </p:nvSpPr>
        <p:spPr>
          <a:xfrm>
            <a:off x="548640" y="411480"/>
            <a:ext cx="11091672" cy="731520"/>
          </a:xfrm>
          <a:prstGeom prst="rect">
            <a:avLst/>
          </a:prstGeom>
          <a:noFill/>
          <a:ln/>
        </p:spPr>
        <p:txBody>
          <a:bodyPr wrap="square" lIns="0" tIns="0" rIns="0" bIns="0" rtlCol="0" anchor="ctr"/>
          <a:lstStyle/>
          <a:p>
            <a:pPr indent="0" marL="0">
              <a:buNone/>
            </a:pPr>
            <a:r>
              <a:rPr lang="en-US" sz="3200" b="1" dirty="0">
                <a:solidFill>
                  <a:srgbClr val="003668"/>
                </a:solidFill>
              </a:rPr>
              <a:t>Your action plan</a:t>
            </a:r>
            <a:endParaRPr lang="en-US" sz="3200" dirty="0"/>
          </a:p>
        </p:txBody>
      </p:sp>
      <p:sp>
        <p:nvSpPr>
          <p:cNvPr id="3" name="Timer"/>
          <p:cNvSpPr/>
          <p:nvPr/>
        </p:nvSpPr>
        <p:spPr>
          <a:xfrm>
            <a:off x="9537192" y="457200"/>
            <a:ext cx="2103120" cy="548640"/>
          </a:xfrm>
          <a:prstGeom prst="roundRect">
            <a:avLst>
              <a:gd name="adj" fmla="val 13333"/>
            </a:avLst>
          </a:prstGeom>
          <a:solidFill>
            <a:srgbClr val="157A7C"/>
          </a:solidFill>
          <a:ln w="12700">
            <a:solidFill>
              <a:srgbClr val="157A7C"/>
            </a:solidFill>
            <a:prstDash val="solid"/>
          </a:ln>
        </p:spPr>
      </p:sp>
      <p:sp>
        <p:nvSpPr>
          <p:cNvPr id="4" name="Text 2"/>
          <p:cNvSpPr txBox="1"/>
          <p:nvPr/>
        </p:nvSpPr>
        <p:spPr>
          <a:xfrm>
            <a:off x="9537192" y="457200"/>
            <a:ext cx="2103120" cy="548640"/>
          </a:xfrm>
          <a:prstGeom prst="rect">
            <a:avLst/>
          </a:prstGeom>
          <a:noFill/>
          <a:ln/>
        </p:spPr>
        <p:txBody>
          <a:bodyPr wrap="square" lIns="0" tIns="0" rIns="0" bIns="0" rtlCol="0" anchor="ctr"/>
          <a:lstStyle/>
          <a:p>
            <a:pPr algn="ctr" indent="0" marL="0">
              <a:buNone/>
            </a:pPr>
            <a:r>
              <a:rPr lang="en-US" sz="1500" b="1" dirty="0">
                <a:solidFill>
                  <a:srgbClr val="FFFFFF"/>
                </a:solidFill>
              </a:rPr>
              <a:t>On your own · 3 min</a:t>
            </a:r>
            <a:endParaRPr lang="en-US" sz="1500" dirty="0"/>
          </a:p>
        </p:txBody>
      </p:sp>
      <p:sp>
        <p:nvSpPr>
          <p:cNvPr id="5" name="Card Against the four principles"/>
          <p:cNvSpPr/>
          <p:nvPr/>
        </p:nvSpPr>
        <p:spPr>
          <a:xfrm>
            <a:off x="548640" y="1371600"/>
            <a:ext cx="5440680" cy="2103120"/>
          </a:xfrm>
          <a:prstGeom prst="roundRect">
            <a:avLst>
              <a:gd name="adj" fmla="val 3478"/>
            </a:avLst>
          </a:prstGeom>
          <a:solidFill>
            <a:srgbClr val="F2F7FC"/>
          </a:solidFill>
          <a:ln w="12700">
            <a:solidFill>
              <a:srgbClr val="F2F7FC"/>
            </a:solidFill>
            <a:prstDash val="solid"/>
          </a:ln>
        </p:spPr>
      </p:sp>
      <p:pic>
        <p:nvPicPr>
          <p:cNvPr id="6" name="Image 0" descr="preencoded.png">    </p:cNvPr>
          <p:cNvPicPr>
            <a:picLocks noChangeAspect="1"/>
          </p:cNvPicPr>
          <p:nvPr/>
        </p:nvPicPr>
        <p:blipFill>
          <a:blip r:embed="rId1"/>
          <a:stretch>
            <a:fillRect/>
          </a:stretch>
        </p:blipFill>
        <p:spPr>
          <a:xfrm>
            <a:off x="749808" y="1554480"/>
            <a:ext cx="384048" cy="384048"/>
          </a:xfrm>
          <a:prstGeom prst="rect">
            <a:avLst/>
          </a:prstGeom>
        </p:spPr>
      </p:pic>
      <p:sp>
        <p:nvSpPr>
          <p:cNvPr id="7" name="Text 4"/>
          <p:cNvSpPr txBox="1"/>
          <p:nvPr/>
        </p:nvSpPr>
        <p:spPr>
          <a:xfrm>
            <a:off x="1261872" y="1536192"/>
            <a:ext cx="4526280" cy="411480"/>
          </a:xfrm>
          <a:prstGeom prst="rect">
            <a:avLst/>
          </a:prstGeom>
          <a:noFill/>
          <a:ln/>
        </p:spPr>
        <p:txBody>
          <a:bodyPr wrap="square" lIns="0" tIns="0" rIns="0" bIns="0" rtlCol="0" anchor="ctr"/>
          <a:lstStyle/>
          <a:p>
            <a:pPr indent="0" marL="0">
              <a:buNone/>
            </a:pPr>
            <a:r>
              <a:rPr lang="en-US" sz="1600" b="1" dirty="0">
                <a:solidFill>
                  <a:srgbClr val="003668"/>
                </a:solidFill>
              </a:rPr>
              <a:t>Against the four principles</a:t>
            </a:r>
            <a:endParaRPr lang="en-US" sz="1600" dirty="0"/>
          </a:p>
        </p:txBody>
      </p:sp>
      <p:sp>
        <p:nvSpPr>
          <p:cNvPr id="8" name="Text 5"/>
          <p:cNvSpPr txBox="1"/>
          <p:nvPr/>
        </p:nvSpPr>
        <p:spPr>
          <a:xfrm>
            <a:off x="777240" y="1993392"/>
            <a:ext cx="4983480" cy="1371600"/>
          </a:xfrm>
          <a:prstGeom prst="rect">
            <a:avLst/>
          </a:prstGeom>
          <a:noFill/>
          <a:ln/>
        </p:spPr>
        <p:txBody>
          <a:bodyPr wrap="square" lIns="0" tIns="0" rIns="0" bIns="0" rtlCol="0" anchor="t"/>
          <a:lstStyle/>
          <a:p>
            <a:pPr indent="0" marL="0">
              <a:buNone/>
            </a:pPr>
            <a:r>
              <a:rPr lang="en-US" sz="1500" dirty="0">
                <a:solidFill>
                  <a:srgbClr val="1E2329"/>
                </a:solidFill>
              </a:rPr>
              <a:t>One thing my Lodge already does well. One thing it does not do at all. Action Plan sheet, box 2.</a:t>
            </a:r>
            <a:endParaRPr lang="en-US" sz="1500" dirty="0"/>
          </a:p>
        </p:txBody>
      </p:sp>
      <p:sp>
        <p:nvSpPr>
          <p:cNvPr id="9" name="Card The one action"/>
          <p:cNvSpPr/>
          <p:nvPr/>
        </p:nvSpPr>
        <p:spPr>
          <a:xfrm>
            <a:off x="6172200" y="1371600"/>
            <a:ext cx="5440680" cy="2103120"/>
          </a:xfrm>
          <a:prstGeom prst="roundRect">
            <a:avLst>
              <a:gd name="adj" fmla="val 3478"/>
            </a:avLst>
          </a:prstGeom>
          <a:solidFill>
            <a:srgbClr val="E6F2F2"/>
          </a:solidFill>
          <a:ln w="12700">
            <a:solidFill>
              <a:srgbClr val="E6F2F2"/>
            </a:solidFill>
            <a:prstDash val="solid"/>
          </a:ln>
        </p:spPr>
      </p:sp>
      <p:pic>
        <p:nvPicPr>
          <p:cNvPr id="10" name="Image 1" descr="preencoded.png">    </p:cNvPr>
          <p:cNvPicPr>
            <a:picLocks noChangeAspect="1"/>
          </p:cNvPicPr>
          <p:nvPr/>
        </p:nvPicPr>
        <p:blipFill>
          <a:blip r:embed="rId2"/>
          <a:stretch>
            <a:fillRect/>
          </a:stretch>
        </p:blipFill>
        <p:spPr>
          <a:xfrm>
            <a:off x="6373368" y="1554480"/>
            <a:ext cx="384048" cy="384048"/>
          </a:xfrm>
          <a:prstGeom prst="rect">
            <a:avLst/>
          </a:prstGeom>
        </p:spPr>
      </p:pic>
      <p:sp>
        <p:nvSpPr>
          <p:cNvPr id="11" name="Text 7"/>
          <p:cNvSpPr txBox="1"/>
          <p:nvPr/>
        </p:nvSpPr>
        <p:spPr>
          <a:xfrm>
            <a:off x="6885432" y="1536192"/>
            <a:ext cx="4526280" cy="411480"/>
          </a:xfrm>
          <a:prstGeom prst="rect">
            <a:avLst/>
          </a:prstGeom>
          <a:noFill/>
          <a:ln/>
        </p:spPr>
        <p:txBody>
          <a:bodyPr wrap="square" lIns="0" tIns="0" rIns="0" bIns="0" rtlCol="0" anchor="ctr"/>
          <a:lstStyle/>
          <a:p>
            <a:pPr indent="0" marL="0">
              <a:buNone/>
            </a:pPr>
            <a:r>
              <a:rPr lang="en-US" sz="1600" b="1" dirty="0">
                <a:solidFill>
                  <a:srgbClr val="003668"/>
                </a:solidFill>
              </a:rPr>
              <a:t>The one action</a:t>
            </a:r>
            <a:endParaRPr lang="en-US" sz="1600" dirty="0"/>
          </a:p>
        </p:txBody>
      </p:sp>
      <p:sp>
        <p:nvSpPr>
          <p:cNvPr id="12" name="Text 8"/>
          <p:cNvSpPr txBox="1"/>
          <p:nvPr/>
        </p:nvSpPr>
        <p:spPr>
          <a:xfrm>
            <a:off x="6400800" y="1993392"/>
            <a:ext cx="4983480" cy="1371600"/>
          </a:xfrm>
          <a:prstGeom prst="rect">
            <a:avLst/>
          </a:prstGeom>
          <a:noFill/>
          <a:ln/>
        </p:spPr>
        <p:txBody>
          <a:bodyPr wrap="square" lIns="0" tIns="0" rIns="0" bIns="0" rtlCol="0" anchor="t"/>
          <a:lstStyle/>
          <a:p>
            <a:pPr indent="0" marL="0">
              <a:buNone/>
            </a:pPr>
            <a:r>
              <a:rPr lang="en-US" sz="1500" dirty="0">
                <a:solidFill>
                  <a:srgbClr val="1E2329"/>
                </a:solidFill>
              </a:rPr>
              <a:t>What, by when, and who else needs to know. Box 4. Then one sentence each, round the room.</a:t>
            </a:r>
            <a:endParaRPr lang="en-US" sz="1500" dirty="0"/>
          </a:p>
        </p:txBody>
      </p:sp>
      <p:sp>
        <p:nvSpPr>
          <p:cNvPr id="13" name="Plan band"/>
          <p:cNvSpPr/>
          <p:nvPr/>
        </p:nvSpPr>
        <p:spPr>
          <a:xfrm>
            <a:off x="548640" y="3703320"/>
            <a:ext cx="11064240" cy="2148840"/>
          </a:xfrm>
          <a:prstGeom prst="roundRect">
            <a:avLst>
              <a:gd name="adj" fmla="val 3404"/>
            </a:avLst>
          </a:prstGeom>
          <a:solidFill>
            <a:srgbClr val="003668"/>
          </a:solidFill>
          <a:ln w="12700">
            <a:solidFill>
              <a:srgbClr val="003668"/>
            </a:solidFill>
            <a:prstDash val="solid"/>
          </a:ln>
        </p:spPr>
      </p:sp>
      <p:sp>
        <p:nvSpPr>
          <p:cNvPr id="14" name="Plan text"/>
          <p:cNvSpPr txBox="1"/>
          <p:nvPr/>
        </p:nvSpPr>
        <p:spPr>
          <a:xfrm>
            <a:off x="914400" y="3703320"/>
            <a:ext cx="10332720" cy="2148840"/>
          </a:xfrm>
          <a:prstGeom prst="rect">
            <a:avLst/>
          </a:prstGeom>
          <a:noFill/>
          <a:ln/>
        </p:spPr>
        <p:txBody>
          <a:bodyPr wrap="square" lIns="0" tIns="0" rIns="0" bIns="0" rtlCol="0" anchor="ctr"/>
          <a:lstStyle/>
          <a:p>
            <a:pPr indent="0" marL="0">
              <a:buNone/>
            </a:pPr>
            <a:r>
              <a:rPr lang="en-US" sz="2400" b="1" dirty="0">
                <a:solidFill>
                  <a:srgbClr val="FFFFFF"/>
                </a:solidFill>
              </a:rPr>
              <a:t>Your Assistant Provincial Grand Mentor will ask you about it within the month. That is the point.</a:t>
            </a:r>
            <a:endParaRPr lang="en-US" sz="24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06345D"/>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Dark title"/>
          <p:cNvSpPr txBox="1"/>
          <p:nvPr/>
        </p:nvSpPr>
        <p:spPr>
          <a:xfrm>
            <a:off x="822960" y="2103120"/>
            <a:ext cx="10515600" cy="1188720"/>
          </a:xfrm>
          <a:prstGeom prst="rect">
            <a:avLst/>
          </a:prstGeom>
          <a:noFill/>
          <a:ln/>
        </p:spPr>
        <p:txBody>
          <a:bodyPr wrap="square" lIns="0" tIns="0" rIns="0" bIns="0" rtlCol="0" anchor="b"/>
          <a:lstStyle/>
          <a:p>
            <a:pPr indent="0" marL="0">
              <a:buNone/>
            </a:pPr>
            <a:r>
              <a:rPr lang="en-US" sz="5400" b="1" dirty="0">
                <a:solidFill>
                  <a:srgbClr val="FFFFFF"/>
                </a:solidFill>
              </a:rPr>
              <a:t>The Charge</a:t>
            </a:r>
            <a:endParaRPr lang="en-US" sz="5400" dirty="0"/>
          </a:p>
        </p:txBody>
      </p:sp>
      <p:sp>
        <p:nvSpPr>
          <p:cNvPr id="3" name="Dark sub"/>
          <p:cNvSpPr txBox="1"/>
          <p:nvPr/>
        </p:nvSpPr>
        <p:spPr>
          <a:xfrm>
            <a:off x="822960" y="3383280"/>
            <a:ext cx="10058400" cy="1463040"/>
          </a:xfrm>
          <a:prstGeom prst="rect">
            <a:avLst/>
          </a:prstGeom>
          <a:noFill/>
          <a:ln/>
        </p:spPr>
        <p:txBody>
          <a:bodyPr wrap="square" lIns="0" tIns="0" rIns="0" bIns="0" rtlCol="0" anchor="t"/>
          <a:lstStyle/>
          <a:p>
            <a:pPr indent="0" marL="0">
              <a:buNone/>
            </a:pPr>
            <a:r>
              <a:rPr lang="en-US" sz="2000" dirty="0">
                <a:solidFill>
                  <a:srgbClr val="BFD6EA"/>
                </a:solidFill>
              </a:rPr>
              <a:t>Brother, the office you have accepted is unlike any other in the Lodge… Your duty is not to mentor every member yourself. It is to make sure that every member is mentored.</a:t>
            </a:r>
            <a:endParaRPr lang="en-US" sz="2000" dirty="0"/>
          </a:p>
        </p:txBody>
      </p:sp>
      <p:sp>
        <p:nvSpPr>
          <p:cNvPr id="4" name="Charge note"/>
          <p:cNvSpPr txBox="1"/>
          <p:nvPr/>
        </p:nvSpPr>
        <p:spPr>
          <a:xfrm>
            <a:off x="822960" y="5120640"/>
            <a:ext cx="10058400" cy="548640"/>
          </a:xfrm>
          <a:prstGeom prst="rect">
            <a:avLst/>
          </a:prstGeom>
          <a:noFill/>
          <a:ln/>
        </p:spPr>
        <p:txBody>
          <a:bodyPr wrap="square" lIns="0" tIns="0" rIns="0" bIns="0" rtlCol="0" anchor="ctr"/>
          <a:lstStyle/>
          <a:p>
            <a:pPr indent="0" marL="0">
              <a:buNone/>
            </a:pPr>
            <a:r>
              <a:rPr lang="en-US" sz="1400" i="1" dirty="0">
                <a:solidFill>
                  <a:srgbClr val="8FD3D1"/>
                </a:solidFill>
              </a:rPr>
              <a:t>Read in full from the facilitator guide. Presented in writing to every new Lodge Mentor on appointment.</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Dark title"/>
          <p:cNvSpPr txBox="1"/>
          <p:nvPr/>
        </p:nvSpPr>
        <p:spPr>
          <a:xfrm>
            <a:off x="822960" y="1463040"/>
            <a:ext cx="10515600" cy="2011680"/>
          </a:xfrm>
          <a:prstGeom prst="rect">
            <a:avLst/>
          </a:prstGeom>
          <a:noFill/>
          <a:ln/>
        </p:spPr>
        <p:txBody>
          <a:bodyPr wrap="square" lIns="0" tIns="0" rIns="0" bIns="0" rtlCol="0" anchor="b"/>
          <a:lstStyle/>
          <a:p>
            <a:pPr indent="0" marL="0">
              <a:buNone/>
            </a:pPr>
            <a:r>
              <a:rPr lang="en-US" sz="4400" b="1" dirty="0">
                <a:solidFill>
                  <a:srgbClr val="FFFFFF"/>
                </a:solidFill>
              </a:rPr>
              <a:t>Prepare • Guide • Support • Enlighten</a:t>
            </a:r>
            <a:endParaRPr lang="en-US" sz="4400" dirty="0"/>
          </a:p>
        </p:txBody>
      </p:sp>
      <p:sp>
        <p:nvSpPr>
          <p:cNvPr id="3" name="Dark sub"/>
          <p:cNvSpPr txBox="1"/>
          <p:nvPr/>
        </p:nvSpPr>
        <p:spPr>
          <a:xfrm>
            <a:off x="822960" y="3657600"/>
            <a:ext cx="10058400" cy="1463040"/>
          </a:xfrm>
          <a:prstGeom prst="rect">
            <a:avLst/>
          </a:prstGeom>
          <a:noFill/>
          <a:ln/>
        </p:spPr>
        <p:txBody>
          <a:bodyPr wrap="square" lIns="0" tIns="0" rIns="0" bIns="0" rtlCol="0" anchor="t"/>
          <a:lstStyle/>
          <a:p>
            <a:pPr indent="0" marL="0">
              <a:buNone/>
            </a:pPr>
            <a:r>
              <a:rPr lang="en-US" sz="2000" dirty="0">
                <a:solidFill>
                  <a:srgbClr val="BFD6EA"/>
                </a:solidFill>
              </a:rPr>
              <a:t>Family, Work, Masonry: in that order, always. May the work be patient and purposeful, and may Freemasonry flourish, root and branch. Thank you.</a:t>
            </a:r>
            <a:endParaRPr lang="en-US" sz="2000" dirty="0"/>
          </a:p>
        </p:txBody>
      </p:sp>
    </p:spTree>
  </p:cSld>
  <p:clrMapOvr>
    <a:masterClrMapping/>
  </p:clrMapOvr>
</p:sld>
</file>

<file path=ppt/theme/theme1.xml><?xml version="1.0" encoding="utf-8"?>
<a:theme xmlns:a="http://schemas.openxmlformats.org/drawingml/2006/main" name="Hertfordshire Provincial Mentoring">
  <a:themeElements>
    <a:clrScheme name="Hertfordshire Provincial Mentoring">
      <a:dk1>
        <a:srgbClr val="1E2329"/>
      </a:dk1>
      <a:lt1>
        <a:srgbClr val="FFFFFF"/>
      </a:lt1>
      <a:dk2>
        <a:srgbClr val="003668"/>
      </a:dk2>
      <a:lt2>
        <a:srgbClr val="F2F7FC"/>
      </a:lt2>
      <a:accent1>
        <a:srgbClr val="003668"/>
      </a:accent1>
      <a:accent2>
        <a:srgbClr val="0A4F72"/>
      </a:accent2>
      <a:accent3>
        <a:srgbClr val="106576"/>
      </a:accent3>
      <a:accent4>
        <a:srgbClr val="157A7C"/>
      </a:accent4>
      <a:accent5>
        <a:srgbClr val="06345D"/>
      </a:accent5>
      <a:accent6>
        <a:srgbClr val="BFD6EA"/>
      </a:accent6>
      <a:hlink>
        <a:srgbClr val="157A7C"/>
      </a:hlink>
      <a:folHlink>
        <a:srgbClr val="0A4F72"/>
      </a:folHlink>
    </a:clrScheme>
    <a:fontScheme name="Hertfordshire Provincial Mentoring">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Lodge Mentor Essentials</dc:title>
  <dc:subject>PptxGenJS Presentation</dc:subject>
  <dc:creator>Hertfordshire Provincial Mentoring Team</dc:creator>
  <cp:lastModifiedBy>Hertfordshire Provincial Mentoring Team</cp:lastModifiedBy>
  <cp:revision>1</cp:revision>
  <dcterms:created xsi:type="dcterms:W3CDTF">2026-10-10T02:08:50Z</dcterms:created>
  <dcterms:modified xsi:type="dcterms:W3CDTF">2026-10-10T02:08:50Z</dcterms:modified>
</cp:coreProperties>
</file>