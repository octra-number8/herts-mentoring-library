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f53f3882-95cb-9586-998a-7b99db249675}">
          <p14:sldIdLst>
            <p14:sldId id="256"/>
            <p14:sldId id="257"/>
            <p14:sldId id="258"/>
          </p14:sldIdLst>
        </p14:section>
        <p14:section name="1 The role" id="{18cddd84-e001-5953-2bef-697b4b20a31b}">
          <p14:sldIdLst>
            <p14:sldId id="259"/>
            <p14:sldId id="260"/>
            <p14:sldId id="261"/>
            <p14:sldId id="262"/>
            <p14:sldId id="263"/>
          </p14:sldIdLst>
        </p14:section>
        <p14:section name="2 Questions" id="{8649bb75-8aa5-47be-ca7b-89c52f936e11}">
          <p14:sldIdLst>
            <p14:sldId id="264"/>
            <p14:sldId id="265"/>
            <p14:sldId id="266"/>
            <p14:sldId id="267"/>
            <p14:sldId id="268"/>
          </p14:sldIdLst>
        </p14:section>
        <p14:section name="3 Listening" id="{857e3ff9-8b72-1b50-a3d7-50b0229766a6}">
          <p14:sldIdLst>
            <p14:sldId id="269"/>
            <p14:sldId id="270"/>
            <p14:sldId id="271"/>
          </p14:sldIdLst>
        </p14:section>
        <p14:section name="4 Scenarios" id="{49933091-dbed-3184-e7df-7999bc4d99c7}">
          <p14:sldIdLst>
            <p14:sldId id="272"/>
            <p14:sldId id="273"/>
            <p14:sldId id="274"/>
            <p14:sldId id="275"/>
          </p14:sldIdLst>
        </p14:section>
        <p14:section name="5 Close" id="{76b19108-869f-1135-eed9-e792a146e90b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evening of two hours. Have the workbook to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quickly; they are the promise. Then say: everything tonight is done by doing. You will talk more than I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deal explicitly; it gives the experienced mentors permission to contribute rather than sit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aloud, slowly. Do not rush the last line. Then: where were the moments? Flipchart. Let them find the six before you show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it hard: none required expertise, all required noticing. One resignation in three is recovered when someone finally asks why; nobody asked him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boundaries free people. Most new Personal Mentors worry they do not know enough. They do not need to know; they need to notice and to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them from the canon page, not from memory. Ask for a show of hands: which of these have you been asked to do that is not your job?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Then straight into the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show the model answers until they have tried. 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answers, not the only answers. The last one is the one that matters: ask it, mean it, 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does double duty: it practises the skill and reminds them what being new felt like. Debrief: what did it feel like to be asked properly?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a volunteer beforehand. Play it broad; the room will laugh in recognition, and that recognition is the lesson. Then teach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on one question only: what did you hear the second time? Expect: the real reason, the thing he returned to, the hesitation before 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scenario per table, ten minutes, one reporter per table. Keep the debrief keys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only after every table has reported. Draw the four steps out of B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concerns end at step one and never look like a process. The Warning Signs card has all of this on one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each on the Meeting Guide and the Stage Checklists: where they live, when to reach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let anyone pass. A commitment said aloud is twice as likely to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principles, read from the canon page. Names to the Lodge Mentors and APGMen; everyone onto DAWG.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668"/>
                </a:solidFill>
              </a:rPr>
              <a:t>Provincial Mentoring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345D"/>
                </a:solidFill>
              </a:rPr>
              <a:t>Provincial Grand Lodge of Hertfordshire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7A7C"/>
                </a:solidFill>
              </a:rPr>
              <a:t>Prepare • Guide • Support • Enlighten</a:t>
            </a:r>
            <a:endParaRPr lang="en-US" sz="1300" dirty="0"/>
          </a:p>
        </p:txBody>
      </p:sp>
      <p:pic>
        <p:nvPicPr>
          <p:cNvPr id="5" name="Image 0" descr="../art/PGLH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65760"/>
            <a:ext cx="1325880" cy="1527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2057400"/>
            <a:ext cx="3047238" cy="237744"/>
          </a:xfrm>
          <a:prstGeom prst="rect">
            <a:avLst/>
          </a:prstGeom>
          <a:solidFill>
            <a:srgbClr val="003668"/>
          </a:solidFill>
          <a:ln/>
        </p:spPr>
      </p:sp>
      <p:sp>
        <p:nvSpPr>
          <p:cNvPr id="7" name="Shape 4"/>
          <p:cNvSpPr/>
          <p:nvPr/>
        </p:nvSpPr>
        <p:spPr>
          <a:xfrm>
            <a:off x="3047238" y="2057400"/>
            <a:ext cx="3047238" cy="237744"/>
          </a:xfrm>
          <a:prstGeom prst="rect">
            <a:avLst/>
          </a:prstGeom>
          <a:solidFill>
            <a:srgbClr val="0A4F72"/>
          </a:solidFill>
          <a:ln/>
        </p:spPr>
      </p:sp>
      <p:sp>
        <p:nvSpPr>
          <p:cNvPr id="8" name="Shape 5"/>
          <p:cNvSpPr/>
          <p:nvPr/>
        </p:nvSpPr>
        <p:spPr>
          <a:xfrm>
            <a:off x="6094476" y="2057400"/>
            <a:ext cx="3047238" cy="237744"/>
          </a:xfrm>
          <a:prstGeom prst="rect">
            <a:avLst/>
          </a:prstGeom>
          <a:solidFill>
            <a:srgbClr val="106576"/>
          </a:solidFill>
          <a:ln/>
        </p:spPr>
      </p:sp>
      <p:sp>
        <p:nvSpPr>
          <p:cNvPr id="9" name="Shape 6"/>
          <p:cNvSpPr/>
          <p:nvPr/>
        </p:nvSpPr>
        <p:spPr>
          <a:xfrm>
            <a:off x="9141714" y="2057400"/>
            <a:ext cx="3047238" cy="237744"/>
          </a:xfrm>
          <a:prstGeom prst="rect">
            <a:avLst/>
          </a:prstGeom>
          <a:solidFill>
            <a:srgbClr val="157A7C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6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0256"/>
            <a:ext cx="3047238" cy="237744"/>
          </a:xfrm>
          <a:prstGeom prst="rect">
            <a:avLst/>
          </a:prstGeom>
          <a:solidFill>
            <a:srgbClr val="003668"/>
          </a:solidFill>
          <a:ln/>
        </p:spPr>
      </p:sp>
      <p:sp>
        <p:nvSpPr>
          <p:cNvPr id="4" name="Shape 2"/>
          <p:cNvSpPr/>
          <p:nvPr/>
        </p:nvSpPr>
        <p:spPr>
          <a:xfrm>
            <a:off x="3047238" y="6620256"/>
            <a:ext cx="3047238" cy="237744"/>
          </a:xfrm>
          <a:prstGeom prst="rect">
            <a:avLst/>
          </a:prstGeom>
          <a:solidFill>
            <a:srgbClr val="0A4F72"/>
          </a:solidFill>
          <a:ln/>
        </p:spPr>
      </p:sp>
      <p:sp>
        <p:nvSpPr>
          <p:cNvPr id="5" name="Shape 3"/>
          <p:cNvSpPr/>
          <p:nvPr/>
        </p:nvSpPr>
        <p:spPr>
          <a:xfrm>
            <a:off x="6094476" y="6620256"/>
            <a:ext cx="3047238" cy="237744"/>
          </a:xfrm>
          <a:prstGeom prst="rect">
            <a:avLst/>
          </a:prstGeom>
          <a:solidFill>
            <a:srgbClr val="106576"/>
          </a:solidFill>
          <a:ln/>
        </p:spPr>
      </p:sp>
      <p:sp>
        <p:nvSpPr>
          <p:cNvPr id="6" name="Shape 4"/>
          <p:cNvSpPr/>
          <p:nvPr/>
        </p:nvSpPr>
        <p:spPr>
          <a:xfrm>
            <a:off x="9141714" y="6620256"/>
            <a:ext cx="3047238" cy="237744"/>
          </a:xfrm>
          <a:prstGeom prst="rect">
            <a:avLst/>
          </a:prstGeom>
          <a:solidFill>
            <a:srgbClr val="157A7C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3047238" cy="109728"/>
          </a:xfrm>
          <a:prstGeom prst="rect">
            <a:avLst/>
          </a:prstGeom>
          <a:solidFill>
            <a:srgbClr val="003668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6748272"/>
            <a:ext cx="3047238" cy="109728"/>
          </a:xfrm>
          <a:prstGeom prst="rect">
            <a:avLst/>
          </a:prstGeom>
          <a:solidFill>
            <a:srgbClr val="0A4F72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6748272"/>
            <a:ext cx="3047238" cy="109728"/>
          </a:xfrm>
          <a:prstGeom prst="rect">
            <a:avLst/>
          </a:prstGeom>
          <a:solidFill>
            <a:srgbClr val="106576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6748272"/>
            <a:ext cx="3047238" cy="109728"/>
          </a:xfrm>
          <a:prstGeom prst="rect">
            <a:avLst/>
          </a:prstGeom>
          <a:solidFill>
            <a:srgbClr val="157A7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345D"/>
                </a:solidFill>
              </a:rPr>
              <a:t>Hertfordshire Provincial Mentoring  ·  Personal Mentor Course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3668"/>
                </a:solidFill>
              </a:rPr>
              <a:t>Personal Mentor Course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345D"/>
                </a:solidFill>
              </a:rPr>
              <a:t>Two hours of conversation about conversation: the handful of skills that make a Personal Mentor the friend a new Brother needs</a:t>
            </a:r>
            <a:endParaRPr lang="en-US" sz="2000" dirty="0"/>
          </a:p>
        </p:txBody>
      </p:sp>
      <p:sp>
        <p:nvSpPr>
          <p:cNvPr id="4" name="Line 3"/>
          <p:cNvSpPr txBox="1"/>
          <p:nvPr/>
        </p:nvSpPr>
        <p:spPr>
          <a:xfrm>
            <a:off x="54864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7C"/>
                </a:solidFill>
              </a:rPr>
              <a:t>Delivered by W Bro Wes Pierce, Deputy Provincial Grand Mentor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By the end of tonight you will be able to</a:t>
            </a:r>
            <a:endParaRPr lang="en-US" sz="3200" dirty="0"/>
          </a:p>
        </p:txBody>
      </p:sp>
      <p:sp>
        <p:nvSpPr>
          <p:cNvPr id="3" name="Card Say what the role is, and is not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61872" y="1536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Say what the role is, and is not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93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In one sentence each, and name where the Almoner and the Lodge Mentor take over</a:t>
            </a:r>
            <a:endParaRPr lang="en-US" sz="1400" dirty="0"/>
          </a:p>
        </p:txBody>
      </p:sp>
      <p:sp>
        <p:nvSpPr>
          <p:cNvPr id="7" name="Card Ask a question that opens a door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5544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10912" y="1536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Ask a question that opens a door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526280" y="1993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Turn a closed question into an open one, and ask it</a:t>
            </a:r>
            <a:endParaRPr lang="en-US" sz="1400" dirty="0"/>
          </a:p>
        </p:txBody>
      </p:sp>
      <p:sp>
        <p:nvSpPr>
          <p:cNvPr id="11" name="Card Listen, and hold a silence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55448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59952" y="1536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Listen, and hold a silence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75320" y="1993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Hear tone and hesitation, and count to three before you speak</a:t>
            </a:r>
            <a:endParaRPr lang="en-US" sz="1400" dirty="0"/>
          </a:p>
        </p:txBody>
      </p:sp>
      <p:sp>
        <p:nvSpPr>
          <p:cNvPr id="15" name="Card Spot trouble early"/>
          <p:cNvSpPr/>
          <p:nvPr/>
        </p:nvSpPr>
        <p:spPr>
          <a:xfrm>
            <a:off x="548640" y="3657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84048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61872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Spot trouble early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4279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Recognise the warning signs and say who acts, in what order</a:t>
            </a:r>
            <a:endParaRPr lang="en-US" sz="1400" dirty="0"/>
          </a:p>
        </p:txBody>
      </p:sp>
      <p:sp>
        <p:nvSpPr>
          <p:cNvPr id="19" name="Card Reach for the right tool"/>
          <p:cNvSpPr/>
          <p:nvPr/>
        </p:nvSpPr>
        <p:spPr>
          <a:xfrm>
            <a:off x="4297680" y="3657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84048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010912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Reach for the right tool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526280" y="4279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The Meeting Guide, the Stage Checklists, the Warning Signs card</a:t>
            </a:r>
            <a:endParaRPr lang="en-US" sz="1400" dirty="0"/>
          </a:p>
        </p:txBody>
      </p:sp>
      <p:sp>
        <p:nvSpPr>
          <p:cNvPr id="23" name="Card Do one thing differently"/>
          <p:cNvSpPr/>
          <p:nvPr/>
        </p:nvSpPr>
        <p:spPr>
          <a:xfrm>
            <a:off x="8046720" y="3657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84048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759952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Do one thing differently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8275320" y="4279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With your mentee, this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How tonight works</a:t>
            </a:r>
            <a:endParaRPr lang="en-US" sz="3200" dirty="0"/>
          </a:p>
        </p:txBody>
      </p:sp>
      <p:sp>
        <p:nvSpPr>
          <p:cNvPr id="3" name="Card In the room"/>
          <p:cNvSpPr/>
          <p:nvPr/>
        </p:nvSpPr>
        <p:spPr>
          <a:xfrm>
            <a:off x="54864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61872" y="15361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In the room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93392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Tables of four; you will move into pairs twice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Workbook in front of you; write in it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Flipchart for the things we find together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Nothing tonight touches ritual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Phones away unless you are using Solomon</a:t>
            </a:r>
            <a:endParaRPr lang="en-US" sz="1600" dirty="0"/>
          </a:p>
        </p:txBody>
      </p:sp>
      <p:sp>
        <p:nvSpPr>
          <p:cNvPr id="7" name="Card The deal"/>
          <p:cNvSpPr/>
          <p:nvPr/>
        </p:nvSpPr>
        <p:spPr>
          <a:xfrm>
            <a:off x="617220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544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85432" y="15361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deal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1993392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I will not tell you how to mentor; I will show you three things and let you try them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Say what you think, not what you think I want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If you have been a Personal Mentor for twenty years, you are the most useful person here: say what has worked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822960" y="14630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D3D1"/>
                </a:solidFill>
              </a:rPr>
              <a:t>1</a:t>
            </a:r>
            <a:endParaRPr lang="en-US" sz="12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310896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story of a man we lost</a:t>
            </a:r>
            <a:endParaRPr lang="en-US" sz="44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310896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6EA"/>
                </a:solidFill>
              </a:rPr>
              <a:t>Where were the moments this could have been turned around?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The story of a man we lost</a:t>
            </a:r>
            <a:endParaRPr lang="en-US" sz="3200" dirty="0"/>
          </a:p>
        </p:txBody>
      </p:sp>
      <p:sp>
        <p:nvSpPr>
          <p:cNvPr id="3" name="Case panel"/>
          <p:cNvSpPr/>
          <p:nvPr/>
        </p:nvSpPr>
        <p:spPr>
          <a:xfrm>
            <a:off x="548640" y="128016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4" name="Case text"/>
          <p:cNvSpPr txBox="1"/>
          <p:nvPr/>
        </p:nvSpPr>
        <p:spPr>
          <a:xfrm>
            <a:off x="868680" y="146304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06345D"/>
                </a:solidFill>
              </a:rPr>
              <a:t>“I joined at thirty-four, proposed by a colleague I liked. My Initiation was extraordinary; I drove home buzzing. Then came my second meeting: nobody had told me it was mainly business, and I sat at dinner next to two men who talked across me all night about people I didn’t know. At my first rehearsal evening I was told after ten minutes there was nothing for me and I should get off home. Work went mad that spring; I missed two meetings. Nobody rang. When I came back, someone at the bar said, ‘Well, look who’s remembered where we meet.’ Everyone laughed. I laughed too. My subscription renewal came in January with a letter that read like a final demand. I paid it, and then I sat down one Sunday and wrote a different letter. The Secretary’s reply was very polite. It said my resignation had been received and would be reported to the Lodge. Nobody ever asked me why.”</a:t>
            </a:r>
            <a:endParaRPr lang="en-US" sz="1550" dirty="0"/>
          </a:p>
        </p:txBody>
      </p:sp>
      <p:sp>
        <p:nvSpPr>
          <p:cNvPr id="5" name="Case note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345D"/>
                </a:solidFill>
              </a:rPr>
              <a:t>A composite drawn from real losses. Every detail has happened to someone.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Six moments, and none of them needed an expert</a:t>
            </a:r>
            <a:endParaRPr lang="en-US" sz="3200" dirty="0"/>
          </a:p>
        </p:txBody>
      </p:sp>
      <p:sp>
        <p:nvSpPr>
          <p:cNvPr id="3" name="Numbered 1"/>
          <p:cNvSpPr/>
          <p:nvPr/>
        </p:nvSpPr>
        <p:spPr>
          <a:xfrm>
            <a:off x="54864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4" name="Circle 1"/>
          <p:cNvSpPr/>
          <p:nvPr/>
        </p:nvSpPr>
        <p:spPr>
          <a:xfrm>
            <a:off x="777240" y="1527048"/>
            <a:ext cx="548640" cy="548640"/>
          </a:xfrm>
          <a:prstGeom prst="ellipse">
            <a:avLst/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270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second meeting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Nobody said it would be business. Nobody sat with him.</a:t>
            </a:r>
            <a:endParaRPr lang="en-US" sz="1400" dirty="0"/>
          </a:p>
        </p:txBody>
      </p:sp>
      <p:sp>
        <p:nvSpPr>
          <p:cNvPr id="8" name="Numbered 2"/>
          <p:cNvSpPr/>
          <p:nvPr/>
        </p:nvSpPr>
        <p:spPr>
          <a:xfrm>
            <a:off x="429768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9" name="Circle 2"/>
          <p:cNvSpPr/>
          <p:nvPr/>
        </p:nvSpPr>
        <p:spPr>
          <a:xfrm>
            <a:off x="4526280" y="1527048"/>
            <a:ext cx="548640" cy="548640"/>
          </a:xfrm>
          <a:prstGeom prst="ellipse">
            <a:avLst/>
          </a:prstGeom>
          <a:solidFill>
            <a:srgbClr val="0A4F72"/>
          </a:solidFill>
          <a:ln w="12700">
            <a:solidFill>
              <a:srgbClr val="0A4F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5270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72"/>
                </a:solidFill>
              </a:rPr>
              <a:t>The rehearsal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Sent home after ten minutes. “Nothing for you.”</a:t>
            </a:r>
            <a:endParaRPr lang="en-US" sz="1400" dirty="0"/>
          </a:p>
        </p:txBody>
      </p:sp>
      <p:sp>
        <p:nvSpPr>
          <p:cNvPr id="13" name="Numbered 3"/>
          <p:cNvSpPr/>
          <p:nvPr/>
        </p:nvSpPr>
        <p:spPr>
          <a:xfrm>
            <a:off x="804672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8275320" y="1527048"/>
            <a:ext cx="548640" cy="548640"/>
          </a:xfrm>
          <a:prstGeom prst="ellipse">
            <a:avLst/>
          </a:prstGeom>
          <a:solidFill>
            <a:srgbClr val="106576"/>
          </a:solidFill>
          <a:ln w="12700">
            <a:solidFill>
              <a:srgbClr val="10657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5270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6576"/>
                </a:solidFill>
              </a:rPr>
              <a:t>Two missed meetings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Nobody rang. The silence was the message.</a:t>
            </a:r>
            <a:endParaRPr lang="en-US" sz="1400" dirty="0"/>
          </a:p>
        </p:txBody>
      </p:sp>
      <p:sp>
        <p:nvSpPr>
          <p:cNvPr id="18" name="Numbered 4"/>
          <p:cNvSpPr/>
          <p:nvPr/>
        </p:nvSpPr>
        <p:spPr>
          <a:xfrm>
            <a:off x="548640" y="33375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9" name="Circle 4"/>
          <p:cNvSpPr/>
          <p:nvPr/>
        </p:nvSpPr>
        <p:spPr>
          <a:xfrm>
            <a:off x="777240" y="3538728"/>
            <a:ext cx="548640" cy="548640"/>
          </a:xfrm>
          <a:prstGeom prst="ellipse">
            <a:avLst/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5387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7C"/>
                </a:solidFill>
              </a:rPr>
              <a:t>The bar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A joke at his expense. Everyone laughed; so did he.</a:t>
            </a:r>
            <a:endParaRPr lang="en-US" sz="1400" dirty="0"/>
          </a:p>
        </p:txBody>
      </p:sp>
      <p:sp>
        <p:nvSpPr>
          <p:cNvPr id="23" name="Numbered 5"/>
          <p:cNvSpPr/>
          <p:nvPr/>
        </p:nvSpPr>
        <p:spPr>
          <a:xfrm>
            <a:off x="4297680" y="33375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24" name="Circle 5"/>
          <p:cNvSpPr/>
          <p:nvPr/>
        </p:nvSpPr>
        <p:spPr>
          <a:xfrm>
            <a:off x="4526280" y="3538728"/>
            <a:ext cx="548640" cy="548640"/>
          </a:xfrm>
          <a:prstGeom prst="ellipse">
            <a:avLst/>
          </a:prstGeom>
          <a:solidFill>
            <a:srgbClr val="06345D"/>
          </a:solidFill>
          <a:ln w="12700">
            <a:solidFill>
              <a:srgbClr val="0634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5387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45D"/>
                </a:solidFill>
              </a:rPr>
              <a:t>The renewal letter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Read like a final demand. Paid, and then the other letter.</a:t>
            </a:r>
            <a:endParaRPr lang="en-US" sz="1400" dirty="0"/>
          </a:p>
        </p:txBody>
      </p:sp>
      <p:sp>
        <p:nvSpPr>
          <p:cNvPr id="28" name="Numbered 6"/>
          <p:cNvSpPr/>
          <p:nvPr/>
        </p:nvSpPr>
        <p:spPr>
          <a:xfrm>
            <a:off x="8046720" y="33375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29" name="Circle 6"/>
          <p:cNvSpPr/>
          <p:nvPr/>
        </p:nvSpPr>
        <p:spPr>
          <a:xfrm>
            <a:off x="8275320" y="3538728"/>
            <a:ext cx="548640" cy="548640"/>
          </a:xfrm>
          <a:prstGeom prst="ellipse">
            <a:avLst/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5387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reply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Polite. Received. Reported. Nobody asked why.</a:t>
            </a:r>
            <a:endParaRPr lang="en-US" sz="1400" dirty="0"/>
          </a:p>
        </p:txBody>
      </p:sp>
      <p:sp>
        <p:nvSpPr>
          <p:cNvPr id="33" name="Land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7C"/>
                </a:solidFill>
              </a:rPr>
              <a:t>All of them required someone noticing. That is the job.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A friend with a purpose</a:t>
            </a:r>
            <a:endParaRPr lang="en-US" sz="3200" dirty="0"/>
          </a:p>
        </p:txBody>
      </p:sp>
      <p:sp>
        <p:nvSpPr>
          <p:cNvPr id="3" name="Card Your role is"/>
          <p:cNvSpPr/>
          <p:nvPr/>
        </p:nvSpPr>
        <p:spPr>
          <a:xfrm>
            <a:off x="54864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61872" y="15361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Your role is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93392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His first point of contact for any question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Someone who keeps in touch between meetings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A listener who notices when something changes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His bridge to the Lodge and the Province</a:t>
            </a:r>
            <a:endParaRPr lang="en-US" sz="1600" dirty="0"/>
          </a:p>
        </p:txBody>
      </p:sp>
      <p:sp>
        <p:nvSpPr>
          <p:cNvPr id="7" name="Card Your role is not"/>
          <p:cNvSpPr/>
          <p:nvPr/>
        </p:nvSpPr>
        <p:spPr>
          <a:xfrm>
            <a:off x="617220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544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85432" y="15361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72"/>
                </a:solidFill>
              </a:rPr>
              <a:t>Your role is not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1993392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The only person who can help him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A ritual coach. That is the Lodge of Instruction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Someone who monitors or reports on him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A replacement for the Lodge Mentor, who co-ordinates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A welfare officer. That is the Almoner, and referring early is the skill, not the failure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The four principles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329"/>
                </a:solidFill>
              </a:rPr>
              <a:t>Defined once, on the Province’s canon page, and quoted everywhere. They run together, all the time. They are not stages.</a:t>
            </a:r>
            <a:endParaRPr lang="en-US" sz="1600" dirty="0"/>
          </a:p>
        </p:txBody>
      </p:sp>
      <p:sp>
        <p:nvSpPr>
          <p:cNvPr id="4" name="Principle Prepare"/>
          <p:cNvSpPr/>
          <p:nvPr/>
        </p:nvSpPr>
        <p:spPr>
          <a:xfrm>
            <a:off x="548640" y="2286000"/>
            <a:ext cx="2651760" cy="1005840"/>
          </a:xfrm>
          <a:prstGeom prst="rect">
            <a:avLst/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D1"/>
                </a:solidFill>
              </a:rPr>
              <a:t>1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PREPARE</a:t>
            </a:r>
            <a:endParaRPr lang="en-US" sz="1800" dirty="0"/>
          </a:p>
        </p:txBody>
      </p:sp>
      <p:sp>
        <p:nvSpPr>
          <p:cNvPr id="6" name="Principle text Prepare"/>
          <p:cNvSpPr/>
          <p:nvPr/>
        </p:nvSpPr>
        <p:spPr>
          <a:xfrm>
            <a:off x="548640" y="3291840"/>
            <a:ext cx="2651760" cy="2103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429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6345D"/>
                </a:solidFill>
              </a:rPr>
              <a:t>Ready for each stage before it happens. There should never be any surprises.</a:t>
            </a:r>
            <a:endParaRPr lang="en-US" sz="1350" dirty="0"/>
          </a:p>
        </p:txBody>
      </p:sp>
      <p:sp>
        <p:nvSpPr>
          <p:cNvPr id="8" name="Principle Guide"/>
          <p:cNvSpPr/>
          <p:nvPr/>
        </p:nvSpPr>
        <p:spPr>
          <a:xfrm>
            <a:off x="3383280" y="2286000"/>
            <a:ext cx="2651760" cy="1005840"/>
          </a:xfrm>
          <a:prstGeom prst="rect">
            <a:avLst/>
          </a:prstGeom>
          <a:solidFill>
            <a:srgbClr val="0A4F72"/>
          </a:solidFill>
          <a:ln w="12700">
            <a:solidFill>
              <a:srgbClr val="0A4F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D1"/>
                </a:solidFill>
              </a:rPr>
              <a:t>2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</a:t>
            </a:r>
            <a:endParaRPr lang="en-US" sz="1800" dirty="0"/>
          </a:p>
        </p:txBody>
      </p:sp>
      <p:sp>
        <p:nvSpPr>
          <p:cNvPr id="10" name="Principle text Guide"/>
          <p:cNvSpPr/>
          <p:nvPr/>
        </p:nvSpPr>
        <p:spPr>
          <a:xfrm>
            <a:off x="3383280" y="3291840"/>
            <a:ext cx="2651760" cy="2103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3429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6345D"/>
                </a:solidFill>
              </a:rPr>
              <a:t>Accurate, honest, timely information. Never dependency.</a:t>
            </a:r>
            <a:endParaRPr lang="en-US" sz="1350" dirty="0"/>
          </a:p>
        </p:txBody>
      </p:sp>
      <p:sp>
        <p:nvSpPr>
          <p:cNvPr id="12" name="Principle Support"/>
          <p:cNvSpPr/>
          <p:nvPr/>
        </p:nvSpPr>
        <p:spPr>
          <a:xfrm>
            <a:off x="6217920" y="2286000"/>
            <a:ext cx="2651760" cy="1005840"/>
          </a:xfrm>
          <a:prstGeom prst="rect">
            <a:avLst/>
          </a:prstGeom>
          <a:solidFill>
            <a:srgbClr val="106576"/>
          </a:solidFill>
          <a:ln w="12700">
            <a:solidFill>
              <a:srgbClr val="10657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D1"/>
                </a:solidFill>
              </a:rPr>
              <a:t>3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SUPPORT</a:t>
            </a:r>
            <a:endParaRPr lang="en-US" sz="1800" dirty="0"/>
          </a:p>
        </p:txBody>
      </p:sp>
      <p:sp>
        <p:nvSpPr>
          <p:cNvPr id="14" name="Principle text Support"/>
          <p:cNvSpPr/>
          <p:nvPr/>
        </p:nvSpPr>
        <p:spPr>
          <a:xfrm>
            <a:off x="6217920" y="3291840"/>
            <a:ext cx="2651760" cy="2103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429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6345D"/>
                </a:solidFill>
              </a:rPr>
              <a:t>Present, responsive, compassionate. “How can we help?”, never “Why aren’t you attending?”</a:t>
            </a:r>
            <a:endParaRPr lang="en-US" sz="1350" dirty="0"/>
          </a:p>
        </p:txBody>
      </p:sp>
      <p:sp>
        <p:nvSpPr>
          <p:cNvPr id="16" name="Principle Enlighten"/>
          <p:cNvSpPr/>
          <p:nvPr/>
        </p:nvSpPr>
        <p:spPr>
          <a:xfrm>
            <a:off x="9052560" y="2286000"/>
            <a:ext cx="2651760" cy="1005840"/>
          </a:xfrm>
          <a:prstGeom prst="rect">
            <a:avLst/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D1"/>
                </a:solidFill>
              </a:rPr>
              <a:t>4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ENLIGHTEN</a:t>
            </a:r>
            <a:endParaRPr lang="en-US" sz="1800" dirty="0"/>
          </a:p>
        </p:txBody>
      </p:sp>
      <p:sp>
        <p:nvSpPr>
          <p:cNvPr id="18" name="Principle text Enlighten"/>
          <p:cNvSpPr/>
          <p:nvPr/>
        </p:nvSpPr>
        <p:spPr>
          <a:xfrm>
            <a:off x="9052560" y="3291840"/>
            <a:ext cx="2651760" cy="2103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3429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6345D"/>
                </a:solidFill>
              </a:rPr>
              <a:t>Understanding, curiosity and enjoyment of Freemasonry, for life.</a:t>
            </a:r>
            <a:endParaRPr lang="en-US" sz="1350" dirty="0"/>
          </a:p>
        </p:txBody>
      </p:sp>
      <p:sp>
        <p:nvSpPr>
          <p:cNvPr id="20" name="Tagline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57A7C"/>
                </a:solidFill>
              </a:rPr>
              <a:t>Coach, not counsellor. If it touches his health, money, family or safety: Almoner and Lodge Mentor, promptly.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822960" y="14630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D3D1"/>
                </a:solidFill>
              </a:rPr>
              <a:t>2</a:t>
            </a:r>
            <a:endParaRPr lang="en-US" sz="12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310896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Questions that open doors</a:t>
            </a:r>
            <a:endParaRPr lang="en-US" sz="44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310896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6EA"/>
                </a:solidFill>
              </a:rPr>
              <a:t>The difference between “did you enjoy it?” and “what did you make of it?”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Open or closed?</a:t>
            </a:r>
            <a:endParaRPr lang="en-US" sz="3200" dirty="0"/>
          </a:p>
        </p:txBody>
      </p:sp>
      <p:sp>
        <p:nvSpPr>
          <p:cNvPr id="3" name="Panel “Did you enjoy the c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4F72"/>
                </a:solidFill>
              </a:rPr>
              <a:t>“Did you enjoy the ceremony?”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329"/>
                </a:solidFill>
              </a:rPr>
              <a:t>Invites “yes”. He will say yes whether or not it is true, because you are kind and he does not want to disappoint you.</a:t>
            </a:r>
            <a:endParaRPr lang="en-US" sz="1500" dirty="0"/>
          </a:p>
        </p:txBody>
      </p:sp>
      <p:sp>
        <p:nvSpPr>
          <p:cNvPr id="6" name="Panel “What did you make o"/>
          <p:cNvSpPr/>
          <p:nvPr/>
        </p:nvSpPr>
        <p:spPr>
          <a:xfrm>
            <a:off x="617220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7A7C"/>
                </a:solidFill>
              </a:rPr>
              <a:t>“What did you make of tonight?”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38528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329"/>
                </a:solidFill>
              </a:rPr>
              <a:t>Invites the truth. He has to think, and what he says will tell you where he actually is.</a:t>
            </a:r>
            <a:endParaRPr lang="en-US" sz="1500" dirty="0"/>
          </a:p>
        </p:txBody>
      </p:sp>
      <p:sp>
        <p:nvSpPr>
          <p:cNvPr id="9" name="Card The test of an open question"/>
          <p:cNvSpPr/>
          <p:nvPr/>
        </p:nvSpPr>
        <p:spPr>
          <a:xfrm>
            <a:off x="548640" y="361188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7647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test of an open question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33672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329"/>
                </a:solidFill>
              </a:rPr>
              <a:t>You cannot predict the answer. Most mentors ask closed questions out of kindness, to make it easy to answer. The kindness is in the open question, because it says: I want to know what you actually think. Start with what, how, or tell me about; never with did, are, is or have.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Exercise 1: rewrite the six</a:t>
            </a:r>
            <a:endParaRPr lang="en-US" sz="3200" dirty="0"/>
          </a:p>
        </p:txBody>
      </p:sp>
      <p:sp>
        <p:nvSpPr>
          <p:cNvPr id="3" name="Timer"/>
          <p:cNvSpPr/>
          <p:nvPr/>
        </p:nvSpPr>
        <p:spPr>
          <a:xfrm>
            <a:off x="9537192" y="457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37192" y="457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Pairs · 5 minutes</a:t>
            </a:r>
            <a:endParaRPr lang="en-US" sz="1500" dirty="0"/>
          </a:p>
        </p:txBody>
      </p:sp>
      <p:sp>
        <p:nvSpPr>
          <p:cNvPr id="5" name="Closed 1"/>
          <p:cNvSpPr/>
          <p:nvPr/>
        </p:nvSpPr>
        <p:spPr>
          <a:xfrm>
            <a:off x="548640" y="1325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7C"/>
                </a:solidFill>
              </a:rPr>
              <a:t>1   </a:t>
            </a:r>
            <a:pPr indent="0" marL="0">
              <a:buNone/>
            </a:pPr>
            <a:r>
              <a:rPr lang="en-US" sz="1800" b="1" dirty="0">
                <a:solidFill>
                  <a:srgbClr val="003668"/>
                </a:solidFill>
              </a:rPr>
              <a:t>“Did you enjoy the ceremony?”</a:t>
            </a:r>
            <a:endParaRPr lang="en-US" sz="1800" dirty="0"/>
          </a:p>
        </p:txBody>
      </p:sp>
      <p:sp>
        <p:nvSpPr>
          <p:cNvPr id="7" name="Closed 2"/>
          <p:cNvSpPr/>
          <p:nvPr/>
        </p:nvSpPr>
        <p:spPr>
          <a:xfrm>
            <a:off x="6172200" y="1325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325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7C"/>
                </a:solidFill>
              </a:rPr>
              <a:t>2   </a:t>
            </a:r>
            <a:pPr indent="0" marL="0">
              <a:buNone/>
            </a:pPr>
            <a:r>
              <a:rPr lang="en-US" sz="1800" b="1" dirty="0">
                <a:solidFill>
                  <a:srgbClr val="003668"/>
                </a:solidFill>
              </a:rPr>
              <a:t>“Are you settling in alright?”</a:t>
            </a:r>
            <a:endParaRPr lang="en-US" sz="1800" dirty="0"/>
          </a:p>
        </p:txBody>
      </p:sp>
      <p:sp>
        <p:nvSpPr>
          <p:cNvPr id="9" name="Closed 3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7C"/>
                </a:solidFill>
              </a:rPr>
              <a:t>3   </a:t>
            </a:r>
            <a:pPr indent="0" marL="0">
              <a:buNone/>
            </a:pPr>
            <a:r>
              <a:rPr lang="en-US" sz="1800" b="1" dirty="0">
                <a:solidFill>
                  <a:srgbClr val="003668"/>
                </a:solidFill>
              </a:rPr>
              <a:t>“Have you got any questions?”</a:t>
            </a:r>
            <a:endParaRPr lang="en-US" sz="1800" dirty="0"/>
          </a:p>
        </p:txBody>
      </p:sp>
      <p:sp>
        <p:nvSpPr>
          <p:cNvPr id="11" name="Closed 4"/>
          <p:cNvSpPr/>
          <p:nvPr/>
        </p:nvSpPr>
        <p:spPr>
          <a:xfrm>
            <a:off x="6172200" y="26974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697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7C"/>
                </a:solidFill>
              </a:rPr>
              <a:t>4   </a:t>
            </a:r>
            <a:pPr indent="0" marL="0">
              <a:buNone/>
            </a:pPr>
            <a:r>
              <a:rPr lang="en-US" sz="1800" b="1" dirty="0">
                <a:solidFill>
                  <a:srgbClr val="003668"/>
                </a:solidFill>
              </a:rPr>
              <a:t>“Are you coming to the next meeting?”</a:t>
            </a:r>
            <a:endParaRPr lang="en-US" sz="1800" dirty="0"/>
          </a:p>
        </p:txBody>
      </p:sp>
      <p:sp>
        <p:nvSpPr>
          <p:cNvPr id="13" name="Closed 5"/>
          <p:cNvSpPr/>
          <p:nvPr/>
        </p:nvSpPr>
        <p:spPr>
          <a:xfrm>
            <a:off x="548640" y="4069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690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7C"/>
                </a:solidFill>
              </a:rPr>
              <a:t>5   </a:t>
            </a:r>
            <a:pPr indent="0" marL="0">
              <a:buNone/>
            </a:pPr>
            <a:r>
              <a:rPr lang="en-US" sz="1800" b="1" dirty="0">
                <a:solidFill>
                  <a:srgbClr val="003668"/>
                </a:solidFill>
              </a:rPr>
              <a:t>“Is the ritual learning going okay?”</a:t>
            </a:r>
            <a:endParaRPr lang="en-US" sz="1800" dirty="0"/>
          </a:p>
        </p:txBody>
      </p:sp>
      <p:sp>
        <p:nvSpPr>
          <p:cNvPr id="15" name="Closed 6"/>
          <p:cNvSpPr/>
          <p:nvPr/>
        </p:nvSpPr>
        <p:spPr>
          <a:xfrm>
            <a:off x="6172200" y="4069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0690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7C"/>
                </a:solidFill>
              </a:rPr>
              <a:t>6   </a:t>
            </a:r>
            <a:pPr indent="0" marL="0">
              <a:buNone/>
            </a:pPr>
            <a:r>
              <a:rPr lang="en-US" sz="1800" b="1" dirty="0">
                <a:solidFill>
                  <a:srgbClr val="003668"/>
                </a:solidFill>
              </a:rPr>
              <a:t>“Everything alright at home?”</a:t>
            </a:r>
            <a:endParaRPr lang="en-US" sz="1800" dirty="0"/>
          </a:p>
        </p:txBody>
      </p:sp>
      <p:sp>
        <p:nvSpPr>
          <p:cNvPr id="17" name="Instruction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345D"/>
                </a:solidFill>
              </a:rPr>
              <a:t>Workbook page 3. Rewrite each so that you could not predict the answer. Compare across the room before the model answers.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Six that work</a:t>
            </a:r>
            <a:endParaRPr lang="en-US" sz="3200" dirty="0"/>
          </a:p>
        </p:txBody>
      </p:sp>
      <p:sp>
        <p:nvSpPr>
          <p:cNvPr id="3" name="Closed q 0"/>
          <p:cNvSpPr txBox="1"/>
          <p:nvPr/>
        </p:nvSpPr>
        <p:spPr>
          <a:xfrm>
            <a:off x="548640" y="1280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“Did you enjoy the ceremony?”</a:t>
            </a:r>
            <a:endParaRPr lang="en-US" sz="1350" dirty="0"/>
          </a:p>
        </p:txBody>
      </p:sp>
      <p:sp>
        <p:nvSpPr>
          <p:cNvPr id="4" name="Arrow 0"/>
          <p:cNvSpPr/>
          <p:nvPr/>
        </p:nvSpPr>
        <p:spPr>
          <a:xfrm>
            <a:off x="4846320" y="1435608"/>
            <a:ext cx="457200" cy="329184"/>
          </a:xfrm>
          <a:prstGeom prst="rightArrow">
            <a:avLst/>
          </a:prstGeom>
          <a:solidFill>
            <a:srgbClr val="BFD6EA"/>
          </a:solidFill>
          <a:ln w="12700">
            <a:solidFill>
              <a:srgbClr val="BFD6EA"/>
            </a:solidFill>
            <a:prstDash val="solid"/>
          </a:ln>
        </p:spPr>
      </p:sp>
      <p:sp>
        <p:nvSpPr>
          <p:cNvPr id="5" name="Open bg 0"/>
          <p:cNvSpPr/>
          <p:nvPr/>
        </p:nvSpPr>
        <p:spPr>
          <a:xfrm>
            <a:off x="5440680" y="1280160"/>
            <a:ext cx="617220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6" name="Open q 0"/>
          <p:cNvSpPr txBox="1"/>
          <p:nvPr/>
        </p:nvSpPr>
        <p:spPr>
          <a:xfrm>
            <a:off x="5623560" y="12801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668"/>
                </a:solidFill>
              </a:rPr>
              <a:t>What did you make of tonight?</a:t>
            </a:r>
            <a:endParaRPr lang="en-US" sz="1450" dirty="0"/>
          </a:p>
        </p:txBody>
      </p:sp>
      <p:sp>
        <p:nvSpPr>
          <p:cNvPr id="7" name="Closed q 1"/>
          <p:cNvSpPr txBox="1"/>
          <p:nvPr/>
        </p:nvSpPr>
        <p:spPr>
          <a:xfrm>
            <a:off x="548640" y="20391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“Are you settling in alright?”</a:t>
            </a:r>
            <a:endParaRPr lang="en-US" sz="1350" dirty="0"/>
          </a:p>
        </p:txBody>
      </p:sp>
      <p:sp>
        <p:nvSpPr>
          <p:cNvPr id="8" name="Arrow 1"/>
          <p:cNvSpPr/>
          <p:nvPr/>
        </p:nvSpPr>
        <p:spPr>
          <a:xfrm>
            <a:off x="4846320" y="2194560"/>
            <a:ext cx="457200" cy="329184"/>
          </a:xfrm>
          <a:prstGeom prst="rightArrow">
            <a:avLst/>
          </a:prstGeom>
          <a:solidFill>
            <a:srgbClr val="BFD6EA"/>
          </a:solidFill>
          <a:ln w="12700">
            <a:solidFill>
              <a:srgbClr val="BFD6EA"/>
            </a:solidFill>
            <a:prstDash val="solid"/>
          </a:ln>
        </p:spPr>
      </p:sp>
      <p:sp>
        <p:nvSpPr>
          <p:cNvPr id="9" name="Open bg 1"/>
          <p:cNvSpPr/>
          <p:nvPr/>
        </p:nvSpPr>
        <p:spPr>
          <a:xfrm>
            <a:off x="5440680" y="2039112"/>
            <a:ext cx="617220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0" name="Open q 1"/>
          <p:cNvSpPr txBox="1"/>
          <p:nvPr/>
        </p:nvSpPr>
        <p:spPr>
          <a:xfrm>
            <a:off x="5623560" y="203911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668"/>
                </a:solidFill>
              </a:rPr>
              <a:t>What has surprised you most so far?</a:t>
            </a:r>
            <a:endParaRPr lang="en-US" sz="1450" dirty="0"/>
          </a:p>
        </p:txBody>
      </p:sp>
      <p:sp>
        <p:nvSpPr>
          <p:cNvPr id="11" name="Closed q 2"/>
          <p:cNvSpPr txBox="1"/>
          <p:nvPr/>
        </p:nvSpPr>
        <p:spPr>
          <a:xfrm>
            <a:off x="548640" y="27980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“Have you got any questions?”</a:t>
            </a:r>
            <a:endParaRPr lang="en-US" sz="1350" dirty="0"/>
          </a:p>
        </p:txBody>
      </p:sp>
      <p:sp>
        <p:nvSpPr>
          <p:cNvPr id="12" name="Arrow 2"/>
          <p:cNvSpPr/>
          <p:nvPr/>
        </p:nvSpPr>
        <p:spPr>
          <a:xfrm>
            <a:off x="4846320" y="2953512"/>
            <a:ext cx="457200" cy="329184"/>
          </a:xfrm>
          <a:prstGeom prst="rightArrow">
            <a:avLst/>
          </a:prstGeom>
          <a:solidFill>
            <a:srgbClr val="BFD6EA"/>
          </a:solidFill>
          <a:ln w="12700">
            <a:solidFill>
              <a:srgbClr val="BFD6EA"/>
            </a:solidFill>
            <a:prstDash val="solid"/>
          </a:ln>
        </p:spPr>
      </p:sp>
      <p:sp>
        <p:nvSpPr>
          <p:cNvPr id="13" name="Open bg 2"/>
          <p:cNvSpPr/>
          <p:nvPr/>
        </p:nvSpPr>
        <p:spPr>
          <a:xfrm>
            <a:off x="5440680" y="2798064"/>
            <a:ext cx="617220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4" name="Open q 2"/>
          <p:cNvSpPr txBox="1"/>
          <p:nvPr/>
        </p:nvSpPr>
        <p:spPr>
          <a:xfrm>
            <a:off x="5623560" y="27980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668"/>
                </a:solidFill>
              </a:rPr>
              <a:t>What have you been wondering about that nobody has explained?</a:t>
            </a:r>
            <a:endParaRPr lang="en-US" sz="1450" dirty="0"/>
          </a:p>
        </p:txBody>
      </p:sp>
      <p:sp>
        <p:nvSpPr>
          <p:cNvPr id="15" name="Closed q 3"/>
          <p:cNvSpPr txBox="1"/>
          <p:nvPr/>
        </p:nvSpPr>
        <p:spPr>
          <a:xfrm>
            <a:off x="548640" y="35570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“Are you coming to the next meeting?”</a:t>
            </a:r>
            <a:endParaRPr lang="en-US" sz="1350" dirty="0"/>
          </a:p>
        </p:txBody>
      </p:sp>
      <p:sp>
        <p:nvSpPr>
          <p:cNvPr id="16" name="Arrow 3"/>
          <p:cNvSpPr/>
          <p:nvPr/>
        </p:nvSpPr>
        <p:spPr>
          <a:xfrm>
            <a:off x="4846320" y="3712464"/>
            <a:ext cx="457200" cy="329184"/>
          </a:xfrm>
          <a:prstGeom prst="rightArrow">
            <a:avLst/>
          </a:prstGeom>
          <a:solidFill>
            <a:srgbClr val="BFD6EA"/>
          </a:solidFill>
          <a:ln w="12700">
            <a:solidFill>
              <a:srgbClr val="BFD6EA"/>
            </a:solidFill>
            <a:prstDash val="solid"/>
          </a:ln>
        </p:spPr>
      </p:sp>
      <p:sp>
        <p:nvSpPr>
          <p:cNvPr id="17" name="Open bg 3"/>
          <p:cNvSpPr/>
          <p:nvPr/>
        </p:nvSpPr>
        <p:spPr>
          <a:xfrm>
            <a:off x="5440680" y="3557016"/>
            <a:ext cx="617220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8" name="Open q 3"/>
          <p:cNvSpPr txBox="1"/>
          <p:nvPr/>
        </p:nvSpPr>
        <p:spPr>
          <a:xfrm>
            <a:off x="5623560" y="35570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668"/>
                </a:solidFill>
              </a:rPr>
              <a:t>What would make the next few months work well for you?</a:t>
            </a:r>
            <a:endParaRPr lang="en-US" sz="1450" dirty="0"/>
          </a:p>
        </p:txBody>
      </p:sp>
      <p:sp>
        <p:nvSpPr>
          <p:cNvPr id="19" name="Closed q 4"/>
          <p:cNvSpPr txBox="1"/>
          <p:nvPr/>
        </p:nvSpPr>
        <p:spPr>
          <a:xfrm>
            <a:off x="548640" y="43159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“Is the ritual learning going okay?”</a:t>
            </a:r>
            <a:endParaRPr lang="en-US" sz="1350" dirty="0"/>
          </a:p>
        </p:txBody>
      </p:sp>
      <p:sp>
        <p:nvSpPr>
          <p:cNvPr id="20" name="Arrow 4"/>
          <p:cNvSpPr/>
          <p:nvPr/>
        </p:nvSpPr>
        <p:spPr>
          <a:xfrm>
            <a:off x="4846320" y="4471416"/>
            <a:ext cx="457200" cy="329184"/>
          </a:xfrm>
          <a:prstGeom prst="rightArrow">
            <a:avLst/>
          </a:prstGeom>
          <a:solidFill>
            <a:srgbClr val="BFD6EA"/>
          </a:solidFill>
          <a:ln w="12700">
            <a:solidFill>
              <a:srgbClr val="BFD6EA"/>
            </a:solidFill>
            <a:prstDash val="solid"/>
          </a:ln>
        </p:spPr>
      </p:sp>
      <p:sp>
        <p:nvSpPr>
          <p:cNvPr id="21" name="Open bg 4"/>
          <p:cNvSpPr/>
          <p:nvPr/>
        </p:nvSpPr>
        <p:spPr>
          <a:xfrm>
            <a:off x="5440680" y="4315968"/>
            <a:ext cx="617220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22" name="Open q 4"/>
          <p:cNvSpPr txBox="1"/>
          <p:nvPr/>
        </p:nvSpPr>
        <p:spPr>
          <a:xfrm>
            <a:off x="5623560" y="43159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668"/>
                </a:solidFill>
              </a:rPr>
              <a:t>How are you finding the learning, and what would help?</a:t>
            </a:r>
            <a:endParaRPr lang="en-US" sz="1450" dirty="0"/>
          </a:p>
        </p:txBody>
      </p:sp>
      <p:sp>
        <p:nvSpPr>
          <p:cNvPr id="23" name="Closed q 5"/>
          <p:cNvSpPr txBox="1"/>
          <p:nvPr/>
        </p:nvSpPr>
        <p:spPr>
          <a:xfrm>
            <a:off x="548640" y="5074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“Everything alright at home?”</a:t>
            </a:r>
            <a:endParaRPr lang="en-US" sz="1350" dirty="0"/>
          </a:p>
        </p:txBody>
      </p:sp>
      <p:sp>
        <p:nvSpPr>
          <p:cNvPr id="24" name="Arrow 5"/>
          <p:cNvSpPr/>
          <p:nvPr/>
        </p:nvSpPr>
        <p:spPr>
          <a:xfrm>
            <a:off x="4846320" y="5230368"/>
            <a:ext cx="457200" cy="329184"/>
          </a:xfrm>
          <a:prstGeom prst="rightArrow">
            <a:avLst/>
          </a:prstGeom>
          <a:solidFill>
            <a:srgbClr val="BFD6EA"/>
          </a:solidFill>
          <a:ln w="12700">
            <a:solidFill>
              <a:srgbClr val="BFD6EA"/>
            </a:solidFill>
            <a:prstDash val="solid"/>
          </a:ln>
        </p:spPr>
      </p:sp>
      <p:sp>
        <p:nvSpPr>
          <p:cNvPr id="25" name="Open bg 5"/>
          <p:cNvSpPr/>
          <p:nvPr/>
        </p:nvSpPr>
        <p:spPr>
          <a:xfrm>
            <a:off x="5440680" y="5074920"/>
            <a:ext cx="617220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26" name="Open q 5"/>
          <p:cNvSpPr txBox="1"/>
          <p:nvPr/>
        </p:nvSpPr>
        <p:spPr>
          <a:xfrm>
            <a:off x="5623560" y="5074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668"/>
                </a:solidFill>
              </a:rPr>
              <a:t>How are things generally, with work and home, and how does Lodge fit around it all at the moment?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Exercise 1, part two: ask it for real</a:t>
            </a:r>
            <a:endParaRPr lang="en-US" sz="3200" dirty="0"/>
          </a:p>
        </p:txBody>
      </p:sp>
      <p:sp>
        <p:nvSpPr>
          <p:cNvPr id="3" name="Timer"/>
          <p:cNvSpPr/>
          <p:nvPr/>
        </p:nvSpPr>
        <p:spPr>
          <a:xfrm>
            <a:off x="9537192" y="457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37192" y="457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Pairs · 3 min each way</a:t>
            </a:r>
            <a:endParaRPr lang="en-US" sz="1500" dirty="0"/>
          </a:p>
        </p:txBody>
      </p:sp>
      <p:sp>
        <p:nvSpPr>
          <p:cNvPr id="5" name="Question band"/>
          <p:cNvSpPr/>
          <p:nvPr/>
        </p:nvSpPr>
        <p:spPr>
          <a:xfrm>
            <a:off x="548640" y="13716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6" name="Big question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“What did you make of your own Initiation, all those years ago?”</a:t>
            </a:r>
            <a:endParaRPr lang="en-US" sz="2800" dirty="0"/>
          </a:p>
        </p:txBody>
      </p:sp>
      <p:sp>
        <p:nvSpPr>
          <p:cNvPr id="7" name="Card The asker"/>
          <p:cNvSpPr/>
          <p:nvPr/>
        </p:nvSpPr>
        <p:spPr>
          <a:xfrm>
            <a:off x="548640" y="342900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611880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35935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asker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5079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329"/>
                </a:solidFill>
              </a:rPr>
              <a:t>Ask it once. Then stop.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329"/>
                </a:solidFill>
              </a:rPr>
              <a:t>One follow-up question at most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329"/>
                </a:solidFill>
              </a:rPr>
              <a:t>Notice what he returns to</a:t>
            </a:r>
            <a:endParaRPr lang="en-US" sz="1500" dirty="0"/>
          </a:p>
        </p:txBody>
      </p:sp>
      <p:sp>
        <p:nvSpPr>
          <p:cNvPr id="11" name="Card The listener"/>
          <p:cNvSpPr/>
          <p:nvPr/>
        </p:nvSpPr>
        <p:spPr>
          <a:xfrm>
            <a:off x="6172200" y="342900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6118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85432" y="35935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listener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405079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329"/>
                </a:solidFill>
              </a:rPr>
              <a:t>Answer honestly; you were new once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329"/>
                </a:solidFill>
              </a:rPr>
              <a:t>Notice how it feels to be asked properly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329"/>
                </a:solidFill>
              </a:rPr>
              <a:t>Afterwards, write one thing your partner said that you would not have guessed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822960" y="14630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D3D1"/>
                </a:solidFill>
              </a:rPr>
              <a:t>3</a:t>
            </a:r>
            <a:endParaRPr lang="en-US" sz="12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3108960" y="12801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Listening, and the three-second rule</a:t>
            </a:r>
            <a:endParaRPr lang="en-US" sz="40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3108960" y="3154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6EA"/>
                </a:solidFill>
              </a:rPr>
              <a:t>What you hear the second time that you missed the first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Sixty seconds of bad listening</a:t>
            </a:r>
            <a:endParaRPr lang="en-US" sz="3200" dirty="0"/>
          </a:p>
        </p:txBody>
      </p:sp>
      <p:sp>
        <p:nvSpPr>
          <p:cNvPr id="3" name="Timer"/>
          <p:cNvSpPr/>
          <p:nvPr/>
        </p:nvSpPr>
        <p:spPr>
          <a:xfrm>
            <a:off x="9537192" y="457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37192" y="457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Demonstration · 1 min</a:t>
            </a:r>
            <a:endParaRPr lang="en-US" sz="1500" dirty="0"/>
          </a:p>
        </p:txBody>
      </p:sp>
      <p:sp>
        <p:nvSpPr>
          <p:cNvPr id="5" name="Card What you will see"/>
          <p:cNvSpPr/>
          <p:nvPr/>
        </p:nvSpPr>
        <p:spPr>
          <a:xfrm>
            <a:off x="54864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5361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72"/>
                </a:solidFill>
              </a:rPr>
              <a:t>What you will see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93392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Interrupting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Topping his story with a better one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Filling every pause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Looking at the door, the bar, the phone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Answering a question he did not ask</a:t>
            </a:r>
            <a:endParaRPr lang="en-US" sz="1600" dirty="0"/>
          </a:p>
        </p:txBody>
      </p:sp>
      <p:sp>
        <p:nvSpPr>
          <p:cNvPr id="9" name="Card What good looks like"/>
          <p:cNvSpPr/>
          <p:nvPr/>
        </p:nvSpPr>
        <p:spPr>
          <a:xfrm>
            <a:off x="617220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5448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85432" y="15361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7C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1993392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Listen for tone and hesitation, not only words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Notice what he returns to, and what he leaves out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When silence falls, count to three before you speak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He will usually fill it. What he says then is the real answer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329"/>
                </a:solidFill>
              </a:rPr>
              <a:t>The awkwardness is yours, not his. He is thinking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Exercise 2: listening only</a:t>
            </a:r>
            <a:endParaRPr lang="en-US" sz="3200" dirty="0"/>
          </a:p>
        </p:txBody>
      </p:sp>
      <p:sp>
        <p:nvSpPr>
          <p:cNvPr id="3" name="Timer"/>
          <p:cNvSpPr/>
          <p:nvPr/>
        </p:nvSpPr>
        <p:spPr>
          <a:xfrm>
            <a:off x="9537192" y="457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37192" y="457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Pairs · 3 min each way</a:t>
            </a:r>
            <a:endParaRPr lang="en-US" sz="1500" dirty="0"/>
          </a:p>
        </p:txBody>
      </p:sp>
      <p:sp>
        <p:nvSpPr>
          <p:cNvPr id="5" name="Rule band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6" name="Rule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listener may say nothing, except to ask one further question.</a:t>
            </a:r>
            <a:endParaRPr lang="en-US" sz="2600" dirty="0"/>
          </a:p>
        </p:txBody>
      </p:sp>
      <p:sp>
        <p:nvSpPr>
          <p:cNvPr id="7" name="Card Same question as before"/>
          <p:cNvSpPr/>
          <p:nvPr/>
        </p:nvSpPr>
        <p:spPr>
          <a:xfrm>
            <a:off x="548640" y="306324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2461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32278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Same question as before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85032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329"/>
                </a:solidFill>
              </a:rPr>
              <a:t>“What did you make of your own Initiation, all those years ago?” Swap roles from Exercise 1 if you like. Count to three in every silence.</a:t>
            </a:r>
            <a:endParaRPr lang="en-US" sz="1500" dirty="0"/>
          </a:p>
        </p:txBody>
      </p:sp>
      <p:sp>
        <p:nvSpPr>
          <p:cNvPr id="11" name="Card Then write, workbook page 4"/>
          <p:cNvSpPr/>
          <p:nvPr/>
        </p:nvSpPr>
        <p:spPr>
          <a:xfrm>
            <a:off x="6172200" y="306324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2461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85432" y="32278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Then write, workbook page 4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3685032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329"/>
                </a:solidFill>
              </a:rPr>
              <a:t>What did you hear the second time that you missed the first?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822960" y="14630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D3D1"/>
                </a:solidFill>
              </a:rPr>
              <a:t>4</a:t>
            </a:r>
            <a:endParaRPr lang="en-US" sz="12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310896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Scenarios</a:t>
            </a:r>
            <a:endParaRPr lang="en-US" sz="44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310896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6EA"/>
                </a:solidFill>
              </a:rPr>
              <a:t>Tonight, this week, this month. And who else needs to know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Exercise 3: one scenario per table</a:t>
            </a:r>
            <a:endParaRPr lang="en-US" sz="3200" dirty="0"/>
          </a:p>
        </p:txBody>
      </p:sp>
      <p:sp>
        <p:nvSpPr>
          <p:cNvPr id="3" name="Timer"/>
          <p:cNvSpPr/>
          <p:nvPr/>
        </p:nvSpPr>
        <p:spPr>
          <a:xfrm>
            <a:off x="9537192" y="457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37192" y="457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Fours · 10 minutes</a:t>
            </a:r>
            <a:endParaRPr lang="en-US" sz="1500" dirty="0"/>
          </a:p>
        </p:txBody>
      </p:sp>
      <p:sp>
        <p:nvSpPr>
          <p:cNvPr id="5" name="Scenario A"/>
          <p:cNvSpPr/>
          <p:nvPr/>
        </p:nvSpPr>
        <p:spPr>
          <a:xfrm>
            <a:off x="548640" y="1325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6" name="Scenario circle A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508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overwhelmed Entered Apprentice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329"/>
                </a:solidFill>
              </a:rPr>
              <a:t>Initiated two months ago. “Honestly, I still haven’t a clue what’s going on in there. Everyone else seems to just know.” Smiling, but he has said it twice.</a:t>
            </a:r>
            <a:endParaRPr lang="en-US" sz="1250" dirty="0"/>
          </a:p>
        </p:txBody>
      </p:sp>
      <p:sp>
        <p:nvSpPr>
          <p:cNvPr id="10" name="Scenario B"/>
          <p:cNvSpPr/>
          <p:nvPr/>
        </p:nvSpPr>
        <p:spPr>
          <a:xfrm>
            <a:off x="6172200" y="1325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1" name="Scenario circle B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rgbClr val="0A4F72"/>
          </a:solidFill>
          <a:ln w="12700">
            <a:solidFill>
              <a:srgbClr val="0A4F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508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72"/>
                </a:solidFill>
              </a:rPr>
              <a:t>The quiet drift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14884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329"/>
                </a:solidFill>
              </a:rPr>
              <a:t>A Master Mason of three years, not your mentee. Two consecutive meetings missed without apology. Subscription unpaid. Passed over for Inner Guard last year.</a:t>
            </a:r>
            <a:endParaRPr lang="en-US" sz="1250" dirty="0"/>
          </a:p>
        </p:txBody>
      </p:sp>
      <p:sp>
        <p:nvSpPr>
          <p:cNvPr id="15" name="Scenario C"/>
          <p:cNvSpPr/>
          <p:nvPr/>
        </p:nvSpPr>
        <p:spPr>
          <a:xfrm>
            <a:off x="54864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6" name="Scenario circle C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106576"/>
          </a:solidFill>
          <a:ln w="12700">
            <a:solidFill>
              <a:srgbClr val="1065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03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6576"/>
                </a:solidFill>
              </a:rPr>
              <a:t>The ritual dread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434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329"/>
                </a:solidFill>
              </a:rPr>
              <a:t>Offered his first office. Barely slept before his Second Degree questions; thinking of saying no. “I’m just not a performer, and I think they’ll think less of me.”</a:t>
            </a:r>
            <a:endParaRPr lang="en-US" sz="1250" dirty="0"/>
          </a:p>
        </p:txBody>
      </p:sp>
      <p:sp>
        <p:nvSpPr>
          <p:cNvPr id="20" name="Scenario D"/>
          <p:cNvSpPr/>
          <p:nvPr/>
        </p:nvSpPr>
        <p:spPr>
          <a:xfrm>
            <a:off x="617220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21" name="Scenario circle D"/>
          <p:cNvSpPr/>
          <p:nvPr/>
        </p:nvSpPr>
        <p:spPr>
          <a:xfrm>
            <a:off x="6400800" y="3703320"/>
            <a:ext cx="548640" cy="548640"/>
          </a:xfrm>
          <a:prstGeom prst="ellipse">
            <a:avLst/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703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7C"/>
                </a:solidFill>
              </a:rPr>
              <a:t>The eager recruiter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3434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329"/>
                </a:solidFill>
              </a:rPr>
              <a:t>At the bar, a senior Brother to your recently raised mentee: “You’re not a proper Mason till you’ve done the Chapter. I’ll put your name down.” Your mentee looks cornered.</a:t>
            </a:r>
            <a:endParaRPr lang="en-US" sz="1250" dirty="0"/>
          </a:p>
        </p:txBody>
      </p:sp>
      <p:sp>
        <p:nvSpPr>
          <p:cNvPr id="25" name="Instruction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345D"/>
                </a:solidFill>
              </a:rPr>
              <a:t>Workbook pages 5 and 6. What do you do tonight, this week, this month, and who else needs to know? Two minutes a table to report back.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Debrief: what good looks like</a:t>
            </a:r>
            <a:endParaRPr lang="en-US" sz="3200" dirty="0"/>
          </a:p>
        </p:txBody>
      </p:sp>
      <p:sp>
        <p:nvSpPr>
          <p:cNvPr id="3" name="Numbered A"/>
          <p:cNvSpPr/>
          <p:nvPr/>
        </p:nvSpPr>
        <p:spPr>
          <a:xfrm>
            <a:off x="548640" y="1325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4" name="Circle A"/>
          <p:cNvSpPr/>
          <p:nvPr/>
        </p:nvSpPr>
        <p:spPr>
          <a:xfrm>
            <a:off x="777240" y="1527048"/>
            <a:ext cx="548640" cy="548640"/>
          </a:xfrm>
          <a:prstGeom prst="ellipse">
            <a:avLst/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270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overwhelmed EA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Normalise it. Name the two shocks. Book the one-to-one before the next meeting. Pace the information; Initiate’s Guide and Welcome Apprentice, together.</a:t>
            </a:r>
            <a:endParaRPr lang="en-US" sz="1350" dirty="0"/>
          </a:p>
        </p:txBody>
      </p:sp>
      <p:sp>
        <p:nvSpPr>
          <p:cNvPr id="8" name="Numbered B"/>
          <p:cNvSpPr/>
          <p:nvPr/>
        </p:nvSpPr>
        <p:spPr>
          <a:xfrm>
            <a:off x="6172200" y="1325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9" name="Circle B"/>
          <p:cNvSpPr/>
          <p:nvPr/>
        </p:nvSpPr>
        <p:spPr>
          <a:xfrm>
            <a:off x="6400800" y="1527048"/>
            <a:ext cx="548640" cy="548640"/>
          </a:xfrm>
          <a:prstGeom prst="ellipse">
            <a:avLst/>
          </a:prstGeom>
          <a:solidFill>
            <a:srgbClr val="0A4F72"/>
          </a:solidFill>
          <a:ln w="12700">
            <a:solidFill>
              <a:srgbClr val="0A4F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5270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72"/>
                </a:solidFill>
              </a:rPr>
              <a:t>The quiet drift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945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Best-placed friend rings within seven days: “you were missed”. Treasurer’s signal to the Almoner and Lodge Mentor, not round the bar. Under-use named as a cause. Step one of four.</a:t>
            </a:r>
            <a:endParaRPr lang="en-US" sz="1350" dirty="0"/>
          </a:p>
        </p:txBody>
      </p:sp>
      <p:sp>
        <p:nvSpPr>
          <p:cNvPr id="13" name="Numbered C"/>
          <p:cNvSpPr/>
          <p:nvPr/>
        </p:nvSpPr>
        <p:spPr>
          <a:xfrm>
            <a:off x="54864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4" name="Circle C"/>
          <p:cNvSpPr/>
          <p:nvPr/>
        </p:nvSpPr>
        <p:spPr>
          <a:xfrm>
            <a:off x="777240" y="3721608"/>
            <a:ext cx="548640" cy="548640"/>
          </a:xfrm>
          <a:prstGeom prst="ellipse">
            <a:avLst/>
          </a:prstGeom>
          <a:solidFill>
            <a:srgbClr val="106576"/>
          </a:solidFill>
          <a:ln w="12700">
            <a:solidFill>
              <a:srgbClr val="10657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216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6576"/>
                </a:solidFill>
              </a:rPr>
              <a:t>The ritual dread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3891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Protect him from pressure both ways. No office before ready; explore what ready would need: LoI, a small first piece, a shared office. His contribution is valid with or without ritual.</a:t>
            </a:r>
            <a:endParaRPr lang="en-US" sz="1350" dirty="0"/>
          </a:p>
        </p:txBody>
      </p:sp>
      <p:sp>
        <p:nvSpPr>
          <p:cNvPr id="18" name="Numbered D"/>
          <p:cNvSpPr/>
          <p:nvPr/>
        </p:nvSpPr>
        <p:spPr>
          <a:xfrm>
            <a:off x="617220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9" name="Circle D"/>
          <p:cNvSpPr/>
          <p:nvPr/>
        </p:nvSpPr>
        <p:spPr>
          <a:xfrm>
            <a:off x="6400800" y="3721608"/>
            <a:ext cx="548640" cy="548640"/>
          </a:xfrm>
          <a:prstGeom prst="ellipse">
            <a:avLst/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7216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7C"/>
                </a:solidFill>
              </a:rPr>
              <a:t>The eager recruiter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3891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Rescue in the moment with grace; never embarrass the senior Brother publicly. Afterwards: information, not recruitment; the timing is his; the Royal Arch Representative when he is ready.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The warning signs, and the four steps</a:t>
            </a:r>
            <a:endParaRPr lang="en-US" sz="3200" dirty="0"/>
          </a:p>
        </p:txBody>
      </p:sp>
      <p:sp>
        <p:nvSpPr>
          <p:cNvPr id="3" name="Card The pattern is the signal"/>
          <p:cNvSpPr/>
          <p:nvPr/>
        </p:nvSpPr>
        <p:spPr>
          <a:xfrm>
            <a:off x="548640" y="12801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630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61872" y="14447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pattern is the signal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01952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1E2329"/>
                </a:solidFill>
              </a:rPr>
              <a:t>A break in his own pattern, not a low level of attendance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1E2329"/>
                </a:solidFill>
              </a:rPr>
              <a:t>Two consecutive misses without a word; going quiet; dropping out of LoI; money or time talk; a flat mood at dinner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1E2329"/>
                </a:solidFill>
              </a:rPr>
              <a:t>One is nothing. A pattern is a conversation</a:t>
            </a:r>
            <a:endParaRPr lang="en-US" sz="1350" dirty="0"/>
          </a:p>
        </p:txBody>
      </p:sp>
      <p:sp>
        <p:nvSpPr>
          <p:cNvPr id="7" name="Card The right question"/>
          <p:cNvSpPr/>
          <p:nvPr/>
        </p:nvSpPr>
        <p:spPr>
          <a:xfrm>
            <a:off x="6172200" y="12801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4630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85432" y="14447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The right question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1901952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329"/>
                </a:solidFill>
              </a:rPr>
              <a:t>Always “How can I help?”, never “Why haven’t you been attending?”. The tone decides whether he feels supported or judged. Warm and informal first: a call, a message, a coffee.</a:t>
            </a:r>
            <a:endParaRPr lang="en-US" sz="1450" dirty="0"/>
          </a:p>
        </p:txBody>
      </p:sp>
      <p:sp>
        <p:nvSpPr>
          <p:cNvPr id="11" name="Numbered 1"/>
          <p:cNvSpPr/>
          <p:nvPr/>
        </p:nvSpPr>
        <p:spPr>
          <a:xfrm>
            <a:off x="548640" y="36576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77240" y="3858768"/>
            <a:ext cx="548640" cy="548640"/>
          </a:xfrm>
          <a:prstGeom prst="ellipse">
            <a:avLst/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858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668"/>
                </a:solidFill>
              </a:rPr>
              <a:t>You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526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329"/>
                </a:solidFill>
              </a:rPr>
              <a:t>Friendly, informal contact. After two consecutive misses, within seven days of the second.</a:t>
            </a:r>
            <a:endParaRPr lang="en-US" sz="1200" dirty="0"/>
          </a:p>
        </p:txBody>
      </p:sp>
      <p:sp>
        <p:nvSpPr>
          <p:cNvPr id="16" name="Numbered 2"/>
          <p:cNvSpPr/>
          <p:nvPr/>
        </p:nvSpPr>
        <p:spPr>
          <a:xfrm>
            <a:off x="3364992" y="36576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3593592" y="3858768"/>
            <a:ext cx="548640" cy="548640"/>
          </a:xfrm>
          <a:prstGeom prst="ellipse">
            <a:avLst/>
          </a:prstGeom>
          <a:solidFill>
            <a:srgbClr val="0A4F72"/>
          </a:solidFill>
          <a:ln w="12700">
            <a:solidFill>
              <a:srgbClr val="0A4F7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593592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279392" y="3858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4F72"/>
                </a:solidFill>
              </a:rPr>
              <a:t>Lodge Mentor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593592" y="4526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329"/>
                </a:solidFill>
              </a:rPr>
              <a:t>The overview; what could the Lodge itself change; a discreet note; close the loop.</a:t>
            </a:r>
            <a:endParaRPr lang="en-US" sz="1200" dirty="0"/>
          </a:p>
        </p:txBody>
      </p:sp>
      <p:sp>
        <p:nvSpPr>
          <p:cNvPr id="21" name="Numbered 3"/>
          <p:cNvSpPr/>
          <p:nvPr/>
        </p:nvSpPr>
        <p:spPr>
          <a:xfrm>
            <a:off x="6181344" y="36576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22" name="Circle 3"/>
          <p:cNvSpPr/>
          <p:nvPr/>
        </p:nvSpPr>
        <p:spPr>
          <a:xfrm>
            <a:off x="6409944" y="3858768"/>
            <a:ext cx="548640" cy="548640"/>
          </a:xfrm>
          <a:prstGeom prst="ellipse">
            <a:avLst/>
          </a:prstGeom>
          <a:solidFill>
            <a:srgbClr val="106576"/>
          </a:solidFill>
          <a:ln w="12700">
            <a:solidFill>
              <a:srgbClr val="10657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09944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7095744" y="3858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6576"/>
                </a:solidFill>
              </a:rPr>
              <a:t>Worshipful Master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409944" y="4526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329"/>
                </a:solidFill>
              </a:rPr>
              <a:t>Where it touches Lodge culture, office or another member. Almoner alongside for welfare.</a:t>
            </a:r>
            <a:endParaRPr lang="en-US" sz="1200" dirty="0"/>
          </a:p>
        </p:txBody>
      </p:sp>
      <p:sp>
        <p:nvSpPr>
          <p:cNvPr id="26" name="Numbered 4"/>
          <p:cNvSpPr/>
          <p:nvPr/>
        </p:nvSpPr>
        <p:spPr>
          <a:xfrm>
            <a:off x="8997696" y="36576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27" name="Circle 4"/>
          <p:cNvSpPr/>
          <p:nvPr/>
        </p:nvSpPr>
        <p:spPr>
          <a:xfrm>
            <a:off x="9226296" y="3858768"/>
            <a:ext cx="548640" cy="548640"/>
          </a:xfrm>
          <a:prstGeom prst="ellipse">
            <a:avLst/>
          </a:prstGeom>
          <a:solidFill>
            <a:srgbClr val="157A7C"/>
          </a:solidFill>
          <a:ln w="12700">
            <a:solidFill>
              <a:srgbClr val="157A7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226296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9912096" y="3858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A7C"/>
                </a:solidFill>
              </a:rPr>
              <a:t>The Province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9226296" y="4526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329"/>
                </a:solidFill>
              </a:rPr>
              <a:t>An impartial voice, or a Lodge where he might thrive. Responsible mentoring, not failure.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822960" y="14630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D3D1"/>
                </a:solidFill>
              </a:rPr>
              <a:t>5</a:t>
            </a:r>
            <a:endParaRPr lang="en-US" sz="12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310896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tools, and one thing</a:t>
            </a:r>
            <a:endParaRPr lang="en-US" sz="44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310896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6EA"/>
                </a:solidFill>
              </a:rPr>
              <a:t>Where the library lives, and what you will do this month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Reach for the right tool</a:t>
            </a:r>
            <a:endParaRPr lang="en-US" sz="3200" dirty="0"/>
          </a:p>
        </p:txBody>
      </p:sp>
      <p:sp>
        <p:nvSpPr>
          <p:cNvPr id="3" name="Card Personal Mentor’s Short Guide"/>
          <p:cNvSpPr/>
          <p:nvPr/>
        </p:nvSpPr>
        <p:spPr>
          <a:xfrm>
            <a:off x="548640" y="1325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087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61872" y="1490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668"/>
                </a:solidFill>
              </a:rPr>
              <a:t>Personal Mentor’s Short Guide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4767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Five pages. The role, the journey, the conversations, help for you. Read it on the train.</a:t>
            </a:r>
            <a:endParaRPr lang="en-US" sz="1350" dirty="0"/>
          </a:p>
        </p:txBody>
      </p:sp>
      <p:sp>
        <p:nvSpPr>
          <p:cNvPr id="7" name="Card Mentor Meeting Guide"/>
          <p:cNvSpPr/>
          <p:nvPr/>
        </p:nvSpPr>
        <p:spPr>
          <a:xfrm>
            <a:off x="4297680" y="1325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50876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10912" y="1490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668"/>
                </a:solidFill>
              </a:rPr>
              <a:t>Mentor Meeting Guide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526280" y="194767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A conversation guide for one-to-ones, stage by stage. Open it before each meeting.</a:t>
            </a:r>
            <a:endParaRPr lang="en-US" sz="1350" dirty="0"/>
          </a:p>
        </p:txBody>
      </p:sp>
      <p:sp>
        <p:nvSpPr>
          <p:cNvPr id="11" name="Card Stage Checklists"/>
          <p:cNvSpPr/>
          <p:nvPr/>
        </p:nvSpPr>
        <p:spPr>
          <a:xfrm>
            <a:off x="8046720" y="1325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5087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59952" y="1490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668"/>
                </a:solidFill>
              </a:rPr>
              <a:t>Stage Checklists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275320" y="194767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One page each: Initiation night, second meeting, before Passing and Raising, Installation, first LoI.</a:t>
            </a:r>
            <a:endParaRPr lang="en-US" sz="1350" dirty="0"/>
          </a:p>
        </p:txBody>
      </p:sp>
      <p:sp>
        <p:nvSpPr>
          <p:cNvPr id="15" name="Card Warning Signs card"/>
          <p:cNvSpPr/>
          <p:nvPr/>
        </p:nvSpPr>
        <p:spPr>
          <a:xfrm>
            <a:off x="548640" y="3611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79476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61872" y="3776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668"/>
                </a:solidFill>
              </a:rPr>
              <a:t>Warning Signs card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423367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The signs and the four steps on a card for your pocket.</a:t>
            </a:r>
            <a:endParaRPr lang="en-US" sz="1350" dirty="0"/>
          </a:p>
        </p:txBody>
      </p:sp>
      <p:sp>
        <p:nvSpPr>
          <p:cNvPr id="19" name="Card Solomon"/>
          <p:cNvSpPr/>
          <p:nvPr/>
        </p:nvSpPr>
        <p:spPr>
          <a:xfrm>
            <a:off x="4297680" y="3611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7947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010912" y="3776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668"/>
                </a:solidFill>
              </a:rPr>
              <a:t>Solomon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526280" y="423367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solomon.ugle.org.uk. Send him there, and go yourself. Welcome Apprentice is the place to start.</a:t>
            </a:r>
            <a:endParaRPr lang="en-US" sz="1350" dirty="0"/>
          </a:p>
        </p:txBody>
      </p:sp>
      <p:sp>
        <p:nvSpPr>
          <p:cNvPr id="23" name="Card People"/>
          <p:cNvSpPr/>
          <p:nvPr/>
        </p:nvSpPr>
        <p:spPr>
          <a:xfrm>
            <a:off x="8046720" y="3611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79476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759952" y="3776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668"/>
                </a:solidFill>
              </a:rPr>
              <a:t>People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275320" y="423367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329"/>
                </a:solidFill>
              </a:rPr>
              <a:t>The monthly call, first Tuesday 7pm on Teams. DAWG. Your Lodge Mentor. The Provincial office, in confidence.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668"/>
                </a:solidFill>
              </a:rPr>
              <a:t>One thing</a:t>
            </a:r>
            <a:endParaRPr lang="en-US" sz="3200" dirty="0"/>
          </a:p>
        </p:txBody>
      </p:sp>
      <p:sp>
        <p:nvSpPr>
          <p:cNvPr id="3" name="Commit band"/>
          <p:cNvSpPr/>
          <p:nvPr/>
        </p:nvSpPr>
        <p:spPr>
          <a:xfrm>
            <a:off x="548640" y="137160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003668"/>
          </a:solidFill>
          <a:ln w="12700">
            <a:solidFill>
              <a:srgbClr val="003668"/>
            </a:solidFill>
            <a:prstDash val="solid"/>
          </a:ln>
        </p:spPr>
      </p:sp>
      <p:sp>
        <p:nvSpPr>
          <p:cNvPr id="4" name="Commitment"/>
          <p:cNvSpPr txBox="1"/>
          <p:nvPr/>
        </p:nvSpPr>
        <p:spPr>
          <a:xfrm>
            <a:off x="914400" y="137160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One thing I will do differently with my mentee this month.</a:t>
            </a:r>
            <a:endParaRPr lang="en-US" sz="3000" dirty="0"/>
          </a:p>
        </p:txBody>
      </p:sp>
      <p:sp>
        <p:nvSpPr>
          <p:cNvPr id="5" name="Card Write it, then say it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776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39593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Write it, then say it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16552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329"/>
                </a:solidFill>
              </a:rPr>
              <a:t>Workbook page 8. By when, and how you will know it worked. Then round the room, one sentence each.</a:t>
            </a:r>
            <a:endParaRPr lang="en-US" sz="1500" dirty="0"/>
          </a:p>
        </p:txBody>
      </p:sp>
      <p:sp>
        <p:nvSpPr>
          <p:cNvPr id="9" name="Card You will hear from me"/>
          <p:cNvSpPr/>
          <p:nvPr/>
        </p:nvSpPr>
        <p:spPr>
          <a:xfrm>
            <a:off x="6172200" y="3794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9776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85432" y="39593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668"/>
                </a:solidFill>
              </a:rPr>
              <a:t>You will hear from me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4416552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329"/>
                </a:solidFill>
              </a:rPr>
              <a:t>One month from tonight, a message: what did you try, and what happened? It is the habit the course teaches, so I will practise it on you.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634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title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Family, Work, Masonry: in that order, always.</a:t>
            </a:r>
            <a:endParaRPr lang="en-US" sz="4400" dirty="0"/>
          </a:p>
        </p:txBody>
      </p:sp>
      <p:sp>
        <p:nvSpPr>
          <p:cNvPr id="3" name="Dark sub"/>
          <p:cNvSpPr txBox="1"/>
          <p:nvPr/>
        </p:nvSpPr>
        <p:spPr>
          <a:xfrm>
            <a:off x="822960" y="3657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6EA"/>
                </a:solidFill>
              </a:rPr>
              <a:t>Freemasonry must be fun. A man who is enjoying himself attends; a man who attends participates; a man who participates belongs; and a man who belongs does not resign. That is the whole job. Thank you.</a:t>
            </a:r>
            <a:endParaRPr lang="en-US" sz="2000" dirty="0"/>
          </a:p>
        </p:txBody>
      </p:sp>
      <p:sp>
        <p:nvSpPr>
          <p:cNvPr id="4" name="Principles line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D1"/>
                </a:solidFill>
              </a:rPr>
              <a:t>Prepare  •  Guide  •  Support  •  Enlighten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rtfordshire Provincial Mentoring">
  <a:themeElements>
    <a:clrScheme name="Hertfordshire Provincial Mentoring">
      <a:dk1>
        <a:srgbClr val="1E2329"/>
      </a:dk1>
      <a:lt1>
        <a:srgbClr val="FFFFFF"/>
      </a:lt1>
      <a:dk2>
        <a:srgbClr val="003668"/>
      </a:dk2>
      <a:lt2>
        <a:srgbClr val="F2F7FC"/>
      </a:lt2>
      <a:accent1>
        <a:srgbClr val="003668"/>
      </a:accent1>
      <a:accent2>
        <a:srgbClr val="0A4F72"/>
      </a:accent2>
      <a:accent3>
        <a:srgbClr val="106576"/>
      </a:accent3>
      <a:accent4>
        <a:srgbClr val="157A7C"/>
      </a:accent4>
      <a:accent5>
        <a:srgbClr val="06345D"/>
      </a:accent5>
      <a:accent6>
        <a:srgbClr val="BFD6EA"/>
      </a:accent6>
      <a:hlink>
        <a:srgbClr val="157A7C"/>
      </a:hlink>
      <a:folHlink>
        <a:srgbClr val="0A4F72"/>
      </a:folHlink>
    </a:clrScheme>
    <a:fontScheme name="Hertfordshire Provincial Mentoring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Mentor Course</dc:title>
  <dc:subject>PptxGenJS Presentation</dc:subject>
  <dc:creator>Hertfordshire Provincial Mentoring Team</dc:creator>
  <cp:lastModifiedBy>Hertfordshire Provincial Mentoring Team</cp:lastModifiedBy>
  <cp:revision>1</cp:revision>
  <dcterms:created xsi:type="dcterms:W3CDTF">2026-10-10T00:50:05Z</dcterms:created>
  <dcterms:modified xsi:type="dcterms:W3CDTF">2026-10-10T00:50:05Z</dcterms:modified>
</cp:coreProperties>
</file>