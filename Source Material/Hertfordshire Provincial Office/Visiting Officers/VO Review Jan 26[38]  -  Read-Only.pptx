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60" r:id="rId2"/>
    <p:sldId id="283" r:id="rId3"/>
    <p:sldId id="301" r:id="rId4"/>
    <p:sldId id="296" r:id="rId5"/>
    <p:sldId id="281" r:id="rId6"/>
    <p:sldId id="297" r:id="rId7"/>
    <p:sldId id="319" r:id="rId8"/>
    <p:sldId id="305" r:id="rId9"/>
    <p:sldId id="310" r:id="rId10"/>
    <p:sldId id="309" r:id="rId11"/>
    <p:sldId id="311" r:id="rId12"/>
    <p:sldId id="312" r:id="rId13"/>
    <p:sldId id="314" r:id="rId14"/>
    <p:sldId id="304" r:id="rId15"/>
    <p:sldId id="320" r:id="rId16"/>
    <p:sldId id="302" r:id="rId17"/>
    <p:sldId id="316" r:id="rId18"/>
    <p:sldId id="318" r:id="rId19"/>
    <p:sldId id="263" r:id="rId20"/>
  </p:sldIdLst>
  <p:sldSz cx="12192000" cy="6858000"/>
  <p:notesSz cx="6889750" cy="100218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6E727F-7637-455F-8CF8-956CFFD73344}" v="567" dt="2026-01-20T16:21:39.8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3447" autoAdjust="0"/>
  </p:normalViewPr>
  <p:slideViewPr>
    <p:cSldViewPr snapToGrid="0">
      <p:cViewPr varScale="1">
        <p:scale>
          <a:sx n="120" d="100"/>
          <a:sy n="120" d="100"/>
        </p:scale>
        <p:origin x="384" y="184"/>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5512"/>
    </p:cViewPr>
  </p:sorterViewPr>
  <p:notesViewPr>
    <p:cSldViewPr snapToGrid="0">
      <p:cViewPr varScale="1">
        <p:scale>
          <a:sx n="44" d="100"/>
          <a:sy n="44" d="100"/>
        </p:scale>
        <p:origin x="2840"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A56178-A399-404E-16AC-8E6417E3C877}"/>
              </a:ext>
            </a:extLst>
          </p:cNvPr>
          <p:cNvSpPr>
            <a:spLocks noGrp="1"/>
          </p:cNvSpPr>
          <p:nvPr>
            <p:ph type="hdr" sz="quarter"/>
          </p:nvPr>
        </p:nvSpPr>
        <p:spPr>
          <a:xfrm>
            <a:off x="0" y="0"/>
            <a:ext cx="2985558" cy="502835"/>
          </a:xfrm>
          <a:prstGeom prst="rect">
            <a:avLst/>
          </a:prstGeom>
        </p:spPr>
        <p:txBody>
          <a:bodyPr vert="horz" lIns="96634" tIns="48317" rIns="96634" bIns="48317" rtlCol="0"/>
          <a:lstStyle>
            <a:lvl1pPr algn="l">
              <a:defRPr sz="1300"/>
            </a:lvl1pPr>
          </a:lstStyle>
          <a:p>
            <a:endParaRPr lang="en-GB"/>
          </a:p>
        </p:txBody>
      </p:sp>
      <p:sp>
        <p:nvSpPr>
          <p:cNvPr id="3" name="Date Placeholder 2">
            <a:extLst>
              <a:ext uri="{FF2B5EF4-FFF2-40B4-BE49-F238E27FC236}">
                <a16:creationId xmlns:a16="http://schemas.microsoft.com/office/drawing/2014/main" id="{1630B128-E653-4431-C8D0-B1D1CD80C28B}"/>
              </a:ext>
            </a:extLst>
          </p:cNvPr>
          <p:cNvSpPr>
            <a:spLocks noGrp="1"/>
          </p:cNvSpPr>
          <p:nvPr>
            <p:ph type="dt" sz="quarter" idx="1"/>
          </p:nvPr>
        </p:nvSpPr>
        <p:spPr>
          <a:xfrm>
            <a:off x="3902597" y="0"/>
            <a:ext cx="2985558" cy="502835"/>
          </a:xfrm>
          <a:prstGeom prst="rect">
            <a:avLst/>
          </a:prstGeom>
        </p:spPr>
        <p:txBody>
          <a:bodyPr vert="horz" lIns="96634" tIns="48317" rIns="96634" bIns="48317" rtlCol="0"/>
          <a:lstStyle>
            <a:lvl1pPr algn="r">
              <a:defRPr sz="1300"/>
            </a:lvl1pPr>
          </a:lstStyle>
          <a:p>
            <a:fld id="{55C1AB73-0E48-43A0-BF67-2270A9A6591F}" type="datetimeFigureOut">
              <a:rPr lang="en-GB" smtClean="0"/>
              <a:t>21/01/2026</a:t>
            </a:fld>
            <a:endParaRPr lang="en-GB"/>
          </a:p>
        </p:txBody>
      </p:sp>
      <p:sp>
        <p:nvSpPr>
          <p:cNvPr id="4" name="Footer Placeholder 3">
            <a:extLst>
              <a:ext uri="{FF2B5EF4-FFF2-40B4-BE49-F238E27FC236}">
                <a16:creationId xmlns:a16="http://schemas.microsoft.com/office/drawing/2014/main" id="{A61D7C26-F5F3-E2D8-2D51-E540C4C7259E}"/>
              </a:ext>
            </a:extLst>
          </p:cNvPr>
          <p:cNvSpPr>
            <a:spLocks noGrp="1"/>
          </p:cNvSpPr>
          <p:nvPr>
            <p:ph type="ftr" sz="quarter" idx="2"/>
          </p:nvPr>
        </p:nvSpPr>
        <p:spPr>
          <a:xfrm>
            <a:off x="0" y="9519055"/>
            <a:ext cx="2985558" cy="502834"/>
          </a:xfrm>
          <a:prstGeom prst="rect">
            <a:avLst/>
          </a:prstGeom>
        </p:spPr>
        <p:txBody>
          <a:bodyPr vert="horz" lIns="96634" tIns="48317" rIns="96634" bIns="48317" rtlCol="0" anchor="b"/>
          <a:lstStyle>
            <a:lvl1pPr algn="l">
              <a:defRPr sz="1300"/>
            </a:lvl1pPr>
          </a:lstStyle>
          <a:p>
            <a:endParaRPr lang="en-GB"/>
          </a:p>
        </p:txBody>
      </p:sp>
      <p:sp>
        <p:nvSpPr>
          <p:cNvPr id="5" name="Slide Number Placeholder 4">
            <a:extLst>
              <a:ext uri="{FF2B5EF4-FFF2-40B4-BE49-F238E27FC236}">
                <a16:creationId xmlns:a16="http://schemas.microsoft.com/office/drawing/2014/main" id="{8460FA4D-E2CE-FE00-59D6-3240257C9CB7}"/>
              </a:ext>
            </a:extLst>
          </p:cNvPr>
          <p:cNvSpPr>
            <a:spLocks noGrp="1"/>
          </p:cNvSpPr>
          <p:nvPr>
            <p:ph type="sldNum" sz="quarter" idx="3"/>
          </p:nvPr>
        </p:nvSpPr>
        <p:spPr>
          <a:xfrm>
            <a:off x="3902597" y="9519055"/>
            <a:ext cx="2985558" cy="502834"/>
          </a:xfrm>
          <a:prstGeom prst="rect">
            <a:avLst/>
          </a:prstGeom>
        </p:spPr>
        <p:txBody>
          <a:bodyPr vert="horz" lIns="96634" tIns="48317" rIns="96634" bIns="48317" rtlCol="0" anchor="b"/>
          <a:lstStyle>
            <a:lvl1pPr algn="r">
              <a:defRPr sz="1300"/>
            </a:lvl1pPr>
          </a:lstStyle>
          <a:p>
            <a:fld id="{2C7A09F4-1CCF-4A5F-966F-8531CFF9A283}" type="slidenum">
              <a:rPr lang="en-GB" smtClean="0"/>
              <a:t>‹#›</a:t>
            </a:fld>
            <a:endParaRPr lang="en-GB"/>
          </a:p>
        </p:txBody>
      </p:sp>
    </p:spTree>
    <p:extLst>
      <p:ext uri="{BB962C8B-B14F-4D97-AF65-F5344CB8AC3E}">
        <p14:creationId xmlns:p14="http://schemas.microsoft.com/office/powerpoint/2010/main" val="31608494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5558" cy="502835"/>
          </a:xfrm>
          <a:prstGeom prst="rect">
            <a:avLst/>
          </a:prstGeom>
        </p:spPr>
        <p:txBody>
          <a:bodyPr vert="horz" lIns="96634" tIns="48317" rIns="96634" bIns="48317" rtlCol="0"/>
          <a:lstStyle>
            <a:lvl1pPr algn="l">
              <a:defRPr sz="1300"/>
            </a:lvl1pPr>
          </a:lstStyle>
          <a:p>
            <a:endParaRPr lang="en-GB"/>
          </a:p>
        </p:txBody>
      </p:sp>
      <p:sp>
        <p:nvSpPr>
          <p:cNvPr id="3" name="Date Placeholder 2"/>
          <p:cNvSpPr>
            <a:spLocks noGrp="1"/>
          </p:cNvSpPr>
          <p:nvPr>
            <p:ph type="dt" idx="1"/>
          </p:nvPr>
        </p:nvSpPr>
        <p:spPr>
          <a:xfrm>
            <a:off x="3902597" y="0"/>
            <a:ext cx="2985558" cy="502835"/>
          </a:xfrm>
          <a:prstGeom prst="rect">
            <a:avLst/>
          </a:prstGeom>
        </p:spPr>
        <p:txBody>
          <a:bodyPr vert="horz" lIns="96634" tIns="48317" rIns="96634" bIns="48317" rtlCol="0"/>
          <a:lstStyle>
            <a:lvl1pPr algn="r">
              <a:defRPr sz="1300"/>
            </a:lvl1pPr>
          </a:lstStyle>
          <a:p>
            <a:fld id="{28429C8D-3E4E-4AEA-8EC1-C55D7BED9EBC}" type="datetimeFigureOut">
              <a:rPr lang="en-GB" smtClean="0"/>
              <a:t>21/01/2026</a:t>
            </a:fld>
            <a:endParaRPr lang="en-GB"/>
          </a:p>
        </p:txBody>
      </p:sp>
      <p:sp>
        <p:nvSpPr>
          <p:cNvPr id="4" name="Slide Image Placeholder 3"/>
          <p:cNvSpPr>
            <a:spLocks noGrp="1" noRot="1" noChangeAspect="1"/>
          </p:cNvSpPr>
          <p:nvPr>
            <p:ph type="sldImg" idx="2"/>
          </p:nvPr>
        </p:nvSpPr>
        <p:spPr>
          <a:xfrm>
            <a:off x="438150" y="1252538"/>
            <a:ext cx="6013450" cy="3382962"/>
          </a:xfrm>
          <a:prstGeom prst="rect">
            <a:avLst/>
          </a:prstGeom>
          <a:noFill/>
          <a:ln w="12700">
            <a:solidFill>
              <a:prstClr val="black"/>
            </a:solidFill>
          </a:ln>
        </p:spPr>
        <p:txBody>
          <a:bodyPr vert="horz" lIns="96634" tIns="48317" rIns="96634" bIns="48317" rtlCol="0" anchor="ctr"/>
          <a:lstStyle/>
          <a:p>
            <a:endParaRPr lang="en-GB"/>
          </a:p>
        </p:txBody>
      </p:sp>
      <p:sp>
        <p:nvSpPr>
          <p:cNvPr id="5" name="Notes Placeholder 4"/>
          <p:cNvSpPr>
            <a:spLocks noGrp="1"/>
          </p:cNvSpPr>
          <p:nvPr>
            <p:ph type="body" sz="quarter" idx="3"/>
          </p:nvPr>
        </p:nvSpPr>
        <p:spPr>
          <a:xfrm>
            <a:off x="688975" y="4823034"/>
            <a:ext cx="5511800" cy="3946118"/>
          </a:xfrm>
          <a:prstGeom prst="rect">
            <a:avLst/>
          </a:prstGeom>
        </p:spPr>
        <p:txBody>
          <a:bodyPr vert="horz" lIns="96634" tIns="48317" rIns="96634" bIns="4831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519055"/>
            <a:ext cx="2985558" cy="502834"/>
          </a:xfrm>
          <a:prstGeom prst="rect">
            <a:avLst/>
          </a:prstGeom>
        </p:spPr>
        <p:txBody>
          <a:bodyPr vert="horz" lIns="96634" tIns="48317" rIns="96634" bIns="48317" rtlCol="0" anchor="b"/>
          <a:lstStyle>
            <a:lvl1pPr algn="l">
              <a:defRPr sz="1300"/>
            </a:lvl1pPr>
          </a:lstStyle>
          <a:p>
            <a:endParaRPr lang="en-GB"/>
          </a:p>
        </p:txBody>
      </p:sp>
      <p:sp>
        <p:nvSpPr>
          <p:cNvPr id="7" name="Slide Number Placeholder 6"/>
          <p:cNvSpPr>
            <a:spLocks noGrp="1"/>
          </p:cNvSpPr>
          <p:nvPr>
            <p:ph type="sldNum" sz="quarter" idx="5"/>
          </p:nvPr>
        </p:nvSpPr>
        <p:spPr>
          <a:xfrm>
            <a:off x="3902597" y="9519055"/>
            <a:ext cx="2985558" cy="502834"/>
          </a:xfrm>
          <a:prstGeom prst="rect">
            <a:avLst/>
          </a:prstGeom>
        </p:spPr>
        <p:txBody>
          <a:bodyPr vert="horz" lIns="96634" tIns="48317" rIns="96634" bIns="48317" rtlCol="0" anchor="b"/>
          <a:lstStyle>
            <a:lvl1pPr algn="r">
              <a:defRPr sz="1300"/>
            </a:lvl1pPr>
          </a:lstStyle>
          <a:p>
            <a:fld id="{ED1A1722-324F-4C80-8089-F82BA3330B93}" type="slidenum">
              <a:rPr lang="en-GB" smtClean="0"/>
              <a:t>‹#›</a:t>
            </a:fld>
            <a:endParaRPr lang="en-GB"/>
          </a:p>
        </p:txBody>
      </p:sp>
    </p:spTree>
    <p:extLst>
      <p:ext uri="{BB962C8B-B14F-4D97-AF65-F5344CB8AC3E}">
        <p14:creationId xmlns:p14="http://schemas.microsoft.com/office/powerpoint/2010/main" val="2610962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8975" y="4823034"/>
            <a:ext cx="5511800" cy="4464492"/>
          </a:xfrm>
        </p:spPr>
        <p:txBody>
          <a:bodyPr/>
          <a:lstStyle/>
          <a:p>
            <a:pPr algn="just"/>
            <a:r>
              <a:rPr lang="en-GB" dirty="0"/>
              <a:t>Over the last few years, many lodges have expressed concern about falling attendance, difficulty in attracting new candidates, and retaining existing members.</a:t>
            </a:r>
          </a:p>
          <a:p>
            <a:pPr algn="just"/>
            <a:endParaRPr lang="en-GB" sz="800" dirty="0"/>
          </a:p>
          <a:p>
            <a:pPr algn="just"/>
            <a:r>
              <a:rPr lang="en-GB" dirty="0"/>
              <a:t>But alongside these challenges, some lodges are doing brilliant things – finding new energy, new ideas, and real success with local recruitment.</a:t>
            </a:r>
          </a:p>
          <a:p>
            <a:pPr algn="just"/>
            <a:endParaRPr lang="en-GB" sz="800" dirty="0"/>
          </a:p>
          <a:p>
            <a:pPr algn="just"/>
            <a:r>
              <a:rPr lang="en-GB" dirty="0"/>
              <a:t>Nevertheless, there continues to be a 2% decline in membership – and the reason appears to be lack of successful change management.  This is very common. Most people don’t like change – and are very good at frustrating attempts to make changes unless it is their idea, and what they have chosen to do.</a:t>
            </a:r>
          </a:p>
          <a:p>
            <a:pPr algn="just"/>
            <a:endParaRPr lang="en-GB" dirty="0"/>
          </a:p>
          <a:p>
            <a:pPr algn="just"/>
            <a:r>
              <a:rPr lang="en-GB" dirty="0"/>
              <a:t>We have accepted this reality. We will work with those Lodges who want to make changes and are determined to  do it. We will help them succeed. We will rely on the growing awareness of the benefits of successful change to convince the rest.</a:t>
            </a:r>
          </a:p>
          <a:p>
            <a:pPr algn="just"/>
            <a:endParaRPr lang="en-GB" dirty="0"/>
          </a:p>
          <a:p>
            <a:pPr algn="just"/>
            <a:r>
              <a:rPr lang="en-GB" dirty="0"/>
              <a:t>To deliver this support, we need a new breed of Visiting Officer. Ones able to build a much closer trusting partnership with his Lodges. We have now appointed new Visiting Officer, often with previous experience of successful change management. Our new Inspectorate organisation is designed to support and further develop them;</a:t>
            </a:r>
          </a:p>
          <a:p>
            <a:endParaRPr lang="en-GB" dirty="0"/>
          </a:p>
        </p:txBody>
      </p:sp>
      <p:sp>
        <p:nvSpPr>
          <p:cNvPr id="4" name="Slide Number Placeholder 3"/>
          <p:cNvSpPr>
            <a:spLocks noGrp="1"/>
          </p:cNvSpPr>
          <p:nvPr>
            <p:ph type="sldNum" sz="quarter" idx="5"/>
          </p:nvPr>
        </p:nvSpPr>
        <p:spPr/>
        <p:txBody>
          <a:bodyPr/>
          <a:lstStyle/>
          <a:p>
            <a:fld id="{ED1A1722-324F-4C80-8089-F82BA3330B93}" type="slidenum">
              <a:rPr lang="en-GB" smtClean="0"/>
              <a:t>1</a:t>
            </a:fld>
            <a:endParaRPr lang="en-GB" dirty="0"/>
          </a:p>
        </p:txBody>
      </p:sp>
    </p:spTree>
    <p:extLst>
      <p:ext uri="{BB962C8B-B14F-4D97-AF65-F5344CB8AC3E}">
        <p14:creationId xmlns:p14="http://schemas.microsoft.com/office/powerpoint/2010/main" val="139146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C5EE4-48D1-661F-F9D9-EBD71ABB2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ACBFB-A4B4-0D91-95B8-07EB1B0CF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B63C3-5734-20CA-8C29-E10C138E01A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E18AB56-A9A7-5B40-2B68-8D97E72741BD}"/>
              </a:ext>
            </a:extLst>
          </p:cNvPr>
          <p:cNvSpPr>
            <a:spLocks noGrp="1"/>
          </p:cNvSpPr>
          <p:nvPr>
            <p:ph type="sldNum" sz="quarter" idx="5"/>
          </p:nvPr>
        </p:nvSpPr>
        <p:spPr/>
        <p:txBody>
          <a:bodyPr/>
          <a:lstStyle/>
          <a:p>
            <a:fld id="{ED1A1722-324F-4C80-8089-F82BA3330B93}" type="slidenum">
              <a:rPr lang="en-GB" smtClean="0"/>
              <a:t>2</a:t>
            </a:fld>
            <a:endParaRPr lang="en-GB" dirty="0"/>
          </a:p>
        </p:txBody>
      </p:sp>
    </p:spTree>
    <p:extLst>
      <p:ext uri="{BB962C8B-B14F-4D97-AF65-F5344CB8AC3E}">
        <p14:creationId xmlns:p14="http://schemas.microsoft.com/office/powerpoint/2010/main" val="3143929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A672E-77C1-4180-D120-3BA0421B2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E2363-066B-8D29-2184-7F6F66FAE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847FD-D3D9-2A63-CEC0-2BA677A1922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C6F7D0C-7B0C-779F-B35C-E9396B8580BF}"/>
              </a:ext>
            </a:extLst>
          </p:cNvPr>
          <p:cNvSpPr>
            <a:spLocks noGrp="1"/>
          </p:cNvSpPr>
          <p:nvPr>
            <p:ph type="sldNum" sz="quarter" idx="5"/>
          </p:nvPr>
        </p:nvSpPr>
        <p:spPr/>
        <p:txBody>
          <a:bodyPr/>
          <a:lstStyle/>
          <a:p>
            <a:fld id="{ED1A1722-324F-4C80-8089-F82BA3330B93}" type="slidenum">
              <a:rPr lang="en-GB" smtClean="0"/>
              <a:t>3</a:t>
            </a:fld>
            <a:endParaRPr lang="en-GB" dirty="0"/>
          </a:p>
        </p:txBody>
      </p:sp>
    </p:spTree>
    <p:extLst>
      <p:ext uri="{BB962C8B-B14F-4D97-AF65-F5344CB8AC3E}">
        <p14:creationId xmlns:p14="http://schemas.microsoft.com/office/powerpoint/2010/main" val="4089408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6503C-ADD4-F482-B7BF-571FA0974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68BAB-238A-FAFD-8EBE-379249DF9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146FB-49F1-21A8-0A48-D4A74148075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8DF9770-AE92-E8E1-A731-3E84AA5EA7F7}"/>
              </a:ext>
            </a:extLst>
          </p:cNvPr>
          <p:cNvSpPr>
            <a:spLocks noGrp="1"/>
          </p:cNvSpPr>
          <p:nvPr>
            <p:ph type="sldNum" sz="quarter" idx="5"/>
          </p:nvPr>
        </p:nvSpPr>
        <p:spPr/>
        <p:txBody>
          <a:bodyPr/>
          <a:lstStyle/>
          <a:p>
            <a:fld id="{ED1A1722-324F-4C80-8089-F82BA3330B93}" type="slidenum">
              <a:rPr lang="en-GB" smtClean="0"/>
              <a:t>4</a:t>
            </a:fld>
            <a:endParaRPr lang="en-GB" dirty="0"/>
          </a:p>
        </p:txBody>
      </p:sp>
    </p:spTree>
    <p:extLst>
      <p:ext uri="{BB962C8B-B14F-4D97-AF65-F5344CB8AC3E}">
        <p14:creationId xmlns:p14="http://schemas.microsoft.com/office/powerpoint/2010/main" val="1604608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7397E-79C1-DB2A-F752-171958A87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D1C59-32AA-E0E1-19A1-B85EC21D4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30B24D-B820-26AF-CE4F-C2A585AE189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0F35F46-298B-29B4-3D9A-763ED955E7EE}"/>
              </a:ext>
            </a:extLst>
          </p:cNvPr>
          <p:cNvSpPr>
            <a:spLocks noGrp="1"/>
          </p:cNvSpPr>
          <p:nvPr>
            <p:ph type="sldNum" sz="quarter" idx="5"/>
          </p:nvPr>
        </p:nvSpPr>
        <p:spPr/>
        <p:txBody>
          <a:bodyPr/>
          <a:lstStyle/>
          <a:p>
            <a:fld id="{ED1A1722-324F-4C80-8089-F82BA3330B93}" type="slidenum">
              <a:rPr lang="en-GB" smtClean="0"/>
              <a:t>5</a:t>
            </a:fld>
            <a:endParaRPr lang="en-GB" dirty="0"/>
          </a:p>
        </p:txBody>
      </p:sp>
    </p:spTree>
    <p:extLst>
      <p:ext uri="{BB962C8B-B14F-4D97-AF65-F5344CB8AC3E}">
        <p14:creationId xmlns:p14="http://schemas.microsoft.com/office/powerpoint/2010/main" val="1407933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2CDDE-1B4A-FFED-FD94-CE961803A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04A11-8E2F-75BF-AD83-679509B06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395A7-3A45-0F92-7B59-C7145A0E51E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E7C0C2E-305C-2416-02C5-DC98E41301FF}"/>
              </a:ext>
            </a:extLst>
          </p:cNvPr>
          <p:cNvSpPr>
            <a:spLocks noGrp="1"/>
          </p:cNvSpPr>
          <p:nvPr>
            <p:ph type="sldNum" sz="quarter" idx="5"/>
          </p:nvPr>
        </p:nvSpPr>
        <p:spPr/>
        <p:txBody>
          <a:bodyPr/>
          <a:lstStyle/>
          <a:p>
            <a:fld id="{ED1A1722-324F-4C80-8089-F82BA3330B93}" type="slidenum">
              <a:rPr lang="en-GB" smtClean="0"/>
              <a:t>6</a:t>
            </a:fld>
            <a:endParaRPr lang="en-GB" dirty="0"/>
          </a:p>
        </p:txBody>
      </p:sp>
    </p:spTree>
    <p:extLst>
      <p:ext uri="{BB962C8B-B14F-4D97-AF65-F5344CB8AC3E}">
        <p14:creationId xmlns:p14="http://schemas.microsoft.com/office/powerpoint/2010/main" val="1968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F6DF4-4A4F-BB2A-6BDF-3B50BC624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98230-C996-80B1-8B70-2309566C2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0B4D0-72A4-8415-20AC-099A48AB586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C6547C2-FD21-BAAE-F05A-43DD6B900FFE}"/>
              </a:ext>
            </a:extLst>
          </p:cNvPr>
          <p:cNvSpPr>
            <a:spLocks noGrp="1"/>
          </p:cNvSpPr>
          <p:nvPr>
            <p:ph type="sldNum" sz="quarter" idx="5"/>
          </p:nvPr>
        </p:nvSpPr>
        <p:spPr/>
        <p:txBody>
          <a:bodyPr/>
          <a:lstStyle/>
          <a:p>
            <a:fld id="{ED1A1722-324F-4C80-8089-F82BA3330B93}" type="slidenum">
              <a:rPr lang="en-GB" smtClean="0"/>
              <a:t>7</a:t>
            </a:fld>
            <a:endParaRPr lang="en-GB" dirty="0"/>
          </a:p>
        </p:txBody>
      </p:sp>
    </p:spTree>
    <p:extLst>
      <p:ext uri="{BB962C8B-B14F-4D97-AF65-F5344CB8AC3E}">
        <p14:creationId xmlns:p14="http://schemas.microsoft.com/office/powerpoint/2010/main" val="1377352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18CCB-819B-E2AC-239C-B42F670D9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16D96-843A-D544-B4C4-BC403932E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D4DED-F74D-04DE-52DE-C5B7D3D1824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04320A5-C0F1-2686-D14E-2D19433A2D45}"/>
              </a:ext>
            </a:extLst>
          </p:cNvPr>
          <p:cNvSpPr>
            <a:spLocks noGrp="1"/>
          </p:cNvSpPr>
          <p:nvPr>
            <p:ph type="sldNum" sz="quarter" idx="5"/>
          </p:nvPr>
        </p:nvSpPr>
        <p:spPr/>
        <p:txBody>
          <a:bodyPr/>
          <a:lstStyle/>
          <a:p>
            <a:fld id="{ED1A1722-324F-4C80-8089-F82BA3330B93}" type="slidenum">
              <a:rPr lang="en-GB" smtClean="0"/>
              <a:t>8</a:t>
            </a:fld>
            <a:endParaRPr lang="en-GB" dirty="0"/>
          </a:p>
        </p:txBody>
      </p:sp>
    </p:spTree>
    <p:extLst>
      <p:ext uri="{BB962C8B-B14F-4D97-AF65-F5344CB8AC3E}">
        <p14:creationId xmlns:p14="http://schemas.microsoft.com/office/powerpoint/2010/main" val="3872295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BEE5B-9BF6-CDB7-A857-1ECDE58AD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3E26D-D8B8-FED5-BF06-25E8447A2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4A7BF-6245-586E-CEF5-DB63DC17C8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4E6727A-64EF-0375-022F-0E8D595E0E8C}"/>
              </a:ext>
            </a:extLst>
          </p:cNvPr>
          <p:cNvSpPr>
            <a:spLocks noGrp="1"/>
          </p:cNvSpPr>
          <p:nvPr>
            <p:ph type="sldNum" sz="quarter" idx="5"/>
          </p:nvPr>
        </p:nvSpPr>
        <p:spPr/>
        <p:txBody>
          <a:bodyPr/>
          <a:lstStyle/>
          <a:p>
            <a:fld id="{ED1A1722-324F-4C80-8089-F82BA3330B93}" type="slidenum">
              <a:rPr lang="en-GB" smtClean="0"/>
              <a:t>9</a:t>
            </a:fld>
            <a:endParaRPr lang="en-GB" dirty="0"/>
          </a:p>
        </p:txBody>
      </p:sp>
    </p:spTree>
    <p:extLst>
      <p:ext uri="{BB962C8B-B14F-4D97-AF65-F5344CB8AC3E}">
        <p14:creationId xmlns:p14="http://schemas.microsoft.com/office/powerpoint/2010/main" val="940822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35C12-50BD-7129-0322-0881139E6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7CA2-29C8-7785-AFE6-AD67FEB68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97E62-B3DA-190D-EE5B-CD7AAEE28A9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D792AD6-B687-2BA1-5A26-550B32CEB8E7}"/>
              </a:ext>
            </a:extLst>
          </p:cNvPr>
          <p:cNvSpPr>
            <a:spLocks noGrp="1"/>
          </p:cNvSpPr>
          <p:nvPr>
            <p:ph type="sldNum" sz="quarter" idx="5"/>
          </p:nvPr>
        </p:nvSpPr>
        <p:spPr/>
        <p:txBody>
          <a:bodyPr/>
          <a:lstStyle/>
          <a:p>
            <a:fld id="{ED1A1722-324F-4C80-8089-F82BA3330B93}" type="slidenum">
              <a:rPr lang="en-GB" smtClean="0"/>
              <a:t>10</a:t>
            </a:fld>
            <a:endParaRPr lang="en-GB" dirty="0"/>
          </a:p>
        </p:txBody>
      </p:sp>
    </p:spTree>
    <p:extLst>
      <p:ext uri="{BB962C8B-B14F-4D97-AF65-F5344CB8AC3E}">
        <p14:creationId xmlns:p14="http://schemas.microsoft.com/office/powerpoint/2010/main" val="1395352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A96DE-E695-FD37-2E9D-A2CFD3522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47BA3-7932-2292-D017-AC4E10EEA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766D9-BA98-988A-E91F-4D34DA11D47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585E77A-E41D-B4AB-5B23-88690604BF3B}"/>
              </a:ext>
            </a:extLst>
          </p:cNvPr>
          <p:cNvSpPr>
            <a:spLocks noGrp="1"/>
          </p:cNvSpPr>
          <p:nvPr>
            <p:ph type="sldNum" sz="quarter" idx="5"/>
          </p:nvPr>
        </p:nvSpPr>
        <p:spPr/>
        <p:txBody>
          <a:bodyPr/>
          <a:lstStyle/>
          <a:p>
            <a:fld id="{ED1A1722-324F-4C80-8089-F82BA3330B93}" type="slidenum">
              <a:rPr lang="en-GB" smtClean="0"/>
              <a:t>11</a:t>
            </a:fld>
            <a:endParaRPr lang="en-GB" dirty="0"/>
          </a:p>
        </p:txBody>
      </p:sp>
    </p:spTree>
    <p:extLst>
      <p:ext uri="{BB962C8B-B14F-4D97-AF65-F5344CB8AC3E}">
        <p14:creationId xmlns:p14="http://schemas.microsoft.com/office/powerpoint/2010/main" val="2693476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F3125-11D1-75AF-170A-CF443CC0F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E012B-4525-FBA6-1468-34E2F30477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AC4E2-593D-04A0-C014-5060B8AB43A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CB7F876-B7BB-AFCD-A0F4-CFCCAF62104A}"/>
              </a:ext>
            </a:extLst>
          </p:cNvPr>
          <p:cNvSpPr>
            <a:spLocks noGrp="1"/>
          </p:cNvSpPr>
          <p:nvPr>
            <p:ph type="sldNum" sz="quarter" idx="5"/>
          </p:nvPr>
        </p:nvSpPr>
        <p:spPr/>
        <p:txBody>
          <a:bodyPr/>
          <a:lstStyle/>
          <a:p>
            <a:fld id="{ED1A1722-324F-4C80-8089-F82BA3330B93}" type="slidenum">
              <a:rPr lang="en-GB" smtClean="0"/>
              <a:t>12</a:t>
            </a:fld>
            <a:endParaRPr lang="en-GB" dirty="0"/>
          </a:p>
        </p:txBody>
      </p:sp>
    </p:spTree>
    <p:extLst>
      <p:ext uri="{BB962C8B-B14F-4D97-AF65-F5344CB8AC3E}">
        <p14:creationId xmlns:p14="http://schemas.microsoft.com/office/powerpoint/2010/main" val="2578360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076B5-FEB4-CAA2-60F8-C7D49E169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5EF3C-AB24-875A-2B86-D79F8D8AB5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2DF4E3-1F70-563E-FD7C-E2CADE61872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3E9787D-A68C-06E7-642E-5BFBD3616252}"/>
              </a:ext>
            </a:extLst>
          </p:cNvPr>
          <p:cNvSpPr>
            <a:spLocks noGrp="1"/>
          </p:cNvSpPr>
          <p:nvPr>
            <p:ph type="sldNum" sz="quarter" idx="5"/>
          </p:nvPr>
        </p:nvSpPr>
        <p:spPr/>
        <p:txBody>
          <a:bodyPr/>
          <a:lstStyle/>
          <a:p>
            <a:fld id="{ED1A1722-324F-4C80-8089-F82BA3330B93}" type="slidenum">
              <a:rPr lang="en-GB" smtClean="0"/>
              <a:t>13</a:t>
            </a:fld>
            <a:endParaRPr lang="en-GB" dirty="0"/>
          </a:p>
        </p:txBody>
      </p:sp>
    </p:spTree>
    <p:extLst>
      <p:ext uri="{BB962C8B-B14F-4D97-AF65-F5344CB8AC3E}">
        <p14:creationId xmlns:p14="http://schemas.microsoft.com/office/powerpoint/2010/main" val="2947224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22721-488E-8651-A67C-ADECC55DA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5D57B-5B1C-5122-5337-CD8F94D04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7AA57-8B53-8ABB-BB80-2FA8A2679CE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7AA8371-5097-B0DB-11E2-F5E9C546C3FF}"/>
              </a:ext>
            </a:extLst>
          </p:cNvPr>
          <p:cNvSpPr>
            <a:spLocks noGrp="1"/>
          </p:cNvSpPr>
          <p:nvPr>
            <p:ph type="sldNum" sz="quarter" idx="5"/>
          </p:nvPr>
        </p:nvSpPr>
        <p:spPr/>
        <p:txBody>
          <a:bodyPr/>
          <a:lstStyle/>
          <a:p>
            <a:fld id="{ED1A1722-324F-4C80-8089-F82BA3330B93}" type="slidenum">
              <a:rPr lang="en-GB" smtClean="0"/>
              <a:t>14</a:t>
            </a:fld>
            <a:endParaRPr lang="en-GB" dirty="0"/>
          </a:p>
        </p:txBody>
      </p:sp>
    </p:spTree>
    <p:extLst>
      <p:ext uri="{BB962C8B-B14F-4D97-AF65-F5344CB8AC3E}">
        <p14:creationId xmlns:p14="http://schemas.microsoft.com/office/powerpoint/2010/main" val="862837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5FA58-AB68-ADB9-D0C0-BB9F6F67A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CAF96-3899-EF63-7754-43126B9CA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CDF57-7163-1531-3FB8-95CD5C15942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DA0BEC9-F044-1E69-790B-220EC0952936}"/>
              </a:ext>
            </a:extLst>
          </p:cNvPr>
          <p:cNvSpPr>
            <a:spLocks noGrp="1"/>
          </p:cNvSpPr>
          <p:nvPr>
            <p:ph type="sldNum" sz="quarter" idx="5"/>
          </p:nvPr>
        </p:nvSpPr>
        <p:spPr/>
        <p:txBody>
          <a:bodyPr/>
          <a:lstStyle/>
          <a:p>
            <a:fld id="{ED1A1722-324F-4C80-8089-F82BA3330B93}" type="slidenum">
              <a:rPr lang="en-GB" smtClean="0"/>
              <a:t>15</a:t>
            </a:fld>
            <a:endParaRPr lang="en-GB" dirty="0"/>
          </a:p>
        </p:txBody>
      </p:sp>
    </p:spTree>
    <p:extLst>
      <p:ext uri="{BB962C8B-B14F-4D97-AF65-F5344CB8AC3E}">
        <p14:creationId xmlns:p14="http://schemas.microsoft.com/office/powerpoint/2010/main" val="12946683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866D8-8904-0A32-D677-588DE539E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62446-A4B0-B307-101F-352CB0056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A20AF-5C15-5A8A-96E4-76136828B11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E44B1E2-B371-59FA-FE31-BC7E85A1A83C}"/>
              </a:ext>
            </a:extLst>
          </p:cNvPr>
          <p:cNvSpPr>
            <a:spLocks noGrp="1"/>
          </p:cNvSpPr>
          <p:nvPr>
            <p:ph type="sldNum" sz="quarter" idx="5"/>
          </p:nvPr>
        </p:nvSpPr>
        <p:spPr/>
        <p:txBody>
          <a:bodyPr/>
          <a:lstStyle/>
          <a:p>
            <a:fld id="{ED1A1722-324F-4C80-8089-F82BA3330B93}" type="slidenum">
              <a:rPr lang="en-GB" smtClean="0"/>
              <a:t>16</a:t>
            </a:fld>
            <a:endParaRPr lang="en-GB" dirty="0"/>
          </a:p>
        </p:txBody>
      </p:sp>
    </p:spTree>
    <p:extLst>
      <p:ext uri="{BB962C8B-B14F-4D97-AF65-F5344CB8AC3E}">
        <p14:creationId xmlns:p14="http://schemas.microsoft.com/office/powerpoint/2010/main" val="2702411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Instructions : how to ask questions</a:t>
            </a:r>
          </a:p>
          <a:p>
            <a:endParaRPr lang="en-GB" dirty="0"/>
          </a:p>
        </p:txBody>
      </p:sp>
      <p:sp>
        <p:nvSpPr>
          <p:cNvPr id="4" name="Slide Number Placeholder 3"/>
          <p:cNvSpPr>
            <a:spLocks noGrp="1"/>
          </p:cNvSpPr>
          <p:nvPr>
            <p:ph type="sldNum" sz="quarter" idx="5"/>
          </p:nvPr>
        </p:nvSpPr>
        <p:spPr/>
        <p:txBody>
          <a:bodyPr/>
          <a:lstStyle/>
          <a:p>
            <a:fld id="{ED1A1722-324F-4C80-8089-F82BA3330B93}" type="slidenum">
              <a:rPr lang="en-GB" smtClean="0"/>
              <a:t>19</a:t>
            </a:fld>
            <a:endParaRPr lang="en-GB"/>
          </a:p>
        </p:txBody>
      </p:sp>
    </p:spTree>
    <p:extLst>
      <p:ext uri="{BB962C8B-B14F-4D97-AF65-F5344CB8AC3E}">
        <p14:creationId xmlns:p14="http://schemas.microsoft.com/office/powerpoint/2010/main" val="3632327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F2FA-C710-810B-099C-A461296077BC}"/>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AD1AA0FE-EE91-3202-2389-AE9448E9ED15}"/>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E5CDED8B-9972-4AA3-6AF5-0F7E5C94EA63}"/>
              </a:ext>
            </a:extLst>
          </p:cNvPr>
          <p:cNvSpPr txBox="1">
            <a:spLocks noGrp="1"/>
          </p:cNvSpPr>
          <p:nvPr>
            <p:ph type="dt" sz="half" idx="7"/>
          </p:nvPr>
        </p:nvSpPr>
        <p:spPr/>
        <p:txBody>
          <a:bodyPr/>
          <a:lstStyle>
            <a:lvl1pPr>
              <a:defRPr/>
            </a:lvl1pPr>
          </a:lstStyle>
          <a:p>
            <a:pPr lvl="0"/>
            <a:fld id="{4E05A773-F4EF-409E-8F0A-B2C7E860DC76}" type="datetime1">
              <a:rPr lang="en-GB"/>
              <a:pPr lvl="0"/>
              <a:t>21/01/2026</a:t>
            </a:fld>
            <a:endParaRPr lang="en-GB"/>
          </a:p>
        </p:txBody>
      </p:sp>
      <p:sp>
        <p:nvSpPr>
          <p:cNvPr id="5" name="Footer Placeholder 4">
            <a:extLst>
              <a:ext uri="{FF2B5EF4-FFF2-40B4-BE49-F238E27FC236}">
                <a16:creationId xmlns:a16="http://schemas.microsoft.com/office/drawing/2014/main" id="{CC1D0979-D640-601D-59FE-F81846A23802}"/>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09B6B3A2-01BF-8808-DB0A-42D8DAE2394C}"/>
              </a:ext>
            </a:extLst>
          </p:cNvPr>
          <p:cNvSpPr txBox="1">
            <a:spLocks noGrp="1"/>
          </p:cNvSpPr>
          <p:nvPr>
            <p:ph type="sldNum" sz="quarter" idx="8"/>
          </p:nvPr>
        </p:nvSpPr>
        <p:spPr/>
        <p:txBody>
          <a:bodyPr/>
          <a:lstStyle>
            <a:lvl1pPr>
              <a:defRPr/>
            </a:lvl1pPr>
          </a:lstStyle>
          <a:p>
            <a:pPr lvl="0"/>
            <a:fld id="{7C128113-8C70-421F-B3D5-69F7F3C7EBC9}" type="slidenum">
              <a:t>‹#›</a:t>
            </a:fld>
            <a:endParaRPr lang="en-GB"/>
          </a:p>
        </p:txBody>
      </p:sp>
    </p:spTree>
    <p:extLst>
      <p:ext uri="{BB962C8B-B14F-4D97-AF65-F5344CB8AC3E}">
        <p14:creationId xmlns:p14="http://schemas.microsoft.com/office/powerpoint/2010/main" val="344471766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5458-FCD4-9745-B41E-F21FD454356B}"/>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F0B7DEBF-349E-B42F-7A75-F999271F2C6B}"/>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32705B-7301-56A3-D9D5-2FA5E8B0D8C4}"/>
              </a:ext>
            </a:extLst>
          </p:cNvPr>
          <p:cNvSpPr txBox="1">
            <a:spLocks noGrp="1"/>
          </p:cNvSpPr>
          <p:nvPr>
            <p:ph type="dt" sz="half" idx="7"/>
          </p:nvPr>
        </p:nvSpPr>
        <p:spPr/>
        <p:txBody>
          <a:bodyPr/>
          <a:lstStyle>
            <a:lvl1pPr>
              <a:defRPr/>
            </a:lvl1pPr>
          </a:lstStyle>
          <a:p>
            <a:pPr lvl="0"/>
            <a:fld id="{B7E94D68-BB0B-4315-821D-EC37CADFF144}" type="datetime1">
              <a:rPr lang="en-GB"/>
              <a:pPr lvl="0"/>
              <a:t>21/01/2026</a:t>
            </a:fld>
            <a:endParaRPr lang="en-GB"/>
          </a:p>
        </p:txBody>
      </p:sp>
      <p:sp>
        <p:nvSpPr>
          <p:cNvPr id="5" name="Footer Placeholder 4">
            <a:extLst>
              <a:ext uri="{FF2B5EF4-FFF2-40B4-BE49-F238E27FC236}">
                <a16:creationId xmlns:a16="http://schemas.microsoft.com/office/drawing/2014/main" id="{05316024-CD6B-3919-F278-12D64E91C86E}"/>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015B86B1-90AA-A677-8C8A-E896FB1B483B}"/>
              </a:ext>
            </a:extLst>
          </p:cNvPr>
          <p:cNvSpPr txBox="1">
            <a:spLocks noGrp="1"/>
          </p:cNvSpPr>
          <p:nvPr>
            <p:ph type="sldNum" sz="quarter" idx="8"/>
          </p:nvPr>
        </p:nvSpPr>
        <p:spPr/>
        <p:txBody>
          <a:bodyPr/>
          <a:lstStyle>
            <a:lvl1pPr>
              <a:defRPr/>
            </a:lvl1pPr>
          </a:lstStyle>
          <a:p>
            <a:pPr lvl="0"/>
            <a:fld id="{5CC300B7-3DF1-4C31-B17C-E58EAD854D1F}" type="slidenum">
              <a:t>‹#›</a:t>
            </a:fld>
            <a:endParaRPr lang="en-GB"/>
          </a:p>
        </p:txBody>
      </p:sp>
    </p:spTree>
    <p:extLst>
      <p:ext uri="{BB962C8B-B14F-4D97-AF65-F5344CB8AC3E}">
        <p14:creationId xmlns:p14="http://schemas.microsoft.com/office/powerpoint/2010/main" val="81231181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924D-E966-102B-DDE3-A4C6C591BB74}"/>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00E430D3-77D8-DFA2-B731-EB43E58F7BE0}"/>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3BA95CAA-31B8-E226-E90B-0F9F351E317B}"/>
              </a:ext>
            </a:extLst>
          </p:cNvPr>
          <p:cNvSpPr txBox="1">
            <a:spLocks noGrp="1"/>
          </p:cNvSpPr>
          <p:nvPr>
            <p:ph type="dt" sz="half" idx="7"/>
          </p:nvPr>
        </p:nvSpPr>
        <p:spPr/>
        <p:txBody>
          <a:bodyPr/>
          <a:lstStyle>
            <a:lvl1pPr>
              <a:defRPr/>
            </a:lvl1pPr>
          </a:lstStyle>
          <a:p>
            <a:pPr lvl="0"/>
            <a:fld id="{ECF64FF8-9042-48F4-9960-C2443EB36FDB}" type="datetime1">
              <a:rPr lang="en-GB"/>
              <a:pPr lvl="0"/>
              <a:t>21/01/2026</a:t>
            </a:fld>
            <a:endParaRPr lang="en-GB"/>
          </a:p>
        </p:txBody>
      </p:sp>
      <p:sp>
        <p:nvSpPr>
          <p:cNvPr id="5" name="Footer Placeholder 4">
            <a:extLst>
              <a:ext uri="{FF2B5EF4-FFF2-40B4-BE49-F238E27FC236}">
                <a16:creationId xmlns:a16="http://schemas.microsoft.com/office/drawing/2014/main" id="{06A9B772-EA43-2420-8380-83A161AEA3BD}"/>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99AC34B8-961E-A544-C6B5-95ED8BE6A753}"/>
              </a:ext>
            </a:extLst>
          </p:cNvPr>
          <p:cNvSpPr txBox="1">
            <a:spLocks noGrp="1"/>
          </p:cNvSpPr>
          <p:nvPr>
            <p:ph type="sldNum" sz="quarter" idx="8"/>
          </p:nvPr>
        </p:nvSpPr>
        <p:spPr/>
        <p:txBody>
          <a:bodyPr/>
          <a:lstStyle>
            <a:lvl1pPr>
              <a:defRPr/>
            </a:lvl1pPr>
          </a:lstStyle>
          <a:p>
            <a:pPr lvl="0"/>
            <a:fld id="{536EF4E9-EBE4-4326-B91B-CF520CF244FF}" type="slidenum">
              <a:t>‹#›</a:t>
            </a:fld>
            <a:endParaRPr lang="en-GB"/>
          </a:p>
        </p:txBody>
      </p:sp>
    </p:spTree>
    <p:extLst>
      <p:ext uri="{BB962C8B-B14F-4D97-AF65-F5344CB8AC3E}">
        <p14:creationId xmlns:p14="http://schemas.microsoft.com/office/powerpoint/2010/main" val="3739120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033CA-F25D-4349-6073-4CB0913AEC4C}"/>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4E652ECC-D11C-2280-1C7A-4B93BF7DD980}"/>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F63B09F-4545-BD08-EE2B-D8C72A83D5D0}"/>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4E50C27-D6FA-E664-CE51-80D916A2323F}"/>
              </a:ext>
            </a:extLst>
          </p:cNvPr>
          <p:cNvSpPr txBox="1">
            <a:spLocks noGrp="1"/>
          </p:cNvSpPr>
          <p:nvPr>
            <p:ph type="dt" sz="half" idx="7"/>
          </p:nvPr>
        </p:nvSpPr>
        <p:spPr/>
        <p:txBody>
          <a:bodyPr/>
          <a:lstStyle>
            <a:lvl1pPr>
              <a:defRPr/>
            </a:lvl1pPr>
          </a:lstStyle>
          <a:p>
            <a:pPr lvl="0"/>
            <a:fld id="{D545CAAA-3618-47C7-91D6-51CFA208E220}" type="datetime1">
              <a:rPr lang="en-GB"/>
              <a:pPr lvl="0"/>
              <a:t>21/01/2026</a:t>
            </a:fld>
            <a:endParaRPr lang="en-GB"/>
          </a:p>
        </p:txBody>
      </p:sp>
      <p:sp>
        <p:nvSpPr>
          <p:cNvPr id="6" name="Footer Placeholder 5">
            <a:extLst>
              <a:ext uri="{FF2B5EF4-FFF2-40B4-BE49-F238E27FC236}">
                <a16:creationId xmlns:a16="http://schemas.microsoft.com/office/drawing/2014/main" id="{5C3DC718-310C-8FC1-E084-141ABB40945B}"/>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01F91116-9B58-045C-1CF9-79782DA94793}"/>
              </a:ext>
            </a:extLst>
          </p:cNvPr>
          <p:cNvSpPr txBox="1">
            <a:spLocks noGrp="1"/>
          </p:cNvSpPr>
          <p:nvPr>
            <p:ph type="sldNum" sz="quarter" idx="8"/>
          </p:nvPr>
        </p:nvSpPr>
        <p:spPr/>
        <p:txBody>
          <a:bodyPr/>
          <a:lstStyle>
            <a:lvl1pPr>
              <a:defRPr/>
            </a:lvl1pPr>
          </a:lstStyle>
          <a:p>
            <a:pPr lvl="0"/>
            <a:fld id="{504BC509-26E0-4A66-8D50-186355529E9A}" type="slidenum">
              <a:t>‹#›</a:t>
            </a:fld>
            <a:endParaRPr lang="en-GB"/>
          </a:p>
        </p:txBody>
      </p:sp>
    </p:spTree>
    <p:extLst>
      <p:ext uri="{BB962C8B-B14F-4D97-AF65-F5344CB8AC3E}">
        <p14:creationId xmlns:p14="http://schemas.microsoft.com/office/powerpoint/2010/main" val="2699840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A8D0-9F74-A856-7BF4-723D7C03F7D9}"/>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1DEE8909-2491-7478-BFE4-BB8FB21BD8AE}"/>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94444A1A-2014-0235-2BBE-51C72CC78A7B}"/>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77DE318-BB02-3F5D-13AE-89D8D21E7C6A}"/>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B41A08CA-20B4-5E32-2768-6ACF4011669B}"/>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6FDBFB0-7BCC-A16E-C018-6EC3D6784B71}"/>
              </a:ext>
            </a:extLst>
          </p:cNvPr>
          <p:cNvSpPr txBox="1">
            <a:spLocks noGrp="1"/>
          </p:cNvSpPr>
          <p:nvPr>
            <p:ph type="dt" sz="half" idx="7"/>
          </p:nvPr>
        </p:nvSpPr>
        <p:spPr/>
        <p:txBody>
          <a:bodyPr/>
          <a:lstStyle>
            <a:lvl1pPr>
              <a:defRPr/>
            </a:lvl1pPr>
          </a:lstStyle>
          <a:p>
            <a:pPr lvl="0"/>
            <a:fld id="{0381F534-58C4-47E6-ADBF-505D5DF01AD2}" type="datetime1">
              <a:rPr lang="en-GB"/>
              <a:pPr lvl="0"/>
              <a:t>21/01/2026</a:t>
            </a:fld>
            <a:endParaRPr lang="en-GB"/>
          </a:p>
        </p:txBody>
      </p:sp>
      <p:sp>
        <p:nvSpPr>
          <p:cNvPr id="8" name="Footer Placeholder 7">
            <a:extLst>
              <a:ext uri="{FF2B5EF4-FFF2-40B4-BE49-F238E27FC236}">
                <a16:creationId xmlns:a16="http://schemas.microsoft.com/office/drawing/2014/main" id="{C46318DE-EC6B-D230-96A4-18AAA7794979}"/>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D779E375-9092-0C8B-E393-06DF65F05161}"/>
              </a:ext>
            </a:extLst>
          </p:cNvPr>
          <p:cNvSpPr txBox="1">
            <a:spLocks noGrp="1"/>
          </p:cNvSpPr>
          <p:nvPr>
            <p:ph type="sldNum" sz="quarter" idx="8"/>
          </p:nvPr>
        </p:nvSpPr>
        <p:spPr/>
        <p:txBody>
          <a:bodyPr/>
          <a:lstStyle>
            <a:lvl1pPr>
              <a:defRPr/>
            </a:lvl1pPr>
          </a:lstStyle>
          <a:p>
            <a:pPr lvl="0"/>
            <a:fld id="{2F6A7847-5249-467E-8D41-650DDB8A5170}" type="slidenum">
              <a:t>‹#›</a:t>
            </a:fld>
            <a:endParaRPr lang="en-GB"/>
          </a:p>
        </p:txBody>
      </p:sp>
    </p:spTree>
    <p:extLst>
      <p:ext uri="{BB962C8B-B14F-4D97-AF65-F5344CB8AC3E}">
        <p14:creationId xmlns:p14="http://schemas.microsoft.com/office/powerpoint/2010/main" val="2658419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B6F00-B2B0-482E-57DC-8208814B71F7}"/>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3ED27BC4-B422-2146-A9DE-B4D271F4BCEF}"/>
              </a:ext>
            </a:extLst>
          </p:cNvPr>
          <p:cNvSpPr txBox="1">
            <a:spLocks noGrp="1"/>
          </p:cNvSpPr>
          <p:nvPr>
            <p:ph type="dt" sz="half" idx="7"/>
          </p:nvPr>
        </p:nvSpPr>
        <p:spPr/>
        <p:txBody>
          <a:bodyPr/>
          <a:lstStyle>
            <a:lvl1pPr>
              <a:defRPr/>
            </a:lvl1pPr>
          </a:lstStyle>
          <a:p>
            <a:pPr lvl="0"/>
            <a:fld id="{8EB5851D-2342-4323-B554-3FB0C073CDCD}" type="datetime1">
              <a:rPr lang="en-GB"/>
              <a:pPr lvl="0"/>
              <a:t>21/01/2026</a:t>
            </a:fld>
            <a:endParaRPr lang="en-GB"/>
          </a:p>
        </p:txBody>
      </p:sp>
      <p:sp>
        <p:nvSpPr>
          <p:cNvPr id="4" name="Footer Placeholder 3">
            <a:extLst>
              <a:ext uri="{FF2B5EF4-FFF2-40B4-BE49-F238E27FC236}">
                <a16:creationId xmlns:a16="http://schemas.microsoft.com/office/drawing/2014/main" id="{E4909BA7-39ED-8BEF-1023-929A584D7402}"/>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A656033E-BD4A-5DB4-3920-ABF9598EC524}"/>
              </a:ext>
            </a:extLst>
          </p:cNvPr>
          <p:cNvSpPr txBox="1">
            <a:spLocks noGrp="1"/>
          </p:cNvSpPr>
          <p:nvPr>
            <p:ph type="sldNum" sz="quarter" idx="8"/>
          </p:nvPr>
        </p:nvSpPr>
        <p:spPr/>
        <p:txBody>
          <a:bodyPr/>
          <a:lstStyle>
            <a:lvl1pPr>
              <a:defRPr/>
            </a:lvl1pPr>
          </a:lstStyle>
          <a:p>
            <a:pPr lvl="0"/>
            <a:fld id="{DE138C1D-EB34-4DDD-9916-FBA4990E46BD}" type="slidenum">
              <a:t>‹#›</a:t>
            </a:fld>
            <a:endParaRPr lang="en-GB"/>
          </a:p>
        </p:txBody>
      </p:sp>
    </p:spTree>
    <p:extLst>
      <p:ext uri="{BB962C8B-B14F-4D97-AF65-F5344CB8AC3E}">
        <p14:creationId xmlns:p14="http://schemas.microsoft.com/office/powerpoint/2010/main" val="419817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185C31-15A3-756B-D09E-B763682DB93B}"/>
              </a:ext>
            </a:extLst>
          </p:cNvPr>
          <p:cNvSpPr txBox="1">
            <a:spLocks noGrp="1"/>
          </p:cNvSpPr>
          <p:nvPr>
            <p:ph type="dt" sz="half" idx="7"/>
          </p:nvPr>
        </p:nvSpPr>
        <p:spPr/>
        <p:txBody>
          <a:bodyPr/>
          <a:lstStyle>
            <a:lvl1pPr>
              <a:defRPr/>
            </a:lvl1pPr>
          </a:lstStyle>
          <a:p>
            <a:pPr lvl="0"/>
            <a:fld id="{0472D606-4E0E-4106-A10E-DC53029D20D9}" type="datetime1">
              <a:rPr lang="en-GB"/>
              <a:pPr lvl="0"/>
              <a:t>21/01/2026</a:t>
            </a:fld>
            <a:endParaRPr lang="en-GB"/>
          </a:p>
        </p:txBody>
      </p:sp>
      <p:sp>
        <p:nvSpPr>
          <p:cNvPr id="3" name="Footer Placeholder 2">
            <a:extLst>
              <a:ext uri="{FF2B5EF4-FFF2-40B4-BE49-F238E27FC236}">
                <a16:creationId xmlns:a16="http://schemas.microsoft.com/office/drawing/2014/main" id="{85AB69CA-6DC4-B768-5A72-A33E6722E99E}"/>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2FC0A2AE-A6CA-DA7C-699F-F699A0C5C2BA}"/>
              </a:ext>
            </a:extLst>
          </p:cNvPr>
          <p:cNvSpPr txBox="1">
            <a:spLocks noGrp="1"/>
          </p:cNvSpPr>
          <p:nvPr>
            <p:ph type="sldNum" sz="quarter" idx="8"/>
          </p:nvPr>
        </p:nvSpPr>
        <p:spPr/>
        <p:txBody>
          <a:bodyPr/>
          <a:lstStyle>
            <a:lvl1pPr>
              <a:defRPr/>
            </a:lvl1pPr>
          </a:lstStyle>
          <a:p>
            <a:pPr lvl="0"/>
            <a:fld id="{21802C1C-CAE6-4BFF-A976-BCFF20D8F935}" type="slidenum">
              <a:t>‹#›</a:t>
            </a:fld>
            <a:endParaRPr lang="en-GB"/>
          </a:p>
        </p:txBody>
      </p:sp>
    </p:spTree>
    <p:extLst>
      <p:ext uri="{BB962C8B-B14F-4D97-AF65-F5344CB8AC3E}">
        <p14:creationId xmlns:p14="http://schemas.microsoft.com/office/powerpoint/2010/main" val="1875354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84E7-3258-97DA-86D0-2B8CC13950BF}"/>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2FFC6D42-9C25-A305-BE44-1B408A662D78}"/>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B37708C-7695-AF1E-5499-D8CA0E6890E5}"/>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473772C2-BFD0-64B5-16F1-79C260376666}"/>
              </a:ext>
            </a:extLst>
          </p:cNvPr>
          <p:cNvSpPr txBox="1">
            <a:spLocks noGrp="1"/>
          </p:cNvSpPr>
          <p:nvPr>
            <p:ph type="dt" sz="half" idx="7"/>
          </p:nvPr>
        </p:nvSpPr>
        <p:spPr/>
        <p:txBody>
          <a:bodyPr/>
          <a:lstStyle>
            <a:lvl1pPr>
              <a:defRPr/>
            </a:lvl1pPr>
          </a:lstStyle>
          <a:p>
            <a:pPr lvl="0"/>
            <a:fld id="{7D520689-49A8-405C-8AB8-EA5250AF8744}" type="datetime1">
              <a:rPr lang="en-GB"/>
              <a:pPr lvl="0"/>
              <a:t>21/01/2026</a:t>
            </a:fld>
            <a:endParaRPr lang="en-GB"/>
          </a:p>
        </p:txBody>
      </p:sp>
      <p:sp>
        <p:nvSpPr>
          <p:cNvPr id="6" name="Footer Placeholder 5">
            <a:extLst>
              <a:ext uri="{FF2B5EF4-FFF2-40B4-BE49-F238E27FC236}">
                <a16:creationId xmlns:a16="http://schemas.microsoft.com/office/drawing/2014/main" id="{25A947EA-CE62-94EF-6C68-9193A234D18E}"/>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D34FB8C1-F1B1-B9DD-47BA-E73ED601B4AA}"/>
              </a:ext>
            </a:extLst>
          </p:cNvPr>
          <p:cNvSpPr txBox="1">
            <a:spLocks noGrp="1"/>
          </p:cNvSpPr>
          <p:nvPr>
            <p:ph type="sldNum" sz="quarter" idx="8"/>
          </p:nvPr>
        </p:nvSpPr>
        <p:spPr/>
        <p:txBody>
          <a:bodyPr/>
          <a:lstStyle>
            <a:lvl1pPr>
              <a:defRPr/>
            </a:lvl1pPr>
          </a:lstStyle>
          <a:p>
            <a:pPr lvl="0"/>
            <a:fld id="{A1708436-8C55-4A31-A069-5721F045D484}" type="slidenum">
              <a:t>‹#›</a:t>
            </a:fld>
            <a:endParaRPr lang="en-GB"/>
          </a:p>
        </p:txBody>
      </p:sp>
    </p:spTree>
    <p:extLst>
      <p:ext uri="{BB962C8B-B14F-4D97-AF65-F5344CB8AC3E}">
        <p14:creationId xmlns:p14="http://schemas.microsoft.com/office/powerpoint/2010/main" val="3144499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BB6A-5686-25B2-0F5F-75A66C1FC683}"/>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5F561377-0051-68FE-917C-30655559E3DE}"/>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B056CEAA-64C7-CA64-2F1D-0EC26641C27D}"/>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DC8A1693-1582-B4F8-D8EA-2010496E0D4A}"/>
              </a:ext>
            </a:extLst>
          </p:cNvPr>
          <p:cNvSpPr txBox="1">
            <a:spLocks noGrp="1"/>
          </p:cNvSpPr>
          <p:nvPr>
            <p:ph type="dt" sz="half" idx="7"/>
          </p:nvPr>
        </p:nvSpPr>
        <p:spPr/>
        <p:txBody>
          <a:bodyPr/>
          <a:lstStyle>
            <a:lvl1pPr>
              <a:defRPr/>
            </a:lvl1pPr>
          </a:lstStyle>
          <a:p>
            <a:pPr lvl="0"/>
            <a:fld id="{749DD171-B3BA-4862-AC55-EE70C4DD2F19}" type="datetime1">
              <a:rPr lang="en-GB"/>
              <a:pPr lvl="0"/>
              <a:t>21/01/2026</a:t>
            </a:fld>
            <a:endParaRPr lang="en-GB"/>
          </a:p>
        </p:txBody>
      </p:sp>
      <p:sp>
        <p:nvSpPr>
          <p:cNvPr id="6" name="Footer Placeholder 5">
            <a:extLst>
              <a:ext uri="{FF2B5EF4-FFF2-40B4-BE49-F238E27FC236}">
                <a16:creationId xmlns:a16="http://schemas.microsoft.com/office/drawing/2014/main" id="{C105BDF9-B2B4-C865-0EF6-C80A103E3C0E}"/>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1F47ECE4-7700-FA99-4B58-AAE7462A495B}"/>
              </a:ext>
            </a:extLst>
          </p:cNvPr>
          <p:cNvSpPr txBox="1">
            <a:spLocks noGrp="1"/>
          </p:cNvSpPr>
          <p:nvPr>
            <p:ph type="sldNum" sz="quarter" idx="8"/>
          </p:nvPr>
        </p:nvSpPr>
        <p:spPr/>
        <p:txBody>
          <a:bodyPr/>
          <a:lstStyle>
            <a:lvl1pPr>
              <a:defRPr/>
            </a:lvl1pPr>
          </a:lstStyle>
          <a:p>
            <a:pPr lvl="0"/>
            <a:fld id="{FF73E8BB-5722-43B6-B5F0-5726D5947084}" type="slidenum">
              <a:t>‹#›</a:t>
            </a:fld>
            <a:endParaRPr lang="en-GB"/>
          </a:p>
        </p:txBody>
      </p:sp>
    </p:spTree>
    <p:extLst>
      <p:ext uri="{BB962C8B-B14F-4D97-AF65-F5344CB8AC3E}">
        <p14:creationId xmlns:p14="http://schemas.microsoft.com/office/powerpoint/2010/main" val="1837547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2D7C-DE60-CAA2-5311-6C3739B8A818}"/>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FFE84652-2B70-8A83-CA50-1AB411BF876C}"/>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F3A79F-35CC-298F-9F94-1C80D5103620}"/>
              </a:ext>
            </a:extLst>
          </p:cNvPr>
          <p:cNvSpPr txBox="1">
            <a:spLocks noGrp="1"/>
          </p:cNvSpPr>
          <p:nvPr>
            <p:ph type="dt" sz="half" idx="7"/>
          </p:nvPr>
        </p:nvSpPr>
        <p:spPr/>
        <p:txBody>
          <a:bodyPr/>
          <a:lstStyle>
            <a:lvl1pPr>
              <a:defRPr/>
            </a:lvl1pPr>
          </a:lstStyle>
          <a:p>
            <a:pPr lvl="0"/>
            <a:fld id="{D04B4455-7299-48B1-BB48-4CC257A4AC5D}" type="datetime1">
              <a:rPr lang="en-GB"/>
              <a:pPr lvl="0"/>
              <a:t>21/01/2026</a:t>
            </a:fld>
            <a:endParaRPr lang="en-GB"/>
          </a:p>
        </p:txBody>
      </p:sp>
      <p:sp>
        <p:nvSpPr>
          <p:cNvPr id="5" name="Footer Placeholder 4">
            <a:extLst>
              <a:ext uri="{FF2B5EF4-FFF2-40B4-BE49-F238E27FC236}">
                <a16:creationId xmlns:a16="http://schemas.microsoft.com/office/drawing/2014/main" id="{9C6DD21B-41F0-0CAA-ABEF-7BF72FEC2C3E}"/>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7BC182B5-B31E-1AEF-0700-2A9B0AB148FD}"/>
              </a:ext>
            </a:extLst>
          </p:cNvPr>
          <p:cNvSpPr txBox="1">
            <a:spLocks noGrp="1"/>
          </p:cNvSpPr>
          <p:nvPr>
            <p:ph type="sldNum" sz="quarter" idx="8"/>
          </p:nvPr>
        </p:nvSpPr>
        <p:spPr/>
        <p:txBody>
          <a:bodyPr/>
          <a:lstStyle>
            <a:lvl1pPr>
              <a:defRPr/>
            </a:lvl1pPr>
          </a:lstStyle>
          <a:p>
            <a:pPr lvl="0"/>
            <a:fld id="{99C87B0C-5932-40CD-B7F3-6DCDA87B0D45}" type="slidenum">
              <a:t>‹#›</a:t>
            </a:fld>
            <a:endParaRPr lang="en-GB"/>
          </a:p>
        </p:txBody>
      </p:sp>
    </p:spTree>
    <p:extLst>
      <p:ext uri="{BB962C8B-B14F-4D97-AF65-F5344CB8AC3E}">
        <p14:creationId xmlns:p14="http://schemas.microsoft.com/office/powerpoint/2010/main" val="917348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F519E8-1913-6473-DAD8-3D014C7FD157}"/>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3DCD6901-3564-40E0-0E40-49E3DDD0CD65}"/>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FA4D587-BC9F-FE2F-24F9-F363019E3781}"/>
              </a:ext>
            </a:extLst>
          </p:cNvPr>
          <p:cNvSpPr txBox="1">
            <a:spLocks noGrp="1"/>
          </p:cNvSpPr>
          <p:nvPr>
            <p:ph type="dt" sz="half" idx="7"/>
          </p:nvPr>
        </p:nvSpPr>
        <p:spPr/>
        <p:txBody>
          <a:bodyPr/>
          <a:lstStyle>
            <a:lvl1pPr>
              <a:defRPr/>
            </a:lvl1pPr>
          </a:lstStyle>
          <a:p>
            <a:pPr lvl="0"/>
            <a:fld id="{72DD94B3-BBB1-4D89-9B61-DED4C92FA090}" type="datetime1">
              <a:rPr lang="en-GB"/>
              <a:pPr lvl="0"/>
              <a:t>21/01/2026</a:t>
            </a:fld>
            <a:endParaRPr lang="en-GB"/>
          </a:p>
        </p:txBody>
      </p:sp>
      <p:sp>
        <p:nvSpPr>
          <p:cNvPr id="5" name="Footer Placeholder 4">
            <a:extLst>
              <a:ext uri="{FF2B5EF4-FFF2-40B4-BE49-F238E27FC236}">
                <a16:creationId xmlns:a16="http://schemas.microsoft.com/office/drawing/2014/main" id="{53A028BE-402A-5489-4B78-69FA4723D385}"/>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EF7157C6-8D7D-45DC-D3C4-DBF2FEAC8501}"/>
              </a:ext>
            </a:extLst>
          </p:cNvPr>
          <p:cNvSpPr txBox="1">
            <a:spLocks noGrp="1"/>
          </p:cNvSpPr>
          <p:nvPr>
            <p:ph type="sldNum" sz="quarter" idx="8"/>
          </p:nvPr>
        </p:nvSpPr>
        <p:spPr/>
        <p:txBody>
          <a:bodyPr/>
          <a:lstStyle>
            <a:lvl1pPr>
              <a:defRPr/>
            </a:lvl1pPr>
          </a:lstStyle>
          <a:p>
            <a:pPr lvl="0"/>
            <a:fld id="{22692A90-2F9E-482B-8497-ECB836C0E66E}" type="slidenum">
              <a:t>‹#›</a:t>
            </a:fld>
            <a:endParaRPr lang="en-GB"/>
          </a:p>
        </p:txBody>
      </p:sp>
    </p:spTree>
    <p:extLst>
      <p:ext uri="{BB962C8B-B14F-4D97-AF65-F5344CB8AC3E}">
        <p14:creationId xmlns:p14="http://schemas.microsoft.com/office/powerpoint/2010/main" val="2262092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C28512-BAD3-1F5D-235C-ECA006351D03}"/>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A1A3128A-8A62-9EE8-22E1-EFACBE4FBA30}"/>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0AF3AB-3CC0-32BA-6194-832AB60F18A4}"/>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lvl="0"/>
            <a:fld id="{919D6695-3156-469E-B679-102A44AA4A98}" type="datetime1">
              <a:rPr lang="en-GB"/>
              <a:pPr lvl="0"/>
              <a:t>21/01/2026</a:t>
            </a:fld>
            <a:endParaRPr lang="en-GB"/>
          </a:p>
        </p:txBody>
      </p:sp>
      <p:sp>
        <p:nvSpPr>
          <p:cNvPr id="5" name="Footer Placeholder 4">
            <a:extLst>
              <a:ext uri="{FF2B5EF4-FFF2-40B4-BE49-F238E27FC236}">
                <a16:creationId xmlns:a16="http://schemas.microsoft.com/office/drawing/2014/main" id="{CFF53CE9-B4D0-FFEF-177B-85A2EA6E1AF4}"/>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lvl="0"/>
            <a:endParaRPr lang="en-GB"/>
          </a:p>
        </p:txBody>
      </p:sp>
      <p:sp>
        <p:nvSpPr>
          <p:cNvPr id="6" name="Slide Number Placeholder 5">
            <a:extLst>
              <a:ext uri="{FF2B5EF4-FFF2-40B4-BE49-F238E27FC236}">
                <a16:creationId xmlns:a16="http://schemas.microsoft.com/office/drawing/2014/main" id="{FE41C898-C9A3-A2B0-347A-2F5A84C227C0}"/>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lvl="0"/>
            <a:fld id="{C28371B0-DEEF-45D8-A2D7-7A4CDEFB26EE}"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D3512-3E8F-2F8F-0492-C5A4B83054E0}"/>
            </a:ext>
          </a:extLst>
        </p:cNvPr>
        <p:cNvGrpSpPr/>
        <p:nvPr/>
      </p:nvGrpSpPr>
      <p:grpSpPr>
        <a:xfrm>
          <a:off x="0" y="0"/>
          <a:ext cx="0" cy="0"/>
          <a:chOff x="0" y="0"/>
          <a:chExt cx="0" cy="0"/>
        </a:xfrm>
      </p:grpSpPr>
      <p:sp>
        <p:nvSpPr>
          <p:cNvPr id="2" name="TextBox 7">
            <a:extLst>
              <a:ext uri="{FF2B5EF4-FFF2-40B4-BE49-F238E27FC236}">
                <a16:creationId xmlns:a16="http://schemas.microsoft.com/office/drawing/2014/main" id="{4CCB394A-5F6E-2A27-48CC-F9F9673348AB}"/>
              </a:ext>
            </a:extLst>
          </p:cNvPr>
          <p:cNvSpPr txBox="1"/>
          <p:nvPr/>
        </p:nvSpPr>
        <p:spPr>
          <a:xfrm>
            <a:off x="9927635" y="5762420"/>
            <a:ext cx="2090053" cy="646334"/>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70C0"/>
                </a:solidFill>
                <a:uFillTx/>
                <a:latin typeface="Aptos"/>
              </a:rPr>
              <a:t>Brian King</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70C0"/>
                </a:solidFill>
                <a:uFillTx/>
                <a:latin typeface="Aptos"/>
              </a:rPr>
              <a:t>MetAGInsp</a:t>
            </a:r>
          </a:p>
        </p:txBody>
      </p:sp>
      <p:sp>
        <p:nvSpPr>
          <p:cNvPr id="3" name="TextBox 8">
            <a:extLst>
              <a:ext uri="{FF2B5EF4-FFF2-40B4-BE49-F238E27FC236}">
                <a16:creationId xmlns:a16="http://schemas.microsoft.com/office/drawing/2014/main" id="{CA169745-6E21-E6DE-CE9E-F5DDEC97BD45}"/>
              </a:ext>
            </a:extLst>
          </p:cNvPr>
          <p:cNvSpPr txBox="1"/>
          <p:nvPr/>
        </p:nvSpPr>
        <p:spPr>
          <a:xfrm>
            <a:off x="816431" y="3762637"/>
            <a:ext cx="10156231" cy="230831"/>
          </a:xfrm>
          <a:prstGeom prst="rect">
            <a:avLst/>
          </a:prstGeom>
          <a:noFill/>
          <a:ln cap="flat">
            <a:noFill/>
          </a:ln>
        </p:spPr>
        <p:txBody>
          <a:bodyPr vert="horz" wrap="square" lIns="91440" tIns="45720" rIns="91440" bIns="45720" anchor="t" anchorCtr="0" compatLnSpc="1">
            <a:spAutoFit/>
          </a:bodyPr>
          <a:lstStyle/>
          <a:p>
            <a:pPr marL="457200" marR="0" lvl="1"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dirty="0">
                <a:solidFill>
                  <a:srgbClr val="000000"/>
                </a:solidFill>
                <a:uFillTx/>
                <a:latin typeface="Aptos"/>
              </a:rPr>
              <a:t> </a:t>
            </a:r>
          </a:p>
        </p:txBody>
      </p:sp>
      <p:sp>
        <p:nvSpPr>
          <p:cNvPr id="4" name="TextBox 9">
            <a:extLst>
              <a:ext uri="{FF2B5EF4-FFF2-40B4-BE49-F238E27FC236}">
                <a16:creationId xmlns:a16="http://schemas.microsoft.com/office/drawing/2014/main" id="{70963A00-BE39-2CBF-C16F-A557C28F1654}"/>
              </a:ext>
            </a:extLst>
          </p:cNvPr>
          <p:cNvSpPr txBox="1"/>
          <p:nvPr/>
        </p:nvSpPr>
        <p:spPr>
          <a:xfrm>
            <a:off x="2427238" y="5716252"/>
            <a:ext cx="7206340" cy="369335"/>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Aptos"/>
              </a:rPr>
              <a:t>. </a:t>
            </a:r>
          </a:p>
        </p:txBody>
      </p:sp>
      <p:pic>
        <p:nvPicPr>
          <p:cNvPr id="5" name="Picture 8" descr="A person in a robe&#10;&#10;AI-generated content may be incorrect.">
            <a:extLst>
              <a:ext uri="{FF2B5EF4-FFF2-40B4-BE49-F238E27FC236}">
                <a16:creationId xmlns:a16="http://schemas.microsoft.com/office/drawing/2014/main" id="{FA9F3225-9D8C-863E-BD6B-6B485076FAAA}"/>
              </a:ext>
            </a:extLst>
          </p:cNvPr>
          <p:cNvPicPr>
            <a:picLocks noChangeAspect="1"/>
          </p:cNvPicPr>
          <p:nvPr/>
        </p:nvPicPr>
        <p:blipFill>
          <a:blip r:embed="rId3"/>
          <a:stretch>
            <a:fillRect/>
          </a:stretch>
        </p:blipFill>
        <p:spPr>
          <a:xfrm>
            <a:off x="9927635" y="3429000"/>
            <a:ext cx="1938142" cy="2245026"/>
          </a:xfrm>
          <a:prstGeom prst="rect">
            <a:avLst/>
          </a:prstGeom>
          <a:noFill/>
          <a:ln cap="flat">
            <a:noFill/>
          </a:ln>
        </p:spPr>
      </p:pic>
      <p:sp>
        <p:nvSpPr>
          <p:cNvPr id="11" name="TextBox 10">
            <a:extLst>
              <a:ext uri="{FF2B5EF4-FFF2-40B4-BE49-F238E27FC236}">
                <a16:creationId xmlns:a16="http://schemas.microsoft.com/office/drawing/2014/main" id="{D182FD6D-A095-94CE-36EE-992DB7E69AAC}"/>
              </a:ext>
            </a:extLst>
          </p:cNvPr>
          <p:cNvSpPr txBox="1"/>
          <p:nvPr/>
        </p:nvSpPr>
        <p:spPr>
          <a:xfrm>
            <a:off x="4079138" y="2246836"/>
            <a:ext cx="3630816" cy="2185214"/>
          </a:xfrm>
          <a:prstGeom prst="rect">
            <a:avLst/>
          </a:prstGeom>
          <a:noFill/>
        </p:spPr>
        <p:txBody>
          <a:bodyPr wrap="square" rtlCol="0">
            <a:spAutoFit/>
          </a:bodyPr>
          <a:lstStyle/>
          <a:p>
            <a:pPr algn="ctr"/>
            <a:r>
              <a:rPr lang="en-GB" sz="2800" b="1" dirty="0"/>
              <a:t> </a:t>
            </a:r>
          </a:p>
          <a:p>
            <a:pPr algn="ctr"/>
            <a:r>
              <a:rPr lang="en-GB" sz="3600" b="1" dirty="0"/>
              <a:t>VISITING</a:t>
            </a:r>
            <a:br>
              <a:rPr lang="en-GB" sz="3600" b="1" dirty="0"/>
            </a:br>
            <a:r>
              <a:rPr lang="en-GB" sz="3600" b="1" dirty="0"/>
              <a:t>OFFICER MEETING</a:t>
            </a:r>
          </a:p>
        </p:txBody>
      </p:sp>
    </p:spTree>
    <p:extLst>
      <p:ext uri="{BB962C8B-B14F-4D97-AF65-F5344CB8AC3E}">
        <p14:creationId xmlns:p14="http://schemas.microsoft.com/office/powerpoint/2010/main" val="2147520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5175-B667-7125-8B18-C9E4798BD80D}"/>
            </a:ext>
          </a:extLst>
        </p:cNvPr>
        <p:cNvGrpSpPr/>
        <p:nvPr/>
      </p:nvGrpSpPr>
      <p:grpSpPr>
        <a:xfrm>
          <a:off x="0" y="0"/>
          <a:ext cx="0" cy="0"/>
          <a:chOff x="0" y="0"/>
          <a:chExt cx="0" cy="0"/>
        </a:xfrm>
      </p:grpSpPr>
      <p:sp>
        <p:nvSpPr>
          <p:cNvPr id="3" name="TextBox 8">
            <a:extLst>
              <a:ext uri="{FF2B5EF4-FFF2-40B4-BE49-F238E27FC236}">
                <a16:creationId xmlns:a16="http://schemas.microsoft.com/office/drawing/2014/main" id="{96690C5E-F2E2-B71B-40EB-DE5FA4760AF7}"/>
              </a:ext>
            </a:extLst>
          </p:cNvPr>
          <p:cNvSpPr txBox="1"/>
          <p:nvPr/>
        </p:nvSpPr>
        <p:spPr>
          <a:xfrm>
            <a:off x="816431" y="3762637"/>
            <a:ext cx="10156231" cy="230831"/>
          </a:xfrm>
          <a:prstGeom prst="rect">
            <a:avLst/>
          </a:prstGeom>
          <a:noFill/>
          <a:ln cap="flat">
            <a:noFill/>
          </a:ln>
        </p:spPr>
        <p:txBody>
          <a:bodyPr vert="horz" wrap="square" lIns="91440" tIns="45720" rIns="91440" bIns="45720" anchor="t" anchorCtr="0" compatLnSpc="1">
            <a:spAutoFit/>
          </a:bodyPr>
          <a:lstStyle/>
          <a:p>
            <a:pPr marL="457200" marR="0" lvl="1"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dirty="0">
                <a:solidFill>
                  <a:srgbClr val="000000"/>
                </a:solidFill>
                <a:uFillTx/>
                <a:latin typeface="Aptos"/>
              </a:rPr>
              <a:t> </a:t>
            </a:r>
          </a:p>
        </p:txBody>
      </p:sp>
      <p:sp>
        <p:nvSpPr>
          <p:cNvPr id="4" name="TextBox 9">
            <a:extLst>
              <a:ext uri="{FF2B5EF4-FFF2-40B4-BE49-F238E27FC236}">
                <a16:creationId xmlns:a16="http://schemas.microsoft.com/office/drawing/2014/main" id="{86AC6158-1424-EC64-C857-258DCE0E3C2A}"/>
              </a:ext>
            </a:extLst>
          </p:cNvPr>
          <p:cNvSpPr txBox="1"/>
          <p:nvPr/>
        </p:nvSpPr>
        <p:spPr>
          <a:xfrm>
            <a:off x="2427238" y="5716252"/>
            <a:ext cx="7206340" cy="369335"/>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Aptos"/>
              </a:rPr>
              <a:t>. </a:t>
            </a:r>
          </a:p>
        </p:txBody>
      </p:sp>
      <p:grpSp>
        <p:nvGrpSpPr>
          <p:cNvPr id="13" name="Group 12">
            <a:extLst>
              <a:ext uri="{FF2B5EF4-FFF2-40B4-BE49-F238E27FC236}">
                <a16:creationId xmlns:a16="http://schemas.microsoft.com/office/drawing/2014/main" id="{9B38912A-D103-A312-6CD6-1CFBC5CD097A}"/>
              </a:ext>
            </a:extLst>
          </p:cNvPr>
          <p:cNvGrpSpPr/>
          <p:nvPr/>
        </p:nvGrpSpPr>
        <p:grpSpPr>
          <a:xfrm>
            <a:off x="2581152" y="1310643"/>
            <a:ext cx="6898512" cy="2788909"/>
            <a:chOff x="2894579" y="1594808"/>
            <a:chExt cx="5731510" cy="1950720"/>
          </a:xfrm>
        </p:grpSpPr>
        <p:pic>
          <p:nvPicPr>
            <p:cNvPr id="6" name="Picture 5">
              <a:extLst>
                <a:ext uri="{FF2B5EF4-FFF2-40B4-BE49-F238E27FC236}">
                  <a16:creationId xmlns:a16="http://schemas.microsoft.com/office/drawing/2014/main" id="{B39F25B8-B7D2-078A-40F1-B969307EE518}"/>
                </a:ext>
              </a:extLst>
            </p:cNvPr>
            <p:cNvPicPr>
              <a:picLocks noChangeAspect="1"/>
            </p:cNvPicPr>
            <p:nvPr/>
          </p:nvPicPr>
          <p:blipFill>
            <a:blip r:embed="rId3"/>
            <a:srcRect/>
            <a:stretch>
              <a:fillRect/>
            </a:stretch>
          </p:blipFill>
          <p:spPr bwMode="auto">
            <a:xfrm>
              <a:off x="2894579" y="1594808"/>
              <a:ext cx="5731510" cy="1950720"/>
            </a:xfrm>
            <a:prstGeom prst="rect">
              <a:avLst/>
            </a:prstGeom>
            <a:noFill/>
            <a:ln w="9525">
              <a:noFill/>
              <a:miter lim="800000"/>
              <a:headEnd/>
              <a:tailEnd/>
            </a:ln>
          </p:spPr>
        </p:pic>
        <p:sp>
          <p:nvSpPr>
            <p:cNvPr id="11" name="Oval 10">
              <a:extLst>
                <a:ext uri="{FF2B5EF4-FFF2-40B4-BE49-F238E27FC236}">
                  <a16:creationId xmlns:a16="http://schemas.microsoft.com/office/drawing/2014/main" id="{6007B24C-C4DA-1B8F-5FD7-329D7D1E8B4D}"/>
                </a:ext>
              </a:extLst>
            </p:cNvPr>
            <p:cNvSpPr/>
            <p:nvPr/>
          </p:nvSpPr>
          <p:spPr>
            <a:xfrm>
              <a:off x="5347504" y="2743200"/>
              <a:ext cx="162045" cy="1504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4" name="TextBox 13">
            <a:extLst>
              <a:ext uri="{FF2B5EF4-FFF2-40B4-BE49-F238E27FC236}">
                <a16:creationId xmlns:a16="http://schemas.microsoft.com/office/drawing/2014/main" id="{E43A811D-03F8-A6E2-6214-9A8CDEF7E171}"/>
              </a:ext>
            </a:extLst>
          </p:cNvPr>
          <p:cNvSpPr txBox="1"/>
          <p:nvPr/>
        </p:nvSpPr>
        <p:spPr>
          <a:xfrm>
            <a:off x="3942142" y="4443325"/>
            <a:ext cx="4176532" cy="1384995"/>
          </a:xfrm>
          <a:prstGeom prst="rect">
            <a:avLst/>
          </a:prstGeom>
          <a:noFill/>
        </p:spPr>
        <p:txBody>
          <a:bodyPr wrap="square" rtlCol="0">
            <a:spAutoFit/>
          </a:bodyPr>
          <a:lstStyle/>
          <a:p>
            <a:pPr algn="ctr"/>
            <a:r>
              <a:rPr lang="en-GB" sz="2800" b="1" dirty="0"/>
              <a:t>OUR NEXT STEP</a:t>
            </a:r>
          </a:p>
          <a:p>
            <a:pPr algn="ctr"/>
            <a:r>
              <a:rPr lang="en-GB" sz="2800" i="1" dirty="0"/>
              <a:t>VOs </a:t>
            </a:r>
            <a:r>
              <a:rPr lang="en-GB" sz="2800" b="1" i="1" dirty="0"/>
              <a:t>directly</a:t>
            </a:r>
            <a:r>
              <a:rPr lang="en-GB" sz="2800" i="1" dirty="0"/>
              <a:t> responsible</a:t>
            </a:r>
          </a:p>
          <a:p>
            <a:pPr algn="ctr"/>
            <a:r>
              <a:rPr lang="en-GB" sz="2800" i="1" dirty="0"/>
              <a:t>for helping Lodges Grow</a:t>
            </a:r>
          </a:p>
        </p:txBody>
      </p:sp>
      <p:sp>
        <p:nvSpPr>
          <p:cNvPr id="2" name="TextBox 1">
            <a:extLst>
              <a:ext uri="{FF2B5EF4-FFF2-40B4-BE49-F238E27FC236}">
                <a16:creationId xmlns:a16="http://schemas.microsoft.com/office/drawing/2014/main" id="{95E32318-7F30-2CE9-CA88-EE4406592FC2}"/>
              </a:ext>
            </a:extLst>
          </p:cNvPr>
          <p:cNvSpPr txBox="1"/>
          <p:nvPr/>
        </p:nvSpPr>
        <p:spPr>
          <a:xfrm>
            <a:off x="3926767" y="772413"/>
            <a:ext cx="3603586" cy="523220"/>
          </a:xfrm>
          <a:prstGeom prst="rect">
            <a:avLst/>
          </a:prstGeom>
          <a:noFill/>
        </p:spPr>
        <p:txBody>
          <a:bodyPr wrap="square" rtlCol="0">
            <a:spAutoFit/>
          </a:bodyPr>
          <a:lstStyle/>
          <a:p>
            <a:r>
              <a:rPr lang="en-GB" sz="2800" b="1" dirty="0"/>
              <a:t>OUR PURPOSE 2025</a:t>
            </a:r>
          </a:p>
        </p:txBody>
      </p:sp>
    </p:spTree>
    <p:extLst>
      <p:ext uri="{BB962C8B-B14F-4D97-AF65-F5344CB8AC3E}">
        <p14:creationId xmlns:p14="http://schemas.microsoft.com/office/powerpoint/2010/main" val="358646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11383B-55F8-3CC5-5F7C-006E3DD8CE0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352AA8FE-5CB4-C356-5E90-1E733E459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2" name="Picture 1">
            <a:extLst>
              <a:ext uri="{FF2B5EF4-FFF2-40B4-BE49-F238E27FC236}">
                <a16:creationId xmlns:a16="http://schemas.microsoft.com/office/drawing/2014/main" id="{99AFD70A-BD3E-2442-44A4-4B0BEAB9FFA0}"/>
              </a:ext>
            </a:extLst>
          </p:cNvPr>
          <p:cNvPicPr>
            <a:picLocks noChangeAspect="1"/>
          </p:cNvPicPr>
          <p:nvPr/>
        </p:nvPicPr>
        <p:blipFill>
          <a:blip r:embed="rId3"/>
          <a:stretch>
            <a:fillRect/>
          </a:stretch>
        </p:blipFill>
        <p:spPr>
          <a:xfrm>
            <a:off x="1886789" y="85139"/>
            <a:ext cx="8416897" cy="6687722"/>
          </a:xfrm>
          <a:prstGeom prst="rect">
            <a:avLst/>
          </a:prstGeom>
        </p:spPr>
      </p:pic>
      <p:sp>
        <p:nvSpPr>
          <p:cNvPr id="6" name="TextBox 5">
            <a:extLst>
              <a:ext uri="{FF2B5EF4-FFF2-40B4-BE49-F238E27FC236}">
                <a16:creationId xmlns:a16="http://schemas.microsoft.com/office/drawing/2014/main" id="{7FB9B3B0-39AF-F2D7-0BC1-CC312DF05E6A}"/>
              </a:ext>
            </a:extLst>
          </p:cNvPr>
          <p:cNvSpPr txBox="1"/>
          <p:nvPr/>
        </p:nvSpPr>
        <p:spPr>
          <a:xfrm>
            <a:off x="0" y="291142"/>
            <a:ext cx="3773579" cy="954107"/>
          </a:xfrm>
          <a:prstGeom prst="rect">
            <a:avLst/>
          </a:prstGeom>
          <a:noFill/>
        </p:spPr>
        <p:txBody>
          <a:bodyPr wrap="square" rtlCol="0">
            <a:spAutoFit/>
          </a:bodyPr>
          <a:lstStyle/>
          <a:p>
            <a:pPr algn="ctr"/>
            <a:r>
              <a:rPr lang="en-GB" sz="2800" b="1" dirty="0"/>
              <a:t>We built our organisation</a:t>
            </a:r>
          </a:p>
        </p:txBody>
      </p:sp>
    </p:spTree>
    <p:extLst>
      <p:ext uri="{BB962C8B-B14F-4D97-AF65-F5344CB8AC3E}">
        <p14:creationId xmlns:p14="http://schemas.microsoft.com/office/powerpoint/2010/main" val="3942938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6F0D0F-FDB3-0D90-2EFE-5ED79002CD6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57941D55-6464-49E0-1CFE-5E506DF62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 name="TextBox 5">
            <a:extLst>
              <a:ext uri="{FF2B5EF4-FFF2-40B4-BE49-F238E27FC236}">
                <a16:creationId xmlns:a16="http://schemas.microsoft.com/office/drawing/2014/main" id="{F710E03B-6A98-30CD-C685-D893D66B3405}"/>
              </a:ext>
            </a:extLst>
          </p:cNvPr>
          <p:cNvSpPr txBox="1"/>
          <p:nvPr/>
        </p:nvSpPr>
        <p:spPr>
          <a:xfrm>
            <a:off x="3150243" y="415804"/>
            <a:ext cx="5891514" cy="523220"/>
          </a:xfrm>
          <a:prstGeom prst="rect">
            <a:avLst/>
          </a:prstGeom>
          <a:noFill/>
        </p:spPr>
        <p:txBody>
          <a:bodyPr wrap="square" rtlCol="0">
            <a:spAutoFit/>
          </a:bodyPr>
          <a:lstStyle/>
          <a:p>
            <a:pPr algn="ctr"/>
            <a:r>
              <a:rPr lang="en-GB" sz="2800" b="1" dirty="0"/>
              <a:t>We Built our Plan</a:t>
            </a:r>
          </a:p>
        </p:txBody>
      </p:sp>
      <p:pic>
        <p:nvPicPr>
          <p:cNvPr id="3" name="Picture 2">
            <a:extLst>
              <a:ext uri="{FF2B5EF4-FFF2-40B4-BE49-F238E27FC236}">
                <a16:creationId xmlns:a16="http://schemas.microsoft.com/office/drawing/2014/main" id="{4E547BBB-4996-B654-71E4-CF67C17506BC}"/>
              </a:ext>
            </a:extLst>
          </p:cNvPr>
          <p:cNvPicPr>
            <a:picLocks noChangeAspect="1"/>
          </p:cNvPicPr>
          <p:nvPr/>
        </p:nvPicPr>
        <p:blipFill>
          <a:blip r:embed="rId3"/>
          <a:stretch>
            <a:fillRect/>
          </a:stretch>
        </p:blipFill>
        <p:spPr>
          <a:xfrm>
            <a:off x="189142" y="1354828"/>
            <a:ext cx="11813716" cy="5000263"/>
          </a:xfrm>
          <a:prstGeom prst="rect">
            <a:avLst/>
          </a:prstGeom>
        </p:spPr>
      </p:pic>
    </p:spTree>
    <p:extLst>
      <p:ext uri="{BB962C8B-B14F-4D97-AF65-F5344CB8AC3E}">
        <p14:creationId xmlns:p14="http://schemas.microsoft.com/office/powerpoint/2010/main" val="2751039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7854D-948E-80F5-CBC3-8572D8FA44B9}"/>
            </a:ext>
          </a:extLst>
        </p:cNvPr>
        <p:cNvGrpSpPr/>
        <p:nvPr/>
      </p:nvGrpSpPr>
      <p:grpSpPr>
        <a:xfrm>
          <a:off x="0" y="0"/>
          <a:ext cx="0" cy="0"/>
          <a:chOff x="0" y="0"/>
          <a:chExt cx="0" cy="0"/>
        </a:xfrm>
      </p:grpSpPr>
      <p:sp>
        <p:nvSpPr>
          <p:cNvPr id="3" name="TextBox 8">
            <a:extLst>
              <a:ext uri="{FF2B5EF4-FFF2-40B4-BE49-F238E27FC236}">
                <a16:creationId xmlns:a16="http://schemas.microsoft.com/office/drawing/2014/main" id="{B2280BE8-6281-C8A8-F5AC-EFBE9C1D7093}"/>
              </a:ext>
            </a:extLst>
          </p:cNvPr>
          <p:cNvSpPr txBox="1"/>
          <p:nvPr/>
        </p:nvSpPr>
        <p:spPr>
          <a:xfrm>
            <a:off x="816431" y="3762637"/>
            <a:ext cx="10156231" cy="230831"/>
          </a:xfrm>
          <a:prstGeom prst="rect">
            <a:avLst/>
          </a:prstGeom>
          <a:noFill/>
          <a:ln cap="flat">
            <a:noFill/>
          </a:ln>
        </p:spPr>
        <p:txBody>
          <a:bodyPr vert="horz" wrap="square" lIns="91440" tIns="45720" rIns="91440" bIns="45720" anchor="t" anchorCtr="0" compatLnSpc="1">
            <a:spAutoFit/>
          </a:bodyPr>
          <a:lstStyle/>
          <a:p>
            <a:pPr marL="457200" marR="0" lvl="1"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dirty="0">
                <a:solidFill>
                  <a:srgbClr val="000000"/>
                </a:solidFill>
                <a:uFillTx/>
                <a:latin typeface="Aptos"/>
              </a:rPr>
              <a:t> </a:t>
            </a:r>
          </a:p>
        </p:txBody>
      </p:sp>
      <p:sp>
        <p:nvSpPr>
          <p:cNvPr id="4" name="TextBox 9">
            <a:extLst>
              <a:ext uri="{FF2B5EF4-FFF2-40B4-BE49-F238E27FC236}">
                <a16:creationId xmlns:a16="http://schemas.microsoft.com/office/drawing/2014/main" id="{0242191C-7B97-B3BA-1B86-3A7E9ECE399D}"/>
              </a:ext>
            </a:extLst>
          </p:cNvPr>
          <p:cNvSpPr txBox="1"/>
          <p:nvPr/>
        </p:nvSpPr>
        <p:spPr>
          <a:xfrm>
            <a:off x="2427238" y="5716252"/>
            <a:ext cx="7206340" cy="369335"/>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Aptos"/>
              </a:rPr>
              <a:t>. </a:t>
            </a:r>
          </a:p>
        </p:txBody>
      </p:sp>
      <p:sp>
        <p:nvSpPr>
          <p:cNvPr id="5" name="TextBox 4">
            <a:extLst>
              <a:ext uri="{FF2B5EF4-FFF2-40B4-BE49-F238E27FC236}">
                <a16:creationId xmlns:a16="http://schemas.microsoft.com/office/drawing/2014/main" id="{1E4C50DF-09D9-5CF6-DC73-0230D6BC6FDB}"/>
              </a:ext>
            </a:extLst>
          </p:cNvPr>
          <p:cNvSpPr txBox="1"/>
          <p:nvPr/>
        </p:nvSpPr>
        <p:spPr>
          <a:xfrm>
            <a:off x="1797517" y="75799"/>
            <a:ext cx="8816467" cy="584775"/>
          </a:xfrm>
          <a:prstGeom prst="rect">
            <a:avLst/>
          </a:prstGeom>
          <a:noFill/>
        </p:spPr>
        <p:txBody>
          <a:bodyPr wrap="square" rtlCol="0">
            <a:spAutoFit/>
          </a:bodyPr>
          <a:lstStyle/>
          <a:p>
            <a:r>
              <a:rPr lang="en-GB" sz="3200" b="1" dirty="0"/>
              <a:t>Lodge Membership Numbers – a reality check</a:t>
            </a:r>
          </a:p>
        </p:txBody>
      </p:sp>
      <p:grpSp>
        <p:nvGrpSpPr>
          <p:cNvPr id="7" name="Group 6">
            <a:extLst>
              <a:ext uri="{FF2B5EF4-FFF2-40B4-BE49-F238E27FC236}">
                <a16:creationId xmlns:a16="http://schemas.microsoft.com/office/drawing/2014/main" id="{B6FEA600-7528-23E5-80EE-A0DD84CDA640}"/>
              </a:ext>
            </a:extLst>
          </p:cNvPr>
          <p:cNvGrpSpPr/>
          <p:nvPr/>
        </p:nvGrpSpPr>
        <p:grpSpPr>
          <a:xfrm>
            <a:off x="32786" y="877582"/>
            <a:ext cx="12126427" cy="5612231"/>
            <a:chOff x="32786" y="877582"/>
            <a:chExt cx="12126427" cy="5612231"/>
          </a:xfrm>
        </p:grpSpPr>
        <p:pic>
          <p:nvPicPr>
            <p:cNvPr id="6" name="Picture 5">
              <a:extLst>
                <a:ext uri="{FF2B5EF4-FFF2-40B4-BE49-F238E27FC236}">
                  <a16:creationId xmlns:a16="http://schemas.microsoft.com/office/drawing/2014/main" id="{AADF89AF-8FE6-D8F6-4453-9B7F598685CF}"/>
                </a:ext>
              </a:extLst>
            </p:cNvPr>
            <p:cNvPicPr>
              <a:picLocks noChangeAspect="1"/>
            </p:cNvPicPr>
            <p:nvPr/>
          </p:nvPicPr>
          <p:blipFill>
            <a:blip r:embed="rId3"/>
            <a:stretch>
              <a:fillRect/>
            </a:stretch>
          </p:blipFill>
          <p:spPr>
            <a:xfrm>
              <a:off x="65573" y="1658869"/>
              <a:ext cx="12060854" cy="4830944"/>
            </a:xfrm>
            <a:prstGeom prst="rect">
              <a:avLst/>
            </a:prstGeom>
          </p:spPr>
        </p:pic>
        <p:pic>
          <p:nvPicPr>
            <p:cNvPr id="8" name="Picture 7">
              <a:extLst>
                <a:ext uri="{FF2B5EF4-FFF2-40B4-BE49-F238E27FC236}">
                  <a16:creationId xmlns:a16="http://schemas.microsoft.com/office/drawing/2014/main" id="{3E085288-7CA0-29C0-5BE7-876E7447C868}"/>
                </a:ext>
              </a:extLst>
            </p:cNvPr>
            <p:cNvPicPr>
              <a:picLocks noChangeAspect="1"/>
            </p:cNvPicPr>
            <p:nvPr/>
          </p:nvPicPr>
          <p:blipFill>
            <a:blip r:embed="rId4"/>
            <a:stretch>
              <a:fillRect/>
            </a:stretch>
          </p:blipFill>
          <p:spPr>
            <a:xfrm>
              <a:off x="32786" y="877582"/>
              <a:ext cx="12126427" cy="781287"/>
            </a:xfrm>
            <a:prstGeom prst="rect">
              <a:avLst/>
            </a:prstGeom>
          </p:spPr>
        </p:pic>
      </p:grpSp>
      <p:sp>
        <p:nvSpPr>
          <p:cNvPr id="9" name="Rectangle 8">
            <a:extLst>
              <a:ext uri="{FF2B5EF4-FFF2-40B4-BE49-F238E27FC236}">
                <a16:creationId xmlns:a16="http://schemas.microsoft.com/office/drawing/2014/main" id="{0F7EE373-2C1D-316D-617F-207EEAF349A7}"/>
              </a:ext>
            </a:extLst>
          </p:cNvPr>
          <p:cNvSpPr/>
          <p:nvPr/>
        </p:nvSpPr>
        <p:spPr>
          <a:xfrm>
            <a:off x="3809543" y="2967335"/>
            <a:ext cx="4572919"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To be updated</a:t>
            </a:r>
          </a:p>
        </p:txBody>
      </p:sp>
    </p:spTree>
    <p:extLst>
      <p:ext uri="{BB962C8B-B14F-4D97-AF65-F5344CB8AC3E}">
        <p14:creationId xmlns:p14="http://schemas.microsoft.com/office/powerpoint/2010/main" val="1461243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478D16-B276-B874-F9AC-B139D1A50B39}"/>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80C28278-FC2E-A742-90E9-58C0FD9A0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 name="TextBox 5">
            <a:extLst>
              <a:ext uri="{FF2B5EF4-FFF2-40B4-BE49-F238E27FC236}">
                <a16:creationId xmlns:a16="http://schemas.microsoft.com/office/drawing/2014/main" id="{8C356F91-F77F-5BE9-983A-7368BC45490A}"/>
              </a:ext>
            </a:extLst>
          </p:cNvPr>
          <p:cNvSpPr txBox="1"/>
          <p:nvPr/>
        </p:nvSpPr>
        <p:spPr>
          <a:xfrm>
            <a:off x="555585" y="308581"/>
            <a:ext cx="5891514" cy="646331"/>
          </a:xfrm>
          <a:prstGeom prst="rect">
            <a:avLst/>
          </a:prstGeom>
          <a:noFill/>
        </p:spPr>
        <p:txBody>
          <a:bodyPr wrap="square" rtlCol="0">
            <a:spAutoFit/>
          </a:bodyPr>
          <a:lstStyle/>
          <a:p>
            <a:pPr algn="ctr"/>
            <a:r>
              <a:rPr lang="en-GB" sz="3600" b="1" dirty="0"/>
              <a:t>Our achievements in 2025</a:t>
            </a:r>
          </a:p>
        </p:txBody>
      </p:sp>
      <p:pic>
        <p:nvPicPr>
          <p:cNvPr id="3" name="Picture 2">
            <a:extLst>
              <a:ext uri="{FF2B5EF4-FFF2-40B4-BE49-F238E27FC236}">
                <a16:creationId xmlns:a16="http://schemas.microsoft.com/office/drawing/2014/main" id="{3CB50F3B-4AFD-0408-EB6B-6918021737CA}"/>
              </a:ext>
            </a:extLst>
          </p:cNvPr>
          <p:cNvPicPr>
            <a:picLocks noChangeAspect="1"/>
          </p:cNvPicPr>
          <p:nvPr/>
        </p:nvPicPr>
        <p:blipFill>
          <a:blip r:embed="rId3"/>
          <a:stretch>
            <a:fillRect/>
          </a:stretch>
        </p:blipFill>
        <p:spPr>
          <a:xfrm>
            <a:off x="316419" y="1180618"/>
            <a:ext cx="11640185" cy="5451676"/>
          </a:xfrm>
          <a:prstGeom prst="rect">
            <a:avLst/>
          </a:prstGeom>
          <a:solidFill>
            <a:schemeClr val="tx2">
              <a:lumMod val="10000"/>
              <a:lumOff val="90000"/>
            </a:schemeClr>
          </a:solidFill>
        </p:spPr>
      </p:pic>
      <p:grpSp>
        <p:nvGrpSpPr>
          <p:cNvPr id="9" name="Group 8">
            <a:extLst>
              <a:ext uri="{FF2B5EF4-FFF2-40B4-BE49-F238E27FC236}">
                <a16:creationId xmlns:a16="http://schemas.microsoft.com/office/drawing/2014/main" id="{61B36F16-574B-CFE0-7C38-0831EB1C6AA4}"/>
              </a:ext>
            </a:extLst>
          </p:cNvPr>
          <p:cNvGrpSpPr/>
          <p:nvPr/>
        </p:nvGrpSpPr>
        <p:grpSpPr>
          <a:xfrm>
            <a:off x="1857999" y="2937075"/>
            <a:ext cx="2367024" cy="1938762"/>
            <a:chOff x="9442109" y="1813265"/>
            <a:chExt cx="2367024" cy="1938762"/>
          </a:xfrm>
          <a:solidFill>
            <a:srgbClr val="FFC000"/>
          </a:solidFill>
        </p:grpSpPr>
        <p:sp>
          <p:nvSpPr>
            <p:cNvPr id="8" name="Arrow: Right 7">
              <a:extLst>
                <a:ext uri="{FF2B5EF4-FFF2-40B4-BE49-F238E27FC236}">
                  <a16:creationId xmlns:a16="http://schemas.microsoft.com/office/drawing/2014/main" id="{DC267D02-021C-AB8C-54F6-B2E37A46F72D}"/>
                </a:ext>
              </a:extLst>
            </p:cNvPr>
            <p:cNvSpPr/>
            <p:nvPr/>
          </p:nvSpPr>
          <p:spPr>
            <a:xfrm rot="5400000">
              <a:off x="9656240" y="1599134"/>
              <a:ext cx="1938762" cy="2367024"/>
            </a:xfrm>
            <a:prstGeom prst="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F70A4C2-6D4A-CD4B-D32E-2290B54329AD}"/>
                </a:ext>
              </a:extLst>
            </p:cNvPr>
            <p:cNvSpPr txBox="1"/>
            <p:nvPr/>
          </p:nvSpPr>
          <p:spPr>
            <a:xfrm>
              <a:off x="10014960" y="1980336"/>
              <a:ext cx="1235632" cy="707886"/>
            </a:xfrm>
            <a:prstGeom prst="rect">
              <a:avLst/>
            </a:prstGeom>
            <a:grpFill/>
          </p:spPr>
          <p:txBody>
            <a:bodyPr wrap="square" rtlCol="0">
              <a:spAutoFit/>
            </a:bodyPr>
            <a:lstStyle/>
            <a:p>
              <a:r>
                <a:rPr lang="en-GB" sz="4000" b="1" dirty="0"/>
                <a:t>38%</a:t>
              </a:r>
            </a:p>
          </p:txBody>
        </p:sp>
      </p:grpSp>
      <p:grpSp>
        <p:nvGrpSpPr>
          <p:cNvPr id="13" name="Group 12">
            <a:extLst>
              <a:ext uri="{FF2B5EF4-FFF2-40B4-BE49-F238E27FC236}">
                <a16:creationId xmlns:a16="http://schemas.microsoft.com/office/drawing/2014/main" id="{CEA94707-211A-D210-3E4D-8A4DEB8707CB}"/>
              </a:ext>
            </a:extLst>
          </p:cNvPr>
          <p:cNvGrpSpPr/>
          <p:nvPr/>
        </p:nvGrpSpPr>
        <p:grpSpPr>
          <a:xfrm>
            <a:off x="6860098" y="4021342"/>
            <a:ext cx="2367024" cy="1938762"/>
            <a:chOff x="9363918" y="1718841"/>
            <a:chExt cx="2367024" cy="1938762"/>
          </a:xfrm>
          <a:solidFill>
            <a:srgbClr val="FF0000"/>
          </a:solidFill>
        </p:grpSpPr>
        <p:sp>
          <p:nvSpPr>
            <p:cNvPr id="14" name="Arrow: Right 13">
              <a:extLst>
                <a:ext uri="{FF2B5EF4-FFF2-40B4-BE49-F238E27FC236}">
                  <a16:creationId xmlns:a16="http://schemas.microsoft.com/office/drawing/2014/main" id="{F729EEEB-34FD-CFD8-DF50-291F3BB85AB9}"/>
                </a:ext>
              </a:extLst>
            </p:cNvPr>
            <p:cNvSpPr/>
            <p:nvPr/>
          </p:nvSpPr>
          <p:spPr>
            <a:xfrm rot="5400000">
              <a:off x="9578049" y="1504710"/>
              <a:ext cx="1938762" cy="2367024"/>
            </a:xfrm>
            <a:prstGeom prst="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42D8A81E-70AF-F21D-0150-390D25CE6E7B}"/>
                </a:ext>
              </a:extLst>
            </p:cNvPr>
            <p:cNvSpPr txBox="1"/>
            <p:nvPr/>
          </p:nvSpPr>
          <p:spPr>
            <a:xfrm>
              <a:off x="10126183" y="1980336"/>
              <a:ext cx="1054294" cy="707886"/>
            </a:xfrm>
            <a:prstGeom prst="rect">
              <a:avLst/>
            </a:prstGeom>
            <a:grpFill/>
          </p:spPr>
          <p:txBody>
            <a:bodyPr wrap="square" rtlCol="0">
              <a:spAutoFit/>
            </a:bodyPr>
            <a:lstStyle/>
            <a:p>
              <a:r>
                <a:rPr lang="en-GB" sz="4000" b="1" dirty="0"/>
                <a:t>0%</a:t>
              </a:r>
            </a:p>
          </p:txBody>
        </p:sp>
      </p:grpSp>
      <p:grpSp>
        <p:nvGrpSpPr>
          <p:cNvPr id="16" name="Group 15">
            <a:extLst>
              <a:ext uri="{FF2B5EF4-FFF2-40B4-BE49-F238E27FC236}">
                <a16:creationId xmlns:a16="http://schemas.microsoft.com/office/drawing/2014/main" id="{6918D3F8-14DE-7EFA-F653-14DA43B55524}"/>
              </a:ext>
            </a:extLst>
          </p:cNvPr>
          <p:cNvGrpSpPr/>
          <p:nvPr/>
        </p:nvGrpSpPr>
        <p:grpSpPr>
          <a:xfrm>
            <a:off x="9760354" y="4537279"/>
            <a:ext cx="2367024" cy="1938762"/>
            <a:chOff x="9363918" y="1718841"/>
            <a:chExt cx="2367024" cy="1938762"/>
          </a:xfrm>
          <a:solidFill>
            <a:srgbClr val="FFC000"/>
          </a:solidFill>
        </p:grpSpPr>
        <p:sp>
          <p:nvSpPr>
            <p:cNvPr id="17" name="Arrow: Right 16">
              <a:extLst>
                <a:ext uri="{FF2B5EF4-FFF2-40B4-BE49-F238E27FC236}">
                  <a16:creationId xmlns:a16="http://schemas.microsoft.com/office/drawing/2014/main" id="{FA92956F-83BA-F75E-6A77-3B4BE4FB6F7A}"/>
                </a:ext>
              </a:extLst>
            </p:cNvPr>
            <p:cNvSpPr/>
            <p:nvPr/>
          </p:nvSpPr>
          <p:spPr>
            <a:xfrm rot="5400000">
              <a:off x="9578049" y="1504710"/>
              <a:ext cx="1938762" cy="2367024"/>
            </a:xfrm>
            <a:prstGeom prst="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EDD38A2D-44D2-F77D-6D76-C06A4EA0F4F0}"/>
                </a:ext>
              </a:extLst>
            </p:cNvPr>
            <p:cNvSpPr txBox="1"/>
            <p:nvPr/>
          </p:nvSpPr>
          <p:spPr>
            <a:xfrm>
              <a:off x="10014960" y="1980336"/>
              <a:ext cx="1235632" cy="707886"/>
            </a:xfrm>
            <a:prstGeom prst="rect">
              <a:avLst/>
            </a:prstGeom>
            <a:grpFill/>
          </p:spPr>
          <p:txBody>
            <a:bodyPr wrap="square" rtlCol="0">
              <a:spAutoFit/>
            </a:bodyPr>
            <a:lstStyle/>
            <a:p>
              <a:r>
                <a:rPr lang="en-GB" sz="4000" b="1" dirty="0"/>
                <a:t>+1</a:t>
              </a:r>
            </a:p>
          </p:txBody>
        </p:sp>
      </p:grpSp>
      <p:grpSp>
        <p:nvGrpSpPr>
          <p:cNvPr id="19" name="Group 18">
            <a:extLst>
              <a:ext uri="{FF2B5EF4-FFF2-40B4-BE49-F238E27FC236}">
                <a16:creationId xmlns:a16="http://schemas.microsoft.com/office/drawing/2014/main" id="{AB04F165-8AD4-DDF9-F3EF-28F22555579F}"/>
              </a:ext>
            </a:extLst>
          </p:cNvPr>
          <p:cNvGrpSpPr/>
          <p:nvPr/>
        </p:nvGrpSpPr>
        <p:grpSpPr>
          <a:xfrm>
            <a:off x="4319953" y="3720298"/>
            <a:ext cx="2367024" cy="1938762"/>
            <a:chOff x="9363918" y="1718841"/>
            <a:chExt cx="2367024" cy="1938762"/>
          </a:xfrm>
          <a:solidFill>
            <a:srgbClr val="FF0000"/>
          </a:solidFill>
        </p:grpSpPr>
        <p:sp>
          <p:nvSpPr>
            <p:cNvPr id="20" name="Arrow: Right 19">
              <a:extLst>
                <a:ext uri="{FF2B5EF4-FFF2-40B4-BE49-F238E27FC236}">
                  <a16:creationId xmlns:a16="http://schemas.microsoft.com/office/drawing/2014/main" id="{011FB3F2-D7EC-2E37-9A31-E391D52AA0C2}"/>
                </a:ext>
              </a:extLst>
            </p:cNvPr>
            <p:cNvSpPr/>
            <p:nvPr/>
          </p:nvSpPr>
          <p:spPr>
            <a:xfrm rot="5400000">
              <a:off x="9578049" y="1504710"/>
              <a:ext cx="1938762" cy="2367024"/>
            </a:xfrm>
            <a:prstGeom prst="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D0D33A75-3C05-76FC-E596-8C475EEFA4EE}"/>
                </a:ext>
              </a:extLst>
            </p:cNvPr>
            <p:cNvSpPr txBox="1"/>
            <p:nvPr/>
          </p:nvSpPr>
          <p:spPr>
            <a:xfrm>
              <a:off x="10126183" y="1980336"/>
              <a:ext cx="1054294" cy="707886"/>
            </a:xfrm>
            <a:prstGeom prst="rect">
              <a:avLst/>
            </a:prstGeom>
            <a:grpFill/>
          </p:spPr>
          <p:txBody>
            <a:bodyPr wrap="square" rtlCol="0">
              <a:spAutoFit/>
            </a:bodyPr>
            <a:lstStyle/>
            <a:p>
              <a:r>
                <a:rPr lang="en-GB" sz="4000" b="1" dirty="0"/>
                <a:t>0%</a:t>
              </a:r>
            </a:p>
          </p:txBody>
        </p:sp>
      </p:grpSp>
    </p:spTree>
    <p:extLst>
      <p:ext uri="{BB962C8B-B14F-4D97-AF65-F5344CB8AC3E}">
        <p14:creationId xmlns:p14="http://schemas.microsoft.com/office/powerpoint/2010/main" val="330838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7272F3-B7D6-C1F9-9276-3A646CFA354D}"/>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D2A292C9-A07B-1AE5-433E-CCAC91E13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 name="TextBox 5">
            <a:extLst>
              <a:ext uri="{FF2B5EF4-FFF2-40B4-BE49-F238E27FC236}">
                <a16:creationId xmlns:a16="http://schemas.microsoft.com/office/drawing/2014/main" id="{0E1FD37D-95BC-6F4F-DF68-265E08A9D840}"/>
              </a:ext>
            </a:extLst>
          </p:cNvPr>
          <p:cNvSpPr txBox="1"/>
          <p:nvPr/>
        </p:nvSpPr>
        <p:spPr>
          <a:xfrm>
            <a:off x="1517729" y="4300537"/>
            <a:ext cx="7456267" cy="593047"/>
          </a:xfrm>
          <a:prstGeom prst="rect">
            <a:avLst/>
          </a:prstGeom>
          <a:noFill/>
        </p:spPr>
        <p:txBody>
          <a:bodyPr wrap="square" rtlCol="0">
            <a:spAutoFit/>
          </a:bodyPr>
          <a:lstStyle/>
          <a:p>
            <a:pPr>
              <a:lnSpc>
                <a:spcPct val="150000"/>
              </a:lnSpc>
            </a:pPr>
            <a:r>
              <a:rPr lang="en-GB" sz="2400" dirty="0"/>
              <a:t>4.   We have not fully exploited MetGL support.</a:t>
            </a:r>
          </a:p>
        </p:txBody>
      </p:sp>
      <p:sp>
        <p:nvSpPr>
          <p:cNvPr id="3" name="TextBox 2">
            <a:extLst>
              <a:ext uri="{FF2B5EF4-FFF2-40B4-BE49-F238E27FC236}">
                <a16:creationId xmlns:a16="http://schemas.microsoft.com/office/drawing/2014/main" id="{66D2D271-DC08-5079-1E97-65F2403A1CC0}"/>
              </a:ext>
            </a:extLst>
          </p:cNvPr>
          <p:cNvSpPr txBox="1"/>
          <p:nvPr/>
        </p:nvSpPr>
        <p:spPr>
          <a:xfrm>
            <a:off x="841094" y="308581"/>
            <a:ext cx="5254906" cy="646331"/>
          </a:xfrm>
          <a:prstGeom prst="rect">
            <a:avLst/>
          </a:prstGeom>
          <a:noFill/>
        </p:spPr>
        <p:txBody>
          <a:bodyPr wrap="square" rtlCol="0">
            <a:spAutoFit/>
          </a:bodyPr>
          <a:lstStyle/>
          <a:p>
            <a:pPr algn="ctr"/>
            <a:r>
              <a:rPr lang="en-GB" sz="3600" b="1" dirty="0"/>
              <a:t>Our Learnings in 2025</a:t>
            </a:r>
          </a:p>
        </p:txBody>
      </p:sp>
      <p:sp>
        <p:nvSpPr>
          <p:cNvPr id="4" name="TextBox 3">
            <a:extLst>
              <a:ext uri="{FF2B5EF4-FFF2-40B4-BE49-F238E27FC236}">
                <a16:creationId xmlns:a16="http://schemas.microsoft.com/office/drawing/2014/main" id="{75E8C7FA-9287-EA76-C2A5-1F4FC6BC4969}"/>
              </a:ext>
            </a:extLst>
          </p:cNvPr>
          <p:cNvSpPr txBox="1"/>
          <p:nvPr/>
        </p:nvSpPr>
        <p:spPr>
          <a:xfrm>
            <a:off x="1517729" y="1233402"/>
            <a:ext cx="9073106" cy="1147045"/>
          </a:xfrm>
          <a:prstGeom prst="rect">
            <a:avLst/>
          </a:prstGeom>
          <a:noFill/>
        </p:spPr>
        <p:txBody>
          <a:bodyPr wrap="square" rtlCol="0">
            <a:spAutoFit/>
          </a:bodyPr>
          <a:lstStyle/>
          <a:p>
            <a:pPr marL="514350" indent="-514350" algn="just">
              <a:lnSpc>
                <a:spcPct val="150000"/>
              </a:lnSpc>
              <a:buFont typeface="+mj-lt"/>
              <a:buAutoNum type="arabicPeriod"/>
            </a:pPr>
            <a:r>
              <a:rPr lang="en-GB" sz="2400" dirty="0"/>
              <a:t>Our vision appears attractive but complex and we have too few customers. We need to better match what Lodges wish to buy.</a:t>
            </a:r>
          </a:p>
        </p:txBody>
      </p:sp>
      <p:sp>
        <p:nvSpPr>
          <p:cNvPr id="9" name="TextBox 8">
            <a:extLst>
              <a:ext uri="{FF2B5EF4-FFF2-40B4-BE49-F238E27FC236}">
                <a16:creationId xmlns:a16="http://schemas.microsoft.com/office/drawing/2014/main" id="{192ECFCF-4A75-4280-7BCD-E86448B2FDC4}"/>
              </a:ext>
            </a:extLst>
          </p:cNvPr>
          <p:cNvSpPr txBox="1"/>
          <p:nvPr/>
        </p:nvSpPr>
        <p:spPr>
          <a:xfrm>
            <a:off x="1517729" y="2658937"/>
            <a:ext cx="8262877" cy="593047"/>
          </a:xfrm>
          <a:prstGeom prst="rect">
            <a:avLst/>
          </a:prstGeom>
          <a:noFill/>
        </p:spPr>
        <p:txBody>
          <a:bodyPr wrap="square" rtlCol="0">
            <a:spAutoFit/>
          </a:bodyPr>
          <a:lstStyle/>
          <a:p>
            <a:pPr marL="514350" indent="-514350" algn="just">
              <a:lnSpc>
                <a:spcPct val="150000"/>
              </a:lnSpc>
              <a:buFont typeface="+mj-lt"/>
              <a:buAutoNum type="arabicPeriod" startAt="2"/>
            </a:pPr>
            <a:r>
              <a:rPr lang="en-GB" sz="2400" dirty="0"/>
              <a:t>Too few VOs have gained the confidence of their Lodges.</a:t>
            </a:r>
          </a:p>
        </p:txBody>
      </p:sp>
      <p:sp>
        <p:nvSpPr>
          <p:cNvPr id="10" name="TextBox 9">
            <a:extLst>
              <a:ext uri="{FF2B5EF4-FFF2-40B4-BE49-F238E27FC236}">
                <a16:creationId xmlns:a16="http://schemas.microsoft.com/office/drawing/2014/main" id="{463E2816-1EC3-C098-4EDB-D1FFE1E1950C}"/>
              </a:ext>
            </a:extLst>
          </p:cNvPr>
          <p:cNvSpPr txBox="1"/>
          <p:nvPr/>
        </p:nvSpPr>
        <p:spPr>
          <a:xfrm>
            <a:off x="1517729" y="3429000"/>
            <a:ext cx="10126402" cy="593047"/>
          </a:xfrm>
          <a:prstGeom prst="rect">
            <a:avLst/>
          </a:prstGeom>
          <a:noFill/>
        </p:spPr>
        <p:txBody>
          <a:bodyPr wrap="square" rtlCol="0">
            <a:spAutoFit/>
          </a:bodyPr>
          <a:lstStyle/>
          <a:p>
            <a:pPr marL="514350" indent="-514350" algn="just">
              <a:lnSpc>
                <a:spcPct val="150000"/>
              </a:lnSpc>
              <a:buFont typeface="+mj-lt"/>
              <a:buAutoNum type="arabicPeriod" startAt="3"/>
            </a:pPr>
            <a:r>
              <a:rPr lang="en-GB" sz="2400" dirty="0"/>
              <a:t>Our Information Systems and Training has not kept pace. </a:t>
            </a:r>
          </a:p>
        </p:txBody>
      </p:sp>
      <p:sp>
        <p:nvSpPr>
          <p:cNvPr id="2" name="TextBox 1">
            <a:extLst>
              <a:ext uri="{FF2B5EF4-FFF2-40B4-BE49-F238E27FC236}">
                <a16:creationId xmlns:a16="http://schemas.microsoft.com/office/drawing/2014/main" id="{3F5A6076-2500-A339-4FAC-C009F8DF0A97}"/>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spTree>
    <p:extLst>
      <p:ext uri="{BB962C8B-B14F-4D97-AF65-F5344CB8AC3E}">
        <p14:creationId xmlns:p14="http://schemas.microsoft.com/office/powerpoint/2010/main" val="143703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9" grpId="0"/>
      <p:bldP spid="10"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3A5913-F882-5EFC-E17B-E3644427C861}"/>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2ED746B7-9A1F-BA0E-A636-8A47BF520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A099FEA0-D66F-82C3-44AF-45606886B338}"/>
              </a:ext>
            </a:extLst>
          </p:cNvPr>
          <p:cNvSpPr txBox="1"/>
          <p:nvPr/>
        </p:nvSpPr>
        <p:spPr>
          <a:xfrm>
            <a:off x="841093" y="308581"/>
            <a:ext cx="7029691" cy="646331"/>
          </a:xfrm>
          <a:prstGeom prst="rect">
            <a:avLst/>
          </a:prstGeom>
          <a:noFill/>
        </p:spPr>
        <p:txBody>
          <a:bodyPr wrap="square" rtlCol="0">
            <a:spAutoFit/>
          </a:bodyPr>
          <a:lstStyle/>
          <a:p>
            <a:pPr algn="ctr"/>
            <a:r>
              <a:rPr lang="en-GB" sz="3600" b="1" dirty="0"/>
              <a:t>Our Proposed Changes in 2026</a:t>
            </a:r>
          </a:p>
        </p:txBody>
      </p:sp>
      <p:sp>
        <p:nvSpPr>
          <p:cNvPr id="4" name="TextBox 3">
            <a:extLst>
              <a:ext uri="{FF2B5EF4-FFF2-40B4-BE49-F238E27FC236}">
                <a16:creationId xmlns:a16="http://schemas.microsoft.com/office/drawing/2014/main" id="{B2E16E7A-7F6B-386E-80E7-4292979B4F61}"/>
              </a:ext>
            </a:extLst>
          </p:cNvPr>
          <p:cNvSpPr txBox="1"/>
          <p:nvPr/>
        </p:nvSpPr>
        <p:spPr>
          <a:xfrm>
            <a:off x="5521124" y="954912"/>
            <a:ext cx="6212636" cy="1701043"/>
          </a:xfrm>
          <a:prstGeom prst="rect">
            <a:avLst/>
          </a:prstGeom>
          <a:noFill/>
        </p:spPr>
        <p:txBody>
          <a:bodyPr wrap="square" rtlCol="0">
            <a:spAutoFit/>
          </a:bodyPr>
          <a:lstStyle/>
          <a:p>
            <a:pPr marL="514350" indent="-514350" algn="just">
              <a:lnSpc>
                <a:spcPct val="150000"/>
              </a:lnSpc>
              <a:buFont typeface="+mj-lt"/>
              <a:buAutoNum type="arabicPeriod"/>
            </a:pPr>
            <a:r>
              <a:rPr lang="en-GB" sz="2400" dirty="0">
                <a:solidFill>
                  <a:srgbClr val="0070C0"/>
                </a:solidFill>
              </a:rPr>
              <a:t>Our vision appears attractive but complex and we have too few customers. We need to better match what Lodges will buy.</a:t>
            </a:r>
          </a:p>
        </p:txBody>
      </p:sp>
      <p:sp>
        <p:nvSpPr>
          <p:cNvPr id="2" name="TextBox 1">
            <a:extLst>
              <a:ext uri="{FF2B5EF4-FFF2-40B4-BE49-F238E27FC236}">
                <a16:creationId xmlns:a16="http://schemas.microsoft.com/office/drawing/2014/main" id="{A027024B-C5B1-2F6C-48B8-75C1E9E813DC}"/>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pic>
        <p:nvPicPr>
          <p:cNvPr id="8" name="Picture 7">
            <a:extLst>
              <a:ext uri="{FF2B5EF4-FFF2-40B4-BE49-F238E27FC236}">
                <a16:creationId xmlns:a16="http://schemas.microsoft.com/office/drawing/2014/main" id="{BB74E2DA-303C-7904-DD31-894B11591802}"/>
              </a:ext>
            </a:extLst>
          </p:cNvPr>
          <p:cNvPicPr>
            <a:picLocks noChangeAspect="1"/>
          </p:cNvPicPr>
          <p:nvPr/>
        </p:nvPicPr>
        <p:blipFill>
          <a:blip r:embed="rId3"/>
          <a:stretch>
            <a:fillRect/>
          </a:stretch>
        </p:blipFill>
        <p:spPr>
          <a:xfrm>
            <a:off x="632749" y="1126706"/>
            <a:ext cx="4888375" cy="4916509"/>
          </a:xfrm>
          <a:prstGeom prst="rect">
            <a:avLst/>
          </a:prstGeom>
        </p:spPr>
      </p:pic>
      <p:sp>
        <p:nvSpPr>
          <p:cNvPr id="12" name="TextBox 11">
            <a:extLst>
              <a:ext uri="{FF2B5EF4-FFF2-40B4-BE49-F238E27FC236}">
                <a16:creationId xmlns:a16="http://schemas.microsoft.com/office/drawing/2014/main" id="{05A09FA1-C8D6-B6F8-DE77-27E0F324AD69}"/>
              </a:ext>
            </a:extLst>
          </p:cNvPr>
          <p:cNvSpPr txBox="1"/>
          <p:nvPr/>
        </p:nvSpPr>
        <p:spPr>
          <a:xfrm>
            <a:off x="6482276" y="3302286"/>
            <a:ext cx="4446563" cy="1569660"/>
          </a:xfrm>
          <a:prstGeom prst="rect">
            <a:avLst/>
          </a:prstGeom>
          <a:noFill/>
        </p:spPr>
        <p:txBody>
          <a:bodyPr wrap="square" rtlCol="0">
            <a:spAutoFit/>
          </a:bodyPr>
          <a:lstStyle/>
          <a:p>
            <a:pPr marL="514350" indent="-514350" algn="just">
              <a:buFont typeface="+mj-lt"/>
              <a:buAutoNum type="arabicPeriod"/>
            </a:pPr>
            <a:r>
              <a:rPr lang="en-GB" sz="3200" dirty="0"/>
              <a:t>Bite-sized support to help a Lodge do what they desire.</a:t>
            </a:r>
          </a:p>
        </p:txBody>
      </p:sp>
      <p:sp>
        <p:nvSpPr>
          <p:cNvPr id="5" name="Arrow: Left 4">
            <a:extLst>
              <a:ext uri="{FF2B5EF4-FFF2-40B4-BE49-F238E27FC236}">
                <a16:creationId xmlns:a16="http://schemas.microsoft.com/office/drawing/2014/main" id="{43D5C42E-FAFF-4E34-FE9C-26874977787E}"/>
              </a:ext>
            </a:extLst>
          </p:cNvPr>
          <p:cNvSpPr/>
          <p:nvPr/>
        </p:nvSpPr>
        <p:spPr>
          <a:xfrm>
            <a:off x="2766349" y="4074289"/>
            <a:ext cx="4166886" cy="797657"/>
          </a:xfrm>
          <a:prstGeom prst="lef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696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033E69-0CC9-D833-2685-3EAC93727B92}"/>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C2D0D104-2212-1D65-53E4-7C81E012B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032CA851-F6E3-253E-71AB-25082A2A9353}"/>
              </a:ext>
            </a:extLst>
          </p:cNvPr>
          <p:cNvSpPr txBox="1"/>
          <p:nvPr/>
        </p:nvSpPr>
        <p:spPr>
          <a:xfrm>
            <a:off x="841093" y="308581"/>
            <a:ext cx="7029691" cy="646331"/>
          </a:xfrm>
          <a:prstGeom prst="rect">
            <a:avLst/>
          </a:prstGeom>
          <a:noFill/>
        </p:spPr>
        <p:txBody>
          <a:bodyPr wrap="square" rtlCol="0">
            <a:spAutoFit/>
          </a:bodyPr>
          <a:lstStyle/>
          <a:p>
            <a:pPr algn="ctr"/>
            <a:r>
              <a:rPr lang="en-GB" sz="3600" b="1" dirty="0"/>
              <a:t>Our Proposed Changes in 2026</a:t>
            </a:r>
          </a:p>
        </p:txBody>
      </p:sp>
      <p:sp>
        <p:nvSpPr>
          <p:cNvPr id="2" name="TextBox 1">
            <a:extLst>
              <a:ext uri="{FF2B5EF4-FFF2-40B4-BE49-F238E27FC236}">
                <a16:creationId xmlns:a16="http://schemas.microsoft.com/office/drawing/2014/main" id="{C92D5465-C2B7-38FD-3EA7-8FDAD713B6B5}"/>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pic>
        <p:nvPicPr>
          <p:cNvPr id="8" name="Picture 7">
            <a:extLst>
              <a:ext uri="{FF2B5EF4-FFF2-40B4-BE49-F238E27FC236}">
                <a16:creationId xmlns:a16="http://schemas.microsoft.com/office/drawing/2014/main" id="{6510A192-E9C3-9964-773B-D6E0094D9148}"/>
              </a:ext>
            </a:extLst>
          </p:cNvPr>
          <p:cNvPicPr>
            <a:picLocks noChangeAspect="1"/>
          </p:cNvPicPr>
          <p:nvPr/>
        </p:nvPicPr>
        <p:blipFill>
          <a:blip r:embed="rId3"/>
          <a:stretch>
            <a:fillRect/>
          </a:stretch>
        </p:blipFill>
        <p:spPr>
          <a:xfrm>
            <a:off x="632749" y="1126706"/>
            <a:ext cx="4888375" cy="4916509"/>
          </a:xfrm>
          <a:prstGeom prst="rect">
            <a:avLst/>
          </a:prstGeom>
        </p:spPr>
      </p:pic>
      <p:sp>
        <p:nvSpPr>
          <p:cNvPr id="12" name="TextBox 11">
            <a:extLst>
              <a:ext uri="{FF2B5EF4-FFF2-40B4-BE49-F238E27FC236}">
                <a16:creationId xmlns:a16="http://schemas.microsoft.com/office/drawing/2014/main" id="{E4DC10D2-C598-DD6F-92DB-73C78A70CCDD}"/>
              </a:ext>
            </a:extLst>
          </p:cNvPr>
          <p:cNvSpPr txBox="1"/>
          <p:nvPr/>
        </p:nvSpPr>
        <p:spPr>
          <a:xfrm>
            <a:off x="6308655" y="2932954"/>
            <a:ext cx="4888375" cy="2554545"/>
          </a:xfrm>
          <a:prstGeom prst="rect">
            <a:avLst/>
          </a:prstGeom>
          <a:noFill/>
        </p:spPr>
        <p:txBody>
          <a:bodyPr wrap="square" rtlCol="0">
            <a:spAutoFit/>
          </a:bodyPr>
          <a:lstStyle/>
          <a:p>
            <a:pPr marL="514350" indent="-514350" algn="just">
              <a:buFont typeface="+mj-lt"/>
              <a:buAutoNum type="arabicPeriod"/>
            </a:pPr>
            <a:r>
              <a:rPr lang="en-GB" sz="3200" dirty="0"/>
              <a:t>Allow VOs lacking time or inclination to step back with honour.</a:t>
            </a:r>
          </a:p>
          <a:p>
            <a:pPr marL="514350" indent="-514350" algn="just">
              <a:buFont typeface="+mj-lt"/>
              <a:buAutoNum type="arabicPeriod"/>
            </a:pPr>
            <a:r>
              <a:rPr lang="en-GB" sz="3200" dirty="0"/>
              <a:t>More management1:1</a:t>
            </a:r>
          </a:p>
          <a:p>
            <a:pPr marL="514350" indent="-514350" algn="just">
              <a:buFont typeface="+mj-lt"/>
              <a:buAutoNum type="arabicPeriod"/>
            </a:pPr>
            <a:r>
              <a:rPr lang="en-GB" sz="3200" dirty="0"/>
              <a:t>New training</a:t>
            </a:r>
          </a:p>
        </p:txBody>
      </p:sp>
      <p:sp>
        <p:nvSpPr>
          <p:cNvPr id="5" name="TextBox 4">
            <a:extLst>
              <a:ext uri="{FF2B5EF4-FFF2-40B4-BE49-F238E27FC236}">
                <a16:creationId xmlns:a16="http://schemas.microsoft.com/office/drawing/2014/main" id="{A4E2D722-2804-6F96-961E-CF5C143E68B5}"/>
              </a:ext>
            </a:extLst>
          </p:cNvPr>
          <p:cNvSpPr txBox="1"/>
          <p:nvPr/>
        </p:nvSpPr>
        <p:spPr>
          <a:xfrm>
            <a:off x="6586448" y="1277231"/>
            <a:ext cx="3848178" cy="1200329"/>
          </a:xfrm>
          <a:prstGeom prst="rect">
            <a:avLst/>
          </a:prstGeom>
          <a:noFill/>
        </p:spPr>
        <p:txBody>
          <a:bodyPr wrap="square" rtlCol="0">
            <a:spAutoFit/>
          </a:bodyPr>
          <a:lstStyle/>
          <a:p>
            <a:pPr marL="514350" indent="-514350" algn="just">
              <a:buFont typeface="+mj-lt"/>
              <a:buAutoNum type="arabicPeriod" startAt="2"/>
            </a:pPr>
            <a:r>
              <a:rPr lang="en-GB" sz="2400" dirty="0"/>
              <a:t>Too few VOs have gained the confidence of their Lodges.</a:t>
            </a:r>
          </a:p>
        </p:txBody>
      </p:sp>
    </p:spTree>
    <p:extLst>
      <p:ext uri="{BB962C8B-B14F-4D97-AF65-F5344CB8AC3E}">
        <p14:creationId xmlns:p14="http://schemas.microsoft.com/office/powerpoint/2010/main" val="220258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D35EDA-D348-B553-B056-E0642189C127}"/>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E4D2C5F4-6647-39C7-C7CC-01567832D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9AED0518-09D5-A084-AE65-31022F91E01E}"/>
              </a:ext>
            </a:extLst>
          </p:cNvPr>
          <p:cNvSpPr txBox="1"/>
          <p:nvPr/>
        </p:nvSpPr>
        <p:spPr>
          <a:xfrm>
            <a:off x="841093" y="308581"/>
            <a:ext cx="7029691" cy="646331"/>
          </a:xfrm>
          <a:prstGeom prst="rect">
            <a:avLst/>
          </a:prstGeom>
          <a:noFill/>
        </p:spPr>
        <p:txBody>
          <a:bodyPr wrap="square" rtlCol="0">
            <a:spAutoFit/>
          </a:bodyPr>
          <a:lstStyle/>
          <a:p>
            <a:pPr algn="ctr"/>
            <a:r>
              <a:rPr lang="en-GB" sz="3600" b="1" dirty="0"/>
              <a:t>Our Proposed Changes in 2026</a:t>
            </a:r>
          </a:p>
        </p:txBody>
      </p:sp>
      <p:sp>
        <p:nvSpPr>
          <p:cNvPr id="4" name="TextBox 3">
            <a:extLst>
              <a:ext uri="{FF2B5EF4-FFF2-40B4-BE49-F238E27FC236}">
                <a16:creationId xmlns:a16="http://schemas.microsoft.com/office/drawing/2014/main" id="{B3E499AA-397B-C9C1-1255-CDDD3F23E111}"/>
              </a:ext>
            </a:extLst>
          </p:cNvPr>
          <p:cNvSpPr txBox="1"/>
          <p:nvPr/>
        </p:nvSpPr>
        <p:spPr>
          <a:xfrm>
            <a:off x="6482276" y="1421989"/>
            <a:ext cx="4351628" cy="1200329"/>
          </a:xfrm>
          <a:prstGeom prst="rect">
            <a:avLst/>
          </a:prstGeom>
          <a:noFill/>
        </p:spPr>
        <p:txBody>
          <a:bodyPr wrap="square" rtlCol="0">
            <a:spAutoFit/>
          </a:bodyPr>
          <a:lstStyle/>
          <a:p>
            <a:pPr marL="514350" indent="-514350" algn="just">
              <a:buFont typeface="+mj-lt"/>
              <a:buAutoNum type="arabicPeriod" startAt="3"/>
            </a:pPr>
            <a:r>
              <a:rPr lang="en-GB" sz="2400" dirty="0"/>
              <a:t>Our Information Systems and Training has not kept pace with your needs</a:t>
            </a:r>
          </a:p>
        </p:txBody>
      </p:sp>
      <p:sp>
        <p:nvSpPr>
          <p:cNvPr id="2" name="TextBox 1">
            <a:extLst>
              <a:ext uri="{FF2B5EF4-FFF2-40B4-BE49-F238E27FC236}">
                <a16:creationId xmlns:a16="http://schemas.microsoft.com/office/drawing/2014/main" id="{40957F25-9A9C-A310-25A3-6042C99D26EC}"/>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pic>
        <p:nvPicPr>
          <p:cNvPr id="8" name="Picture 7">
            <a:extLst>
              <a:ext uri="{FF2B5EF4-FFF2-40B4-BE49-F238E27FC236}">
                <a16:creationId xmlns:a16="http://schemas.microsoft.com/office/drawing/2014/main" id="{ECB9278F-9297-CFA7-68E9-94581B5503DE}"/>
              </a:ext>
            </a:extLst>
          </p:cNvPr>
          <p:cNvPicPr>
            <a:picLocks noChangeAspect="1"/>
          </p:cNvPicPr>
          <p:nvPr/>
        </p:nvPicPr>
        <p:blipFill>
          <a:blip r:embed="rId3"/>
          <a:stretch>
            <a:fillRect/>
          </a:stretch>
        </p:blipFill>
        <p:spPr>
          <a:xfrm>
            <a:off x="632749" y="1126706"/>
            <a:ext cx="4888375" cy="4916509"/>
          </a:xfrm>
          <a:prstGeom prst="rect">
            <a:avLst/>
          </a:prstGeom>
        </p:spPr>
      </p:pic>
      <p:sp>
        <p:nvSpPr>
          <p:cNvPr id="12" name="TextBox 11">
            <a:extLst>
              <a:ext uri="{FF2B5EF4-FFF2-40B4-BE49-F238E27FC236}">
                <a16:creationId xmlns:a16="http://schemas.microsoft.com/office/drawing/2014/main" id="{1C4E9E52-46E1-61C0-BECB-C22B6FDB8EC4}"/>
              </a:ext>
            </a:extLst>
          </p:cNvPr>
          <p:cNvSpPr txBox="1"/>
          <p:nvPr/>
        </p:nvSpPr>
        <p:spPr>
          <a:xfrm>
            <a:off x="6482275" y="2932954"/>
            <a:ext cx="5076975" cy="2554545"/>
          </a:xfrm>
          <a:prstGeom prst="rect">
            <a:avLst/>
          </a:prstGeom>
          <a:noFill/>
        </p:spPr>
        <p:txBody>
          <a:bodyPr wrap="square" rtlCol="0">
            <a:spAutoFit/>
          </a:bodyPr>
          <a:lstStyle/>
          <a:p>
            <a:pPr marL="514350" indent="-514350" algn="just">
              <a:buFont typeface="+mj-lt"/>
              <a:buAutoNum type="arabicPeriod"/>
            </a:pPr>
            <a:r>
              <a:rPr lang="en-GB" sz="3200" dirty="0"/>
              <a:t>Greater Focus</a:t>
            </a:r>
          </a:p>
          <a:p>
            <a:pPr marL="514350" indent="-514350" algn="just">
              <a:buFont typeface="+mj-lt"/>
              <a:buAutoNum type="arabicPeriod"/>
            </a:pPr>
            <a:r>
              <a:rPr lang="en-GB" sz="3200" dirty="0"/>
              <a:t>New Triage Report</a:t>
            </a:r>
          </a:p>
          <a:p>
            <a:pPr marL="514350" indent="-514350" algn="just">
              <a:buFont typeface="+mj-lt"/>
              <a:buAutoNum type="arabicPeriod"/>
            </a:pPr>
            <a:r>
              <a:rPr lang="en-GB" sz="3200" dirty="0"/>
              <a:t>New Information Officer</a:t>
            </a:r>
          </a:p>
          <a:p>
            <a:pPr marL="514350" indent="-514350" algn="just">
              <a:buFont typeface="+mj-lt"/>
              <a:buAutoNum type="arabicPeriod"/>
            </a:pPr>
            <a:r>
              <a:rPr lang="en-GB" sz="3200"/>
              <a:t>New Training Manager</a:t>
            </a:r>
            <a:endParaRPr lang="en-GB" sz="3200" dirty="0"/>
          </a:p>
          <a:p>
            <a:pPr marL="514350" indent="-514350" algn="just">
              <a:buFont typeface="+mj-lt"/>
              <a:buAutoNum type="arabicPeriod"/>
            </a:pPr>
            <a:r>
              <a:rPr lang="en-GB" sz="3200" dirty="0"/>
              <a:t>More resources</a:t>
            </a:r>
          </a:p>
        </p:txBody>
      </p:sp>
    </p:spTree>
    <p:extLst>
      <p:ext uri="{BB962C8B-B14F-4D97-AF65-F5344CB8AC3E}">
        <p14:creationId xmlns:p14="http://schemas.microsoft.com/office/powerpoint/2010/main" val="379678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D5772C-D5C4-2B31-6C2C-E288FBA8A3A3}"/>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ACEB4AA7-01D8-138B-BA83-FC396A376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DEDE899C-16A1-177D-9821-D99F5A16B55E}"/>
              </a:ext>
            </a:extLst>
          </p:cNvPr>
          <p:cNvSpPr txBox="1"/>
          <p:nvPr/>
        </p:nvSpPr>
        <p:spPr>
          <a:xfrm>
            <a:off x="841093" y="308581"/>
            <a:ext cx="7029691" cy="646331"/>
          </a:xfrm>
          <a:prstGeom prst="rect">
            <a:avLst/>
          </a:prstGeom>
          <a:noFill/>
        </p:spPr>
        <p:txBody>
          <a:bodyPr wrap="square" rtlCol="0">
            <a:spAutoFit/>
          </a:bodyPr>
          <a:lstStyle/>
          <a:p>
            <a:pPr algn="ctr"/>
            <a:r>
              <a:rPr lang="en-GB" sz="3600" b="1" dirty="0"/>
              <a:t>Our Proposed Changes in 2026</a:t>
            </a:r>
          </a:p>
        </p:txBody>
      </p:sp>
      <p:sp>
        <p:nvSpPr>
          <p:cNvPr id="4" name="TextBox 3">
            <a:extLst>
              <a:ext uri="{FF2B5EF4-FFF2-40B4-BE49-F238E27FC236}">
                <a16:creationId xmlns:a16="http://schemas.microsoft.com/office/drawing/2014/main" id="{7E66E698-B51F-2C42-975B-38D4330D2386}"/>
              </a:ext>
            </a:extLst>
          </p:cNvPr>
          <p:cNvSpPr txBox="1"/>
          <p:nvPr/>
        </p:nvSpPr>
        <p:spPr>
          <a:xfrm>
            <a:off x="6771189" y="1628039"/>
            <a:ext cx="3541853" cy="830997"/>
          </a:xfrm>
          <a:prstGeom prst="rect">
            <a:avLst/>
          </a:prstGeom>
          <a:noFill/>
        </p:spPr>
        <p:txBody>
          <a:bodyPr wrap="square" rtlCol="0">
            <a:spAutoFit/>
          </a:bodyPr>
          <a:lstStyle/>
          <a:p>
            <a:pPr algn="just"/>
            <a:r>
              <a:rPr lang="en-GB" sz="2400"/>
              <a:t>4. We have not fully exploited MetGL support</a:t>
            </a:r>
            <a:endParaRPr lang="en-GB" sz="2400" dirty="0"/>
          </a:p>
        </p:txBody>
      </p:sp>
      <p:sp>
        <p:nvSpPr>
          <p:cNvPr id="2" name="TextBox 1">
            <a:extLst>
              <a:ext uri="{FF2B5EF4-FFF2-40B4-BE49-F238E27FC236}">
                <a16:creationId xmlns:a16="http://schemas.microsoft.com/office/drawing/2014/main" id="{FFF1BAB8-B38D-482D-C7C5-9B022A485462}"/>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pic>
        <p:nvPicPr>
          <p:cNvPr id="8" name="Picture 7">
            <a:extLst>
              <a:ext uri="{FF2B5EF4-FFF2-40B4-BE49-F238E27FC236}">
                <a16:creationId xmlns:a16="http://schemas.microsoft.com/office/drawing/2014/main" id="{101198FD-ADA2-18C1-9D30-D00EE0DEF487}"/>
              </a:ext>
            </a:extLst>
          </p:cNvPr>
          <p:cNvPicPr>
            <a:picLocks noChangeAspect="1"/>
          </p:cNvPicPr>
          <p:nvPr/>
        </p:nvPicPr>
        <p:blipFill>
          <a:blip r:embed="rId3"/>
          <a:stretch>
            <a:fillRect/>
          </a:stretch>
        </p:blipFill>
        <p:spPr>
          <a:xfrm>
            <a:off x="632749" y="1126706"/>
            <a:ext cx="4888375" cy="4916509"/>
          </a:xfrm>
          <a:prstGeom prst="rect">
            <a:avLst/>
          </a:prstGeom>
        </p:spPr>
      </p:pic>
      <p:sp>
        <p:nvSpPr>
          <p:cNvPr id="12" name="TextBox 11">
            <a:extLst>
              <a:ext uri="{FF2B5EF4-FFF2-40B4-BE49-F238E27FC236}">
                <a16:creationId xmlns:a16="http://schemas.microsoft.com/office/drawing/2014/main" id="{F71B1E15-A0E0-9ABC-242B-7651E339A81A}"/>
              </a:ext>
            </a:extLst>
          </p:cNvPr>
          <p:cNvSpPr txBox="1"/>
          <p:nvPr/>
        </p:nvSpPr>
        <p:spPr>
          <a:xfrm>
            <a:off x="6270707" y="2782483"/>
            <a:ext cx="4803040" cy="2062103"/>
          </a:xfrm>
          <a:prstGeom prst="rect">
            <a:avLst/>
          </a:prstGeom>
          <a:noFill/>
        </p:spPr>
        <p:txBody>
          <a:bodyPr wrap="square" rtlCol="0">
            <a:spAutoFit/>
          </a:bodyPr>
          <a:lstStyle/>
          <a:p>
            <a:pPr algn="just"/>
            <a:endParaRPr lang="en-GB" sz="3200" dirty="0"/>
          </a:p>
          <a:p>
            <a:pPr marL="514350" indent="-514350" algn="just">
              <a:buFont typeface="+mj-lt"/>
              <a:buAutoNum type="arabicPeriod"/>
            </a:pPr>
            <a:r>
              <a:rPr lang="en-GB" sz="3200" dirty="0"/>
              <a:t>An Inspectorate priority</a:t>
            </a:r>
          </a:p>
          <a:p>
            <a:pPr marL="514350" indent="-514350" algn="just">
              <a:buFont typeface="+mj-lt"/>
              <a:buAutoNum type="arabicPeriod"/>
            </a:pPr>
            <a:endParaRPr lang="en-GB" sz="3200" dirty="0"/>
          </a:p>
          <a:p>
            <a:pPr marL="514350" indent="-514350" algn="just">
              <a:buFont typeface="+mj-lt"/>
              <a:buAutoNum type="arabicPeriod"/>
            </a:pPr>
            <a:endParaRPr lang="en-GB" sz="3200" dirty="0"/>
          </a:p>
        </p:txBody>
      </p:sp>
    </p:spTree>
    <p:extLst>
      <p:ext uri="{BB962C8B-B14F-4D97-AF65-F5344CB8AC3E}">
        <p14:creationId xmlns:p14="http://schemas.microsoft.com/office/powerpoint/2010/main" val="235084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547403-AD50-DB3F-EC3D-837CD420842E}"/>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A435E518-44D4-B01B-CA41-9008617ED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 name="TextBox 5">
            <a:extLst>
              <a:ext uri="{FF2B5EF4-FFF2-40B4-BE49-F238E27FC236}">
                <a16:creationId xmlns:a16="http://schemas.microsoft.com/office/drawing/2014/main" id="{5A8D6859-51C7-24DC-1CEB-DC1DCF332496}"/>
              </a:ext>
            </a:extLst>
          </p:cNvPr>
          <p:cNvSpPr txBox="1"/>
          <p:nvPr/>
        </p:nvSpPr>
        <p:spPr>
          <a:xfrm>
            <a:off x="1226542" y="291142"/>
            <a:ext cx="6678967" cy="523220"/>
          </a:xfrm>
          <a:prstGeom prst="rect">
            <a:avLst/>
          </a:prstGeom>
          <a:noFill/>
        </p:spPr>
        <p:txBody>
          <a:bodyPr wrap="square" rtlCol="0">
            <a:spAutoFit/>
          </a:bodyPr>
          <a:lstStyle/>
          <a:p>
            <a:pPr algn="ctr"/>
            <a:r>
              <a:rPr lang="en-GB" sz="2800" b="1" dirty="0"/>
              <a:t>We our organisation has three changes</a:t>
            </a:r>
          </a:p>
        </p:txBody>
      </p:sp>
      <p:pic>
        <p:nvPicPr>
          <p:cNvPr id="3" name="Picture 2">
            <a:extLst>
              <a:ext uri="{FF2B5EF4-FFF2-40B4-BE49-F238E27FC236}">
                <a16:creationId xmlns:a16="http://schemas.microsoft.com/office/drawing/2014/main" id="{F13BFB2F-9A91-2642-B22D-9C22649FA152}"/>
              </a:ext>
            </a:extLst>
          </p:cNvPr>
          <p:cNvPicPr>
            <a:picLocks noChangeAspect="1"/>
          </p:cNvPicPr>
          <p:nvPr/>
        </p:nvPicPr>
        <p:blipFill>
          <a:blip r:embed="rId3"/>
          <a:stretch>
            <a:fillRect/>
          </a:stretch>
        </p:blipFill>
        <p:spPr>
          <a:xfrm>
            <a:off x="1226543" y="1305675"/>
            <a:ext cx="9738914" cy="3335774"/>
          </a:xfrm>
          <a:prstGeom prst="rect">
            <a:avLst/>
          </a:prstGeom>
        </p:spPr>
      </p:pic>
      <p:sp>
        <p:nvSpPr>
          <p:cNvPr id="2" name="TextBox 1">
            <a:extLst>
              <a:ext uri="{FF2B5EF4-FFF2-40B4-BE49-F238E27FC236}">
                <a16:creationId xmlns:a16="http://schemas.microsoft.com/office/drawing/2014/main" id="{626773CF-7020-8B00-2072-5DD220293C66}"/>
              </a:ext>
            </a:extLst>
          </p:cNvPr>
          <p:cNvSpPr txBox="1"/>
          <p:nvPr/>
        </p:nvSpPr>
        <p:spPr>
          <a:xfrm>
            <a:off x="1981200" y="5132762"/>
            <a:ext cx="8229600" cy="1200329"/>
          </a:xfrm>
          <a:prstGeom prst="rect">
            <a:avLst/>
          </a:prstGeom>
          <a:noFill/>
        </p:spPr>
        <p:txBody>
          <a:bodyPr wrap="square" rtlCol="0">
            <a:spAutoFit/>
          </a:bodyPr>
          <a:lstStyle/>
          <a:p>
            <a:r>
              <a:rPr lang="en-GB" dirty="0"/>
              <a:t>Mark, Julian Adjutant, Information Lead</a:t>
            </a:r>
          </a:p>
          <a:p>
            <a:r>
              <a:rPr lang="en-GB" dirty="0"/>
              <a:t>Brian: SHAPE Lead  VO Training  Andrew ENGAGE Lead Communications</a:t>
            </a:r>
          </a:p>
          <a:p>
            <a:r>
              <a:rPr lang="en-GB" dirty="0"/>
              <a:t>Terry same, Seatal same</a:t>
            </a:r>
            <a:r>
              <a:rPr lang="en-GB" strike="sngStrike" dirty="0"/>
              <a:t>, Frank </a:t>
            </a:r>
            <a:r>
              <a:rPr lang="en-GB" dirty="0"/>
              <a:t>Anthony RESPOND Lead VOMan, Danny same</a:t>
            </a:r>
          </a:p>
          <a:p>
            <a:r>
              <a:rPr lang="en-GB" dirty="0"/>
              <a:t>VO org same\?</a:t>
            </a:r>
          </a:p>
        </p:txBody>
      </p:sp>
    </p:spTree>
    <p:extLst>
      <p:ext uri="{BB962C8B-B14F-4D97-AF65-F5344CB8AC3E}">
        <p14:creationId xmlns:p14="http://schemas.microsoft.com/office/powerpoint/2010/main" val="3717890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3F0A94-B854-BA77-8CE7-2F6A04278478}"/>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7FC4CACF-F2F2-25B1-58FB-874492029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80579BCC-AD5E-AE37-92CE-1B8C7C3F57F8}"/>
              </a:ext>
            </a:extLst>
          </p:cNvPr>
          <p:cNvSpPr txBox="1"/>
          <p:nvPr/>
        </p:nvSpPr>
        <p:spPr>
          <a:xfrm>
            <a:off x="841094" y="308581"/>
            <a:ext cx="5254906" cy="646331"/>
          </a:xfrm>
          <a:prstGeom prst="rect">
            <a:avLst/>
          </a:prstGeom>
          <a:noFill/>
        </p:spPr>
        <p:txBody>
          <a:bodyPr wrap="square" rtlCol="0">
            <a:spAutoFit/>
          </a:bodyPr>
          <a:lstStyle/>
          <a:p>
            <a:pPr algn="ctr"/>
            <a:r>
              <a:rPr lang="en-GB" sz="3600" b="1" dirty="0"/>
              <a:t>What next?</a:t>
            </a:r>
          </a:p>
        </p:txBody>
      </p:sp>
      <p:sp>
        <p:nvSpPr>
          <p:cNvPr id="2" name="TextBox 1">
            <a:extLst>
              <a:ext uri="{FF2B5EF4-FFF2-40B4-BE49-F238E27FC236}">
                <a16:creationId xmlns:a16="http://schemas.microsoft.com/office/drawing/2014/main" id="{1B9885AD-57E1-CABC-F6D9-2B1B72180C4C}"/>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pic>
        <p:nvPicPr>
          <p:cNvPr id="4" name="Picture 3">
            <a:extLst>
              <a:ext uri="{FF2B5EF4-FFF2-40B4-BE49-F238E27FC236}">
                <a16:creationId xmlns:a16="http://schemas.microsoft.com/office/drawing/2014/main" id="{471F3050-2A2A-B432-AFE0-8724B5FC3F3C}"/>
              </a:ext>
            </a:extLst>
          </p:cNvPr>
          <p:cNvPicPr>
            <a:picLocks noChangeAspect="1"/>
          </p:cNvPicPr>
          <p:nvPr/>
        </p:nvPicPr>
        <p:blipFill>
          <a:blip r:embed="rId3"/>
          <a:stretch>
            <a:fillRect/>
          </a:stretch>
        </p:blipFill>
        <p:spPr>
          <a:xfrm>
            <a:off x="-416004" y="477457"/>
            <a:ext cx="7769102" cy="6857999"/>
          </a:xfrm>
          <a:prstGeom prst="rect">
            <a:avLst/>
          </a:prstGeom>
        </p:spPr>
      </p:pic>
      <p:pic>
        <p:nvPicPr>
          <p:cNvPr id="6" name="Picture 5">
            <a:extLst>
              <a:ext uri="{FF2B5EF4-FFF2-40B4-BE49-F238E27FC236}">
                <a16:creationId xmlns:a16="http://schemas.microsoft.com/office/drawing/2014/main" id="{F742B1DA-74E3-E1E8-5AF0-E858FD9E540A}"/>
              </a:ext>
            </a:extLst>
          </p:cNvPr>
          <p:cNvPicPr>
            <a:picLocks noChangeAspect="1"/>
          </p:cNvPicPr>
          <p:nvPr/>
        </p:nvPicPr>
        <p:blipFill>
          <a:blip r:embed="rId4"/>
          <a:stretch>
            <a:fillRect/>
          </a:stretch>
        </p:blipFill>
        <p:spPr>
          <a:xfrm>
            <a:off x="5587962" y="654059"/>
            <a:ext cx="7764328" cy="4361891"/>
          </a:xfrm>
          <a:prstGeom prst="rect">
            <a:avLst/>
          </a:prstGeom>
        </p:spPr>
      </p:pic>
      <p:sp>
        <p:nvSpPr>
          <p:cNvPr id="5" name="Arrow: Left 4">
            <a:extLst>
              <a:ext uri="{FF2B5EF4-FFF2-40B4-BE49-F238E27FC236}">
                <a16:creationId xmlns:a16="http://schemas.microsoft.com/office/drawing/2014/main" id="{677F6A5F-3869-75AB-45D9-2736B0CDA67B}"/>
              </a:ext>
            </a:extLst>
          </p:cNvPr>
          <p:cNvSpPr/>
          <p:nvPr/>
        </p:nvSpPr>
        <p:spPr>
          <a:xfrm>
            <a:off x="5780794" y="2258483"/>
            <a:ext cx="689454" cy="484632"/>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03009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42FF2D-18E3-4333-C71B-FF723FF465E5}"/>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E1E76812-6B52-22C7-9EC8-DFF9F32CB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3" name="Picture 2">
            <a:extLst>
              <a:ext uri="{FF2B5EF4-FFF2-40B4-BE49-F238E27FC236}">
                <a16:creationId xmlns:a16="http://schemas.microsoft.com/office/drawing/2014/main" id="{B593BA0B-F834-952B-23F8-FED2F6AB98DE}"/>
              </a:ext>
            </a:extLst>
          </p:cNvPr>
          <p:cNvPicPr>
            <a:picLocks noChangeAspect="1"/>
          </p:cNvPicPr>
          <p:nvPr/>
        </p:nvPicPr>
        <p:blipFill>
          <a:blip r:embed="rId3"/>
          <a:stretch>
            <a:fillRect/>
          </a:stretch>
        </p:blipFill>
        <p:spPr>
          <a:xfrm>
            <a:off x="2864945" y="179349"/>
            <a:ext cx="6462110" cy="6499302"/>
          </a:xfrm>
          <a:prstGeom prst="rect">
            <a:avLst/>
          </a:prstGeom>
        </p:spPr>
      </p:pic>
    </p:spTree>
    <p:extLst>
      <p:ext uri="{BB962C8B-B14F-4D97-AF65-F5344CB8AC3E}">
        <p14:creationId xmlns:p14="http://schemas.microsoft.com/office/powerpoint/2010/main" val="1476342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A4CA8A-792B-88AD-3651-C1BEAD5ABD15}"/>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A988EB22-43AE-0E9A-FC66-130CC9C66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B6404410-CEEC-BE32-859C-6B457529ADA3}"/>
              </a:ext>
            </a:extLst>
          </p:cNvPr>
          <p:cNvSpPr txBox="1"/>
          <p:nvPr/>
        </p:nvSpPr>
        <p:spPr>
          <a:xfrm>
            <a:off x="841094" y="308581"/>
            <a:ext cx="5254906" cy="646331"/>
          </a:xfrm>
          <a:prstGeom prst="rect">
            <a:avLst/>
          </a:prstGeom>
          <a:noFill/>
        </p:spPr>
        <p:txBody>
          <a:bodyPr wrap="square" rtlCol="0">
            <a:spAutoFit/>
          </a:bodyPr>
          <a:lstStyle/>
          <a:p>
            <a:pPr algn="ctr"/>
            <a:r>
              <a:rPr lang="en-GB" sz="3600" b="1" dirty="0"/>
              <a:t>What next?</a:t>
            </a:r>
          </a:p>
        </p:txBody>
      </p:sp>
      <p:sp>
        <p:nvSpPr>
          <p:cNvPr id="2" name="TextBox 1">
            <a:extLst>
              <a:ext uri="{FF2B5EF4-FFF2-40B4-BE49-F238E27FC236}">
                <a16:creationId xmlns:a16="http://schemas.microsoft.com/office/drawing/2014/main" id="{33D93FB2-CFA2-58E1-5AF3-05304B397043}"/>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pic>
        <p:nvPicPr>
          <p:cNvPr id="4" name="Picture 3">
            <a:extLst>
              <a:ext uri="{FF2B5EF4-FFF2-40B4-BE49-F238E27FC236}">
                <a16:creationId xmlns:a16="http://schemas.microsoft.com/office/drawing/2014/main" id="{FBEA5172-8C9A-AB47-92FA-E903EB431F2A}"/>
              </a:ext>
            </a:extLst>
          </p:cNvPr>
          <p:cNvPicPr>
            <a:picLocks noChangeAspect="1"/>
          </p:cNvPicPr>
          <p:nvPr/>
        </p:nvPicPr>
        <p:blipFill>
          <a:blip r:embed="rId3"/>
          <a:stretch>
            <a:fillRect/>
          </a:stretch>
        </p:blipFill>
        <p:spPr>
          <a:xfrm>
            <a:off x="-416004" y="477457"/>
            <a:ext cx="7769102" cy="6857999"/>
          </a:xfrm>
          <a:prstGeom prst="rect">
            <a:avLst/>
          </a:prstGeom>
        </p:spPr>
      </p:pic>
      <p:pic>
        <p:nvPicPr>
          <p:cNvPr id="6" name="Picture 5">
            <a:extLst>
              <a:ext uri="{FF2B5EF4-FFF2-40B4-BE49-F238E27FC236}">
                <a16:creationId xmlns:a16="http://schemas.microsoft.com/office/drawing/2014/main" id="{7730F8CF-CE40-685B-256C-BECEB2AA9428}"/>
              </a:ext>
            </a:extLst>
          </p:cNvPr>
          <p:cNvPicPr>
            <a:picLocks noChangeAspect="1"/>
          </p:cNvPicPr>
          <p:nvPr/>
        </p:nvPicPr>
        <p:blipFill>
          <a:blip r:embed="rId4"/>
          <a:stretch>
            <a:fillRect/>
          </a:stretch>
        </p:blipFill>
        <p:spPr>
          <a:xfrm>
            <a:off x="5587962" y="654059"/>
            <a:ext cx="7764328" cy="4361891"/>
          </a:xfrm>
          <a:prstGeom prst="rect">
            <a:avLst/>
          </a:prstGeom>
        </p:spPr>
      </p:pic>
      <p:sp>
        <p:nvSpPr>
          <p:cNvPr id="5" name="Arrow: Left 4">
            <a:extLst>
              <a:ext uri="{FF2B5EF4-FFF2-40B4-BE49-F238E27FC236}">
                <a16:creationId xmlns:a16="http://schemas.microsoft.com/office/drawing/2014/main" id="{3F4B995A-D8C3-D529-334D-F756DC860B5B}"/>
              </a:ext>
            </a:extLst>
          </p:cNvPr>
          <p:cNvSpPr/>
          <p:nvPr/>
        </p:nvSpPr>
        <p:spPr>
          <a:xfrm>
            <a:off x="5780794" y="4249328"/>
            <a:ext cx="689454" cy="484632"/>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49953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A54C8A-8773-84E9-EDC5-7BFAD3B6F5E9}"/>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168C5899-8F40-4621-4BB5-D0157E780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3F46CD0D-4820-83B1-3023-0DDD97C7CCA4}"/>
              </a:ext>
            </a:extLst>
          </p:cNvPr>
          <p:cNvSpPr txBox="1"/>
          <p:nvPr/>
        </p:nvSpPr>
        <p:spPr>
          <a:xfrm>
            <a:off x="2908657" y="234095"/>
            <a:ext cx="6161591" cy="1754326"/>
          </a:xfrm>
          <a:prstGeom prst="rect">
            <a:avLst/>
          </a:prstGeom>
          <a:solidFill>
            <a:schemeClr val="accent4">
              <a:lumMod val="40000"/>
              <a:lumOff val="60000"/>
            </a:schemeClr>
          </a:solidFill>
        </p:spPr>
        <p:txBody>
          <a:bodyPr wrap="square" rtlCol="0">
            <a:spAutoFit/>
          </a:bodyPr>
          <a:lstStyle/>
          <a:p>
            <a:pPr algn="ctr"/>
            <a:r>
              <a:rPr lang="en-GB" sz="3600" b="1" dirty="0"/>
              <a:t>Brainstorm A</a:t>
            </a:r>
          </a:p>
          <a:p>
            <a:pPr algn="ctr"/>
            <a:r>
              <a:rPr lang="en-GB" sz="3600" b="1" dirty="0"/>
              <a:t> Do you support our plan?</a:t>
            </a:r>
          </a:p>
          <a:p>
            <a:pPr algn="ctr"/>
            <a:r>
              <a:rPr lang="en-GB" sz="3600" b="1" dirty="0"/>
              <a:t>What help do you need?</a:t>
            </a:r>
          </a:p>
        </p:txBody>
      </p:sp>
      <p:grpSp>
        <p:nvGrpSpPr>
          <p:cNvPr id="5" name="Group 4">
            <a:extLst>
              <a:ext uri="{FF2B5EF4-FFF2-40B4-BE49-F238E27FC236}">
                <a16:creationId xmlns:a16="http://schemas.microsoft.com/office/drawing/2014/main" id="{10D81287-DAFC-D1C9-0C9B-2715650E7FEA}"/>
              </a:ext>
            </a:extLst>
          </p:cNvPr>
          <p:cNvGrpSpPr/>
          <p:nvPr/>
        </p:nvGrpSpPr>
        <p:grpSpPr>
          <a:xfrm>
            <a:off x="1435261" y="1957886"/>
            <a:ext cx="8345346" cy="3985007"/>
            <a:chOff x="1517729" y="1233402"/>
            <a:chExt cx="8262878" cy="4163716"/>
          </a:xfrm>
        </p:grpSpPr>
        <p:sp>
          <p:nvSpPr>
            <p:cNvPr id="6" name="TextBox 5">
              <a:extLst>
                <a:ext uri="{FF2B5EF4-FFF2-40B4-BE49-F238E27FC236}">
                  <a16:creationId xmlns:a16="http://schemas.microsoft.com/office/drawing/2014/main" id="{259FDCA1-3057-E418-290C-9CF074A84975}"/>
                </a:ext>
              </a:extLst>
            </p:cNvPr>
            <p:cNvSpPr txBox="1"/>
            <p:nvPr/>
          </p:nvSpPr>
          <p:spPr>
            <a:xfrm>
              <a:off x="1613981" y="4804071"/>
              <a:ext cx="7456267" cy="593047"/>
            </a:xfrm>
            <a:prstGeom prst="rect">
              <a:avLst/>
            </a:prstGeom>
            <a:noFill/>
          </p:spPr>
          <p:txBody>
            <a:bodyPr wrap="square" rtlCol="0">
              <a:spAutoFit/>
            </a:bodyPr>
            <a:lstStyle/>
            <a:p>
              <a:pPr>
                <a:lnSpc>
                  <a:spcPct val="150000"/>
                </a:lnSpc>
              </a:pPr>
              <a:r>
                <a:rPr lang="en-GB" sz="2400" dirty="0">
                  <a:solidFill>
                    <a:schemeClr val="tx2">
                      <a:lumMod val="25000"/>
                      <a:lumOff val="75000"/>
                    </a:schemeClr>
                  </a:solidFill>
                </a:rPr>
                <a:t>4.   We have not fully exploited MetGL support.</a:t>
              </a:r>
            </a:p>
          </p:txBody>
        </p:sp>
        <p:sp>
          <p:nvSpPr>
            <p:cNvPr id="4" name="TextBox 3">
              <a:extLst>
                <a:ext uri="{FF2B5EF4-FFF2-40B4-BE49-F238E27FC236}">
                  <a16:creationId xmlns:a16="http://schemas.microsoft.com/office/drawing/2014/main" id="{54EBC446-07AD-C142-4217-B3A8E30A9DB8}"/>
                </a:ext>
              </a:extLst>
            </p:cNvPr>
            <p:cNvSpPr txBox="1"/>
            <p:nvPr/>
          </p:nvSpPr>
          <p:spPr>
            <a:xfrm>
              <a:off x="1517729" y="1233402"/>
              <a:ext cx="8262877" cy="1701043"/>
            </a:xfrm>
            <a:prstGeom prst="rect">
              <a:avLst/>
            </a:prstGeom>
            <a:noFill/>
          </p:spPr>
          <p:txBody>
            <a:bodyPr wrap="square" rtlCol="0">
              <a:spAutoFit/>
            </a:bodyPr>
            <a:lstStyle/>
            <a:p>
              <a:pPr marL="514350" indent="-514350" algn="just">
                <a:lnSpc>
                  <a:spcPct val="150000"/>
                </a:lnSpc>
                <a:buFont typeface="+mj-lt"/>
                <a:buAutoNum type="arabicPeriod"/>
              </a:pPr>
              <a:r>
                <a:rPr lang="en-GB" sz="2400" dirty="0">
                  <a:solidFill>
                    <a:schemeClr val="tx2">
                      <a:lumMod val="25000"/>
                      <a:lumOff val="75000"/>
                    </a:schemeClr>
                  </a:solidFill>
                </a:rPr>
                <a:t>Our vision appears    attractive but complex and we have too few customers. We need to better match what Lodges will buy.</a:t>
              </a:r>
            </a:p>
          </p:txBody>
        </p:sp>
        <p:sp>
          <p:nvSpPr>
            <p:cNvPr id="9" name="TextBox 8">
              <a:extLst>
                <a:ext uri="{FF2B5EF4-FFF2-40B4-BE49-F238E27FC236}">
                  <a16:creationId xmlns:a16="http://schemas.microsoft.com/office/drawing/2014/main" id="{DA071357-3B7B-497E-4D6C-65D42BE7F22A}"/>
                </a:ext>
              </a:extLst>
            </p:cNvPr>
            <p:cNvSpPr txBox="1"/>
            <p:nvPr/>
          </p:nvSpPr>
          <p:spPr>
            <a:xfrm>
              <a:off x="1517729" y="2887173"/>
              <a:ext cx="8262877" cy="593047"/>
            </a:xfrm>
            <a:prstGeom prst="rect">
              <a:avLst/>
            </a:prstGeom>
            <a:noFill/>
          </p:spPr>
          <p:txBody>
            <a:bodyPr wrap="square" rtlCol="0">
              <a:spAutoFit/>
            </a:bodyPr>
            <a:lstStyle/>
            <a:p>
              <a:pPr marL="514350" indent="-514350" algn="just">
                <a:lnSpc>
                  <a:spcPct val="150000"/>
                </a:lnSpc>
                <a:buFont typeface="+mj-lt"/>
                <a:buAutoNum type="arabicPeriod" startAt="2"/>
              </a:pPr>
              <a:r>
                <a:rPr lang="en-GB" sz="2400" dirty="0">
                  <a:solidFill>
                    <a:schemeClr val="tx2">
                      <a:lumMod val="25000"/>
                      <a:lumOff val="75000"/>
                    </a:schemeClr>
                  </a:solidFill>
                </a:rPr>
                <a:t>Too few VOs have gained the confidence of their Lodges</a:t>
              </a:r>
              <a:r>
                <a:rPr lang="en-GB" sz="2400" dirty="0"/>
                <a:t>.</a:t>
              </a:r>
            </a:p>
          </p:txBody>
        </p:sp>
        <p:sp>
          <p:nvSpPr>
            <p:cNvPr id="10" name="TextBox 9">
              <a:extLst>
                <a:ext uri="{FF2B5EF4-FFF2-40B4-BE49-F238E27FC236}">
                  <a16:creationId xmlns:a16="http://schemas.microsoft.com/office/drawing/2014/main" id="{2BEA46A7-0258-A768-FDA8-85A2AFD5138F}"/>
                </a:ext>
              </a:extLst>
            </p:cNvPr>
            <p:cNvSpPr txBox="1"/>
            <p:nvPr/>
          </p:nvSpPr>
          <p:spPr>
            <a:xfrm>
              <a:off x="1517730" y="3613848"/>
              <a:ext cx="8262877" cy="1147045"/>
            </a:xfrm>
            <a:prstGeom prst="rect">
              <a:avLst/>
            </a:prstGeom>
            <a:noFill/>
          </p:spPr>
          <p:txBody>
            <a:bodyPr wrap="square" rtlCol="0">
              <a:spAutoFit/>
            </a:bodyPr>
            <a:lstStyle/>
            <a:p>
              <a:pPr marL="514350" indent="-514350" algn="just">
                <a:lnSpc>
                  <a:spcPct val="150000"/>
                </a:lnSpc>
                <a:buFont typeface="+mj-lt"/>
                <a:buAutoNum type="arabicPeriod" startAt="3"/>
              </a:pPr>
              <a:r>
                <a:rPr lang="en-GB" sz="2400" dirty="0">
                  <a:solidFill>
                    <a:schemeClr val="tx2">
                      <a:lumMod val="25000"/>
                      <a:lumOff val="75000"/>
                    </a:schemeClr>
                  </a:solidFill>
                </a:rPr>
                <a:t>Our Information Systems and Training has not kept pace with the needs.</a:t>
              </a:r>
            </a:p>
          </p:txBody>
        </p:sp>
      </p:grpSp>
      <p:sp>
        <p:nvSpPr>
          <p:cNvPr id="2" name="TextBox 1">
            <a:extLst>
              <a:ext uri="{FF2B5EF4-FFF2-40B4-BE49-F238E27FC236}">
                <a16:creationId xmlns:a16="http://schemas.microsoft.com/office/drawing/2014/main" id="{81E764AD-80E9-2503-1D3A-9B5F35662399}"/>
              </a:ext>
            </a:extLst>
          </p:cNvPr>
          <p:cNvSpPr txBox="1"/>
          <p:nvPr/>
        </p:nvSpPr>
        <p:spPr>
          <a:xfrm>
            <a:off x="3470883" y="5942893"/>
            <a:ext cx="4619822" cy="369332"/>
          </a:xfrm>
          <a:prstGeom prst="rect">
            <a:avLst/>
          </a:prstGeom>
          <a:noFill/>
        </p:spPr>
        <p:txBody>
          <a:bodyPr wrap="square" rtlCol="0">
            <a:spAutoFit/>
          </a:bodyPr>
          <a:lstStyle/>
          <a:p>
            <a:r>
              <a:rPr lang="en-GB" b="1" i="1" dirty="0">
                <a:solidFill>
                  <a:srgbClr val="FF0000"/>
                </a:solidFill>
              </a:rPr>
              <a:t>We are on our way  -  but have further to go.</a:t>
            </a:r>
          </a:p>
        </p:txBody>
      </p:sp>
    </p:spTree>
    <p:extLst>
      <p:ext uri="{BB962C8B-B14F-4D97-AF65-F5344CB8AC3E}">
        <p14:creationId xmlns:p14="http://schemas.microsoft.com/office/powerpoint/2010/main" val="161126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742D10-6CBE-01AE-1072-9368B3D4CECE}"/>
              </a:ext>
            </a:extLst>
          </p:cNvPr>
          <p:cNvPicPr>
            <a:picLocks noChangeAspect="1"/>
          </p:cNvPicPr>
          <p:nvPr/>
        </p:nvPicPr>
        <p:blipFill>
          <a:blip r:embed="rId2"/>
          <a:stretch>
            <a:fillRect/>
          </a:stretch>
        </p:blipFill>
        <p:spPr>
          <a:xfrm>
            <a:off x="134994" y="438999"/>
            <a:ext cx="11759965" cy="4054642"/>
          </a:xfrm>
          <a:prstGeom prst="rect">
            <a:avLst/>
          </a:prstGeom>
        </p:spPr>
      </p:pic>
      <p:sp>
        <p:nvSpPr>
          <p:cNvPr id="8" name="TextBox 7">
            <a:extLst>
              <a:ext uri="{FF2B5EF4-FFF2-40B4-BE49-F238E27FC236}">
                <a16:creationId xmlns:a16="http://schemas.microsoft.com/office/drawing/2014/main" id="{6CE52687-0337-2D8B-60BE-B78E38E880D1}"/>
              </a:ext>
            </a:extLst>
          </p:cNvPr>
          <p:cNvSpPr txBox="1"/>
          <p:nvPr/>
        </p:nvSpPr>
        <p:spPr>
          <a:xfrm>
            <a:off x="886427" y="-113785"/>
            <a:ext cx="11008531" cy="523220"/>
          </a:xfrm>
          <a:prstGeom prst="rect">
            <a:avLst/>
          </a:prstGeom>
          <a:noFill/>
        </p:spPr>
        <p:txBody>
          <a:bodyPr wrap="square" rtlCol="0">
            <a:spAutoFit/>
          </a:bodyPr>
          <a:lstStyle/>
          <a:p>
            <a:r>
              <a:rPr lang="en-GB" sz="2800" b="1" dirty="0"/>
              <a:t>Brainstorm B What engagement can you achieve with your Lodge(s)</a:t>
            </a:r>
          </a:p>
        </p:txBody>
      </p:sp>
      <p:graphicFrame>
        <p:nvGraphicFramePr>
          <p:cNvPr id="11" name="Table 10">
            <a:extLst>
              <a:ext uri="{FF2B5EF4-FFF2-40B4-BE49-F238E27FC236}">
                <a16:creationId xmlns:a16="http://schemas.microsoft.com/office/drawing/2014/main" id="{3518DBF0-C86F-56B7-BEE3-35F9FC62D9FA}"/>
              </a:ext>
            </a:extLst>
          </p:cNvPr>
          <p:cNvGraphicFramePr>
            <a:graphicFrameLocks noGrp="1"/>
          </p:cNvGraphicFramePr>
          <p:nvPr>
            <p:extLst>
              <p:ext uri="{D42A27DB-BD31-4B8C-83A1-F6EECF244321}">
                <p14:modId xmlns:p14="http://schemas.microsoft.com/office/powerpoint/2010/main" val="2281230064"/>
              </p:ext>
            </p:extLst>
          </p:nvPr>
        </p:nvGraphicFramePr>
        <p:xfrm>
          <a:off x="3217764" y="4769761"/>
          <a:ext cx="5185455" cy="1854200"/>
        </p:xfrm>
        <a:graphic>
          <a:graphicData uri="http://schemas.openxmlformats.org/drawingml/2006/table">
            <a:tbl>
              <a:tblPr firstRow="1" bandRow="1">
                <a:tableStyleId>{5C22544A-7EE6-4342-B048-85BDC9FD1C3A}</a:tableStyleId>
              </a:tblPr>
              <a:tblGrid>
                <a:gridCol w="3321436">
                  <a:extLst>
                    <a:ext uri="{9D8B030D-6E8A-4147-A177-3AD203B41FA5}">
                      <a16:colId xmlns:a16="http://schemas.microsoft.com/office/drawing/2014/main" val="4230925409"/>
                    </a:ext>
                  </a:extLst>
                </a:gridCol>
                <a:gridCol w="1094815">
                  <a:extLst>
                    <a:ext uri="{9D8B030D-6E8A-4147-A177-3AD203B41FA5}">
                      <a16:colId xmlns:a16="http://schemas.microsoft.com/office/drawing/2014/main" val="692841556"/>
                    </a:ext>
                  </a:extLst>
                </a:gridCol>
                <a:gridCol w="769204">
                  <a:extLst>
                    <a:ext uri="{9D8B030D-6E8A-4147-A177-3AD203B41FA5}">
                      <a16:colId xmlns:a16="http://schemas.microsoft.com/office/drawing/2014/main" val="3424951725"/>
                    </a:ext>
                  </a:extLst>
                </a:gridCol>
              </a:tblGrid>
              <a:tr h="370840">
                <a:tc>
                  <a:txBody>
                    <a:bodyPr/>
                    <a:lstStyle/>
                    <a:p>
                      <a:r>
                        <a:rPr lang="en-GB" b="0" dirty="0">
                          <a:solidFill>
                            <a:schemeClr val="tx1"/>
                          </a:solidFill>
                        </a:rPr>
                        <a:t>Resistant: possibly anti Met</a:t>
                      </a:r>
                    </a:p>
                  </a:txBody>
                  <a:tcPr>
                    <a:solidFill>
                      <a:schemeClr val="accent4">
                        <a:lumMod val="20000"/>
                        <a:lumOff val="80000"/>
                      </a:schemeClr>
                    </a:solidFill>
                  </a:tcPr>
                </a:tc>
                <a:tc>
                  <a:txBody>
                    <a:bodyPr/>
                    <a:lstStyle/>
                    <a:p>
                      <a:pPr algn="ctr"/>
                      <a:r>
                        <a:rPr lang="en-GB" b="0" dirty="0">
                          <a:solidFill>
                            <a:schemeClr val="tx1"/>
                          </a:solidFill>
                        </a:rPr>
                        <a:t>0</a:t>
                      </a:r>
                    </a:p>
                  </a:txBody>
                  <a:tcPr>
                    <a:noFill/>
                  </a:tcPr>
                </a:tc>
                <a:tc>
                  <a:txBody>
                    <a:bodyPr/>
                    <a:lstStyle/>
                    <a:p>
                      <a:r>
                        <a:rPr lang="en-GB" b="0" dirty="0">
                          <a:solidFill>
                            <a:schemeClr val="tx1"/>
                          </a:solidFill>
                        </a:rPr>
                        <a:t> XXX</a:t>
                      </a:r>
                    </a:p>
                  </a:txBody>
                  <a:tcPr>
                    <a:solidFill>
                      <a:schemeClr val="accent4">
                        <a:lumMod val="20000"/>
                        <a:lumOff val="80000"/>
                      </a:schemeClr>
                    </a:solidFill>
                  </a:tcPr>
                </a:tc>
                <a:extLst>
                  <a:ext uri="{0D108BD9-81ED-4DB2-BD59-A6C34878D82A}">
                    <a16:rowId xmlns:a16="http://schemas.microsoft.com/office/drawing/2014/main" val="1619333273"/>
                  </a:ext>
                </a:extLst>
              </a:tr>
              <a:tr h="370840">
                <a:tc>
                  <a:txBody>
                    <a:bodyPr/>
                    <a:lstStyle/>
                    <a:p>
                      <a:r>
                        <a:rPr lang="en-GB" dirty="0">
                          <a:solidFill>
                            <a:schemeClr val="tx1"/>
                          </a:solidFill>
                        </a:rPr>
                        <a:t>Friendly but in denial: not for us</a:t>
                      </a:r>
                    </a:p>
                  </a:txBody>
                  <a:tcPr>
                    <a:solidFill>
                      <a:schemeClr val="accent4">
                        <a:lumMod val="20000"/>
                        <a:lumOff val="80000"/>
                      </a:schemeClr>
                    </a:solidFill>
                  </a:tcPr>
                </a:tc>
                <a:tc>
                  <a:txBody>
                    <a:bodyPr/>
                    <a:lstStyle/>
                    <a:p>
                      <a:pPr algn="ctr"/>
                      <a:r>
                        <a:rPr lang="en-GB" dirty="0">
                          <a:solidFill>
                            <a:schemeClr val="tx1"/>
                          </a:solidFill>
                        </a:rPr>
                        <a:t>1</a:t>
                      </a:r>
                    </a:p>
                  </a:txBody>
                  <a:tcPr>
                    <a:solidFill>
                      <a:srgbClr val="FF0000"/>
                    </a:solidFill>
                  </a:tcPr>
                </a:tc>
                <a:tc>
                  <a:txBody>
                    <a:bodyPr/>
                    <a:lstStyle/>
                    <a:p>
                      <a:pPr algn="ctr"/>
                      <a:r>
                        <a:rPr lang="en-GB" dirty="0">
                          <a:solidFill>
                            <a:schemeClr val="tx1"/>
                          </a:solidFill>
                        </a:rPr>
                        <a:t>X</a:t>
                      </a:r>
                    </a:p>
                  </a:txBody>
                  <a:tcPr>
                    <a:solidFill>
                      <a:schemeClr val="accent4">
                        <a:lumMod val="20000"/>
                        <a:lumOff val="80000"/>
                      </a:schemeClr>
                    </a:solidFill>
                  </a:tcPr>
                </a:tc>
                <a:extLst>
                  <a:ext uri="{0D108BD9-81ED-4DB2-BD59-A6C34878D82A}">
                    <a16:rowId xmlns:a16="http://schemas.microsoft.com/office/drawing/2014/main" val="3955194559"/>
                  </a:ext>
                </a:extLst>
              </a:tr>
              <a:tr h="370840">
                <a:tc>
                  <a:txBody>
                    <a:bodyPr/>
                    <a:lstStyle/>
                    <a:p>
                      <a:r>
                        <a:rPr lang="en-GB" dirty="0">
                          <a:solidFill>
                            <a:schemeClr val="tx1"/>
                          </a:solidFill>
                        </a:rPr>
                        <a:t>Curious but unsure: too </a:t>
                      </a:r>
                      <a:r>
                        <a:rPr lang="en-GB" dirty="0" err="1">
                          <a:solidFill>
                            <a:schemeClr val="tx1"/>
                          </a:solidFill>
                        </a:rPr>
                        <a:t>dificult</a:t>
                      </a:r>
                      <a:endParaRPr lang="en-GB" dirty="0">
                        <a:solidFill>
                          <a:schemeClr val="tx1"/>
                        </a:solidFill>
                      </a:endParaRPr>
                    </a:p>
                  </a:txBody>
                  <a:tcPr>
                    <a:solidFill>
                      <a:schemeClr val="accent4">
                        <a:lumMod val="20000"/>
                        <a:lumOff val="80000"/>
                      </a:schemeClr>
                    </a:solidFill>
                  </a:tcPr>
                </a:tc>
                <a:tc>
                  <a:txBody>
                    <a:bodyPr/>
                    <a:lstStyle/>
                    <a:p>
                      <a:pPr algn="ctr"/>
                      <a:r>
                        <a:rPr lang="en-GB" dirty="0">
                          <a:solidFill>
                            <a:schemeClr val="tx1"/>
                          </a:solidFill>
                        </a:rPr>
                        <a:t>2</a:t>
                      </a:r>
                    </a:p>
                  </a:txBody>
                  <a:tcPr>
                    <a:solidFill>
                      <a:srgbClr val="FFC000"/>
                    </a:solidFill>
                  </a:tcPr>
                </a:tc>
                <a:tc>
                  <a:txBody>
                    <a:bodyPr/>
                    <a:lstStyle/>
                    <a:p>
                      <a:pPr algn="ctr"/>
                      <a:r>
                        <a:rPr lang="en-GB" dirty="0">
                          <a:solidFill>
                            <a:schemeClr val="tx1"/>
                          </a:solidFill>
                        </a:rPr>
                        <a:t>?</a:t>
                      </a:r>
                    </a:p>
                  </a:txBody>
                  <a:tcPr>
                    <a:solidFill>
                      <a:schemeClr val="accent4">
                        <a:lumMod val="20000"/>
                        <a:lumOff val="80000"/>
                      </a:schemeClr>
                    </a:solidFill>
                  </a:tcPr>
                </a:tc>
                <a:extLst>
                  <a:ext uri="{0D108BD9-81ED-4DB2-BD59-A6C34878D82A}">
                    <a16:rowId xmlns:a16="http://schemas.microsoft.com/office/drawing/2014/main" val="3378152139"/>
                  </a:ext>
                </a:extLst>
              </a:tr>
              <a:tr h="370840">
                <a:tc>
                  <a:txBody>
                    <a:bodyPr/>
                    <a:lstStyle/>
                    <a:p>
                      <a:r>
                        <a:rPr lang="en-GB" dirty="0">
                          <a:solidFill>
                            <a:schemeClr val="tx1"/>
                          </a:solidFill>
                        </a:rPr>
                        <a:t>Positive; want to take action</a:t>
                      </a:r>
                    </a:p>
                  </a:txBody>
                  <a:tcPr>
                    <a:solidFill>
                      <a:schemeClr val="accent4">
                        <a:lumMod val="20000"/>
                        <a:lumOff val="80000"/>
                      </a:schemeClr>
                    </a:solidFill>
                  </a:tcPr>
                </a:tc>
                <a:tc>
                  <a:txBody>
                    <a:bodyPr/>
                    <a:lstStyle/>
                    <a:p>
                      <a:pPr algn="ctr"/>
                      <a:r>
                        <a:rPr lang="en-GB" dirty="0">
                          <a:solidFill>
                            <a:schemeClr val="tx1"/>
                          </a:solidFill>
                        </a:rPr>
                        <a:t>3</a:t>
                      </a:r>
                    </a:p>
                  </a:txBody>
                  <a:tcPr>
                    <a:solidFill>
                      <a:srgbClr val="92D050"/>
                    </a:solidFill>
                  </a:tcPr>
                </a:tc>
                <a:tc>
                  <a:txBody>
                    <a:bodyPr/>
                    <a:lstStyle/>
                    <a:p>
                      <a:pPr algn="ctr"/>
                      <a:r>
                        <a:rPr lang="en-GB" b="1" dirty="0">
                          <a:solidFill>
                            <a:schemeClr val="tx1"/>
                          </a:solidFill>
                        </a:rPr>
                        <a:t>+</a:t>
                      </a:r>
                    </a:p>
                  </a:txBody>
                  <a:tcPr>
                    <a:solidFill>
                      <a:schemeClr val="accent4">
                        <a:lumMod val="20000"/>
                        <a:lumOff val="80000"/>
                      </a:schemeClr>
                    </a:solidFill>
                  </a:tcPr>
                </a:tc>
                <a:extLst>
                  <a:ext uri="{0D108BD9-81ED-4DB2-BD59-A6C34878D82A}">
                    <a16:rowId xmlns:a16="http://schemas.microsoft.com/office/drawing/2014/main" val="2367086241"/>
                  </a:ext>
                </a:extLst>
              </a:tr>
              <a:tr h="370840">
                <a:tc>
                  <a:txBody>
                    <a:bodyPr/>
                    <a:lstStyle/>
                    <a:p>
                      <a:r>
                        <a:rPr lang="en-GB" dirty="0">
                          <a:solidFill>
                            <a:schemeClr val="tx1"/>
                          </a:solidFill>
                        </a:rPr>
                        <a:t>Already a successful Lodge</a:t>
                      </a:r>
                    </a:p>
                  </a:txBody>
                  <a:tcPr>
                    <a:solidFill>
                      <a:schemeClr val="accent4">
                        <a:lumMod val="20000"/>
                        <a:lumOff val="80000"/>
                      </a:schemeClr>
                    </a:solidFill>
                  </a:tcPr>
                </a:tc>
                <a:tc>
                  <a:txBody>
                    <a:bodyPr/>
                    <a:lstStyle/>
                    <a:p>
                      <a:pPr algn="ctr"/>
                      <a:r>
                        <a:rPr lang="en-GB" dirty="0">
                          <a:solidFill>
                            <a:schemeClr val="tx1"/>
                          </a:solidFill>
                        </a:rPr>
                        <a:t>4</a:t>
                      </a:r>
                    </a:p>
                  </a:txBody>
                  <a:tcPr>
                    <a:solidFill>
                      <a:srgbClr val="00B0F0"/>
                    </a:solidFill>
                  </a:tcPr>
                </a:tc>
                <a:tc>
                  <a:txBody>
                    <a:bodyPr/>
                    <a:lstStyle/>
                    <a:p>
                      <a:endParaRPr lang="en-GB" dirty="0">
                        <a:solidFill>
                          <a:schemeClr val="tx1"/>
                        </a:solidFill>
                      </a:endParaRPr>
                    </a:p>
                  </a:txBody>
                  <a:tcPr>
                    <a:solidFill>
                      <a:schemeClr val="accent4">
                        <a:lumMod val="20000"/>
                        <a:lumOff val="80000"/>
                      </a:schemeClr>
                    </a:solidFill>
                  </a:tcPr>
                </a:tc>
                <a:extLst>
                  <a:ext uri="{0D108BD9-81ED-4DB2-BD59-A6C34878D82A}">
                    <a16:rowId xmlns:a16="http://schemas.microsoft.com/office/drawing/2014/main" val="1213511446"/>
                  </a:ext>
                </a:extLst>
              </a:tr>
            </a:tbl>
          </a:graphicData>
        </a:graphic>
      </p:graphicFrame>
      <p:sp>
        <p:nvSpPr>
          <p:cNvPr id="12" name="Star: 5 Points 11">
            <a:extLst>
              <a:ext uri="{FF2B5EF4-FFF2-40B4-BE49-F238E27FC236}">
                <a16:creationId xmlns:a16="http://schemas.microsoft.com/office/drawing/2014/main" id="{BD6813B8-50AF-3F45-454F-4232F0FBE89E}"/>
              </a:ext>
            </a:extLst>
          </p:cNvPr>
          <p:cNvSpPr/>
          <p:nvPr/>
        </p:nvSpPr>
        <p:spPr>
          <a:xfrm>
            <a:off x="7917077" y="6295846"/>
            <a:ext cx="254643" cy="246310"/>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3546824C-736B-8551-10D8-265880B92EA9}"/>
              </a:ext>
            </a:extLst>
          </p:cNvPr>
          <p:cNvCxnSpPr/>
          <p:nvPr/>
        </p:nvCxnSpPr>
        <p:spPr>
          <a:xfrm flipV="1">
            <a:off x="7118430" y="3429000"/>
            <a:ext cx="0" cy="11892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C22784D8-62CE-6037-9341-E0FB3897159F}"/>
              </a:ext>
            </a:extLst>
          </p:cNvPr>
          <p:cNvPicPr>
            <a:picLocks noChangeAspect="1"/>
          </p:cNvPicPr>
          <p:nvPr/>
        </p:nvPicPr>
        <p:blipFill>
          <a:blip r:embed="rId3"/>
          <a:stretch>
            <a:fillRect/>
          </a:stretch>
        </p:blipFill>
        <p:spPr>
          <a:xfrm>
            <a:off x="8715166" y="4754364"/>
            <a:ext cx="1653716" cy="1664637"/>
          </a:xfrm>
          <a:prstGeom prst="rect">
            <a:avLst/>
          </a:prstGeom>
        </p:spPr>
      </p:pic>
      <p:sp>
        <p:nvSpPr>
          <p:cNvPr id="17" name="TextBox 16">
            <a:extLst>
              <a:ext uri="{FF2B5EF4-FFF2-40B4-BE49-F238E27FC236}">
                <a16:creationId xmlns:a16="http://schemas.microsoft.com/office/drawing/2014/main" id="{CC0DC60A-2273-5545-5FD6-AAA9A65FADD8}"/>
              </a:ext>
            </a:extLst>
          </p:cNvPr>
          <p:cNvSpPr txBox="1"/>
          <p:nvPr/>
        </p:nvSpPr>
        <p:spPr>
          <a:xfrm>
            <a:off x="10368882" y="5016861"/>
            <a:ext cx="1427544" cy="923330"/>
          </a:xfrm>
          <a:prstGeom prst="rect">
            <a:avLst/>
          </a:prstGeom>
          <a:noFill/>
        </p:spPr>
        <p:txBody>
          <a:bodyPr wrap="square" rtlCol="0">
            <a:spAutoFit/>
          </a:bodyPr>
          <a:lstStyle/>
          <a:p>
            <a:r>
              <a:rPr lang="en-GB" dirty="0"/>
              <a:t>Which Focus?</a:t>
            </a:r>
          </a:p>
          <a:p>
            <a:r>
              <a:rPr lang="en-GB" dirty="0"/>
              <a:t>Progress?</a:t>
            </a:r>
          </a:p>
        </p:txBody>
      </p:sp>
      <p:cxnSp>
        <p:nvCxnSpPr>
          <p:cNvPr id="18" name="Straight Arrow Connector 17">
            <a:extLst>
              <a:ext uri="{FF2B5EF4-FFF2-40B4-BE49-F238E27FC236}">
                <a16:creationId xmlns:a16="http://schemas.microsoft.com/office/drawing/2014/main" id="{BC2C5A29-A555-B0FC-DE54-DF02C0AC3002}"/>
              </a:ext>
            </a:extLst>
          </p:cNvPr>
          <p:cNvCxnSpPr>
            <a:cxnSpLocks/>
          </p:cNvCxnSpPr>
          <p:nvPr/>
        </p:nvCxnSpPr>
        <p:spPr>
          <a:xfrm flipV="1">
            <a:off x="10696936" y="3460828"/>
            <a:ext cx="0" cy="14634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2945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13E13-F23C-9A71-2E01-3FCD8069CF4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8E4B44D-53F6-F1A4-CB96-59872E2D3B15}"/>
              </a:ext>
            </a:extLst>
          </p:cNvPr>
          <p:cNvSpPr txBox="1"/>
          <p:nvPr/>
        </p:nvSpPr>
        <p:spPr>
          <a:xfrm>
            <a:off x="1575223" y="160866"/>
            <a:ext cx="9679228" cy="523220"/>
          </a:xfrm>
          <a:prstGeom prst="rect">
            <a:avLst/>
          </a:prstGeom>
          <a:noFill/>
        </p:spPr>
        <p:txBody>
          <a:bodyPr wrap="square" rtlCol="0">
            <a:spAutoFit/>
          </a:bodyPr>
          <a:lstStyle/>
          <a:p>
            <a:r>
              <a:rPr lang="en-GB" sz="2800" b="1" dirty="0"/>
              <a:t>Brainstorm C What is your year end membership forecast?</a:t>
            </a:r>
          </a:p>
        </p:txBody>
      </p:sp>
      <p:pic>
        <p:nvPicPr>
          <p:cNvPr id="10" name="Picture 9">
            <a:extLst>
              <a:ext uri="{FF2B5EF4-FFF2-40B4-BE49-F238E27FC236}">
                <a16:creationId xmlns:a16="http://schemas.microsoft.com/office/drawing/2014/main" id="{3F04B241-7B27-2563-6120-DB82DB5A5723}"/>
              </a:ext>
            </a:extLst>
          </p:cNvPr>
          <p:cNvPicPr>
            <a:picLocks noChangeAspect="1"/>
          </p:cNvPicPr>
          <p:nvPr/>
        </p:nvPicPr>
        <p:blipFill>
          <a:blip r:embed="rId2"/>
          <a:stretch>
            <a:fillRect/>
          </a:stretch>
        </p:blipFill>
        <p:spPr>
          <a:xfrm>
            <a:off x="86130" y="775504"/>
            <a:ext cx="12006631" cy="5301205"/>
          </a:xfrm>
          <a:prstGeom prst="rect">
            <a:avLst/>
          </a:prstGeom>
        </p:spPr>
      </p:pic>
      <p:sp>
        <p:nvSpPr>
          <p:cNvPr id="13" name="TextBox 12">
            <a:extLst>
              <a:ext uri="{FF2B5EF4-FFF2-40B4-BE49-F238E27FC236}">
                <a16:creationId xmlns:a16="http://schemas.microsoft.com/office/drawing/2014/main" id="{D728AF14-2292-8F9A-2F1E-EE07B98585C6}"/>
              </a:ext>
            </a:extLst>
          </p:cNvPr>
          <p:cNvSpPr txBox="1"/>
          <p:nvPr/>
        </p:nvSpPr>
        <p:spPr>
          <a:xfrm>
            <a:off x="7731890" y="6259545"/>
            <a:ext cx="1701478" cy="369332"/>
          </a:xfrm>
          <a:prstGeom prst="rect">
            <a:avLst/>
          </a:prstGeom>
          <a:noFill/>
        </p:spPr>
        <p:txBody>
          <a:bodyPr wrap="square" rtlCol="0">
            <a:spAutoFit/>
          </a:bodyPr>
          <a:lstStyle/>
          <a:p>
            <a:r>
              <a:rPr lang="en-GB" dirty="0"/>
              <a:t>Your Forecast</a:t>
            </a:r>
          </a:p>
        </p:txBody>
      </p:sp>
      <p:cxnSp>
        <p:nvCxnSpPr>
          <p:cNvPr id="19" name="Straight Arrow Connector 18">
            <a:extLst>
              <a:ext uri="{FF2B5EF4-FFF2-40B4-BE49-F238E27FC236}">
                <a16:creationId xmlns:a16="http://schemas.microsoft.com/office/drawing/2014/main" id="{F8834AC4-3D53-4227-D517-1AC92AB27FDB}"/>
              </a:ext>
            </a:extLst>
          </p:cNvPr>
          <p:cNvCxnSpPr>
            <a:cxnSpLocks/>
          </p:cNvCxnSpPr>
          <p:nvPr/>
        </p:nvCxnSpPr>
        <p:spPr>
          <a:xfrm flipV="1">
            <a:off x="8322198" y="4916882"/>
            <a:ext cx="0" cy="13426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103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CDD9D-67F7-0F30-D4AD-0E4A2C8E094F}"/>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AE68BCE9-397F-06D7-2B44-911EFFCA5C98}"/>
              </a:ext>
            </a:extLst>
          </p:cNvPr>
          <p:cNvPicPr>
            <a:picLocks noChangeAspect="1"/>
          </p:cNvPicPr>
          <p:nvPr/>
        </p:nvPicPr>
        <p:blipFill>
          <a:blip r:embed="rId3"/>
          <a:stretch>
            <a:fillRect/>
          </a:stretch>
        </p:blipFill>
        <p:spPr>
          <a:xfrm>
            <a:off x="4875402" y="356152"/>
            <a:ext cx="1981468" cy="2337078"/>
          </a:xfrm>
          <a:prstGeom prst="rect">
            <a:avLst/>
          </a:prstGeom>
          <a:noFill/>
          <a:ln cap="flat">
            <a:noFill/>
          </a:ln>
        </p:spPr>
      </p:pic>
      <p:sp>
        <p:nvSpPr>
          <p:cNvPr id="3" name="TextBox 7">
            <a:extLst>
              <a:ext uri="{FF2B5EF4-FFF2-40B4-BE49-F238E27FC236}">
                <a16:creationId xmlns:a16="http://schemas.microsoft.com/office/drawing/2014/main" id="{68103ECC-3891-D809-3E37-22BDF4ED4ECC}"/>
              </a:ext>
            </a:extLst>
          </p:cNvPr>
          <p:cNvSpPr txBox="1"/>
          <p:nvPr/>
        </p:nvSpPr>
        <p:spPr>
          <a:xfrm>
            <a:off x="4875402" y="2904766"/>
            <a:ext cx="2090053" cy="646334"/>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70C0"/>
                </a:solidFill>
                <a:uFillTx/>
                <a:latin typeface="Aptos"/>
              </a:rPr>
              <a:t>Tim MacAndrews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70C0"/>
                </a:solidFill>
                <a:uFillTx/>
                <a:latin typeface="Aptos"/>
              </a:rPr>
              <a:t>MetGInsp PSGD</a:t>
            </a:r>
          </a:p>
        </p:txBody>
      </p:sp>
      <p:sp>
        <p:nvSpPr>
          <p:cNvPr id="5" name="TextBox 9">
            <a:extLst>
              <a:ext uri="{FF2B5EF4-FFF2-40B4-BE49-F238E27FC236}">
                <a16:creationId xmlns:a16="http://schemas.microsoft.com/office/drawing/2014/main" id="{CAB611A0-E481-137F-778A-D723C11E633B}"/>
              </a:ext>
            </a:extLst>
          </p:cNvPr>
          <p:cNvSpPr txBox="1"/>
          <p:nvPr/>
        </p:nvSpPr>
        <p:spPr>
          <a:xfrm>
            <a:off x="2427238" y="5716252"/>
            <a:ext cx="7206340" cy="369335"/>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Aptos"/>
              </a:rPr>
              <a:t>. </a:t>
            </a:r>
          </a:p>
        </p:txBody>
      </p:sp>
      <p:sp>
        <p:nvSpPr>
          <p:cNvPr id="6" name="TextBox 5">
            <a:extLst>
              <a:ext uri="{FF2B5EF4-FFF2-40B4-BE49-F238E27FC236}">
                <a16:creationId xmlns:a16="http://schemas.microsoft.com/office/drawing/2014/main" id="{8C224A87-AD48-D865-5B21-AD41DE8C1738}"/>
              </a:ext>
            </a:extLst>
          </p:cNvPr>
          <p:cNvSpPr txBox="1"/>
          <p:nvPr/>
        </p:nvSpPr>
        <p:spPr>
          <a:xfrm>
            <a:off x="3467948" y="3762636"/>
            <a:ext cx="4796376" cy="1015663"/>
          </a:xfrm>
          <a:prstGeom prst="rect">
            <a:avLst/>
          </a:prstGeom>
          <a:noFill/>
        </p:spPr>
        <p:txBody>
          <a:bodyPr wrap="square">
            <a:spAutoFit/>
          </a:bodyPr>
          <a:lstStyle/>
          <a:p>
            <a:pPr algn="ctr"/>
            <a:r>
              <a:rPr lang="en-GB" sz="3600" b="1" dirty="0">
                <a:ea typeface="+mn-lt"/>
                <a:cs typeface="+mn-lt"/>
              </a:rPr>
              <a:t>Building Together</a:t>
            </a:r>
            <a:endParaRPr lang="en-GB" sz="2400" b="1" dirty="0">
              <a:solidFill>
                <a:srgbClr val="00B050"/>
              </a:solidFill>
            </a:endParaRPr>
          </a:p>
          <a:p>
            <a:endParaRPr lang="en-GB" sz="2400" b="1" dirty="0">
              <a:solidFill>
                <a:srgbClr val="00B050"/>
              </a:solidFill>
            </a:endParaRPr>
          </a:p>
        </p:txBody>
      </p:sp>
    </p:spTree>
    <p:extLst>
      <p:ext uri="{BB962C8B-B14F-4D97-AF65-F5344CB8AC3E}">
        <p14:creationId xmlns:p14="http://schemas.microsoft.com/office/powerpoint/2010/main" val="105547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1318</TotalTime>
  <Words>765</Words>
  <Application>Microsoft Macintosh PowerPoint</Application>
  <PresentationFormat>Widescreen</PresentationFormat>
  <Paragraphs>119</Paragraphs>
  <Slides>19</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King</dc:creator>
  <cp:lastModifiedBy>Wes Pierce</cp:lastModifiedBy>
  <cp:revision>44</cp:revision>
  <cp:lastPrinted>2025-06-05T15:11:21Z</cp:lastPrinted>
  <dcterms:created xsi:type="dcterms:W3CDTF">2025-05-30T11:50:23Z</dcterms:created>
  <dcterms:modified xsi:type="dcterms:W3CDTF">2026-01-21T14:45:07Z</dcterms:modified>
</cp:coreProperties>
</file>